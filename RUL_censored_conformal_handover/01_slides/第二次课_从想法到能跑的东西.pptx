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开场直接说：上次讲完我回去核算了一遍，有三处不实际，今天先改再跑。老师先认错，学生才敢质疑。
今天的成果物是能跑的五个脚本，不是新理论。讲完让每个人回去跑。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一分钟过完。重点是告诉学生第二段要对着脚本听，最好把 cmapss_common.py 打开放在旁边。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三条各讲一分钟。重点不是错在哪，是“核算”这个动作：写方案之前先把数字算出来。
第二条顺带引出代码里的两个代号 Cw 与 Cw1，后面会反复出现。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这一页要让学生自己算一遍那三个数：120、30、50。算对了才往下走。
对照那句很重要：规则对失效机也执行，不然分布不对。代码里断言“保留样本上的可观测标签应与真值一致”检查的就是这一页。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这一页是写进论文引言的东西。让学生记住那句话：完全随机的下线，在样本层面不是完全随机的删失。
表里的数字是示意，真数字 s03 会打印 t=50/100/150/200/250 处的权重，F05 画出整条曲线。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方案 Cw1 是安全的，方案 Cw 是实用的。论文里两个都报，差距本身就是结果。
提醒：s02 无删失基线里也有这两版（method_code 为 all 与 one_mean），先在无删失时看两者差多少，再看删失后。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决策区覆盖率是新加的，因为下界被 c0 封顶之后，RUL 大于 c0 的样本覆盖是平凡的，总体覆盖率会被这些样本稀释。
五个指标的列名和 s03_methods.csv 的列名一致，让学生对着表看。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让学生课后填这张表。60% 删失率上次是拍脑袋定的，表出来再决定留不留。
注意 20631 行是训练集，测试集是 13096 行、100 台，测试机在失效前被截断。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特意说一句：点预测器只求够用。学生最容易在这一步花两周调网络，那是上一个方向的惯性。
s01 的两个易错点：工况设置带噪声，要按标称间隔取整再数组合；传感器 6 只在两个值间跳，近零方差判据用 0.01。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流程图上的第五步是唯一有统计内容的一步，其余都是数据工程。
造删失那段要强调两点：与寿命无关（这是本次的假设，下次课换成依赖工况）；每台机的 C_i 都记录（Type-I），所以 S_C 直接用经验分布，不用 Kaplan-Meier。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不要推导。让学生对照脚本里 weighted_lpb 那个函数看，三行公式对应三段代码。
讲清 searchsorted 那一步：把校准得分排序、权重累加，找第一个累计权重达到阈值的位置，那里的得分就是 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上次讲稿里说五条线，代码里是六条：多了 Cw1。A 在删失率 60% 时校准折失效机可能很少，脚本会照跑，但那一行不可信。
E 不依赖删失率，脚本按 c0 缓存，三档删失率共用。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决策区那两段是全部实验的落脚点。其余段打印出来只是为了完整。
如果有学生问“为什么不按发动机做 bootstrap 算置信区间”，回答：下次课做，这次先把点估计跑出来。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顺序不能乱。s01 不贴回来，s02 跑出问题分不清是数据还是代码。
验收标准照移交文档第 5 节，这里是缩写。汇报格式在移交文档第 9 节：控制台输出原样贴，不总结成“覆盖率良好”。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F07 到 F09 是论文实验节的三张图。F10 给学生看最直观。
所有图注都要写明删失是人工构造的。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作业二和作业三都有标准答案，下次课开头先对答案。
下次课的第一项 Mondrian 校准是移交文档里下一步的第一优先级，提前让学生读论文一第 6.2 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7373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第二次课：从想法到能跑的东西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606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CE7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上次方案有三处经不起核算，先改掉；然后把数据读进来，跑通第一版下界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6576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9FB2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数据：C-MAPSS FD001（先在最简单的子集上把流程跑通；删失是人工构造的）</a:t>
            </a:r>
            <a:endParaRPr lang="en-US" sz="13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9FB2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工具：Python 3.10 跑管线，R 4.5 出图；五个脚本，结果只在控制台打印并落盘到 results/</a:t>
            </a:r>
            <a:endParaRPr lang="en-US" sz="13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9FB2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时长：约 60 分钟。前 25 分钟改方案，后 35 分钟讲代码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0350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FB2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删失与时序相关并存条件下的航空发动机剩余寿命共形下界 · 第二次课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今天的路线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三段：先改方案，再跑代码，最后交付作业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66160" cy="356616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691640"/>
            <a:ext cx="402336" cy="402336"/>
          </a:xfrm>
          <a:prstGeom prst="ellipse">
            <a:avLst/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691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691640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改方案（第 3 到 8 页）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331720"/>
            <a:ext cx="316382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上次方案三处经不起核算：样本量没算、权重相乘没有保证、成本参数是编的。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三处修正各带一个副产品：样本级选择规则、权重不是常数、两层结构的两个校准方案。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97680" y="1463040"/>
            <a:ext cx="3566160" cy="356616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98848" y="1691640"/>
            <a:ext cx="402336" cy="402336"/>
          </a:xfrm>
          <a:prstGeom prst="ellipse">
            <a:avLst/>
          </a:prstGeom>
          <a:solidFill>
            <a:srgbClr val="2E4A6B"/>
          </a:solidFill>
          <a:ln w="12700">
            <a:solidFill>
              <a:srgbClr val="2E4A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98848" y="1691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0" y="1691640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跑代码（第 9 到 14 页）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498848" y="2331720"/>
            <a:ext cx="316382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数据长什么样，六步流程，下界的三行公式对应三行代码，删失怎么造，六条对比线，评估协议。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这一段对着脚本讲，每页标出对应的函数名。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46720" y="1463040"/>
            <a:ext cx="3566160" cy="356616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47888" y="1691640"/>
            <a:ext cx="402336" cy="402336"/>
          </a:xfrm>
          <a:prstGeom prst="ellipse">
            <a:avLst/>
          </a:prstGeom>
          <a:solidFill>
            <a:srgbClr val="3D7A5A"/>
          </a:solidFill>
          <a:ln w="12700">
            <a:solidFill>
              <a:srgbClr val="3D7A5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47888" y="1691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778240" y="1691640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交付（第 15 到 17 页）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247888" y="2331720"/>
            <a:ext cx="316382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五个脚本按顺序跑，每一步的验收标准；跑完得到 11 张图；三项作业，下次课开头先对答案。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5303520"/>
            <a:ext cx="11091672" cy="777240"/>
          </a:xfrm>
          <a:prstGeom prst="rect">
            <a:avLst/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" y="5303520"/>
            <a:ext cx="10543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C4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一句话记住今天：先算再说，先跑通再谈理论。写方案之前把数字算出来，写理论之前把实验跑出来。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2C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上次方案里三处经不起核算的地方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研究方案不是定了就不动，算过之后该改就改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91672" cy="146304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45920"/>
            <a:ext cx="365760" cy="365760"/>
          </a:xfrm>
          <a:prstGeom prst="ellipse">
            <a:avLst/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61848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样本量没算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020824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FD001 只有 100 台发动机。上次说“按发动机整机截取”，删失 60% 再切校准集，校准折可能只剩十几台。这个数没算就往下写了。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26680" y="1600200"/>
            <a:ext cx="3730752" cy="1097280"/>
          </a:xfrm>
          <a:prstGeom prst="rect">
            <a:avLst/>
          </a:prstGeom>
          <a:solidFill>
            <a:srgbClr val="FFF4E0"/>
          </a:solidFill>
          <a:ln w="12700">
            <a:solidFill>
              <a:srgbClr val="FFF4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909560" y="1600200"/>
            <a:ext cx="33649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9A65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改：选择改在样本层面做，删失机的早期循环照样能用；把样本量核算写进脚本 s03，先算再说。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017520"/>
            <a:ext cx="11091672" cy="146304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3246120"/>
            <a:ext cx="365760" cy="365760"/>
          </a:xfrm>
          <a:prstGeom prst="ellipse">
            <a:avLst/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21868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权重相乘没有保证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3621024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删失权重有似然比含义；时序权重是启发式的，保证形式完全不同。两个相乘之后还剩什么保证，说不清。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726680" y="3200400"/>
            <a:ext cx="3730752" cy="1097280"/>
          </a:xfrm>
          <a:prstGeom prst="rect">
            <a:avLst/>
          </a:prstGeom>
          <a:solidFill>
            <a:srgbClr val="FFF4E0"/>
          </a:solidFill>
          <a:ln w="12700">
            <a:solidFill>
              <a:srgbClr val="FFF4E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909560" y="3200400"/>
            <a:ext cx="33649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9A65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改：不相乘。同机相关改用两层结构处理，全部循环校准（Cw）与一机一点校准（Cw1）两版都跑，先看实验。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617720"/>
            <a:ext cx="11091672" cy="146304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4846320"/>
            <a:ext cx="365760" cy="365760"/>
          </a:xfrm>
          <a:prstGeom prst="ellipse">
            <a:avLst/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4846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481888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成本参数是编的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5221224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拆检成本、非计划停场成本，一个真实数字都没有。编一组参数算曲线，等于自己定输赢。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726680" y="4800600"/>
            <a:ext cx="3730752" cy="1097280"/>
          </a:xfrm>
          <a:prstGeom prst="rect">
            <a:avLst/>
          </a:prstGeom>
          <a:solidFill>
            <a:srgbClr val="FFF4E0"/>
          </a:solidFill>
          <a:ln w="12700">
            <a:solidFill>
              <a:srgbClr val="FFF4E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909560" y="4800600"/>
            <a:ext cx="33649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9A65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改：不做成本曲线。报总体覆盖率、决策区覆盖率、分段覆盖率、平均下界、无信息界比例。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2C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修正一：删失在剩余寿命里的正确形态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下线在整机层面发生，选择在样本层面进行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120640" cy="196596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581912"/>
            <a:ext cx="4718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18745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2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保留 (i, t)   当且仅当   C_i − t ≥ c0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37744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C_i 是第 i 台机的下线时刻，t 是当前循环，c0 是我们定的观测视野。对保留下来的样本，min(RUL, c0) 一定看得见。代码：s03_censoring.py 里 keep = (C_row − cycle) ≥ c0。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566160"/>
            <a:ext cx="5120640" cy="2743200"/>
          </a:xfrm>
          <a:prstGeom prst="rect">
            <a:avLst/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9808" y="3730752"/>
            <a:ext cx="4718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C4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为什么丢的是最后 c0 个循环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4114800"/>
            <a:ext cx="471830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DCE7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在下线前最后 c0 个循环上，发动机会不会在 c0 之内坏掉，我们看不到，min(RUL, c0) 算不出来。再往前的循环不受影响。</a:t>
            </a:r>
            <a:endParaRPr lang="en-US" sz="1100" dirty="0"/>
          </a:p>
          <a:p>
            <a:pPr indent="0" marL="0">
              <a:lnSpc>
                <a:spcPct val="125000"/>
              </a:lnSpc>
              <a:spcAft>
                <a:spcPts val="500"/>
              </a:spcAft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DCE7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所以删失机不是整台没用，是最后一段没用。规则对失效机也同样执行，这样两群样本才只差一个协变量分布。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1417320"/>
            <a:ext cx="5605272" cy="489204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36208" y="1581912"/>
            <a:ext cx="5202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一台删失机：F = 200，C = 150，c0 = 30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55080" y="2240280"/>
            <a:ext cx="2979115" cy="384048"/>
          </a:xfrm>
          <a:prstGeom prst="rect">
            <a:avLst/>
          </a:prstGeom>
          <a:solidFill>
            <a:srgbClr val="3D7A5A"/>
          </a:solidFill>
          <a:ln w="12700">
            <a:solidFill>
              <a:srgbClr val="3D7A5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334195" y="2240280"/>
            <a:ext cx="744779" cy="384048"/>
          </a:xfrm>
          <a:prstGeom prst="rect">
            <a:avLst/>
          </a:prstGeom>
          <a:solidFill>
            <a:srgbClr val="E39B26"/>
          </a:solidFill>
          <a:ln w="12700">
            <a:solidFill>
              <a:srgbClr val="E39B2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78974" y="2240280"/>
            <a:ext cx="1241298" cy="384048"/>
          </a:xfrm>
          <a:prstGeom prst="rect">
            <a:avLst/>
          </a:prstGeom>
          <a:solidFill>
            <a:srgbClr val="E4E8EE"/>
          </a:solidFill>
          <a:ln w="9525">
            <a:solidFill>
              <a:srgbClr val="6E7A8A"/>
            </a:solidFill>
            <a:prstDash val="dash"/>
          </a:ln>
        </p:spPr>
      </p:sp>
      <p:sp>
        <p:nvSpPr>
          <p:cNvPr id="16" name="Text 14"/>
          <p:cNvSpPr txBox="1"/>
          <p:nvPr/>
        </p:nvSpPr>
        <p:spPr>
          <a:xfrm>
            <a:off x="5897880" y="267004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22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876995" y="267004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22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120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9621774" y="267004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22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 = 150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0863072" y="267004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22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 = 200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355080" y="3209544"/>
            <a:ext cx="274320" cy="274320"/>
          </a:xfrm>
          <a:prstGeom prst="rect">
            <a:avLst/>
          </a:prstGeom>
          <a:solidFill>
            <a:srgbClr val="3D7A5A"/>
          </a:solidFill>
          <a:ln w="12700">
            <a:solidFill>
              <a:srgbClr val="3D7A5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766560" y="3154680"/>
            <a:ext cx="4507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保留：t ≤ 120，共 120 个样本，标签 min(RUL, 30) 可观测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355080" y="3776472"/>
            <a:ext cx="274320" cy="274320"/>
          </a:xfrm>
          <a:prstGeom prst="rect">
            <a:avLst/>
          </a:prstGeom>
          <a:solidFill>
            <a:srgbClr val="E39B26"/>
          </a:solidFill>
          <a:ln w="12700">
            <a:solidFill>
              <a:srgbClr val="E39B2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766560" y="3721608"/>
            <a:ext cx="4507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丢弃：121 到 150，观测到了但 30 循环内是否失效不可知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55080" y="4343400"/>
            <a:ext cx="274320" cy="274320"/>
          </a:xfrm>
          <a:prstGeom prst="rect">
            <a:avLst/>
          </a:prstGeom>
          <a:solidFill>
            <a:srgbClr val="6E7A8A"/>
          </a:solidFill>
          <a:ln w="12700">
            <a:solidFill>
              <a:srgbClr val="6E7A8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766560" y="4288536"/>
            <a:ext cx="4507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未观测：151 到 200，下线之后的部分，本来就看不到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355080" y="4983480"/>
            <a:ext cx="49651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E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对照：一台失效机 F = 200，C = 210，同样规则下保留 t ≤ 180，最后 20 个循环也要丢。它的标签在 t &gt; 170 时是 F − t &lt; 30，在 t ≤ 170 时是 30。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2C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修正一的副产品：一个真正属于我们的发现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即使下线完全随机，样本层面的删失也依赖协变量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120640" cy="210312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581912"/>
            <a:ext cx="4718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样本被保留的概率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18745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2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P( 保留 | t )  =  S_C ( t + c0 )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37744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S_C 是下线时刻的生存函数，S_C(v) = P(C ≥ v)。即使下线时刻 C 与发动机自身完全无关，这个概率也随 t 单调下降：越老的循环，剩余观测窗越短，越容易被规则丢掉。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703320"/>
            <a:ext cx="5120640" cy="2606040"/>
          </a:xfrm>
          <a:prstGeom prst="rect">
            <a:avLst/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9808" y="3867912"/>
            <a:ext cx="4718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C4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于是权重不是常数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42062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 ( t )  =  1 / S_C ( t + c0 )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470916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CE7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论文一里“完全独立删失就不用加权”那句话，在剩余寿命问题里不成立。这是我们和医疗场景的第一个实质差别，写进引言。代码：weight_fn(t) = 1 / max(S(t + c0), 1/训练折台数)。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1417320"/>
            <a:ext cx="5605272" cy="489204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36208" y="1581912"/>
            <a:ext cx="5202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示意：权重随循环数变化（数字为示意）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965960"/>
          <a:ext cx="5056632" cy="914400"/>
        </p:xfrm>
        <a:graphic>
          <a:graphicData uri="http://schemas.openxmlformats.org/drawingml/2006/table">
            <a:tbl>
              <a:tblPr/>
              <a:tblGrid>
                <a:gridCol w="1685544"/>
                <a:gridCol w="1685544"/>
                <a:gridCol w="1685544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当前循环 t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S_C(t + 30)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权重 w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50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0.95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1.05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150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0.50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2.0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220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0.20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5.0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260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0.10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10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 12"/>
          <p:cNvSpPr txBox="1"/>
          <p:nvPr/>
        </p:nvSpPr>
        <p:spPr>
          <a:xfrm>
            <a:off x="6309360" y="3703320"/>
            <a:ext cx="5056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E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含义：晚期循环在校准集里被系统性少采，每一个留下来的都要顶更多人的份。真数字看 s03 打印的 t = 50 到 250 处的权重，以及图 F05。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6309360" y="4206240"/>
            <a:ext cx="505663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三件事跟着这个发现走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循环序号 t 必须作为协变量进入模型（特征表第一列就是 t）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S_C 可以从训练折发动机的下线时刻直接估计，因为 Type-I 下下线时刻是完全观测的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脚本里 Cu 与 Cw 只差这一个权重，两行的差就是这个发现的直接证据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2C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修正二：同机相关不再靠权重相乘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改用两层结构：发动机是第一层，循环是第二层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120640" cy="2331720"/>
          </a:xfrm>
          <a:prstGeom prst="rect">
            <a:avLst/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581912"/>
            <a:ext cx="4718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C4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上次的做法为什么不行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1965960"/>
            <a:ext cx="47183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DCE7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失权重是似然比，来自分布偏移的精确推导。时序权重是“近的样本更像”的启发式，它对应的理论是牺牲一点覆盖率换稳健性，保证形式完全不同。两个相乘，得到的既不是似然比，也不在任何一个定理的覆盖范围内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3886200"/>
            <a:ext cx="5120640" cy="242316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4050792"/>
            <a:ext cx="4718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正确的框架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4434840"/>
            <a:ext cx="47183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发动机之间可交换，发动机内部的循环相关。这叫两层分层数据，共形预测在这类数据上已有专门结果，不需要自己发明。</a:t>
            </a:r>
            <a:endParaRPr lang="en-US" sz="1100" dirty="0"/>
          </a:p>
          <a:p>
            <a:pPr indent="0" marL="0">
              <a:lnSpc>
                <a:spcPct val="125000"/>
              </a:lnSpc>
              <a:spcAft>
                <a:spcPts val="500"/>
              </a:spcAft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把两层结构与删失一起处理并给出保证，是论文方法部分要做的理论工作。文献：Dunn, Wasserman, Ramdas (JASA 2023)；Lee, Barber, Willett (arXiv 2306.06342)。引用前按标题核对。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35040" y="1417320"/>
            <a:ext cx="5605272" cy="489204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36208" y="1581912"/>
            <a:ext cx="5202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两个方案，今天都跑，代码里各有一个代号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09360" y="1965960"/>
            <a:ext cx="2011680" cy="347472"/>
          </a:xfrm>
          <a:prstGeom prst="rect">
            <a:avLst/>
          </a:prstGeom>
          <a:solidFill>
            <a:srgbClr val="3D7A5A"/>
          </a:solidFill>
          <a:ln w="12700">
            <a:solidFill>
              <a:srgbClr val="3D7A5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09360" y="19659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Cw1 · 一机一点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2423160"/>
            <a:ext cx="50566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每台校准发动机随机抽一个保留循环。校准点严格可交换，覆盖率保证是精确的。代价：校准折 40 台机分完只剩几十个点，分位数很粗，下界偏保守。脚本重复 20 次报均值。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09360" y="4023360"/>
            <a:ext cx="2011680" cy="347472"/>
          </a:xfrm>
          <a:prstGeom prst="rect">
            <a:avLst/>
          </a:prstGeom>
          <a:solidFill>
            <a:srgbClr val="2E4A6B"/>
          </a:solidFill>
          <a:ln w="12700">
            <a:solidFill>
              <a:srgbClr val="2E4A6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09360" y="40233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Cw · 全部循环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4480560"/>
            <a:ext cx="50566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所有保留循环都进校准集。样本多、下界紧，但同机相关让有效样本量远小于名义数。覆盖率还成不成立，靠实验看，而不是靠推。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09360" y="5623560"/>
            <a:ext cx="5056632" cy="548640"/>
          </a:xfrm>
          <a:prstGeom prst="rect">
            <a:avLst/>
          </a:prstGeom>
          <a:solidFill>
            <a:srgbClr val="FFF4E0"/>
          </a:solidFill>
          <a:ln w="12700">
            <a:solidFill>
              <a:srgbClr val="FFF4E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46520" y="5623560"/>
            <a:ext cx="4782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A65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Cw1 是安全的，Cw 是实用的。论文里两个都报，差距本身就是结果。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2C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修正三：不编成本参数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没有真实数字，就不做成本曲线；改报五个指标，都在 summarize_lpb 里算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120640" cy="201168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581912"/>
            <a:ext cx="4718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2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去掉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1965960"/>
            <a:ext cx="471830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维修触发规则加总成本曲线。拆检成本、停场成本没有真实来源，编出来审稿人一问就穿。以后拿到真实成本再做；拿不到，最多做成本比例的敏感性分析，并明说是敏感性。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3566160"/>
            <a:ext cx="5120640" cy="2743200"/>
          </a:xfrm>
          <a:prstGeom prst="rect">
            <a:avLst/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3730752"/>
            <a:ext cx="4718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C4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下界上限是 c0，这不是缺陷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4114800"/>
            <a:ext cx="471830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DCE7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方法给出的下界永远不超过 c0。也就是说它只回答一个问题：这台机能不能安全飞过接下来 c0 个循环。维修决策问的正是这个，c0 就是决策视野，脚本里跑 20、30、50 三档。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35040" y="1417320"/>
            <a:ext cx="5605272" cy="489204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36208" y="1581912"/>
            <a:ext cx="5202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改报这五个，s03 结果表每行都有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09360" y="1965960"/>
            <a:ext cx="310896" cy="310896"/>
          </a:xfrm>
          <a:prstGeom prst="ellipse">
            <a:avLst/>
          </a:prstGeom>
          <a:solidFill>
            <a:srgbClr val="2E4A6B"/>
          </a:solidFill>
          <a:ln w="12700">
            <a:solidFill>
              <a:srgbClr val="2E4A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09360" y="19659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748272" y="1920240"/>
            <a:ext cx="4599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总体覆盖率  </a:t>
            </a:r>
            <a:pPr indent="0" marL="0">
              <a:buNone/>
            </a:pPr>
            <a:r>
              <a:rPr lang="en-US" sz="1200" b="1" dirty="0">
                <a:solidFill>
                  <a:srgbClr val="6E7A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coverage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748272" y="2286000"/>
            <a:ext cx="4599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P(真实 RUL ≥ 下界)，测试集全部循环，应不低于 90%。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309360" y="2816352"/>
            <a:ext cx="310896" cy="310896"/>
          </a:xfrm>
          <a:prstGeom prst="ellipse">
            <a:avLst/>
          </a:prstGeom>
          <a:solidFill>
            <a:srgbClr val="2E4A6B"/>
          </a:solidFill>
          <a:ln w="12700">
            <a:solidFill>
              <a:srgbClr val="2E4A6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09360" y="28163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748272" y="2770632"/>
            <a:ext cx="4599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决策区覆盖率  </a:t>
            </a:r>
            <a:pPr indent="0" marL="0">
              <a:buNone/>
            </a:pPr>
            <a:r>
              <a:rPr lang="en-US" sz="1200" b="1" dirty="0">
                <a:solidFill>
                  <a:srgbClr val="6E7A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cov_dec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748272" y="3136392"/>
            <a:ext cx="4599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只看真实 RUL &lt; c0 的样本。这一段报错才出事，其余段下界天然满足。最要紧的数。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309360" y="3666744"/>
            <a:ext cx="310896" cy="310896"/>
          </a:xfrm>
          <a:prstGeom prst="ellipse">
            <a:avLst/>
          </a:prstGeom>
          <a:solidFill>
            <a:srgbClr val="2E4A6B"/>
          </a:solidFill>
          <a:ln w="12700">
            <a:solidFill>
              <a:srgbClr val="2E4A6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09360" y="36667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748272" y="3621024"/>
            <a:ext cx="4599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分段覆盖率  </a:t>
            </a:r>
            <a:pPr indent="0" marL="0">
              <a:buNone/>
            </a:pPr>
            <a:r>
              <a:rPr lang="en-US" sz="1200" b="1" dirty="0">
                <a:solidFill>
                  <a:srgbClr val="6E7A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cov[a,b)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748272" y="3986784"/>
            <a:ext cx="4599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按真实 RUL 分 [0,15)、[15,30)、[30,60)、[60,125] 四段各报一个。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309360" y="4517136"/>
            <a:ext cx="310896" cy="310896"/>
          </a:xfrm>
          <a:prstGeom prst="ellipse">
            <a:avLst/>
          </a:prstGeom>
          <a:solidFill>
            <a:srgbClr val="2E4A6B"/>
          </a:solidFill>
          <a:ln w="12700">
            <a:solidFill>
              <a:srgbClr val="2E4A6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09360" y="45171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748272" y="4471416"/>
            <a:ext cx="4599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平均下界  </a:t>
            </a:r>
            <a:pPr indent="0" marL="0">
              <a:buNone/>
            </a:pPr>
            <a:r>
              <a:rPr lang="en-US" sz="1200" b="1" dirty="0">
                <a:solidFill>
                  <a:srgbClr val="6E7A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mean_L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748272" y="4837176"/>
            <a:ext cx="4599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有限下界的均值，衡量紧不紧。永远说“至少 0 个循环”覆盖率也是 100%，所以必须一起看。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309360" y="5367528"/>
            <a:ext cx="310896" cy="310896"/>
          </a:xfrm>
          <a:prstGeom prst="ellipse">
            <a:avLst/>
          </a:prstGeom>
          <a:solidFill>
            <a:srgbClr val="2E4A6B"/>
          </a:solidFill>
          <a:ln w="12700">
            <a:solidFill>
              <a:srgbClr val="2E4A6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309360" y="53675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748272" y="5321808"/>
            <a:ext cx="4599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无信息界比例  </a:t>
            </a:r>
            <a:pPr indent="0" marL="0">
              <a:buNone/>
            </a:pPr>
            <a:r>
              <a:rPr lang="en-US" sz="1200" b="1" dirty="0">
                <a:solidFill>
                  <a:srgbClr val="6E7A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trivial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748272" y="5687568"/>
            <a:ext cx="4599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下界为负无穷的样本占比。校准集太小或权重太极端时会出现。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2C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样本量：先算再说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FD001 的真实数字，以及核算公式；核算表由 s03 打印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66160" cy="1051560"/>
          </a:xfrm>
          <a:prstGeom prst="rect">
            <a:avLst/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48132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C46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100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8424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CE7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台发动机，训练集全部跑到失效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97680" y="1417320"/>
            <a:ext cx="3566160" cy="1051560"/>
          </a:xfrm>
          <a:prstGeom prst="rect">
            <a:avLst/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26280" y="148132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C46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20631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4526280" y="198424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CE7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行样本，每台平均约 206 个循环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046720" y="1417320"/>
            <a:ext cx="3566160" cy="1051560"/>
          </a:xfrm>
          <a:prstGeom prst="rect">
            <a:avLst/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75320" y="148132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C46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128 – 362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8275320" y="198424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CE7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循环数范围，最短的机只有 128 个循环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651760"/>
            <a:ext cx="5486400" cy="365760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9808" y="2816352"/>
            <a:ext cx="5084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核算公式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49808" y="310896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2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保留样本数 = Σ_i max( 0, min( O_i, C_i − c0 ) )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49808" y="352044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2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保留发动机数 = #{ i : C_i − c0 ≥ 1 }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49808" y="4023360"/>
            <a:ext cx="5120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O_i = min(F_i, C_i) 是实际观测到的循环数。三台机的手算例子：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F=200, C=150 → min(150, 120) = 120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F=200, C=260 → min(200, 230) = 200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F=200, C=210 → min(200, 180) = 180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校准折按 40% 划，FD001 是 40 台。s03 对三档删失率乘四档 c0 各算一遍，写到 s03_accounting.csv，F04 画成图。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0" y="2651760"/>
            <a:ext cx="5239512" cy="3657600"/>
          </a:xfrm>
          <a:prstGeom prst="rect">
            <a:avLst/>
          </a:prstGeom>
          <a:solidFill>
            <a:srgbClr val="FFF4E0"/>
          </a:solidFill>
          <a:ln w="12700">
            <a:solidFill>
              <a:srgbClr val="FFF4E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601968" y="2816352"/>
            <a:ext cx="4837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9A65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两条底线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601968" y="3200400"/>
            <a:ext cx="4837176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9A65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第一，校准折保留发动机少于 30 台，一机一点方案（Cw1）不做。90% 分位数在二十几个数上取没有意义。汇报时把低于 30 的组合标出来。</a:t>
            </a:r>
            <a:endParaRPr lang="en-US" sz="1100" dirty="0"/>
          </a:p>
          <a:p>
            <a:pPr indent="0" marL="0">
              <a:lnSpc>
                <a:spcPct val="125000"/>
              </a:lnSpc>
              <a:spcAft>
                <a:spcPts val="500"/>
              </a:spcAft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9A65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第二，完整的核算表由 s03 打印：三档删失率乘四档 c0。表出来之前，不定删失率的上限。60% 那一档很可能要放弃，放弃就放弃。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2C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数据长什么样：C-MAPSS 文件格式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 列，空格分隔，没有表头；s01_inspect.py 把这些都打印出来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676656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011680"/>
                <a:gridCol w="39319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列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内容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本次怎么用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发动机编号 unit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分组键，划分训练与校准按它来；RUL 文件第 k 行对应测试机 k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循环序号 t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作为协变量进模型，修正一的权重也用它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 – 5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三个工况设置 op1-3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FD001 单工况，带小噪声，本次不用；FD002/FD004 有 6 种，下次课用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 – 26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21 个传感器 s1-s21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去掉 1, 5, 6, 10, 16, 18, 19 七个近零方差的，剩 14 个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794760"/>
            <a:ext cx="6766560" cy="251460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49808" y="3959352"/>
            <a:ext cx="6364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标签与划分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49808" y="4343400"/>
            <a:ext cx="63642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训练集：每台机跑到失效，RUL = F − t，封顶 125（论文二的做法）。add_labels_train。</a:t>
            </a:r>
            <a:endParaRPr lang="en-US" sz="1100" dirty="0"/>
          </a:p>
          <a:p>
            <a:pPr indent="0" marL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测试集：每台机在失效前被截断，RUL 文件给最后一刻的真实 RUL，往前推得每个循环的 RUL。add_labels_test。</a:t>
            </a:r>
            <a:endParaRPr lang="en-US" sz="1100" dirty="0"/>
          </a:p>
          <a:p>
            <a:pPr indent="0" marL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划分：按发动机 60 / 40 分训练折与校准折，种子 2026。比论文二的 90 / 10 多留校准，因为一机一点方案需要足够多的发动机。split_engines。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589520" y="1417320"/>
            <a:ext cx="4050792" cy="4892040"/>
          </a:xfrm>
          <a:prstGeom prst="rect">
            <a:avLst/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90688" y="1581912"/>
            <a:ext cx="3648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C4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特征：build_features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790688" y="1965960"/>
            <a:ext cx="3648456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DCE7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个传感器的当前值</a:t>
            </a:r>
            <a:endParaRPr lang="en-US" sz="1100" dirty="0"/>
          </a:p>
          <a:p>
            <a:pPr indent="0" marL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DCE7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个传感器最近 30 个循环的滚动均值</a:t>
            </a:r>
            <a:endParaRPr lang="en-US" sz="1100" dirty="0"/>
          </a:p>
          <a:p>
            <a:pPr indent="0" marL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DCE7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个传感器最近 30 个循环的滚动标准差</a:t>
            </a:r>
            <a:endParaRPr lang="en-US" sz="1100" dirty="0"/>
          </a:p>
          <a:p>
            <a:pPr indent="0" marL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DCE7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循环序号 t</a:t>
            </a:r>
            <a:endParaRPr lang="en-US" sz="1100" dirty="0"/>
          </a:p>
          <a:p>
            <a:pPr indent="0" marL="0">
              <a:lnSpc>
                <a:spcPct val="125000"/>
              </a:lnSpc>
              <a:spcAft>
                <a:spcPts val="500"/>
              </a:spcAft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DCE7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 43 维。滚动量只用过去的数据，不会泄漏未来；窗口不足 30 时用已有的算。</a:t>
            </a:r>
            <a:endParaRPr lang="en-US" sz="1100" dirty="0"/>
          </a:p>
          <a:p>
            <a:pPr indent="0" marL="0">
              <a:lnSpc>
                <a:spcPct val="125000"/>
              </a:lnSpc>
              <a:spcAft>
                <a:spcPts val="500"/>
              </a:spcAft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DCE7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点预测器用梯度提升树（HistGradientBoostingRegressor，300 轮），CPU 几秒训完，不需要显卡。这一步不是重点，够用就行，不调参。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2C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今天要跑通的流程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六步，脚本 s02 对应无删失版本，s03 对应删失版本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734312" cy="160020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581912"/>
            <a:ext cx="329184" cy="329184"/>
          </a:xfrm>
          <a:prstGeom prst="ellipse">
            <a:avLst/>
          </a:prstGeom>
          <a:solidFill>
            <a:srgbClr val="2E4A6B"/>
          </a:solidFill>
          <a:ln w="12700">
            <a:solidFill>
              <a:srgbClr val="2E4A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819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1984248"/>
            <a:ext cx="1459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读数据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313432"/>
            <a:ext cx="1459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训练、测试、RUL 三个文件 load_subset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20112" y="1417320"/>
            <a:ext cx="1734312" cy="160020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84704" y="1581912"/>
            <a:ext cx="329184" cy="329184"/>
          </a:xfrm>
          <a:prstGeom prst="ellipse">
            <a:avLst/>
          </a:prstGeom>
          <a:solidFill>
            <a:srgbClr val="2E4A6B"/>
          </a:solidFill>
          <a:ln w="12700">
            <a:solidFill>
              <a:srgbClr val="2E4A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584704" y="15819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584704" y="1984248"/>
            <a:ext cx="1459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造特征与标签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584704" y="2313432"/>
            <a:ext cx="1459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43 维特征，RUL 封顶 125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291584" y="1417320"/>
            <a:ext cx="1734312" cy="160020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56176" y="1581912"/>
            <a:ext cx="329184" cy="329184"/>
          </a:xfrm>
          <a:prstGeom prst="ellipse">
            <a:avLst/>
          </a:prstGeom>
          <a:solidFill>
            <a:srgbClr val="2E4A6B"/>
          </a:solidFill>
          <a:ln w="12700">
            <a:solidFill>
              <a:srgbClr val="2E4A6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456176" y="15819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456176" y="1984248"/>
            <a:ext cx="1459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按发动机划分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456176" y="2313432"/>
            <a:ext cx="1459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60% 训练折，40% 校准折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163056" y="1417320"/>
            <a:ext cx="1734312" cy="160020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27648" y="1581912"/>
            <a:ext cx="329184" cy="329184"/>
          </a:xfrm>
          <a:prstGeom prst="ellipse">
            <a:avLst/>
          </a:prstGeom>
          <a:solidFill>
            <a:srgbClr val="2E4A6B"/>
          </a:solidFill>
          <a:ln w="12700">
            <a:solidFill>
              <a:srgbClr val="2E4A6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27648" y="15819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327648" y="1984248"/>
            <a:ext cx="1459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点预测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327648" y="2313432"/>
            <a:ext cx="1459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梯度提升树，训练折上拟合 fit_model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034528" y="1417320"/>
            <a:ext cx="1734312" cy="1600200"/>
          </a:xfrm>
          <a:prstGeom prst="rect">
            <a:avLst/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99120" y="1581912"/>
            <a:ext cx="329184" cy="329184"/>
          </a:xfrm>
          <a:prstGeom prst="ellipse">
            <a:avLst/>
          </a:prstGeom>
          <a:solidFill>
            <a:srgbClr val="E39B26"/>
          </a:solidFill>
          <a:ln w="12700">
            <a:solidFill>
              <a:srgbClr val="E39B2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199120" y="15819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199120" y="1984248"/>
            <a:ext cx="1459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C4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共形校准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8199120" y="2313432"/>
            <a:ext cx="1459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CE7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校准折上算得分，取加权分位数 weighted_lpb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906000" y="1417320"/>
            <a:ext cx="1734312" cy="160020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070592" y="1581912"/>
            <a:ext cx="329184" cy="329184"/>
          </a:xfrm>
          <a:prstGeom prst="ellipse">
            <a:avLst/>
          </a:prstGeom>
          <a:solidFill>
            <a:srgbClr val="2E4A6B"/>
          </a:solidFill>
          <a:ln w="12700">
            <a:solidFill>
              <a:srgbClr val="2E4A6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070592" y="15819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10070592" y="1984248"/>
            <a:ext cx="1459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10070592" y="2313432"/>
            <a:ext cx="1459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测试集全部循环，五个指标 summarize_lpb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48640" y="3200400"/>
            <a:ext cx="11091672" cy="310896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49808" y="3364992"/>
            <a:ext cx="10689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s03 在第五步前多两个动作，都在 s03_censoring.py 里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749808" y="3703320"/>
            <a:ext cx="10689336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造删失 gen_censoring：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给每台训练机抽一个下线时刻 C_i ~ Uniform(60, U) 取整，与该机寿命 F_i 无关；U 用二分法调到 mean(C_i &lt; F_i) 命中目标删失率 20% / 40% / 60%。下线时刻对每台机都记录，对应论文一的 Type-I 设定，现实含义是计划性退役日期事先知道。观测长度 O_i = min(F_i, C_i)，失效指示 δ_i = 1{F_i ≤ C_i}。种子 2026 + 删失率 × 100，结果可复现。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选样本加权 keep / weight_fn：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按修正一的规则保留 C_i − t ≥ c0 的样本；标签 y = min(RUL, c0) 在保留样本上可观测（失效机且 F − t ≤ c0 取 F − t，否则取 c0）；权重 1 / S_C(t + c0)，S_C 用训练折全部发动机的下线时刻做经验生存函数，分母下限 1 / 训练折台数。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两道保险：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脚本用 assert 核对保留样本上按可观测量算出的标签等于真值 min(RUL, c0)，不等就停；每个删失率开头打印目标与实际删失率，相差超过 0.03 也要停。所有表都写到 results/，s04 只读这些 CSV，不再碰模型。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2C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下界怎么算，一页够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无删失时权重全为 1，退化成普通分裂共形；三行公式对应 weighted_lpb 里的三段代码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91672" cy="123444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18488"/>
            <a:ext cx="365760" cy="365760"/>
          </a:xfrm>
          <a:prstGeom prst="ellipse">
            <a:avLst/>
          </a:prstGeom>
          <a:solidFill>
            <a:srgbClr val="E39B26"/>
          </a:solidFill>
          <a:ln w="12700">
            <a:solidFill>
              <a:srgbClr val="E39B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6184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58191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得分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286000" y="15544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2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V_j  =  m̂ ( x_j )  −  y_j ,    y_j  =  min ( RUL_j ,  c0 )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286000" y="2039112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E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预测值减真值。预测偏高得分为正，这正是我们要防的方向。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680960" y="1554480"/>
            <a:ext cx="3776472" cy="960120"/>
          </a:xfrm>
          <a:prstGeom prst="rect">
            <a:avLst/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863840" y="1554480"/>
            <a:ext cx="34107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 = yhat_cal − y_cal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788920"/>
            <a:ext cx="11091672" cy="123444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2990088"/>
            <a:ext cx="365760" cy="365760"/>
          </a:xfrm>
          <a:prstGeom prst="ellipse">
            <a:avLst/>
          </a:prstGeom>
          <a:solidFill>
            <a:srgbClr val="E39B26"/>
          </a:solidFill>
          <a:ln w="12700">
            <a:solidFill>
              <a:srgbClr val="E39B2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2990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295351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临界值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2286000" y="29260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2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η ( x )  =  Quantile_{1−α} ( Σ_j p_j δ_{V_j}  +  p_∞ δ_∞ )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2286000" y="3410712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E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加权经验分位数。p_j 正比于 w_j，p_∞ 正比于测试点自己的权重 w(x)。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680960" y="2926080"/>
            <a:ext cx="3776472" cy="960120"/>
          </a:xfrm>
          <a:prstGeom prst="rect">
            <a:avLst/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863840" y="2926080"/>
            <a:ext cx="34107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 = (1−α)(Σw + w_test)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idx = searchsorted(cumw, thr)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η = V_sorted[idx]，越界则 η = ∞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160520"/>
            <a:ext cx="11091672" cy="123444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4361688"/>
            <a:ext cx="365760" cy="365760"/>
          </a:xfrm>
          <a:prstGeom prst="ellipse">
            <a:avLst/>
          </a:prstGeom>
          <a:solidFill>
            <a:srgbClr val="E39B26"/>
          </a:solidFill>
          <a:ln w="12700">
            <a:solidFill>
              <a:srgbClr val="E39B2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4361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280160" y="432511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下界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2286000" y="42976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2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 ( x )  =  ( m̂ ( x )  −  η ( x ) )  ∧  c0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2286000" y="4782312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E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预测值减去安全边际，再用 c0 封顶。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680960" y="4297680"/>
            <a:ext cx="3776472" cy="960120"/>
          </a:xfrm>
          <a:prstGeom prst="rect">
            <a:avLst/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863840" y="4297680"/>
            <a:ext cx="34107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 = yhat_test − η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 = minimum(L, cap)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5577840"/>
            <a:ext cx="11091672" cy="731520"/>
          </a:xfrm>
          <a:prstGeom prst="rect">
            <a:avLst/>
          </a:prstGeom>
          <a:solidFill>
            <a:srgbClr val="FFF4E0"/>
          </a:solidFill>
          <a:ln w="12700">
            <a:solidFill>
              <a:srgbClr val="FFF4E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77240" y="5577840"/>
            <a:ext cx="10634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65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权重极端时 p_∞ 会接近 1，η 变成无穷，下界变成负无穷。脚本对 S_C 设了下限截断，并单独统计这类无信息界的比例 trivial。两侧区间（论文二那种）另在 split_conformal_twosided 里，得分 |y − m̂|，只在 s02 里用来确认复现无误。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2C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六条对比线，代号与代码一致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s03 对每个删失率和 c0 各跑一遍，结果表 s03_methods.csv 的 method_code 列就是这六个代号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1672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377440"/>
                <a:gridCol w="4023360"/>
                <a:gridCol w="3776472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代号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做法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训练与校准用什么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作用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522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无删失参照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完整数据，标签 min(RUL, c0)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上界参照：删失造成的损失有多大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23A48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522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丢弃删失机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只用跑到失效的发动机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常见错误做法一：样本变少，且分布有偏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39B26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522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把下线当失效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观测到的全部行，标签 min(O_i − t, c0)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常见错误做法二：标签系统性偏低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E7A8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Cu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522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选样本，不加权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保留 C_i − t ≥ c0 的样本，权重 1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消融：不修正 t 引起的偏移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4A6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Cw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522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选样本，加权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同上，权重 1 / S_C(t + c0)，全部保留循环校准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现行方法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D7A5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Cw1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522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选样本，加权，一机一点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同上，每台校准机抽一个循环，重复 20 次取均值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校准点严格可交换的版本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074920"/>
            <a:ext cx="5394960" cy="123444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49808" y="5239512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两组对照各说明一件事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749808" y="5623560"/>
            <a:ext cx="4992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 对 Cw：只差权重，差就是修正一副产品的证据。</a:t>
            </a:r>
            <a:endParaRPr lang="en-US" sz="1100" dirty="0"/>
          </a:p>
          <a:p>
            <a:pPr indent="0" marL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Cw 对 Cw1：只差校准点是全部循环还是一机一点，差就是修正二两个方案的代价。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126480" y="5074920"/>
            <a:ext cx="5513832" cy="1234440"/>
          </a:xfrm>
          <a:prstGeom prst="rect">
            <a:avLst/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327648" y="5239512"/>
            <a:ext cx="5111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2C4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读表先看哪一列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327648" y="5623560"/>
            <a:ext cx="5111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DCE7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先看 cov_dec，再看 mean_L，最后看 trivial。E 是天花板，A 与 B 应该明显差，Cw 应该接近 E。不符合预期，改的是解释，不是数据。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2C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评估协议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测试集怎么用，分段怎么分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94960" cy="214884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581912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用测试集的全部循环，不只用最后一点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1965960"/>
            <a:ext cx="49926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论文二只用每台测试机的最后一个循环，FD001 一共 100 个点，分段之后每段十几个，没法看。测试机每个循环的真实 RUL 都能从 RUL 文件往前推，全部用上有 13096 个点。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3703320"/>
            <a:ext cx="5394960" cy="2606040"/>
          </a:xfrm>
          <a:prstGeom prst="rect">
            <a:avLst/>
          </a:prstGeom>
          <a:solidFill>
            <a:srgbClr val="152238"/>
          </a:solidFill>
          <a:ln w="12700">
            <a:solidFill>
              <a:srgbClr val="15223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3867912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C4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但要说清楚一件事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4251960"/>
            <a:ext cx="499262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DCE7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13096 个点来自 100 台机，同机高度相关。覆盖率的点估计没问题，但它的不确定性要按 100 台机算，不能按 13096 算。论文里写清楚这一句，审稿人就不会拿它做文章。</a:t>
            </a:r>
            <a:endParaRPr lang="en-US" sz="1100" dirty="0"/>
          </a:p>
          <a:p>
            <a:pPr indent="0" marL="0">
              <a:lnSpc>
                <a:spcPct val="125000"/>
              </a:lnSpc>
              <a:spcAft>
                <a:spcPts val="500"/>
              </a:spcAft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DCE7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另一件事：测试机是在失效前随机截断的，靠近失效的点比训练集少，决策区的点数 n_dec 会明显少于总数，表里单独给了。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1417320"/>
            <a:ext cx="5330952" cy="489204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10528" y="1581912"/>
            <a:ext cx="4928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按真实 RUL 分四段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1965960"/>
          <a:ext cx="4782312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188720"/>
                <a:gridCol w="2404872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段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含义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c0 = 30 时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[0, 15)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临近失效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决策区，最要紧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[15, 30)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短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决策区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[30, 60)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下界被封顶，覆盖趋于平凡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[60, 125]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长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同上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 txBox="1"/>
          <p:nvPr/>
        </p:nvSpPr>
        <p:spPr>
          <a:xfrm>
            <a:off x="6583680" y="3977640"/>
            <a:ext cx="478231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分段的边界跟着 c0 走。c0 换成 50，决策区就是前三段；c0 = 20 时决策区是第一段加第二段的前一半，表里用 cov_dec 直接给。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脚本同时打印总体覆盖率和决策区覆盖率，两个数一起看：总体达标而决策区不达标，就是论文二自己承认的那个问题，也是论文一 Theorem 5 条件覆盖不可能的具体形态。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2C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五个脚本，按顺序跑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每一个的输出都要贴回来；只改脚本顶部的 DATA_DIR，或把数据目录作为命令行参数传入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896112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627632"/>
            <a:ext cx="365760" cy="365760"/>
          </a:xfrm>
          <a:prstGeom prst="ellipse">
            <a:avLst/>
          </a:prstGeom>
          <a:solidFill>
            <a:srgbClr val="6E7A8A"/>
          </a:solidFill>
          <a:ln w="12700">
            <a:solidFill>
              <a:srgbClr val="6E7A8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627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48132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2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s00_env.py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18288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环境自检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3291840" y="1463040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打印 Python 与 numpy / pandas / scikit-learn 版本，Rscript 是否在 PATH，宋体与 Times New Roman 字体文件是否存在，FD001 三个文件是否齐全。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046720" y="1481328"/>
            <a:ext cx="3410712" cy="676656"/>
          </a:xfrm>
          <a:prstGeom prst="rect">
            <a:avLst/>
          </a:prstGeom>
          <a:solidFill>
            <a:srgbClr val="FFF4E0"/>
          </a:solidFill>
          <a:ln w="12700">
            <a:solidFill>
              <a:srgbClr val="FFF4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83880" y="1481328"/>
            <a:ext cx="31363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9A65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验收：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A65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三个包有版本号；Rscript 找得到；两个字体都“有”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359152"/>
            <a:ext cx="11091672" cy="896112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9808" y="2615184"/>
            <a:ext cx="365760" cy="365760"/>
          </a:xfrm>
          <a:prstGeom prst="ellipse">
            <a:avLst/>
          </a:prstGeom>
          <a:solidFill>
            <a:srgbClr val="2E4A6B"/>
          </a:solidFill>
          <a:ln w="12700">
            <a:solidFill>
              <a:srgbClr val="2E4A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9808" y="26151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24688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2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s01_inspect.py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281635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探查结构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3291840" y="2450592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打印四个子集每个文件的形状、前五行、发动机台数、每台循环数、各列标准差、工况组合数。不建模。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046720" y="2468880"/>
            <a:ext cx="3410712" cy="676656"/>
          </a:xfrm>
          <a:prstGeom prst="rect">
            <a:avLst/>
          </a:prstGeom>
          <a:solidFill>
            <a:srgbClr val="FFF4E0"/>
          </a:solidFill>
          <a:ln w="12700">
            <a:solidFill>
              <a:srgbClr val="FFF4E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183880" y="2468880"/>
            <a:ext cx="31363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9A65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验收：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A65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 列无 NaN；训练 100 台 20631 行；近零方差传感器 1,5,6,10,16,18,19；FD001 工况组合 1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346704"/>
            <a:ext cx="11091672" cy="896112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9808" y="3602736"/>
            <a:ext cx="365760" cy="365760"/>
          </a:xfrm>
          <a:prstGeom prst="ellipse">
            <a:avLst/>
          </a:prstGeom>
          <a:solidFill>
            <a:srgbClr val="3D7A5A"/>
          </a:solidFill>
          <a:ln w="12700">
            <a:solidFill>
              <a:srgbClr val="3D7A5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49808" y="36027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280160" y="345643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2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s02_baseline.py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280160" y="380390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无删失基线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3291840" y="3438144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跑通六步流程。先算论文二那种两侧区间确认复现无误；再算一侧下界，全部循环校准与一机一点校准各一版。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046720" y="3456432"/>
            <a:ext cx="3410712" cy="676656"/>
          </a:xfrm>
          <a:prstGeom prst="rect">
            <a:avLst/>
          </a:prstGeom>
          <a:solidFill>
            <a:srgbClr val="FFF4E0"/>
          </a:solidFill>
          <a:ln w="12700">
            <a:solidFill>
              <a:srgbClr val="FFF4E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183880" y="3456432"/>
            <a:ext cx="31363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9A65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验收：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A65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两侧区间覆盖率 0.87 到 0.93；两行下界覆盖率不明显低于 0.85；results/ 出现 4 个 s02 文件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4334256"/>
            <a:ext cx="11091672" cy="896112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9808" y="4590288"/>
            <a:ext cx="365760" cy="365760"/>
          </a:xfrm>
          <a:prstGeom prst="ellipse">
            <a:avLst/>
          </a:prstGeom>
          <a:solidFill>
            <a:srgbClr val="E39B26"/>
          </a:solidFill>
          <a:ln w="12700">
            <a:solidFill>
              <a:srgbClr val="E39B2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49808" y="45902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1280160" y="444398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2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s03_censoring.py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1280160" y="479145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删失版本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3291840" y="4425696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先打印样本量核算表；再对三档删失率乘三档 c0 跑六条线；断言保留样本标签与真值一致。约几分钟。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046720" y="4443984"/>
            <a:ext cx="3410712" cy="676656"/>
          </a:xfrm>
          <a:prstGeom prst="rect">
            <a:avLst/>
          </a:prstGeom>
          <a:solidFill>
            <a:srgbClr val="FFF4E0"/>
          </a:solidFill>
          <a:ln w="12700">
            <a:solidFill>
              <a:srgbClr val="FFF4E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183880" y="4443984"/>
            <a:ext cx="31363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9A65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验收：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A65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实际删失率与目标差不超过 0.03；核算表记录校准折保留发动机数；断言不触发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48640" y="5321808"/>
            <a:ext cx="11091672" cy="896112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49808" y="5577840"/>
            <a:ext cx="365760" cy="365760"/>
          </a:xfrm>
          <a:prstGeom prst="ellipse">
            <a:avLst/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49808" y="5577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1280160" y="543153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2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s04_figures.R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1280160" y="577900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出图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3291840" y="5413248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 results/ 的 CSV 出 11 张图到 figures/，宋体五号，Times New Roman 五号，PNG 与 PDF 各一份。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8046720" y="5431536"/>
            <a:ext cx="3410712" cy="676656"/>
          </a:xfrm>
          <a:prstGeom prst="rect">
            <a:avLst/>
          </a:prstGeom>
          <a:solidFill>
            <a:srgbClr val="FFF4E0"/>
          </a:solidFill>
          <a:ln w="12700">
            <a:solidFill>
              <a:srgbClr val="FFF4E0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183880" y="5431536"/>
            <a:ext cx="31363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9A65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验收：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A65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 个文件；日志无“回退到系统字体”；F07 到 F09 目视无乱码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548640" y="63550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或者双击 run_all.bat（可带数据目录参数），日志在 logs/。顺序不能乱：s01 的输出如果和第 9 页说的格式不一样，先停下来，不要跑 s02。跑不通贴报错，不要自己改代码。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2C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跑完会得到 11 张图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s04_figures.R 生成，宋体五号，Times New Roman 五号，PNG 与 PDF 各一份；只出这 11 张，不自行加图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08676" cy="694944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371600"/>
            <a:ext cx="731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F01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444752"/>
            <a:ext cx="43113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失效循环数分布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755648"/>
            <a:ext cx="43113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数据描述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31636" y="1371600"/>
            <a:ext cx="5408676" cy="694944"/>
          </a:xfrm>
          <a:prstGeom prst="rect">
            <a:avLst/>
          </a:prstGeom>
          <a:solidFill>
            <a:srgbClr val="FFF4E0"/>
          </a:solidFill>
          <a:ln w="12700">
            <a:solidFill>
              <a:srgbClr val="FFF4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14516" y="1371600"/>
            <a:ext cx="731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651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F07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191756" y="1444752"/>
            <a:ext cx="43113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总体与决策区覆盖率随删失率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7191756" y="1755648"/>
            <a:ext cx="43113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主结果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157984"/>
            <a:ext cx="5408676" cy="694944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2157984"/>
            <a:ext cx="731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F02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2231136"/>
            <a:ext cx="43113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传感器退化轨迹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1508760" y="2542032"/>
            <a:ext cx="43113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数据描述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31636" y="2157984"/>
            <a:ext cx="5408676" cy="694944"/>
          </a:xfrm>
          <a:prstGeom prst="rect">
            <a:avLst/>
          </a:prstGeom>
          <a:solidFill>
            <a:srgbClr val="FFF4E0"/>
          </a:solidFill>
          <a:ln w="12700">
            <a:solidFill>
              <a:srgbClr val="FFF4E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14516" y="2157984"/>
            <a:ext cx="731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651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F08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191756" y="2231136"/>
            <a:ext cx="43113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分段覆盖率柱状图，各方法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7191756" y="2542032"/>
            <a:ext cx="43113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主结果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2944368"/>
            <a:ext cx="5408676" cy="694944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2944368"/>
            <a:ext cx="731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F03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508760" y="3017520"/>
            <a:ext cx="43113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删失时间线：保留、丢弃、失效、删失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1508760" y="3328416"/>
            <a:ext cx="43113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4 页的图，用真数据画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31636" y="2944368"/>
            <a:ext cx="5408676" cy="694944"/>
          </a:xfrm>
          <a:prstGeom prst="rect">
            <a:avLst/>
          </a:prstGeom>
          <a:solidFill>
            <a:srgbClr val="FFF4E0"/>
          </a:solidFill>
          <a:ln w="12700">
            <a:solidFill>
              <a:srgbClr val="FFF4E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14516" y="2944368"/>
            <a:ext cx="731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651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F09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191756" y="3017520"/>
            <a:ext cx="43113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决策区覆盖率 对 平均下界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7191756" y="3328416"/>
            <a:ext cx="43113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覆盖率与紧度的取舍，主结果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3730752"/>
            <a:ext cx="5408676" cy="694944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31520" y="3730752"/>
            <a:ext cx="731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F04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508760" y="3803904"/>
            <a:ext cx="43113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样本量核算随 c0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1508760" y="4114800"/>
            <a:ext cx="43113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8 页的表，画成图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231636" y="3730752"/>
            <a:ext cx="5408676" cy="694944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14516" y="3730752"/>
            <a:ext cx="731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F10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7191756" y="3803904"/>
            <a:ext cx="43113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一台测试机的真实 RUL 与各方法下界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7191756" y="4114800"/>
            <a:ext cx="43113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最直观的一张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48640" y="4517136"/>
            <a:ext cx="5408676" cy="694944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31520" y="4517136"/>
            <a:ext cx="731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F05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1508760" y="4590288"/>
            <a:ext cx="43113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 w(t) 随 t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1508760" y="4901184"/>
            <a:ext cx="43113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5 页的表，画成图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231636" y="4517136"/>
            <a:ext cx="5408676" cy="694944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414516" y="4517136"/>
            <a:ext cx="731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F11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7191756" y="4590288"/>
            <a:ext cx="43113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两侧区间排序图</a:t>
            </a:r>
            <a:endParaRPr lang="en-US" sz="1150" dirty="0"/>
          </a:p>
        </p:txBody>
      </p:sp>
      <p:sp>
        <p:nvSpPr>
          <p:cNvPr id="43" name="Text 41"/>
          <p:cNvSpPr txBox="1"/>
          <p:nvPr/>
        </p:nvSpPr>
        <p:spPr>
          <a:xfrm>
            <a:off x="7191756" y="4901184"/>
            <a:ext cx="43113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复现论文二的图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48640" y="5303520"/>
            <a:ext cx="5408676" cy="694944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731520" y="5303520"/>
            <a:ext cx="731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F06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1508760" y="5376672"/>
            <a:ext cx="43113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基线分段覆盖：全部循环 vs 一机一点</a:t>
            </a:r>
            <a:endParaRPr lang="en-US" sz="1150" dirty="0"/>
          </a:p>
        </p:txBody>
      </p:sp>
      <p:sp>
        <p:nvSpPr>
          <p:cNvPr id="47" name="Text 45"/>
          <p:cNvSpPr txBox="1"/>
          <p:nvPr/>
        </p:nvSpPr>
        <p:spPr>
          <a:xfrm>
            <a:off x="1508760" y="5687568"/>
            <a:ext cx="43113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6 页两方案的差，无删失时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548640" y="61722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7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橙色三张是论文实验节的主结果图，其余用于课件和数据描述。图的编号和文件名一致。重点删失率与 c0 在脚本顶部的 FOCUS_RATE（0.40）、FOCUS_C0（30）改。</a:t>
            </a:r>
            <a:endParaRPr lang="en-US" sz="1050" dirty="0"/>
          </a:p>
        </p:txBody>
      </p:sp>
      <p:sp>
        <p:nvSpPr>
          <p:cNvPr id="49" name="Text 47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2C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作业与下次课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11091672" cy="960120"/>
          </a:xfrm>
          <a:prstGeom prst="rect">
            <a:avLst/>
          </a:prstGeom>
          <a:solidFill>
            <a:srgbClr val="1F3352"/>
          </a:solidFill>
          <a:ln w="12700">
            <a:solidFill>
              <a:srgbClr val="1F335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280160"/>
            <a:ext cx="1280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C4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作业一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2286000" y="1280160"/>
            <a:ext cx="90799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CE7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五个脚本跑通（四个 Python 一个 R），控制台输出和图贴到群里，按移交文档第 9 节的顺序。跑不通的贴报错，不要自己改代码。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11091672" cy="960120"/>
          </a:xfrm>
          <a:prstGeom prst="rect">
            <a:avLst/>
          </a:prstGeom>
          <a:solidFill>
            <a:srgbClr val="1F3352"/>
          </a:solidFill>
          <a:ln w="12700">
            <a:solidFill>
              <a:srgbClr val="1F335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377440"/>
            <a:ext cx="1280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C4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作业二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2286000" y="2377440"/>
            <a:ext cx="90799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CE7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 s03 的核算表，回答：60% 删失率那一档要不要保留。理由只能是“校准折保留发动机”那一列的数。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474720"/>
            <a:ext cx="11091672" cy="960120"/>
          </a:xfrm>
          <a:prstGeom prst="rect">
            <a:avLst/>
          </a:prstGeom>
          <a:solidFill>
            <a:srgbClr val="1F3352"/>
          </a:solidFill>
          <a:ln w="12700">
            <a:solidFill>
              <a:srgbClr val="1F335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474720"/>
            <a:ext cx="1280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C4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作业三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286000" y="3474720"/>
            <a:ext cx="90799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CE7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 s03 结果表里 Cu 和 Cw 的 cov_dec，用一句话解释差从哪来。答案在第 5 页。再对比 Cw 和 Cw1 的 mean_L，说这是谁的代价。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709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下次课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120640"/>
            <a:ext cx="110916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9FB2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先对作业二、作业三的答案。</a:t>
            </a:r>
            <a:endParaRPr lang="en-US" sz="1150" dirty="0"/>
          </a:p>
          <a:p>
            <a:pPr indent="0" marL="0">
              <a:lnSpc>
                <a:spcPct val="130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9FB2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按预测值分组做 Mondrian 校准：校准集按 m̂(x) &lt; c0 与否分两组各取分位数，让决策区有自己的保证。这是对“总体达标、决策区不达标”最直接的处理。</a:t>
            </a:r>
            <a:endParaRPr lang="en-US" sz="1150" dirty="0"/>
          </a:p>
          <a:p>
            <a:pPr indent="0" marL="0">
              <a:lnSpc>
                <a:spcPct val="130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9FB2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FD002 与 FD004 合起来用（509 台，6 种工况），让下线时刻分布随工况变化，做依赖协变量的删失。</a:t>
            </a:r>
            <a:endParaRPr lang="en-US" sz="1150" dirty="0"/>
          </a:p>
          <a:p>
            <a:pPr indent="0" marL="0">
              <a:lnSpc>
                <a:spcPct val="130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9FB2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把点预测换成分位数回归，做 CQR 版本的下界，看紧度提升多少。c0 怎么选：论文一的做法是在训练折里留一块试。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2026-09-18T08:40:03Z</dcterms:created>
  <dcterms:modified xsi:type="dcterms:W3CDTF">2026-09-18T08:40:03Z</dcterms:modified>
</cp:coreProperties>
</file>