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image" Target="../media/image-13-7.jpg"/><Relationship Id="rId8" Type="http://schemas.openxmlformats.org/officeDocument/2006/relationships/image" Target="../media/image-13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image" Target="../media/image-26-3.jpg"/><Relationship Id="rId4" Type="http://schemas.openxmlformats.org/officeDocument/2006/relationships/image" Target="../media/image-2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image" Target="../media/image-31-5.jpg"/><Relationship Id="rId6" Type="http://schemas.openxmlformats.org/officeDocument/2006/relationships/image" Target="../media/image-31-6.jpg"/><Relationship Id="rId7" Type="http://schemas.openxmlformats.org/officeDocument/2006/relationships/image" Target="../media/image-31-7.jpg"/><Relationship Id="rId8" Type="http://schemas.openxmlformats.org/officeDocument/2006/relationships/image" Target="../media/image-31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image" Target="../media/image-32-3.jpg"/><Relationship Id="rId4" Type="http://schemas.openxmlformats.org/officeDocument/2006/relationships/image" Target="../media/image-32-4.jpg"/><Relationship Id="rId5" Type="http://schemas.openxmlformats.org/officeDocument/2006/relationships/image" Target="../media/image-32-5.jpg"/><Relationship Id="rId6" Type="http://schemas.openxmlformats.org/officeDocument/2006/relationships/image" Target="../media/image-32-6.jpg"/><Relationship Id="rId7" Type="http://schemas.openxmlformats.org/officeDocument/2006/relationships/image" Target="../media/image-32-7.jpg"/><Relationship Id="rId8" Type="http://schemas.openxmlformats.org/officeDocument/2006/relationships/image" Target="../media/image-32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image" Target="../media/image-35-3.jpg"/><Relationship Id="rId4" Type="http://schemas.openxmlformats.org/officeDocument/2006/relationships/image" Target="../media/image-3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image" Target="../media/image-3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image" Target="../media/image-38-3.jpg"/><Relationship Id="rId4" Type="http://schemas.openxmlformats.org/officeDocument/2006/relationships/image" Target="../media/image-3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jpg"/><Relationship Id="rId3" Type="http://schemas.openxmlformats.org/officeDocument/2006/relationships/image" Target="../media/image-39-3.jpg"/><Relationship Id="rId4" Type="http://schemas.openxmlformats.org/officeDocument/2006/relationships/image" Target="../media/image-3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jpg"/><Relationship Id="rId3" Type="http://schemas.openxmlformats.org/officeDocument/2006/relationships/image" Target="../media/image-40-3.jpg"/><Relationship Id="rId4" Type="http://schemas.openxmlformats.org/officeDocument/2006/relationships/image" Target="../media/image-4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jpg"/><Relationship Id="rId3" Type="http://schemas.openxmlformats.org/officeDocument/2006/relationships/image" Target="../media/image-41-3.jpg"/><Relationship Id="rId4" Type="http://schemas.openxmlformats.org/officeDocument/2006/relationships/image" Target="../media/image-4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jpg"/><Relationship Id="rId3" Type="http://schemas.openxmlformats.org/officeDocument/2006/relationships/image" Target="../media/image-42-3.jpg"/><Relationship Id="rId4" Type="http://schemas.openxmlformats.org/officeDocument/2006/relationships/image" Target="../media/image-4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jpg"/><Relationship Id="rId3" Type="http://schemas.openxmlformats.org/officeDocument/2006/relationships/image" Target="../media/image-43-3.jpg"/><Relationship Id="rId4" Type="http://schemas.openxmlformats.org/officeDocument/2006/relationships/image" Target="../media/image-4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4" name="Image 0" descr="/home/user/lxfs/pptx_build/figs/x_aerial_c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320040"/>
            <a:ext cx="3840480" cy="2160270"/>
          </a:xfrm>
          <a:prstGeom prst="rect">
            <a:avLst/>
          </a:prstGeom>
        </p:spPr>
      </p:pic>
      <p:pic>
        <p:nvPicPr>
          <p:cNvPr id="5" name="Image 1" descr="/home/user/lxfs/pptx_build/figs/x_kit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1256" y="2788920"/>
            <a:ext cx="3259248" cy="2057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48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6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风景园林专业毕业设计  开题报告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0515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跃动·栖园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192024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全民健康视角下的眉山市仁寿县体育公园景观设计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2606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Design of Renshou Sports Park, Meishan from the Perspective of Health for All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4290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学院：建筑学院        专业：风景园林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学生姓名：                学号：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二〇二六年九月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F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 PARK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 录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320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8366760" cy="0"/>
          </a:xfrm>
          <a:prstGeom prst="line">
            <a:avLst/>
          </a:prstGeom>
          <a:noFill/>
          <a:ln w="15875">
            <a:solidFill>
              <a:srgbClr val="1D4F9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A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课题研究背景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0020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研究目的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研究意义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技术路线与研究方法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相关概念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A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项目研究概述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60020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上位规划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区位分析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植物分析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历史文化分析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周边道路分析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周边交通分析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 周边人行流线分析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2.9 周边用地分析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2.10 地形地貌分析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2.11 场地现状分析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2.12 人群结构分析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2.14 光照分析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2.15 SWOT分析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2.16 问题梳理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A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场地规划分析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60020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设计目标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设计原则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设计构思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设计成果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 进度安排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of the Research Topic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pic>
        <p:nvPicPr>
          <p:cNvPr id="6" name="Image 0" descr="/home/user/lxfs/pptx_build/figs/x_gym_m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868680"/>
            <a:ext cx="3977640" cy="223742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914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课题研究背景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423160"/>
            <a:ext cx="4114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研究目的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研究意义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技术路线与研究方法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相关概念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Preface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前言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pic>
        <p:nvPicPr>
          <p:cNvPr id="7" name="Image 0" descr="/home/user/lxfs/pptx_build/figs/x_cyclis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4754880" cy="2984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029954"/>
            <a:ext cx="4754880" cy="86868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075674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城镇化持续推进，高密度居住区不断涌现，可供居民开展户外运动的场地供给不足，社区运动配套设施缺口较大。如何为全龄居民提供一处能健身、游憩、社交的体育公园，非常值得探究。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 rot="20400000">
            <a:off x="731520" y="1737360"/>
            <a:ext cx="329184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全民健康！动起来！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9144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5440680" y="1645920"/>
            <a:ext cx="502920" cy="256032"/>
          </a:xfrm>
          <a:prstGeom prst="rect">
            <a:avLst/>
          </a:prstGeom>
          <a:solidFill>
            <a:srgbClr val="D9DEE8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07608" y="1645920"/>
            <a:ext cx="502920" cy="256032"/>
          </a:xfrm>
          <a:prstGeom prst="rect">
            <a:avLst/>
          </a:prstGeom>
          <a:solidFill>
            <a:srgbClr val="C5CDDC"/>
          </a:solidFill>
          <a:ln w="12700">
            <a:solidFill>
              <a:srgbClr val="C5CDD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74536" y="1645920"/>
            <a:ext cx="502920" cy="256032"/>
          </a:xfrm>
          <a:prstGeom prst="rect">
            <a:avLst/>
          </a:prstGeom>
          <a:solidFill>
            <a:srgbClr val="AEB9CE"/>
          </a:solidFill>
          <a:ln w="12700">
            <a:solidFill>
              <a:srgbClr val="AEB9C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41464" y="1645920"/>
            <a:ext cx="502920" cy="256032"/>
          </a:xfrm>
          <a:prstGeom prst="rect">
            <a:avLst/>
          </a:prstGeom>
          <a:solidFill>
            <a:srgbClr val="97A5C0"/>
          </a:solidFill>
          <a:ln w="12700">
            <a:solidFill>
              <a:srgbClr val="97A5C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08392" y="1645920"/>
            <a:ext cx="502920" cy="256032"/>
          </a:xfrm>
          <a:prstGeom prst="rect">
            <a:avLst/>
          </a:prstGeom>
          <a:solidFill>
            <a:srgbClr val="7E90B2"/>
          </a:solidFill>
          <a:ln w="12700">
            <a:solidFill>
              <a:srgbClr val="7E90B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75320" y="1645920"/>
            <a:ext cx="502920" cy="256032"/>
          </a:xfrm>
          <a:prstGeom prst="rect">
            <a:avLst/>
          </a:prstGeom>
          <a:solidFill>
            <a:srgbClr val="5B6F9C"/>
          </a:solidFill>
          <a:ln w="12700">
            <a:solidFill>
              <a:srgbClr val="5B6F9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94960" y="196596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身体健康 · 心理健康 · 社会适应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394960" y="2423160"/>
            <a:ext cx="1691640" cy="1691640"/>
          </a:xfrm>
          <a:prstGeom prst="rect">
            <a:avLst/>
          </a:prstGeom>
          <a:solidFill>
            <a:srgbClr val="3E5A3A"/>
          </a:solidFill>
          <a:ln w="12700">
            <a:solidFill>
              <a:srgbClr val="3E5A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68112" y="25146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全民健身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5511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场地不足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504688" y="2926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老龄化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035040" y="30815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慢性病预防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468112" y="3474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亲子游憩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897880" y="3611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邻里社交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223760" y="2423160"/>
            <a:ext cx="1600200" cy="1691640"/>
          </a:xfrm>
          <a:prstGeom prst="rect">
            <a:avLst/>
          </a:prstGeom>
          <a:solidFill>
            <a:srgbClr val="E4E6EA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69480" y="2468880"/>
            <a:ext cx="150876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全民健康视角：以全民健身为核心，把身体锻炼、心理放松、邻里交往一并纳入公园设计。仁寿城北新城集中型公共绿地供给不足，现有小区绿地仅配简易器械，缺少服务全龄居民的综合体育公园。</a:t>
            </a:r>
            <a:endParaRPr lang="en-US" sz="7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4206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5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 · 跃动栖园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4389120" y="4251960"/>
            <a:ext cx="44348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全民健康视角下的眉山市仁寿县体育公园景观设计：让全龄居民在家门口运动、休憩、交往。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Background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选题背景——时代需求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8366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全民健康视角：仁寿城北新城集中公共绿地与户外运动场地供给不足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170432"/>
            <a:ext cx="8366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仁寿县60岁及以上人口占26.56%，已进入深度老龄化；0-14岁占15.31%，全龄运动与游憩需求突出</a:t>
            </a:r>
            <a:endParaRPr lang="en-US" sz="1000" dirty="0"/>
          </a:p>
        </p:txBody>
      </p:sp>
      <p:pic>
        <p:nvPicPr>
          <p:cNvPr id="9" name="Image 0" descr="/home/user/lxfs/pptx_build/figs/x_city_roa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889373"/>
            <a:ext cx="1965960" cy="110655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3127248"/>
            <a:ext cx="1965960" cy="868680"/>
          </a:xfrm>
          <a:prstGeom prst="rect">
            <a:avLst/>
          </a:prstGeom>
          <a:solidFill>
            <a:srgbClr val="1F3F7A">
              <a:alpha val="70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" y="3127248"/>
            <a:ext cx="1856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城镇化提速，城市建成区人口密度增大，高密度居住区涌现，公共绿地资源分配不均，户外运动场地供给不足。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40416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时代背景需求</a:t>
            </a:r>
            <a:endParaRPr lang="en-US" sz="1200" dirty="0"/>
          </a:p>
        </p:txBody>
      </p:sp>
      <p:pic>
        <p:nvPicPr>
          <p:cNvPr id="13" name="Image 1" descr="/home/user/lxfs/pptx_build/figs/x_basketbal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658" y="1481328"/>
            <a:ext cx="1674724" cy="25146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2751658" y="3127248"/>
            <a:ext cx="1674724" cy="868680"/>
          </a:xfrm>
          <a:prstGeom prst="rect">
            <a:avLst/>
          </a:prstGeom>
          <a:solidFill>
            <a:srgbClr val="1F3F7A">
              <a:alpha val="70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06522" y="3127248"/>
            <a:ext cx="15649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国民身体素质与日常运动需求矛盾日益凸显，居民就近健身、球类跑步、亲子运动的场地缺口大。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2606040" y="40416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全民健身需求</a:t>
            </a:r>
            <a:endParaRPr lang="en-US" sz="1200" dirty="0"/>
          </a:p>
        </p:txBody>
      </p:sp>
      <p:pic>
        <p:nvPicPr>
          <p:cNvPr id="17" name="Image 2" descr="/home/user/lxfs/pptx_build/figs/x_bench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487668"/>
            <a:ext cx="1965960" cy="150826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709160" y="3127248"/>
            <a:ext cx="1965960" cy="868680"/>
          </a:xfrm>
          <a:prstGeom prst="rect">
            <a:avLst/>
          </a:prstGeom>
          <a:solidFill>
            <a:srgbClr val="1F3F7A">
              <a:alpha val="70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764024" y="3127248"/>
            <a:ext cx="1856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仁寿县60岁及以上占26.56%，家庭亲子与学校师生集中，老年康养、儿童游乐、青少年运动需求突出。</a:t>
            </a:r>
            <a:endParaRPr lang="en-US" sz="750" dirty="0"/>
          </a:p>
        </p:txBody>
      </p:sp>
      <p:sp>
        <p:nvSpPr>
          <p:cNvPr id="20" name="Text 15"/>
          <p:cNvSpPr txBox="1"/>
          <p:nvPr/>
        </p:nvSpPr>
        <p:spPr>
          <a:xfrm>
            <a:off x="4709160" y="40416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市场机遇人群</a:t>
            </a:r>
            <a:endParaRPr lang="en-US" sz="1200" dirty="0"/>
          </a:p>
        </p:txBody>
      </p:sp>
      <p:pic>
        <p:nvPicPr>
          <p:cNvPr id="21" name="Image 3" descr="/home/user/lxfs/pptx_build/figs/x_stadium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2521458"/>
            <a:ext cx="1965960" cy="147447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812280" y="3127248"/>
            <a:ext cx="1965960" cy="868680"/>
          </a:xfrm>
          <a:prstGeom prst="rect">
            <a:avLst/>
          </a:prstGeom>
          <a:solidFill>
            <a:srgbClr val="1F3F7A">
              <a:alpha val="70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67144" y="3127248"/>
            <a:ext cx="1856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《“健康中国2030”规划纲要》、七部委体育公园指导意见、仁寿县国土空间规划“公园城市”目标共同支持。</a:t>
            </a:r>
            <a:endParaRPr lang="en-US" sz="750" dirty="0"/>
          </a:p>
        </p:txBody>
      </p:sp>
      <p:sp>
        <p:nvSpPr>
          <p:cNvPr id="24" name="Text 18"/>
          <p:cNvSpPr txBox="1"/>
          <p:nvPr/>
        </p:nvSpPr>
        <p:spPr>
          <a:xfrm>
            <a:off x="6812280" y="40416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政策导向优势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4370832"/>
            <a:ext cx="8366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面临雨洪调蓄压力、人居环境品质参差不齐、不同年龄群体休闲游憩需求难以被充分满足等现实矛盾。在全民健康、公园城市政策背景下，集运动健康、全龄游憩于一体的体育型综合公园，成为化解高密度社区绿地不足、居民运动空间匮乏、道路环境干扰等多重问题的核心空间载体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Background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选题背景——政策导向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06984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国家战略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9601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《“健康中国2030”规划纲要》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2527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健全城乡全民健身公共服务体系，完善社区体育配套设施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80136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8013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规划标准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16916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《城市居住区规划设计标准》GB 50180-2018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构建15分钟生活圈绿地系统，保障片区级综合公园落地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53288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53288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生态导向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4231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《海绵城市建设技术指南》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71576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低影响开发，城市绿地兼顾生态缓冲、雨水调蓄、休闲游憩复合功能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26440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2644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专项指导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1546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七部委《关于推进体育公园建设的指导意见》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4472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以体育健身为核心、与自然生态融合，绿化用地占比不低于65%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995928"/>
            <a:ext cx="868680" cy="384048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959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地方规划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38862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《仁寿县国土空间总体规划(2021-2035)》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1788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城北新城“三生融合、公园城市”目标，完善居住区集中绿地布局</a:t>
            </a:r>
            <a:endParaRPr lang="en-US" sz="900" dirty="0"/>
          </a:p>
        </p:txBody>
      </p:sp>
      <p:pic>
        <p:nvPicPr>
          <p:cNvPr id="27" name="Image 0" descr="/home/user/lxfs/pptx_build/figs/x_soccer_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514475"/>
            <a:ext cx="2788920" cy="209169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035040" y="3624453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政策导向下的社区体育公园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Background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选题背景——人口结构与地方需求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pic>
        <p:nvPicPr>
          <p:cNvPr id="7" name="Image 0" descr="/home/user/lxfs/pptx_build/figs/ch_p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14400"/>
            <a:ext cx="4937760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577840" y="914400"/>
            <a:ext cx="3246120" cy="1143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94183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仁寿县人口特征（2020年七普）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170432"/>
            <a:ext cx="3108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常住人口111.0万人。60岁及以上占26.56%，65岁及以上占21.94%，分别高于全国7.86和8.44个百分点，已进入深度老龄化；0-14岁占15.31%。老年康养与亲子游憩需求突出。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577840" y="2148840"/>
            <a:ext cx="3246120" cy="1143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17627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城北新城现状问题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2404872"/>
            <a:ext cx="3108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成德眉资同城化片区，仁寿向北拓展核心宜居板块；大量商品住宅集中落地，居住密度持续提升。配套逐步完善，但集中型公共休闲绿地供给严重不足，缺少服务全龄、兼具生态运动休闲社交功能的综合公园。</a:t>
            </a:r>
            <a:endParaRPr lang="en-US" sz="800" dirty="0"/>
          </a:p>
        </p:txBody>
      </p:sp>
      <p:pic>
        <p:nvPicPr>
          <p:cNvPr id="14" name="Image 1" descr="/home/user/lxfs/pptx_build/figs/site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3383280"/>
            <a:ext cx="1572768" cy="892243"/>
          </a:xfrm>
          <a:prstGeom prst="rect">
            <a:avLst/>
          </a:prstGeom>
        </p:spPr>
      </p:pic>
      <p:pic>
        <p:nvPicPr>
          <p:cNvPr id="15" name="Image 2" descr="/home/user/lxfs/pptx_build/figs/site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3383280"/>
            <a:ext cx="1572768" cy="8994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577840" y="4315968"/>
            <a:ext cx="324612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城北新城场地周边现状</a:t>
            </a:r>
            <a:endParaRPr lang="en-US" sz="75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4206240"/>
            <a:ext cx="4937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数据来源：国家统计局《第七次全国人口普查公报（第五号）》；四川省统计局《四川省第七次全国人口普查公报（第四号）》；仁寿县人民政府《仁寿县第七次全国人口普查公报（第三号）》。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Purpose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研究目的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pic>
        <p:nvPicPr>
          <p:cNvPr id="7" name="Image 0" descr="/home/user/lxfs/pptx_build/figs/x_kid_law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702" y="932688"/>
            <a:ext cx="1522476" cy="2286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44702" y="2670048"/>
            <a:ext cx="1522476" cy="548640"/>
          </a:xfrm>
          <a:prstGeom prst="rect">
            <a:avLst/>
          </a:prstGeom>
          <a:solidFill>
            <a:srgbClr val="1F3F7A">
              <a:alpha val="7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99566" y="2670048"/>
            <a:ext cx="14127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营造适配全龄人群的多元运动游憩空间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3337560"/>
            <a:ext cx="329184" cy="32918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33375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全龄游憩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749040"/>
            <a:ext cx="2697480" cy="9601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0352" y="3794760"/>
            <a:ext cx="25603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针对城北新城户外健身场地不足，打造生态缓冲、运动健身、亲子游乐、邻里社交、乡土科普一体的公园。</a:t>
            </a:r>
            <a:endParaRPr lang="en-US" sz="900" dirty="0"/>
          </a:p>
        </p:txBody>
      </p:sp>
      <p:pic>
        <p:nvPicPr>
          <p:cNvPr id="15" name="Image 1" descr="/home/user/lxfs/pptx_build/figs/x_park_ben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8963"/>
            <a:ext cx="2697480" cy="1799725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291840" y="2670048"/>
            <a:ext cx="2697480" cy="548640"/>
          </a:xfrm>
          <a:prstGeom prst="rect">
            <a:avLst/>
          </a:prstGeom>
          <a:solidFill>
            <a:srgbClr val="E07B2A">
              <a:alpha val="75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346704" y="2670048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形成多目标统筹的可落地综合规划方案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3383280" y="3337560"/>
            <a:ext cx="329184" cy="32918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383280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3794760" y="33375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综合规划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3291840" y="3749040"/>
            <a:ext cx="2697480" cy="9601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364992" y="3794760"/>
            <a:ext cx="25603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统筹噪声防护、全龄场地、海绵调蓄、乡土植物四大功能，以8.6公顷闲置绿地为载体形成可落地方案。</a:t>
            </a:r>
            <a:endParaRPr lang="en-US" sz="900" dirty="0"/>
          </a:p>
        </p:txBody>
      </p:sp>
      <p:pic>
        <p:nvPicPr>
          <p:cNvPr id="23" name="Image 2" descr="/home/user/lxfs/pptx_build/figs/x_al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95578"/>
            <a:ext cx="2697480" cy="202311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126480" y="2670048"/>
            <a:ext cx="2697480" cy="548640"/>
          </a:xfrm>
          <a:prstGeom prst="rect">
            <a:avLst/>
          </a:prstGeom>
          <a:solidFill>
            <a:srgbClr val="4E8A3E">
              <a:alpha val="75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81344" y="2670048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探索适用于西南城市的体育公园景观营造方法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6217920" y="3337560"/>
            <a:ext cx="329184" cy="32918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0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629400" y="33375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地域营造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126480" y="3749040"/>
            <a:ext cx="2697480" cy="9601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199632" y="3794760"/>
            <a:ext cx="25603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结合丘陵地貌与亚热带气候，运用乡土植物、海绵设施与低维护材料，探索西南山地体育公园营造思路。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Significance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研究意义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148840" cy="50292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914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“增强体质”</a:t>
            </a:r>
            <a:endParaRPr lang="en-US" sz="12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fitness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536192"/>
            <a:ext cx="2148840" cy="50292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536192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“缓解压力”</a:t>
            </a:r>
            <a:endParaRPr lang="en-US" sz="12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relief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57984"/>
            <a:ext cx="2148840" cy="50292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15798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“邻里交往”</a:t>
            </a:r>
            <a:endParaRPr lang="en-US" sz="12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interaction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75120" y="914400"/>
            <a:ext cx="2148840" cy="50292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914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“老年康养”</a:t>
            </a:r>
            <a:endParaRPr lang="en-US" sz="12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 for the aged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675120" y="1536192"/>
            <a:ext cx="2148840" cy="50292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1536192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“亲子游憩”</a:t>
            </a:r>
            <a:endParaRPr lang="en-US" sz="12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recreation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157984"/>
            <a:ext cx="2148840" cy="50292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75120" y="215798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“青少年运动”</a:t>
            </a:r>
            <a:endParaRPr lang="en-US" sz="12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Youth sports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96012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第一阶段：全民健身——补齐仁寿城北新城运动绿地缺口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743200" y="21488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第二阶段：全民健康——身体、心理、社交三维融合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108960" y="1828800"/>
            <a:ext cx="306324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dash"/>
          </a:ln>
        </p:spPr>
      </p:sp>
      <p:pic>
        <p:nvPicPr>
          <p:cNvPr id="22" name="Image 0" descr="/home/user/lxfs/pptx_build/figs/x_people_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88920"/>
            <a:ext cx="8366760" cy="853249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57200" y="4370832"/>
            <a:ext cx="8366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下，体育公园不仅是运动场地，更是身体健康、心理健康与社会交往的综合载体。理论上，本研究丰富川南县域新城高密度居住区体育公园设计研究；实践上，城市层面盘活闲置绿地、补齐城北新城体育设施短板，民生层面满足全龄康养、游乐、运动、社交需求，生态层面削弱主干道噪声粉尘、缓解热岛效应，实现全民健康是本次设计的主要意义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Route and Methods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技术路线与研究方法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pic>
        <p:nvPicPr>
          <p:cNvPr id="7" name="Image 0" descr="/home/user/lxfs/pptx_build/figs/rou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96112"/>
            <a:ext cx="3703320" cy="391159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43484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1280160"/>
            <a:ext cx="4389120" cy="603504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408176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4081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文献查阅法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1325880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检索知网、万方，研读规范与专著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434840" y="1975104"/>
            <a:ext cx="4389120" cy="603504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26280" y="2103120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2103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实地调研法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577840" y="2020824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踏勘地形道路植被，观察居民行为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434840" y="2670048"/>
            <a:ext cx="4389120" cy="603504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26280" y="2798064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26280" y="279806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问卷调查法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577840" y="2715768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面向老人、家长、青少年发放问卷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434840" y="3364992"/>
            <a:ext cx="4389120" cy="603504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26280" y="3493008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349300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案例分析法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577840" y="3410712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对比西南居住区公园布局与配置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434840" y="4059936"/>
            <a:ext cx="4389120" cy="603504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26280" y="4187952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6280" y="418795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图解分析法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577840" y="4105656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CAD、GIS分析区位、交通、人流、日照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4434840" y="4754880"/>
            <a:ext cx="43891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技术路线：提出问题—理论支撑—分析方案—解决问题—总结问题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相关概念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pic>
        <p:nvPicPr>
          <p:cNvPr id="7" name="Image 0" descr="/home/user/lxfs/pptx_build/figs/x_cou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489" y="932688"/>
            <a:ext cx="1946903" cy="1554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32489" y="1920240"/>
            <a:ext cx="1946903" cy="566928"/>
          </a:xfrm>
          <a:prstGeom prst="rect">
            <a:avLst/>
          </a:prstGeom>
          <a:solidFill>
            <a:srgbClr val="1F3F7A">
              <a:alpha val="80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23929" y="1920240"/>
            <a:ext cx="1764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体育公园</a:t>
            </a:r>
            <a:endParaRPr lang="en-US" sz="120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 Park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8463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463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体育健身为核心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138379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379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与自然生态融合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228295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28295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绿化占比不低于65%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57200" y="3035808"/>
            <a:ext cx="26974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0352" y="3108960"/>
            <a:ext cx="25511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以体育健身为核心、与自然生态融合的城市绿色公共空间，兼具生态、健身、游憩、防灾功能（七部委指导意见）。</a:t>
            </a:r>
            <a:endParaRPr lang="en-US" sz="950" dirty="0"/>
          </a:p>
        </p:txBody>
      </p:sp>
      <p:pic>
        <p:nvPicPr>
          <p:cNvPr id="18" name="Image 1" descr="/home/user/lxfs/pptx_build/figs/x_exerci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047" y="932688"/>
            <a:ext cx="2327066" cy="155448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3477047" y="1920240"/>
            <a:ext cx="2327066" cy="566928"/>
          </a:xfrm>
          <a:prstGeom prst="rect">
            <a:avLst/>
          </a:prstGeom>
          <a:solidFill>
            <a:srgbClr val="E07B2A">
              <a:alpha val="80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568487" y="1920240"/>
            <a:ext cx="2144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</a:t>
            </a:r>
            <a:endParaRPr lang="en-US" sz="120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for All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331927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31927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人人可运动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421843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21843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处处能休憩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511759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11759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动静分区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3291840" y="3035808"/>
            <a:ext cx="26974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364992" y="3108960"/>
            <a:ext cx="25511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以全民健康为导向，把全民健身融入公园设计，兼顾婴幼儿到老年人、残障群体的运动需求，分层适配。</a:t>
            </a:r>
            <a:endParaRPr lang="en-US" sz="950" dirty="0"/>
          </a:p>
        </p:txBody>
      </p:sp>
      <p:pic>
        <p:nvPicPr>
          <p:cNvPr id="29" name="Image 2" descr="/home/user/lxfs/pptx_build/figs/x_swing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756" y="932688"/>
            <a:ext cx="2498928" cy="1554480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225756" y="1920240"/>
            <a:ext cx="2498928" cy="566928"/>
          </a:xfrm>
          <a:prstGeom prst="rect">
            <a:avLst/>
          </a:prstGeom>
          <a:solidFill>
            <a:srgbClr val="4E8A3E">
              <a:alpha val="80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17196" y="1920240"/>
            <a:ext cx="2316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全龄友好型景观</a:t>
            </a:r>
            <a:endParaRPr lang="en-US" sz="120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All-age Friendly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615391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15391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分区适配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705307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05307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无障碍通行</a:t>
            </a:r>
            <a:endParaRPr lang="en-US" sz="750" dirty="0"/>
          </a:p>
        </p:txBody>
      </p:sp>
      <p:sp>
        <p:nvSpPr>
          <p:cNvPr id="36" name="Shape 31"/>
          <p:cNvSpPr/>
          <p:nvPr/>
        </p:nvSpPr>
        <p:spPr>
          <a:xfrm>
            <a:off x="795223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95223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安全防护</a:t>
            </a:r>
            <a:endParaRPr lang="en-US" sz="750" dirty="0"/>
          </a:p>
        </p:txBody>
      </p:sp>
      <p:sp>
        <p:nvSpPr>
          <p:cNvPr id="38" name="Shape 33"/>
          <p:cNvSpPr/>
          <p:nvPr/>
        </p:nvSpPr>
        <p:spPr>
          <a:xfrm>
            <a:off x="6126480" y="3035808"/>
            <a:ext cx="26974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199632" y="3108960"/>
            <a:ext cx="25511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布局、设施、尺度兼顾不同人群需求，分区设置活动场地，完善无障碍、休憩与安全配套。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Status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73152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932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国外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261872"/>
            <a:ext cx="40690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奥姆斯特德“绿地+运动”融合；雅各布斯：高密度社区分散布局小型运动场地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德国分级体育绿地；法国24小时开放；丹麦、温哥华连续健身绿道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日本分龄分区、全域无障碍；新加坡ActiveSG模块化球场、全天候遮阳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热点：体育公园可达性对日常运动量、慢性病发生率的正向影响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54880" y="932688"/>
            <a:ext cx="73152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54880" y="932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261872"/>
            <a:ext cx="40690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全民健身与15分钟生活圈推进下，体育公园成为风景园林热点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规范：《公园设计规范》GB 51192-2016、《社区体育公园规划建设指南》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成渝实践：浅丘土方优化、乡土植物、海绵设施、动静分区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县域新城尺度的中小型体育公园研究薄弱——本研究的探索空间</a:t>
            </a:r>
            <a:endParaRPr lang="en-US" sz="850" dirty="0"/>
          </a:p>
        </p:txBody>
      </p:sp>
      <p:pic>
        <p:nvPicPr>
          <p:cNvPr id="13" name="Image 0" descr="/home/user/lxfs/pptx_build/figs/x_volleyb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675" y="2880360"/>
            <a:ext cx="1268730" cy="169164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45902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全天候室内运动空间</a:t>
            </a:r>
            <a:endParaRPr lang="en-US" sz="800" dirty="0"/>
          </a:p>
        </p:txBody>
      </p:sp>
      <p:pic>
        <p:nvPicPr>
          <p:cNvPr id="15" name="Image 1" descr="/home/user/lxfs/pptx_build/figs/x_skatep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608" y="2880360"/>
            <a:ext cx="2011680" cy="15087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578608" y="4407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青少年极限运动</a:t>
            </a:r>
            <a:endParaRPr lang="en-US" sz="800" dirty="0"/>
          </a:p>
        </p:txBody>
      </p:sp>
      <p:pic>
        <p:nvPicPr>
          <p:cNvPr id="17" name="Image 2" descr="/home/user/lxfs/pptx_build/figs/x_cycle_stree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2880360"/>
            <a:ext cx="2011680" cy="10058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700016" y="39044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连续健身绿道与骑行</a:t>
            </a:r>
            <a:endParaRPr lang="en-US" sz="800" dirty="0"/>
          </a:p>
        </p:txBody>
      </p:sp>
      <p:pic>
        <p:nvPicPr>
          <p:cNvPr id="19" name="Image 3" descr="/home/user/lxfs/pptx_build/figs/x_bench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24" y="2880360"/>
            <a:ext cx="2011680" cy="134380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21424" y="424245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林下休憩与滨水空间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Development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国内外研究现状——发展脉络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 rot="20943971">
            <a:off x="474253" y="2779776"/>
            <a:ext cx="8195493" cy="201168"/>
          </a:xfrm>
          <a:prstGeom prst="rect">
            <a:avLst/>
          </a:prstGeom>
          <a:solidFill>
            <a:srgbClr val="C9D6C1"/>
          </a:solidFill>
          <a:ln w="12700">
            <a:solidFill>
              <a:srgbClr val="C9D6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0943971">
            <a:off x="474253" y="2852928"/>
            <a:ext cx="8195493" cy="54864"/>
          </a:xfrm>
          <a:prstGeom prst="rect">
            <a:avLst/>
          </a:prstGeom>
          <a:solidFill>
            <a:srgbClr val="4E6B3A"/>
          </a:solidFill>
          <a:ln w="12700">
            <a:solidFill>
              <a:srgbClr val="4E6B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 rot="20943971">
            <a:off x="793699" y="3047695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6B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萌芽期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 rot="20943971">
            <a:off x="3931920" y="2441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6B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发展期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 rot="20943971">
            <a:off x="6989674" y="185074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6B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创新成熟期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97357" y="3522269"/>
            <a:ext cx="146304" cy="14630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3309" y="3686861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1858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70509" y="3339389"/>
            <a:ext cx="0" cy="256032"/>
          </a:xfrm>
          <a:prstGeom prst="line">
            <a:avLst/>
          </a:prstGeom>
          <a:noFill/>
          <a:ln w="12700">
            <a:solidFill>
              <a:srgbClr val="1F3F7A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11480" y="2242109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16" name="Image 0" descr="/home/user/lxfs/pptx_build/figs/x_la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1333" y="2287829"/>
            <a:ext cx="747926" cy="56692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57200" y="2873045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奥姆斯特德中央公园，提出“绿地+运动”融合模式</a:t>
            </a:r>
            <a:endParaRPr lang="en-US" sz="650" dirty="0"/>
          </a:p>
        </p:txBody>
      </p:sp>
      <p:sp>
        <p:nvSpPr>
          <p:cNvPr id="18" name="Shape 15"/>
          <p:cNvSpPr/>
          <p:nvPr/>
        </p:nvSpPr>
        <p:spPr>
          <a:xfrm>
            <a:off x="1843430" y="3320186"/>
            <a:ext cx="146304" cy="14630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459382" y="306415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1961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916582" y="3393338"/>
            <a:ext cx="0" cy="256032"/>
          </a:xfrm>
          <a:prstGeom prst="line">
            <a:avLst/>
          </a:prstGeom>
          <a:noFill/>
          <a:ln w="12700">
            <a:solidFill>
              <a:srgbClr val="1F3F7A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1102766" y="3649370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22" name="Image 1" descr="/home/user/lxfs/pptx_build/figs/x_street_p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646" y="3695090"/>
            <a:ext cx="1007872" cy="56692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48486" y="428030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简·雅各布斯：高密度社区分散布局中小型运动场地</a:t>
            </a:r>
            <a:endParaRPr lang="en-US" sz="650" dirty="0"/>
          </a:p>
        </p:txBody>
      </p:sp>
      <p:sp>
        <p:nvSpPr>
          <p:cNvPr id="24" name="Shape 20"/>
          <p:cNvSpPr/>
          <p:nvPr/>
        </p:nvSpPr>
        <p:spPr>
          <a:xfrm>
            <a:off x="2889504" y="3118104"/>
            <a:ext cx="146304" cy="14630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505456" y="32826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1995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2962656" y="2935224"/>
            <a:ext cx="0" cy="256032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sp>
        <p:nvSpPr>
          <p:cNvPr id="27" name="Shape 23"/>
          <p:cNvSpPr/>
          <p:nvPr/>
        </p:nvSpPr>
        <p:spPr>
          <a:xfrm>
            <a:off x="2148840" y="1837944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28" name="Image 2" descr="/home/user/lxfs/pptx_build/figs/x_ba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8309" y="1883664"/>
            <a:ext cx="848695" cy="56692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2194560" y="246888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《全民健身计划纲要》颁布，全民健身上升为国家计划</a:t>
            </a:r>
            <a:endParaRPr lang="en-US" sz="650" dirty="0"/>
          </a:p>
        </p:txBody>
      </p:sp>
      <p:sp>
        <p:nvSpPr>
          <p:cNvPr id="30" name="Shape 25"/>
          <p:cNvSpPr/>
          <p:nvPr/>
        </p:nvSpPr>
        <p:spPr>
          <a:xfrm>
            <a:off x="3935578" y="2916022"/>
            <a:ext cx="146304" cy="14630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551530" y="265999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4008730" y="2989174"/>
            <a:ext cx="0" cy="256032"/>
          </a:xfrm>
          <a:prstGeom prst="line">
            <a:avLst/>
          </a:prstGeom>
          <a:noFill/>
          <a:ln w="12700">
            <a:solidFill>
              <a:srgbClr val="1F3F7A"/>
            </a:solidFill>
            <a:prstDash val="dash"/>
          </a:ln>
        </p:spPr>
      </p:sp>
      <p:sp>
        <p:nvSpPr>
          <p:cNvPr id="33" name="Shape 28"/>
          <p:cNvSpPr/>
          <p:nvPr/>
        </p:nvSpPr>
        <p:spPr>
          <a:xfrm>
            <a:off x="3194914" y="3245206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34" name="Image 3" descr="/home/user/lxfs/pptx_build/figs/x_gym_bal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581" y="3290926"/>
            <a:ext cx="1006297" cy="56692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3240634" y="3876142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新加坡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ActiveSG计划：模块化球场、全天候遮阳健身区</a:t>
            </a:r>
            <a:endParaRPr lang="en-US" sz="650" dirty="0"/>
          </a:p>
        </p:txBody>
      </p:sp>
      <p:sp>
        <p:nvSpPr>
          <p:cNvPr id="36" name="Shape 30"/>
          <p:cNvSpPr/>
          <p:nvPr/>
        </p:nvSpPr>
        <p:spPr>
          <a:xfrm>
            <a:off x="4981651" y="2713939"/>
            <a:ext cx="146304" cy="14630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597603" y="2878531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5054803" y="2531059"/>
            <a:ext cx="0" cy="256032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sp>
        <p:nvSpPr>
          <p:cNvPr id="39" name="Shape 33"/>
          <p:cNvSpPr/>
          <p:nvPr/>
        </p:nvSpPr>
        <p:spPr>
          <a:xfrm>
            <a:off x="4240987" y="1433779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40" name="Image 4" descr="/home/user/lxfs/pptx_build/figs/x_hall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867" y="1479499"/>
            <a:ext cx="1007872" cy="56692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4286707" y="2064715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《“健康中国2030”规划纲要》；《公园设计规范》GB 51192-2016</a:t>
            </a:r>
            <a:endParaRPr lang="en-US" sz="650" dirty="0"/>
          </a:p>
        </p:txBody>
      </p:sp>
      <p:sp>
        <p:nvSpPr>
          <p:cNvPr id="42" name="Shape 35"/>
          <p:cNvSpPr/>
          <p:nvPr/>
        </p:nvSpPr>
        <p:spPr>
          <a:xfrm>
            <a:off x="6027725" y="2511857"/>
            <a:ext cx="146304" cy="14630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5643677" y="2255825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900" dirty="0"/>
          </a:p>
        </p:txBody>
      </p:sp>
      <p:sp>
        <p:nvSpPr>
          <p:cNvPr id="44" name="Shape 37"/>
          <p:cNvSpPr/>
          <p:nvPr/>
        </p:nvSpPr>
        <p:spPr>
          <a:xfrm>
            <a:off x="6100877" y="2585009"/>
            <a:ext cx="0" cy="256032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sp>
        <p:nvSpPr>
          <p:cNvPr id="45" name="Shape 38"/>
          <p:cNvSpPr/>
          <p:nvPr/>
        </p:nvSpPr>
        <p:spPr>
          <a:xfrm>
            <a:off x="5287061" y="2841041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46" name="Image 5" descr="/home/user/lxfs/pptx_build/figs/x_plaza_ped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6941" y="2886761"/>
            <a:ext cx="1007872" cy="566928"/>
          </a:xfrm>
          <a:prstGeom prst="rect">
            <a:avLst/>
          </a:prstGeom>
        </p:spPr>
      </p:pic>
      <p:sp>
        <p:nvSpPr>
          <p:cNvPr id="47" name="Text 39"/>
          <p:cNvSpPr txBox="1"/>
          <p:nvPr/>
        </p:nvSpPr>
        <p:spPr>
          <a:xfrm>
            <a:off x="5332781" y="3471977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《城市居住区规划设计标准》GB 50180-2018：15分钟生活圈</a:t>
            </a:r>
            <a:endParaRPr lang="en-US" sz="650" dirty="0"/>
          </a:p>
        </p:txBody>
      </p:sp>
      <p:sp>
        <p:nvSpPr>
          <p:cNvPr id="48" name="Shape 40"/>
          <p:cNvSpPr/>
          <p:nvPr/>
        </p:nvSpPr>
        <p:spPr>
          <a:xfrm>
            <a:off x="7073798" y="2309774"/>
            <a:ext cx="146304" cy="14630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6689750" y="247436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900" dirty="0"/>
          </a:p>
        </p:txBody>
      </p:sp>
      <p:sp>
        <p:nvSpPr>
          <p:cNvPr id="50" name="Shape 42"/>
          <p:cNvSpPr/>
          <p:nvPr/>
        </p:nvSpPr>
        <p:spPr>
          <a:xfrm>
            <a:off x="7146950" y="2126894"/>
            <a:ext cx="0" cy="256032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sp>
        <p:nvSpPr>
          <p:cNvPr id="51" name="Shape 43"/>
          <p:cNvSpPr/>
          <p:nvPr/>
        </p:nvSpPr>
        <p:spPr>
          <a:xfrm>
            <a:off x="6333134" y="1029614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52" name="Image 6" descr="/home/user/lxfs/pptx_build/figs/wh_2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3873" y="1075334"/>
            <a:ext cx="766155" cy="566928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378854" y="166055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七部委《关于推进体育公园建设的指导意见》；T/CSUS 18-2021</a:t>
            </a:r>
            <a:endParaRPr lang="en-US" sz="650" dirty="0"/>
          </a:p>
        </p:txBody>
      </p:sp>
      <p:sp>
        <p:nvSpPr>
          <p:cNvPr id="54" name="Shape 45"/>
          <p:cNvSpPr/>
          <p:nvPr/>
        </p:nvSpPr>
        <p:spPr>
          <a:xfrm>
            <a:off x="8119872" y="2107692"/>
            <a:ext cx="146304" cy="14630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7735824" y="18516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900" dirty="0"/>
          </a:p>
        </p:txBody>
      </p:sp>
      <p:sp>
        <p:nvSpPr>
          <p:cNvPr id="56" name="Shape 47"/>
          <p:cNvSpPr/>
          <p:nvPr/>
        </p:nvSpPr>
        <p:spPr>
          <a:xfrm>
            <a:off x="8193024" y="2180844"/>
            <a:ext cx="0" cy="256032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sp>
        <p:nvSpPr>
          <p:cNvPr id="57" name="Shape 48"/>
          <p:cNvSpPr/>
          <p:nvPr/>
        </p:nvSpPr>
        <p:spPr>
          <a:xfrm>
            <a:off x="7452360" y="2436876"/>
            <a:ext cx="1371600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58" name="Image 7" descr="/home/user/lxfs/pptx_build/figs/satellite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8587" y="2482596"/>
            <a:ext cx="719146" cy="566928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7498080" y="306781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《仁寿县国土空间总体规划(2021-2035)》：城北新城公园城市</a:t>
            </a:r>
            <a:endParaRPr lang="en-US" sz="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案例参考（一）成都天府公园西区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pic>
        <p:nvPicPr>
          <p:cNvPr id="7" name="Image 0" descr="/home/user/lxfs/pptx_build/figs/tf_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269" y="932688"/>
            <a:ext cx="3442661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建筑鸟瞰图</a:t>
            </a:r>
            <a:endParaRPr lang="en-US" sz="800" dirty="0"/>
          </a:p>
        </p:txBody>
      </p:sp>
      <p:pic>
        <p:nvPicPr>
          <p:cNvPr id="9" name="Image 1" descr="/home/user/lxfs/pptx_build/figs/tf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75888"/>
            <a:ext cx="960120" cy="71897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41315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公园河流</a:t>
            </a:r>
            <a:endParaRPr lang="en-US" sz="800" dirty="0"/>
          </a:p>
        </p:txBody>
      </p:sp>
      <p:pic>
        <p:nvPicPr>
          <p:cNvPr id="11" name="Image 2" descr="/home/user/lxfs/pptx_build/figs/tf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077" y="3675888"/>
            <a:ext cx="701486" cy="8686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08760" y="45628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河流植物</a:t>
            </a:r>
            <a:endParaRPr lang="en-US" sz="800" dirty="0"/>
          </a:p>
        </p:txBody>
      </p:sp>
      <p:pic>
        <p:nvPicPr>
          <p:cNvPr id="13" name="Image 3" descr="/home/user/lxfs/pptx_build/figs/tf_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5595" y="3675888"/>
            <a:ext cx="689571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2560320" y="45628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道路小品</a:t>
            </a:r>
            <a:endParaRPr lang="en-US" sz="800" dirty="0"/>
          </a:p>
        </p:txBody>
      </p:sp>
      <p:pic>
        <p:nvPicPr>
          <p:cNvPr id="15" name="Image 4" descr="/home/user/lxfs/pptx_build/figs/tf_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675888"/>
            <a:ext cx="960120" cy="71735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611880" y="441153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公园周围交通状况</a:t>
            </a:r>
            <a:endParaRPr lang="en-US" sz="800" dirty="0"/>
          </a:p>
        </p:txBody>
      </p:sp>
      <p:sp>
        <p:nvSpPr>
          <p:cNvPr id="17" name="Text 10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8" name="Text 11"/>
          <p:cNvSpPr txBox="1"/>
          <p:nvPr/>
        </p:nvSpPr>
        <p:spPr>
          <a:xfrm>
            <a:off x="4754880" y="1207008"/>
            <a:ext cx="40690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天府新区高密度住宅组团之间，7.2公顷，服务20余个小区。“一轴多组团”，主干道宽幅林带降噪；老年康养、儿童分龄、青少年运动、自然科普分区；乡土树种与下凹式雨水花园。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800600" y="23317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4800600" y="2331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21" name="Text 14"/>
          <p:cNvSpPr txBox="1"/>
          <p:nvPr/>
        </p:nvSpPr>
        <p:spPr>
          <a:xfrm>
            <a:off x="4754880" y="2651760"/>
            <a:ext cx="406908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主干道连续多层生态缓冲林带布局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全龄分段运动场地划分模式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多层乡土植物复层群落配置手法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案例参考（二）成都天府牧山活力体育公园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pic>
        <p:nvPicPr>
          <p:cNvPr id="7" name="Image 0" descr="/home/user/lxfs/pptx_build/figs/ms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114800" cy="23158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26681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公园总平面鸟瞰图</a:t>
            </a:r>
            <a:endParaRPr lang="en-US" sz="800" dirty="0"/>
          </a:p>
        </p:txBody>
      </p:sp>
      <p:pic>
        <p:nvPicPr>
          <p:cNvPr id="9" name="Image 1" descr="/home/user/lxfs/pptx_build/figs/ms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75888"/>
            <a:ext cx="1310640" cy="73611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430289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球类集中区效果图</a:t>
            </a:r>
            <a:endParaRPr lang="en-US" sz="800" dirty="0"/>
          </a:p>
        </p:txBody>
      </p:sp>
      <p:pic>
        <p:nvPicPr>
          <p:cNvPr id="11" name="Image 2" descr="/home/user/lxfs/pptx_build/figs/ms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280" y="3675888"/>
            <a:ext cx="1310640" cy="79501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859280" y="4489192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室内运动场地</a:t>
            </a:r>
            <a:endParaRPr lang="en-US" sz="800" dirty="0"/>
          </a:p>
        </p:txBody>
      </p:sp>
      <p:pic>
        <p:nvPicPr>
          <p:cNvPr id="13" name="Image 3" descr="/home/user/lxfs/pptx_build/figs/ms_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1360" y="3675888"/>
            <a:ext cx="1310640" cy="7364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261360" y="4430611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阳光草坪区</a:t>
            </a:r>
            <a:endParaRPr lang="en-US" sz="800" dirty="0"/>
          </a:p>
        </p:txBody>
      </p:sp>
      <p:sp>
        <p:nvSpPr>
          <p:cNvPr id="15" name="Text 9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754880" y="1207008"/>
            <a:ext cx="40690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成都新津新建居住新城留白绿地，6.39公顷，与本课题8.6公顷地块高度匹配。“一轴一环五组团”，彩色环形健康步道串联轻量化运动场地；北侧多层乡土乔木降噪林，四面设人行入口。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4800600" y="23317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800600" y="2331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4754880" y="2651760"/>
            <a:ext cx="406908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县域留白绿地体育公园整体规划模式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依托日照条件分区布局全龄活动场地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主干道多层乡土植物降噪隔离林带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轻量化设施适配县城低成本落地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案例参考（三）苏州相城活力体育公园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pic>
        <p:nvPicPr>
          <p:cNvPr id="7" name="Image 0" descr="/home/user/lxfs/pptx_build/figs/sz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932688"/>
            <a:ext cx="3703320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公园周围交通情况</a:t>
            </a:r>
            <a:endParaRPr lang="en-US" sz="800" dirty="0"/>
          </a:p>
        </p:txBody>
      </p:sp>
      <p:pic>
        <p:nvPicPr>
          <p:cNvPr id="9" name="Image 1" descr="/home/user/lxfs/pptx_build/figs/sz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32" y="3675888"/>
            <a:ext cx="821977" cy="8686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562856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极限运动区</a:t>
            </a:r>
            <a:endParaRPr lang="en-US" sz="800" dirty="0"/>
          </a:p>
        </p:txBody>
      </p:sp>
      <p:pic>
        <p:nvPicPr>
          <p:cNvPr id="11" name="Image 2" descr="/home/user/lxfs/pptx_build/figs/sz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9188" y="3675888"/>
            <a:ext cx="650825" cy="8686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859280" y="4562856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儿童娱乐区域</a:t>
            </a:r>
            <a:endParaRPr lang="en-US" sz="800" dirty="0"/>
          </a:p>
        </p:txBody>
      </p:sp>
      <p:pic>
        <p:nvPicPr>
          <p:cNvPr id="13" name="Image 3" descr="/home/user/lxfs/pptx_build/figs/sz_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1360" y="3675888"/>
            <a:ext cx="1310640" cy="66526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261360" y="4359442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植物小品</a:t>
            </a:r>
            <a:endParaRPr lang="en-US" sz="800" dirty="0"/>
          </a:p>
        </p:txBody>
      </p:sp>
      <p:sp>
        <p:nvSpPr>
          <p:cNvPr id="15" name="Text 9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754880" y="1207008"/>
            <a:ext cx="40690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新区规划绿地新建，13.6公顷，有平缓台地与低洼地块。依地势打造海绵水景，步道串联运动场地与林下休憩，主干道连续绿化隔离带，“动可健身，静可栖林”。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4800600" y="23317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800600" y="2331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4754880" y="2651760"/>
            <a:ext cx="406908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海绵雨水景观与林下休憩空间融合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每个运动组团就近配套栖居节点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连续式主干道降噪隔离林带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多点分散休憩构筑物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案例参考（四）芜湖长江三桥桥下体育公园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pic>
        <p:nvPicPr>
          <p:cNvPr id="7" name="Image 0" descr="/home/user/lxfs/pptx_build/figs/wh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359" y="932688"/>
            <a:ext cx="3336482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周围交通情况</a:t>
            </a:r>
            <a:endParaRPr lang="en-US" sz="800" dirty="0"/>
          </a:p>
        </p:txBody>
      </p:sp>
      <p:pic>
        <p:nvPicPr>
          <p:cNvPr id="9" name="Image 1" descr="/home/user/lxfs/pptx_build/figs/wh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055" y="3675888"/>
            <a:ext cx="1301090" cy="8686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562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公园跑道（桥下全天候运动空间）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207008"/>
            <a:ext cx="40690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15.5公顷，高架桥下闲置灰色空间改造，天然遮阳。4片篮球场、2片足球场、羽毛球、门球、轮滑与老年健身路径、分龄儿童乐园，彩色透水健身环线串联雨水花园，服务7个大型社区。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800600" y="23317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00600" y="2331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754880" y="2651760"/>
            <a:ext cx="406908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全天候遮阳运动场地，适配仁寿夏季高温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模块化球类场地集约布局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透水铺装+植草沟一体化海绵做法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全年龄段运动设施均衡配置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Project Research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pic>
        <p:nvPicPr>
          <p:cNvPr id="6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868680"/>
            <a:ext cx="3977640" cy="3135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914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项目研究概述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4231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上位规划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区位分析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植物分析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历史文化分析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周边道路分析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周边交通分析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 周边人行流线分析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2697480" y="24231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2.9 周边用地分析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2.10 地形地貌分析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2.11 场地现状分析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2.12 人群结构分析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2.14 光照分析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2.15 SWOT分析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2.16 问题梳理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Upper-level Planning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上位规划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pic>
        <p:nvPicPr>
          <p:cNvPr id="7" name="Image 0" descr="/home/user/lxfs/pptx_build/figs/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677" y="932688"/>
            <a:ext cx="2038166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60857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场地及周边现状地图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规划要点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834640" y="1325880"/>
            <a:ext cx="329184" cy="32918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34640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46120" y="12801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城北新城定位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200400" y="153619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仁寿向北拓展核心宜居板块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834640" y="2148840"/>
            <a:ext cx="329184" cy="32918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34640" y="2148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246120" y="21031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建设目标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200400" y="235915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三生融合、公园城市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834640" y="2971800"/>
            <a:ext cx="329184" cy="32918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83464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246120" y="2926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绿地要求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200400" y="318211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完善居住区集中绿地布局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834640" y="3794760"/>
            <a:ext cx="329184" cy="32918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3464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7490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本地块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3200400" y="400507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规划预留集中绿地，片区级综合公园</a:t>
            </a:r>
            <a:endParaRPr lang="en-US" sz="850" dirty="0"/>
          </a:p>
        </p:txBody>
      </p:sp>
      <p:pic>
        <p:nvPicPr>
          <p:cNvPr id="26" name="Image 1" descr="/home/user/lxfs/pptx_build/figs/satelli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932688"/>
            <a:ext cx="2971800" cy="2342774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852160" y="329375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场地卫星影像（规划预留集中绿地）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区位分析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lxfs/pptx_build/figs/lo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384" y="932688"/>
            <a:ext cx="2631112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60857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区位分析图（中国—四川—眉山—仁寿）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场地概括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80160"/>
          <a:ext cx="3566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场地位置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眉山市仁寿县城北新城核心居住区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场地面积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约8.6公顷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北侧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普宁大道（城市主干道，车流量大）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南侧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里仁路（城市支路）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东侧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黑龙滩路（次干道）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西侧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青冈路 / 陵州大道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用地性质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政府规划预留集中绿地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pic>
        <p:nvPicPr>
          <p:cNvPr id="11" name="Image 1" descr="/home/user/lxfs/pptx_build/figs/ma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932688"/>
            <a:ext cx="1645920" cy="295369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78040" y="3904669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场地现状地图</a:t>
            </a:r>
            <a:endParaRPr lang="en-US" sz="800" dirty="0"/>
          </a:p>
        </p:txBody>
      </p:sp>
      <p:sp>
        <p:nvSpPr>
          <p:cNvPr id="13" name="Text 8"/>
          <p:cNvSpPr txBox="1"/>
          <p:nvPr/>
        </p:nvSpPr>
        <p:spPr>
          <a:xfrm>
            <a:off x="342900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北侧普宁大道车流大，有噪声粉尘干扰；其余三侧为次级道路，人行通达性好。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气候分析——气温与降水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0" descr="/home/user/lxfs/pptx_build/figs/clim_tem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160520" cy="212167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07265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仁寿县气温分析（开题报告）</a:t>
            </a:r>
            <a:endParaRPr lang="en-US" sz="800" dirty="0"/>
          </a:p>
        </p:txBody>
      </p:sp>
      <p:pic>
        <p:nvPicPr>
          <p:cNvPr id="9" name="Image 1" descr="/home/user/lxfs/pptx_build/figs/clim_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228" y="932688"/>
            <a:ext cx="3618945" cy="2286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236976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仁寿县降水率分析（开题报告）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3101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年均温 17.8℃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1月 7.0℃ / 7月 26.8℃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60320" y="331012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年降水 881.8mm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6—9月占70%以上，8月最多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33101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雨热同季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夏季高温多雨，冬季温和少霜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33101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亚热带湿润季风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四季分明，雨量充沛</a:t>
            </a:r>
            <a:endParaRPr lang="en-US" sz="1200" dirty="0"/>
          </a:p>
        </p:txBody>
      </p:sp>
      <p:pic>
        <p:nvPicPr>
          <p:cNvPr id="15" name="Image 2" descr="/home/user/lxfs/pptx_build/figs/x_law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431" y="3840480"/>
            <a:ext cx="1376979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17520" y="3840480"/>
            <a:ext cx="2743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夏季高温暴晒：乔木林荫、遮阳构筑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5943600" y="3840480"/>
            <a:ext cx="28803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夏季集中降雨：海绵调蓄、场地排水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773168"/>
            <a:ext cx="77724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数据来源：中国气象局1991—2020年气候标准值（仁寿站）。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气候分析——日照、湿度与雨日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pic>
        <p:nvPicPr>
          <p:cNvPr id="7" name="Image 0" descr="/home/user/lxfs/pptx_build/figs/ch_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14400"/>
            <a:ext cx="4160520" cy="2834640"/>
          </a:xfrm>
          <a:prstGeom prst="rect">
            <a:avLst/>
          </a:prstGeom>
        </p:spPr>
      </p:pic>
      <p:pic>
        <p:nvPicPr>
          <p:cNvPr id="8" name="Image 1" descr="/home/user/lxfs/pptx_build/figs/ch_hum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914400"/>
            <a:ext cx="4160520" cy="2834640"/>
          </a:xfrm>
          <a:prstGeom prst="rect">
            <a:avLst/>
          </a:prstGeom>
        </p:spPr>
      </p:pic>
      <p:pic>
        <p:nvPicPr>
          <p:cNvPr id="9" name="Image 2" descr="/home/user/lxfs/pptx_build/figs/x_greenhous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510" y="3840480"/>
            <a:ext cx="610819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17520" y="3840480"/>
            <a:ext cx="2743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年日照仅1047.6h、全年阴湿：以开敞向阳草坪和运动场地为主体</a:t>
            </a:r>
            <a:endParaRPr lang="en-US" sz="950" dirty="0"/>
          </a:p>
        </p:txBody>
      </p:sp>
      <p:sp>
        <p:nvSpPr>
          <p:cNvPr id="11" name="Text 6"/>
          <p:cNvSpPr txBox="1"/>
          <p:nvPr/>
        </p:nvSpPr>
        <p:spPr>
          <a:xfrm>
            <a:off x="5943600" y="3840480"/>
            <a:ext cx="28803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降水日137天：可透光疏林、透水防滑铺装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4773168"/>
            <a:ext cx="77724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数据来源：中国气象局1991—2020年气候标准值（仁寿站）。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植物分析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7" name="Image 0" descr="/home/user/lxfs/pptx_build/figs/pla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5532120" cy="303858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989565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仁寿县植物配置分析图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6217920" y="932688"/>
            <a:ext cx="868680" cy="292608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9326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优势乔木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243584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桢楠、香樟、黄葛树、二球悬铃木、桂花、小叶榕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217920" y="1801368"/>
            <a:ext cx="868680" cy="292608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0" y="180136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花灌木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2112264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紫薇、木芙蓉、蜡梅、红花檵木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217920" y="2670048"/>
            <a:ext cx="868680" cy="29260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0" y="2670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地被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2980944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麦冬、沿阶草、野花组合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4224528"/>
            <a:ext cx="5532120" cy="5303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30352" y="4242816"/>
            <a:ext cx="53949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配置策略：北侧多层降噪林带；运动场地周边高大乔木林荫；低洼区雨水花园耐湿地被；四季分层乡土乔灌。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and Cultural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历史文化分析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lxfs/pptx_build/figs/cult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206240" cy="315181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102791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仁寿历史文化分析图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892040" y="932688"/>
            <a:ext cx="3931920" cy="685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932688"/>
            <a:ext cx="73152" cy="6858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74920" y="978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陵州人文历史文化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029200" y="1234440"/>
            <a:ext cx="3749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隋代置陵州，古陵城街巷、文庙、书院，崇文重教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892040" y="1709928"/>
            <a:ext cx="3931920" cy="685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92040" y="1709928"/>
            <a:ext cx="73152" cy="68580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1755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黑龙滩水利建设文化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2011680"/>
            <a:ext cx="3749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70年代十万群众开山筑库，治水兴农的时代记忆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92040" y="2487168"/>
            <a:ext cx="3931920" cy="685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92040" y="2487168"/>
            <a:ext cx="73152" cy="68580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0" y="2532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川南浅丘农耕民俗文化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0" y="2788920"/>
            <a:ext cx="3749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水田农耕、果林种植、民俗节庆，田园乡土气息</a:t>
            </a:r>
            <a:endParaRPr lang="en-US" sz="850" dirty="0"/>
          </a:p>
        </p:txBody>
      </p:sp>
      <p:pic>
        <p:nvPicPr>
          <p:cNvPr id="21" name="Image 1" descr="/home/user/lxfs/pptx_build/figs/x_cn_stre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595" y="3291840"/>
            <a:ext cx="1990811" cy="132588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892040" y="463600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陵州市井生活与农耕田园记忆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57200" y="4315968"/>
            <a:ext cx="42976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新城缺少文化载体，居民对黑龙滩水利、陵州文脉、农耕田园有情感共鸣：以轻量化景观载体植入文化符号。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Road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周边道路分析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lxfs/pptx_build/figs/roa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662" y="932688"/>
            <a:ext cx="3643556" cy="1783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73405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场地周边道路分析图</a:t>
            </a:r>
            <a:endParaRPr lang="en-US" sz="800" dirty="0"/>
          </a:p>
        </p:txBody>
      </p:sp>
      <p:pic>
        <p:nvPicPr>
          <p:cNvPr id="9" name="Image 1" descr="/home/user/lxfs/pptx_build/figs/roadco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26" y="2971800"/>
            <a:ext cx="3675028" cy="17830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7731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场地周边路况分析图</a:t>
            </a:r>
            <a:endParaRPr lang="en-US" sz="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932688"/>
          <a:ext cx="42976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234440"/>
                <a:gridCol w="91440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方位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道路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等级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普宁大道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城市主干道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车流大，噪声粉尘干扰，需防护林带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西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陵州大道 / 青冈路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次干道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车行出入优先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黑龙滩路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次干道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人行通达性好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里仁路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城市支路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慢行辅助出入口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  <p:pic>
        <p:nvPicPr>
          <p:cNvPr id="12" name="Image 2" descr="/home/user/lxfs/pptx_build/figs/site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3063240"/>
            <a:ext cx="2103120" cy="1202743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526280" y="4284271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场地北侧道路现状</a:t>
            </a:r>
            <a:endParaRPr lang="en-US" sz="800" dirty="0"/>
          </a:p>
        </p:txBody>
      </p:sp>
      <p:pic>
        <p:nvPicPr>
          <p:cNvPr id="14" name="Image 3" descr="/home/user/lxfs/pptx_build/figs/site_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3063240"/>
            <a:ext cx="2103120" cy="120274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6720840" y="4284271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场地东侧道路现状</a:t>
            </a:r>
            <a:endParaRPr lang="en-US" sz="800" dirty="0"/>
          </a:p>
        </p:txBody>
      </p:sp>
      <p:sp>
        <p:nvSpPr>
          <p:cNvPr id="16" name="Text 9"/>
          <p:cNvSpPr txBox="1"/>
          <p:nvPr/>
        </p:nvSpPr>
        <p:spPr>
          <a:xfrm>
            <a:off x="4526280" y="4434840"/>
            <a:ext cx="42976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四面临路，主次干道与支路层级完善；平峰通行顺畅，节假日客流依托方格路网疏解。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Traffic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周边交通分析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lxfs/pptx_build/figs/traff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465" y="932688"/>
            <a:ext cx="5203550" cy="2606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55701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场地周边交通分析图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897880" y="932688"/>
            <a:ext cx="2926080" cy="7772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89320" y="1005840"/>
            <a:ext cx="91440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89320" y="1005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公共交通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2984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多处公交停靠点，近距离接驳可提升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897880" y="1801368"/>
            <a:ext cx="2926080" cy="7772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89320" y="1874520"/>
            <a:ext cx="91440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89320" y="1874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机动车交通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16712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主次干道合围，西、北侧开口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897880" y="2670048"/>
            <a:ext cx="2926080" cy="7772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89320" y="2743200"/>
            <a:ext cx="914400" cy="27432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89320" y="2743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慢行交通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03580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南侧里仁路慢行入口，四面人行入口</a:t>
            </a:r>
            <a:endParaRPr lang="en-US" sz="850" dirty="0"/>
          </a:p>
        </p:txBody>
      </p:sp>
      <p:pic>
        <p:nvPicPr>
          <p:cNvPr id="21" name="Image 1" descr="/home/user/lxfs/pptx_build/figs/x_bu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8005" y="3520440"/>
            <a:ext cx="925830" cy="123444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897880" y="4773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周边公交接驳与慢行出入口</a:t>
            </a:r>
            <a:endParaRPr lang="en-US" sz="800" dirty="0"/>
          </a:p>
        </p:txBody>
      </p:sp>
      <p:pic>
        <p:nvPicPr>
          <p:cNvPr id="23" name="Image 2" descr="/home/user/lxfs/pptx_build/figs/site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25" y="3767328"/>
            <a:ext cx="1678869" cy="960120"/>
          </a:xfrm>
          <a:prstGeom prst="rect">
            <a:avLst/>
          </a:prstGeom>
        </p:spPr>
      </p:pic>
      <p:pic>
        <p:nvPicPr>
          <p:cNvPr id="24" name="Image 3" descr="/home/user/lxfs/pptx_build/figs/site_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9685" y="3767328"/>
            <a:ext cx="1678869" cy="9601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57200" y="4736592"/>
            <a:ext cx="521208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场地周边道路现状照片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Pedestrian Flow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 周边人行流线分析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lxfs/pptx_build/figs/f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5212080" cy="257652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527498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周边人行流线分析图（蓝：居民聚集点；红：进入聚集点）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897880" y="932688"/>
            <a:ext cx="292608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居住区环绕，紧邻四所学校，人流量大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东西两侧小区人流最强；上下学潮汐穿越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四向入口对应小区与学校，主流线连续无障碍</a:t>
            </a:r>
            <a:endParaRPr lang="en-US" sz="850" dirty="0"/>
          </a:p>
        </p:txBody>
      </p:sp>
      <p:pic>
        <p:nvPicPr>
          <p:cNvPr id="10" name="Image 1" descr="/home/user/lxfs/pptx_build/figs/x_ped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5560" y="2468880"/>
            <a:ext cx="1950720" cy="1463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97880" y="39502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居民步行流线</a:t>
            </a:r>
            <a:endParaRPr lang="en-US" sz="800" dirty="0"/>
          </a:p>
        </p:txBody>
      </p:sp>
      <p:pic>
        <p:nvPicPr>
          <p:cNvPr id="12" name="Image 2" descr="/home/user/lxfs/pptx_build/figs/x_ped_stree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3794760"/>
            <a:ext cx="170688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897880" y="4069080"/>
            <a:ext cx="29260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中老年散步社交、青少年运动、家庭亲子游憩、外来游客短途停留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Land Use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2.9 周边用地分析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lxfs/pptx_build/figs/land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846320" cy="2874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82545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场地周边用地性质分析图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577840" y="1005840"/>
            <a:ext cx="274320" cy="201168"/>
          </a:xfrm>
          <a:prstGeom prst="rect">
            <a:avLst/>
          </a:prstGeom>
          <a:solidFill>
            <a:srgbClr val="F2D24B"/>
          </a:solidFill>
          <a:ln w="12700">
            <a:solidFill>
              <a:srgbClr val="F2D24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0" y="9601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住宅用地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1371600"/>
            <a:ext cx="274320" cy="201168"/>
          </a:xfrm>
          <a:prstGeom prst="rect">
            <a:avLst/>
          </a:prstGeom>
          <a:solidFill>
            <a:srgbClr val="E58EC0"/>
          </a:solidFill>
          <a:ln w="12700">
            <a:solidFill>
              <a:srgbClr val="E58EC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0" y="13258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教育用地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577840" y="1737360"/>
            <a:ext cx="274320" cy="201168"/>
          </a:xfrm>
          <a:prstGeom prst="rect">
            <a:avLst/>
          </a:prstGeom>
          <a:solidFill>
            <a:srgbClr val="E8542E"/>
          </a:solidFill>
          <a:ln w="12700">
            <a:solidFill>
              <a:srgbClr val="E8542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0" y="16916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商业用地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577840" y="2103120"/>
            <a:ext cx="274320" cy="201168"/>
          </a:xfrm>
          <a:prstGeom prst="rect">
            <a:avLst/>
          </a:prstGeom>
          <a:solidFill>
            <a:srgbClr val="5DBA4A"/>
          </a:solidFill>
          <a:ln w="12700">
            <a:solidFill>
              <a:srgbClr val="5DBA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0" y="2057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公园用地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577840" y="2468880"/>
            <a:ext cx="274320" cy="201168"/>
          </a:xfrm>
          <a:prstGeom prst="rect">
            <a:avLst/>
          </a:prstGeom>
          <a:solidFill>
            <a:srgbClr val="8EC6F0"/>
          </a:solidFill>
          <a:ln w="12700">
            <a:solidFill>
              <a:srgbClr val="8EC6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0" y="24231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医疗/服务</a:t>
            </a:r>
            <a:endParaRPr lang="en-US" sz="950" dirty="0"/>
          </a:p>
        </p:txBody>
      </p:sp>
      <p:pic>
        <p:nvPicPr>
          <p:cNvPr id="19" name="Image 1" descr="/home/user/lxfs/pptx_build/figs/ma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745" y="960120"/>
            <a:ext cx="1477670" cy="26517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315200" y="363016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现状地图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5577840" y="3931920"/>
            <a:ext cx="32461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四周以二类居住用地为主，配套幼儿园、小学、沿街商业；北侧为商务配套用地。服务人群以常住居民为主。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周边学校：星光幼儿园、文镇小学、文镇幼儿园、仁寿实验中学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and Landform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2.10 地形地貌分析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023360" cy="317175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122731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场地卫星影像（红线范围内为设计地块）</a:t>
            </a:r>
            <a:endParaRPr lang="en-US" sz="800" dirty="0"/>
          </a:p>
        </p:txBody>
      </p:sp>
      <p:pic>
        <p:nvPicPr>
          <p:cNvPr id="9" name="Image 1" descr="/home/user/lxfs/pptx_build/figs/site_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932688"/>
            <a:ext cx="2011680" cy="1146786"/>
          </a:xfrm>
          <a:prstGeom prst="rect">
            <a:avLst/>
          </a:prstGeom>
        </p:spPr>
      </p:pic>
      <p:pic>
        <p:nvPicPr>
          <p:cNvPr id="10" name="Image 2" descr="/home/user/lxfs/pptx_build/figs/site_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932688"/>
            <a:ext cx="2011680" cy="11412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09160" y="2103120"/>
            <a:ext cx="41148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场地现状地形照片（局部小土坡、裸土空地）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4709160" y="2423160"/>
            <a:ext cx="201168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800600" y="24505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区域地貌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4754880" y="2715768"/>
            <a:ext cx="19202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四川盆地中部浅丘，地势平坦，紫色土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6812280" y="2423160"/>
            <a:ext cx="201168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903720" y="24505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场地地形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715768"/>
            <a:ext cx="19202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整体平缓，局部小土坡；土方场内平衡，微高差布置雨水花园</a:t>
            </a:r>
            <a:endParaRPr lang="en-US" sz="850" dirty="0"/>
          </a:p>
        </p:txBody>
      </p:sp>
      <p:pic>
        <p:nvPicPr>
          <p:cNvPr id="18" name="Image 3" descr="/home/user/lxfs/pptx_build/figs/site_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7314" y="3429000"/>
            <a:ext cx="2238492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Current Condition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2.11 场地现状分析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pic>
        <p:nvPicPr>
          <p:cNvPr id="7" name="Image 0" descr="/home/user/lxfs/pptx_build/figs/site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645" y="932688"/>
            <a:ext cx="2054510" cy="3611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562856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场地现状平面图</a:t>
            </a:r>
            <a:endParaRPr lang="en-US" sz="800" dirty="0"/>
          </a:p>
        </p:txBody>
      </p:sp>
      <p:pic>
        <p:nvPicPr>
          <p:cNvPr id="9" name="Image 1" descr="/home/user/lxfs/pptx_build/figs/site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932688"/>
            <a:ext cx="1828800" cy="10374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697480" y="932688"/>
            <a:ext cx="786384" cy="237744"/>
          </a:xfrm>
          <a:prstGeom prst="rect">
            <a:avLst/>
          </a:prstGeom>
          <a:solidFill>
            <a:srgbClr val="E07B2A">
              <a:alpha val="90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697480" y="932688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裸土空地</a:t>
            </a:r>
            <a:endParaRPr lang="en-US" sz="800" dirty="0"/>
          </a:p>
        </p:txBody>
      </p:sp>
      <p:pic>
        <p:nvPicPr>
          <p:cNvPr id="12" name="Image 2" descr="/home/user/lxfs/pptx_build/figs/site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932688"/>
            <a:ext cx="1828800" cy="1045863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17720" y="932688"/>
            <a:ext cx="786384" cy="237744"/>
          </a:xfrm>
          <a:prstGeom prst="rect">
            <a:avLst/>
          </a:prstGeom>
          <a:solidFill>
            <a:srgbClr val="1F3F7A">
              <a:alpha val="90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617720" y="932688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周边住宅</a:t>
            </a:r>
            <a:endParaRPr lang="en-US" sz="800" dirty="0"/>
          </a:p>
        </p:txBody>
      </p:sp>
      <p:pic>
        <p:nvPicPr>
          <p:cNvPr id="15" name="Image 3" descr="/home/user/lxfs/pptx_build/figs/site_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2057400"/>
            <a:ext cx="1828800" cy="1045863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697480" y="2057400"/>
            <a:ext cx="786384" cy="237744"/>
          </a:xfrm>
          <a:prstGeom prst="rect">
            <a:avLst/>
          </a:prstGeom>
          <a:solidFill>
            <a:srgbClr val="4E8A3E">
              <a:alpha val="90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97480" y="205740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原生林地</a:t>
            </a:r>
            <a:endParaRPr lang="en-US" sz="800" dirty="0"/>
          </a:p>
        </p:txBody>
      </p:sp>
      <p:pic>
        <p:nvPicPr>
          <p:cNvPr id="18" name="Image 4" descr="/home/user/lxfs/pptx_build/figs/site_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2057400"/>
            <a:ext cx="1828800" cy="1042532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4617720" y="2057400"/>
            <a:ext cx="786384" cy="237744"/>
          </a:xfrm>
          <a:prstGeom prst="rect">
            <a:avLst/>
          </a:prstGeom>
          <a:solidFill>
            <a:srgbClr val="E07B2A">
              <a:alpha val="90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4617720" y="205740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局部土坡</a:t>
            </a:r>
            <a:endParaRPr lang="en-US" sz="800" dirty="0"/>
          </a:p>
        </p:txBody>
      </p:sp>
      <p:sp>
        <p:nvSpPr>
          <p:cNvPr id="21" name="Text 14"/>
          <p:cNvSpPr txBox="1"/>
          <p:nvPr/>
        </p:nvSpPr>
        <p:spPr>
          <a:xfrm>
            <a:off x="2697480" y="3127248"/>
            <a:ext cx="374904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场地现状照片（裸土空地、原生林地与周边住宅）</a:t>
            </a:r>
            <a:endParaRPr lang="en-US" sz="750" dirty="0"/>
          </a:p>
        </p:txBody>
      </p:sp>
      <p:pic>
        <p:nvPicPr>
          <p:cNvPr id="22" name="Image 5" descr="/home/user/lxfs/pptx_build/figs/satellit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9059" y="3364992"/>
            <a:ext cx="1565883" cy="12344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269748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</a:t>
            </a:r>
            <a:endParaRPr lang="en-US" sz="800" dirty="0"/>
          </a:p>
        </p:txBody>
      </p:sp>
      <p:sp>
        <p:nvSpPr>
          <p:cNvPr id="24" name="Shape 16"/>
          <p:cNvSpPr/>
          <p:nvPr/>
        </p:nvSpPr>
        <p:spPr>
          <a:xfrm>
            <a:off x="6629400" y="932688"/>
            <a:ext cx="219456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6702552" y="1005840"/>
            <a:ext cx="914400" cy="256032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702552" y="1005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原生林地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6656832" y="1280160"/>
            <a:ext cx="2139696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东北部、中部成片乡土乔木群落，保留作生态基底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6629400" y="2194560"/>
            <a:ext cx="219456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702552" y="2267712"/>
            <a:ext cx="914400" cy="256032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702552" y="22677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裸土空地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6656832" y="2542032"/>
            <a:ext cx="2139696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大片裸露待开发土地，局部小土坡，需改良土壤</a:t>
            </a:r>
            <a:endParaRPr lang="en-US" sz="850" dirty="0"/>
          </a:p>
        </p:txBody>
      </p:sp>
      <p:sp>
        <p:nvSpPr>
          <p:cNvPr id="32" name="Shape 24"/>
          <p:cNvSpPr/>
          <p:nvPr/>
        </p:nvSpPr>
        <p:spPr>
          <a:xfrm>
            <a:off x="6629400" y="3456432"/>
            <a:ext cx="219456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6702552" y="3529584"/>
            <a:ext cx="914400" cy="25603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6702552" y="35295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水体与构筑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6656832" y="3803904"/>
            <a:ext cx="2139696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无水体、无建筑遗存，需人工营造海绵水景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Structure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2.12 人群结构分析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pic>
        <p:nvPicPr>
          <p:cNvPr id="7" name="Image 0" descr="/home/user/lxfs/pptx_build/figs/x_elder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46883"/>
            <a:ext cx="1600200" cy="100312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783080"/>
            <a:ext cx="1600200" cy="566928"/>
          </a:xfrm>
          <a:prstGeom prst="rect">
            <a:avLst/>
          </a:prstGeom>
          <a:solidFill>
            <a:srgbClr val="1F3F7A">
              <a:alpha val="7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2064" y="178308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散步、晨练、休憩闲谈、社交 / 康养步道、器械、林荫座椅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377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老年人</a:t>
            </a:r>
            <a:endParaRPr lang="en-US" sz="1000" dirty="0"/>
          </a:p>
        </p:txBody>
      </p:sp>
      <p:pic>
        <p:nvPicPr>
          <p:cNvPr id="11" name="Image 1" descr="/home/user/lxfs/pptx_build/figs/x_famil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117854"/>
            <a:ext cx="1600200" cy="123215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48840" y="1783080"/>
            <a:ext cx="1600200" cy="566928"/>
          </a:xfrm>
          <a:prstGeom prst="rect">
            <a:avLst/>
          </a:prstGeom>
          <a:solidFill>
            <a:srgbClr val="E07B2A">
              <a:alpha val="75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203704" y="178308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儿童攀爬游乐、家长陪护 / 分龄儿童游乐区、看护休憩</a:t>
            </a:r>
            <a:endParaRPr lang="en-US" sz="650" dirty="0"/>
          </a:p>
        </p:txBody>
      </p:sp>
      <p:sp>
        <p:nvSpPr>
          <p:cNvPr id="14" name="Text 10"/>
          <p:cNvSpPr txBox="1"/>
          <p:nvPr/>
        </p:nvSpPr>
        <p:spPr>
          <a:xfrm>
            <a:off x="2148840" y="2377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家庭亲子</a:t>
            </a:r>
            <a:endParaRPr lang="en-US" sz="1000" dirty="0"/>
          </a:p>
        </p:txBody>
      </p:sp>
      <p:pic>
        <p:nvPicPr>
          <p:cNvPr id="15" name="Image 2" descr="/home/user/lxfs/pptx_build/figs/x_baseball_kid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277374"/>
            <a:ext cx="1600200" cy="1072634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840480" y="1783080"/>
            <a:ext cx="1600200" cy="566928"/>
          </a:xfrm>
          <a:prstGeom prst="rect">
            <a:avLst/>
          </a:prstGeom>
          <a:solidFill>
            <a:srgbClr val="4E8A3E">
              <a:alpha val="75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895344" y="178308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跑步、球类、骑行 / 球类场地、环形跑道</a:t>
            </a:r>
            <a:endParaRPr lang="en-US" sz="650" dirty="0"/>
          </a:p>
        </p:txBody>
      </p:sp>
      <p:sp>
        <p:nvSpPr>
          <p:cNvPr id="18" name="Text 13"/>
          <p:cNvSpPr txBox="1"/>
          <p:nvPr/>
        </p:nvSpPr>
        <p:spPr>
          <a:xfrm>
            <a:off x="3840480" y="2377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青少年/学生</a:t>
            </a:r>
            <a:endParaRPr lang="en-US" sz="1000" dirty="0"/>
          </a:p>
        </p:txBody>
      </p:sp>
      <p:pic>
        <p:nvPicPr>
          <p:cNvPr id="19" name="Image 3" descr="/home/user/lxfs/pptx_build/figs/x_mt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149858"/>
            <a:ext cx="1600200" cy="120015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532120" y="1783080"/>
            <a:ext cx="1600200" cy="566928"/>
          </a:xfrm>
          <a:prstGeom prst="rect">
            <a:avLst/>
          </a:prstGeom>
          <a:solidFill>
            <a:srgbClr val="5B7DB1">
              <a:alpha val="75000"/>
            </a:srgbClr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586984" y="178308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跑步、健身 / 健身器械区、夜间照明</a:t>
            </a:r>
            <a:endParaRPr lang="en-US" sz="650" dirty="0"/>
          </a:p>
        </p:txBody>
      </p:sp>
      <p:sp>
        <p:nvSpPr>
          <p:cNvPr id="22" name="Text 16"/>
          <p:cNvSpPr txBox="1"/>
          <p:nvPr/>
        </p:nvSpPr>
        <p:spPr>
          <a:xfrm>
            <a:off x="5532120" y="2377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中青年</a:t>
            </a:r>
            <a:endParaRPr lang="en-US" sz="1000" dirty="0"/>
          </a:p>
        </p:txBody>
      </p:sp>
      <p:pic>
        <p:nvPicPr>
          <p:cNvPr id="23" name="Image 4" descr="/home/user/lxfs/pptx_build/figs/x_step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149858"/>
            <a:ext cx="1600200" cy="120015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7223760" y="1783080"/>
            <a:ext cx="1600200" cy="566928"/>
          </a:xfrm>
          <a:prstGeom prst="rect">
            <a:avLst/>
          </a:prstGeom>
          <a:solidFill>
            <a:srgbClr val="8A8F9C">
              <a:alpha val="75000"/>
            </a:srgbClr>
          </a:solidFill>
          <a:ln w="12700">
            <a:solidFill>
              <a:srgbClr val="8A8F9C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7278624" y="178308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短途停留、生态休闲 / 阳光草坪、景观节点</a:t>
            </a:r>
            <a:endParaRPr lang="en-US" sz="650" dirty="0"/>
          </a:p>
        </p:txBody>
      </p:sp>
      <p:sp>
        <p:nvSpPr>
          <p:cNvPr id="26" name="Text 19"/>
          <p:cNvSpPr txBox="1"/>
          <p:nvPr/>
        </p:nvSpPr>
        <p:spPr>
          <a:xfrm>
            <a:off x="7223760" y="2377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外来游客</a:t>
            </a:r>
            <a:endParaRPr lang="en-US" sz="1000" dirty="0"/>
          </a:p>
        </p:txBody>
      </p:sp>
      <p:pic>
        <p:nvPicPr>
          <p:cNvPr id="27" name="Image 5" descr="/home/user/lxfs/pptx_build/figs/pie_src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43200"/>
            <a:ext cx="1737360" cy="173736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57200" y="4498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使用人群来源构成</a:t>
            </a:r>
            <a:endParaRPr lang="en-US" sz="800" dirty="0"/>
          </a:p>
        </p:txBody>
      </p:sp>
      <p:pic>
        <p:nvPicPr>
          <p:cNvPr id="29" name="Image 6" descr="/home/user/lxfs/pptx_build/figs/pie_age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2743200"/>
            <a:ext cx="1737360" cy="1527349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2286000" y="4288837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使用人群年龄构成</a:t>
            </a:r>
            <a:endParaRPr lang="en-US" sz="800" dirty="0"/>
          </a:p>
        </p:txBody>
      </p:sp>
      <p:pic>
        <p:nvPicPr>
          <p:cNvPr id="31" name="Image 7" descr="/home/user/lxfs/pptx_build/figs/pie_sex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0" y="2743200"/>
            <a:ext cx="1737360" cy="1737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4114800" y="4498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使用人群性别构成</a:t>
            </a:r>
            <a:endParaRPr lang="en-US" sz="800" dirty="0"/>
          </a:p>
        </p:txBody>
      </p:sp>
      <p:sp>
        <p:nvSpPr>
          <p:cNvPr id="33" name="Shape 23"/>
          <p:cNvSpPr/>
          <p:nvPr/>
        </p:nvSpPr>
        <p:spPr>
          <a:xfrm>
            <a:off x="6035040" y="2743200"/>
            <a:ext cx="2788920" cy="19659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126480" y="27706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人群结构特征</a:t>
            </a:r>
            <a:endParaRPr lang="en-US" sz="1000" dirty="0"/>
          </a:p>
        </p:txBody>
      </p:sp>
      <p:sp>
        <p:nvSpPr>
          <p:cNvPr id="35" name="Text 25"/>
          <p:cNvSpPr txBox="1"/>
          <p:nvPr/>
        </p:nvSpPr>
        <p:spPr>
          <a:xfrm>
            <a:off x="6080760" y="3044952"/>
            <a:ext cx="26974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60岁及以上占26.56%，高于全国与四川；中老年、青少年占比高，青壮年通勤人群为辅；性别基本均衡。</a:t>
            </a:r>
            <a:endParaRPr lang="en-US" sz="850" dirty="0"/>
          </a:p>
        </p:txBody>
      </p:sp>
      <p:sp>
        <p:nvSpPr>
          <p:cNvPr id="36" name="Text 26"/>
          <p:cNvSpPr txBox="1"/>
          <p:nvPr/>
        </p:nvSpPr>
        <p:spPr>
          <a:xfrm>
            <a:off x="6080760" y="4681728"/>
            <a:ext cx="269748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数据来源：仁寿县第七次全国人口普查公报。</a:t>
            </a:r>
            <a:endParaRPr lang="en-US" sz="6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Audience Needs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2011680" cy="274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现有小区附属绿地仅配置简易健身器械，缺乏规模化、分龄化的专业运动场地，居民多元化体育锻炼、亲子运动、康养休闲需求难以满足。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周边居民以中老年、家庭亲子与学生为主：出行、日晒、休憩、体锻是基本需求；情感、兴趣、社交、康养是进阶需求。体育公园需在空间中逐层回应这些需求。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960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基本需求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35204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进阶需求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64408" y="1051560"/>
            <a:ext cx="64008" cy="338328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64408" y="1389888"/>
            <a:ext cx="64008" cy="338328"/>
          </a:xfrm>
          <a:prstGeom prst="rect">
            <a:avLst/>
          </a:prstGeom>
          <a:solidFill>
            <a:srgbClr val="E58A45"/>
          </a:solidFill>
          <a:ln w="12700">
            <a:solidFill>
              <a:srgbClr val="E58A4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64408" y="1728216"/>
            <a:ext cx="64008" cy="338328"/>
          </a:xfrm>
          <a:prstGeom prst="rect">
            <a:avLst/>
          </a:prstGeom>
          <a:solidFill>
            <a:srgbClr val="EA9A60"/>
          </a:solidFill>
          <a:ln w="12700">
            <a:solidFill>
              <a:srgbClr val="EA9A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64408" y="2066544"/>
            <a:ext cx="64008" cy="338328"/>
          </a:xfrm>
          <a:prstGeom prst="rect">
            <a:avLst/>
          </a:prstGeom>
          <a:solidFill>
            <a:srgbClr val="EEA97A"/>
          </a:solidFill>
          <a:ln w="12700">
            <a:solidFill>
              <a:srgbClr val="EEA9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2404872"/>
            <a:ext cx="64008" cy="338328"/>
          </a:xfrm>
          <a:prstGeom prst="rect">
            <a:avLst/>
          </a:prstGeom>
          <a:solidFill>
            <a:srgbClr val="F2B995"/>
          </a:solidFill>
          <a:ln w="12700">
            <a:solidFill>
              <a:srgbClr val="F2B99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2743200"/>
            <a:ext cx="64008" cy="338328"/>
          </a:xfrm>
          <a:prstGeom prst="rect">
            <a:avLst/>
          </a:prstGeom>
          <a:solidFill>
            <a:srgbClr val="F6C9B0"/>
          </a:solidFill>
          <a:ln w="12700">
            <a:solidFill>
              <a:srgbClr val="F6C9B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64408" y="3081528"/>
            <a:ext cx="64008" cy="338328"/>
          </a:xfrm>
          <a:prstGeom prst="rect">
            <a:avLst/>
          </a:prstGeom>
          <a:solidFill>
            <a:srgbClr val="F9D9CA"/>
          </a:solidFill>
          <a:ln w="12700">
            <a:solidFill>
              <a:srgbClr val="F9D9C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64408" y="3419856"/>
            <a:ext cx="64008" cy="338328"/>
          </a:xfrm>
          <a:prstGeom prst="rect">
            <a:avLst/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102412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出行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1362456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日晒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1700784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休憩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2039112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体锻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2377440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情感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3383280" y="271576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兴趣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3054096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社交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3392424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康养</a:t>
            </a:r>
            <a:endParaRPr lang="en-US" sz="850" dirty="0"/>
          </a:p>
        </p:txBody>
      </p:sp>
      <p:pic>
        <p:nvPicPr>
          <p:cNvPr id="26" name="Image 0" descr="/home/user/lxfs/pptx_build/figs/x_ricksha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541698"/>
            <a:ext cx="1554480" cy="835742"/>
          </a:xfrm>
          <a:prstGeom prst="rect">
            <a:avLst/>
          </a:prstGeom>
        </p:spPr>
      </p:pic>
      <p:pic>
        <p:nvPicPr>
          <p:cNvPr id="27" name="Image 1" descr="/home/user/lxfs/pptx_build/figs/x_beachkit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0" y="1211580"/>
            <a:ext cx="1554480" cy="1165860"/>
          </a:xfrm>
          <a:prstGeom prst="rect">
            <a:avLst/>
          </a:prstGeom>
        </p:spPr>
      </p:pic>
      <p:pic>
        <p:nvPicPr>
          <p:cNvPr id="28" name="Image 2" descr="/home/user/lxfs/pptx_build/figs/x_elder_phon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7455" y="1005840"/>
            <a:ext cx="1513490" cy="1371600"/>
          </a:xfrm>
          <a:prstGeom prst="rect">
            <a:avLst/>
          </a:prstGeom>
        </p:spPr>
      </p:pic>
      <p:pic>
        <p:nvPicPr>
          <p:cNvPr id="29" name="Image 3" descr="/home/user/lxfs/pptx_build/figs/x_pbar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1397" y="1005840"/>
            <a:ext cx="1050646" cy="1371600"/>
          </a:xfrm>
          <a:prstGeom prst="rect">
            <a:avLst/>
          </a:prstGeom>
        </p:spPr>
      </p:pic>
      <p:pic>
        <p:nvPicPr>
          <p:cNvPr id="30" name="Image 4" descr="/home/user/lxfs/pptx_build/figs/x_crowd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32099"/>
            <a:ext cx="913486" cy="608381"/>
          </a:xfrm>
          <a:prstGeom prst="rect">
            <a:avLst/>
          </a:prstGeom>
        </p:spPr>
      </p:pic>
      <p:pic>
        <p:nvPicPr>
          <p:cNvPr id="31" name="Image 5" descr="/home/user/lxfs/pptx_build/figs/x_skat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8810" y="2681881"/>
            <a:ext cx="769382" cy="1158599"/>
          </a:xfrm>
          <a:prstGeom prst="rect">
            <a:avLst/>
          </a:prstGeom>
        </p:spPr>
      </p:pic>
      <p:pic>
        <p:nvPicPr>
          <p:cNvPr id="32" name="Image 6" descr="/home/user/lxfs/pptx_build/figs/x_umbrella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4486" y="2468880"/>
            <a:ext cx="1028700" cy="1371600"/>
          </a:xfrm>
          <a:prstGeom prst="rect">
            <a:avLst/>
          </a:prstGeom>
        </p:spPr>
      </p:pic>
      <p:pic>
        <p:nvPicPr>
          <p:cNvPr id="33" name="Image 7" descr="/home/user/lxfs/pptx_build/figs/x_wheelchair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2966085"/>
            <a:ext cx="1554480" cy="874395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457200" y="3886200"/>
            <a:ext cx="8366760" cy="896112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54864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居民日常户外活动的时段分布</a:t>
            </a:r>
            <a:endParaRPr lang="en-US" sz="1050" dirty="0"/>
          </a:p>
        </p:txBody>
      </p:sp>
      <p:sp>
        <p:nvSpPr>
          <p:cNvPr id="36" name="Shape 26"/>
          <p:cNvSpPr/>
          <p:nvPr/>
        </p:nvSpPr>
        <p:spPr>
          <a:xfrm>
            <a:off x="4069080" y="388620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3429000" y="39867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6:00—9:00</a:t>
            </a:r>
            <a:endParaRPr lang="en-US" sz="900" dirty="0"/>
          </a:p>
        </p:txBody>
      </p:sp>
      <p:sp>
        <p:nvSpPr>
          <p:cNvPr id="38" name="Shape 28"/>
          <p:cNvSpPr/>
          <p:nvPr/>
        </p:nvSpPr>
        <p:spPr>
          <a:xfrm>
            <a:off x="5413248" y="388620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4773168" y="39867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9:00—12:00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6757416" y="388620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6117336" y="39867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14:00—17:00</a:t>
            </a:r>
            <a:endParaRPr lang="en-US" sz="900" dirty="0"/>
          </a:p>
        </p:txBody>
      </p:sp>
      <p:sp>
        <p:nvSpPr>
          <p:cNvPr id="42" name="Shape 32"/>
          <p:cNvSpPr/>
          <p:nvPr/>
        </p:nvSpPr>
        <p:spPr>
          <a:xfrm>
            <a:off x="8101584" y="388620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7461504" y="39867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17:00—20:00</a:t>
            </a:r>
            <a:endParaRPr lang="en-US" sz="900" dirty="0"/>
          </a:p>
        </p:txBody>
      </p:sp>
      <p:sp>
        <p:nvSpPr>
          <p:cNvPr id="44" name="Text 34"/>
          <p:cNvSpPr txBox="1"/>
          <p:nvPr/>
        </p:nvSpPr>
        <p:spPr>
          <a:xfrm>
            <a:off x="548640" y="4206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动态活动场所：</a:t>
            </a:r>
            <a:endParaRPr lang="en-US" sz="750" dirty="0"/>
          </a:p>
        </p:txBody>
      </p:sp>
      <p:sp>
        <p:nvSpPr>
          <p:cNvPr id="45" name="Text 35"/>
          <p:cNvSpPr txBox="1"/>
          <p:nvPr/>
        </p:nvSpPr>
        <p:spPr>
          <a:xfrm>
            <a:off x="3429000" y="4206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晨练、散步、太极</a:t>
            </a:r>
            <a:endParaRPr lang="en-US" sz="750" dirty="0"/>
          </a:p>
        </p:txBody>
      </p:sp>
      <p:sp>
        <p:nvSpPr>
          <p:cNvPr id="46" name="Text 36"/>
          <p:cNvSpPr txBox="1"/>
          <p:nvPr/>
        </p:nvSpPr>
        <p:spPr>
          <a:xfrm>
            <a:off x="6117336" y="4206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跑步、球类、骑行</a:t>
            </a:r>
            <a:endParaRPr lang="en-US" sz="750" dirty="0"/>
          </a:p>
        </p:txBody>
      </p:sp>
      <p:sp>
        <p:nvSpPr>
          <p:cNvPr id="47" name="Text 37"/>
          <p:cNvSpPr txBox="1"/>
          <p:nvPr/>
        </p:nvSpPr>
        <p:spPr>
          <a:xfrm>
            <a:off x="7461504" y="4206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健身、亲子游乐</a:t>
            </a:r>
            <a:endParaRPr lang="en-US" sz="750" dirty="0"/>
          </a:p>
        </p:txBody>
      </p:sp>
      <p:sp>
        <p:nvSpPr>
          <p:cNvPr id="48" name="Text 38"/>
          <p:cNvSpPr txBox="1"/>
          <p:nvPr/>
        </p:nvSpPr>
        <p:spPr>
          <a:xfrm>
            <a:off x="548640" y="4389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静态活动场所：</a:t>
            </a:r>
            <a:endParaRPr lang="en-US" sz="750" dirty="0"/>
          </a:p>
        </p:txBody>
      </p:sp>
      <p:sp>
        <p:nvSpPr>
          <p:cNvPr id="49" name="Text 39"/>
          <p:cNvSpPr txBox="1"/>
          <p:nvPr/>
        </p:nvSpPr>
        <p:spPr>
          <a:xfrm>
            <a:off x="4773168" y="4389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休憩闲谈、晾晒</a:t>
            </a:r>
            <a:endParaRPr lang="en-US" sz="750" dirty="0"/>
          </a:p>
        </p:txBody>
      </p:sp>
      <p:sp>
        <p:nvSpPr>
          <p:cNvPr id="50" name="Text 40"/>
          <p:cNvSpPr txBox="1"/>
          <p:nvPr/>
        </p:nvSpPr>
        <p:spPr>
          <a:xfrm>
            <a:off x="7461504" y="4389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饭后休闲、聚会下棋</a:t>
            </a:r>
            <a:endParaRPr lang="en-US" sz="750" dirty="0"/>
          </a:p>
        </p:txBody>
      </p:sp>
      <p:sp>
        <p:nvSpPr>
          <p:cNvPr id="51" name="Text 41"/>
          <p:cNvSpPr txBox="1"/>
          <p:nvPr/>
        </p:nvSpPr>
        <p:spPr>
          <a:xfrm>
            <a:off x="548640" y="45720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步行活动场所：</a:t>
            </a:r>
            <a:endParaRPr lang="en-US" sz="750" dirty="0"/>
          </a:p>
        </p:txBody>
      </p:sp>
      <p:sp>
        <p:nvSpPr>
          <p:cNvPr id="52" name="Text 42"/>
          <p:cNvSpPr txBox="1"/>
          <p:nvPr/>
        </p:nvSpPr>
        <p:spPr>
          <a:xfrm>
            <a:off x="3429000" y="457200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上学途经、四向穿越，需连续无障碍步道与岔路口标识系统</a:t>
            </a:r>
            <a:endParaRPr lang="en-US" sz="7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Audience Needs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主要人群需求分析——调研数据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pic>
        <p:nvPicPr>
          <p:cNvPr id="7" name="Image 0" descr="/home/user/lxfs/pptx_build/figs/pie_a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2240280" cy="22402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17296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居民主要活动类型偏好</a:t>
            </a:r>
            <a:endParaRPr lang="en-US" sz="800" dirty="0"/>
          </a:p>
        </p:txBody>
      </p:sp>
      <p:pic>
        <p:nvPicPr>
          <p:cNvPr id="9" name="Image 1" descr="/home/user/lxfs/pptx_build/figs/pie_ti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914400"/>
            <a:ext cx="2240280" cy="2240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46120" y="317296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居民户外活动时段分布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6217920" y="914400"/>
            <a:ext cx="2606040" cy="1417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309360" y="1005840"/>
            <a:ext cx="86868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09360" y="10058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基本需求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263640" y="1325880"/>
            <a:ext cx="251460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出行、日晒、休憩、体锻——全域无障碍步道、遮阳林荫、充足座椅、分龄健身场地。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217920" y="2468880"/>
            <a:ext cx="2606040" cy="1417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2560320"/>
            <a:ext cx="86868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09360" y="25603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进阶需求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263640" y="2880360"/>
            <a:ext cx="251460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情感、兴趣、社交、理疗——邻里聚会草坪、种植科普、康养步道、文化记忆节点。</a:t>
            </a:r>
            <a:endParaRPr lang="en-US" sz="8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29718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人群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主要活动时段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主要活动类型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中老年人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6:00—9:00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晨练散步、日间休憩闲谈、饭后休闲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中年群体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14:00—20:00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跑步、健身等体育运动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青少年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14:00—19:00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跑步、球类、骑行；上学途经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儿童（亲子）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全天分散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攀爬游乐、亲子游乐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Sunlight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2.14 光照分析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pic>
        <p:nvPicPr>
          <p:cNvPr id="7" name="Image 0" descr="/home/user/lxfs/pptx_build/figs/sun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733" y="932688"/>
            <a:ext cx="3833454" cy="2148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099816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夏季太阳轨迹与场地日照</a:t>
            </a:r>
            <a:endParaRPr lang="en-US" sz="800" dirty="0"/>
          </a:p>
        </p:txBody>
      </p:sp>
      <p:pic>
        <p:nvPicPr>
          <p:cNvPr id="9" name="Image 1" descr="/home/user/lxfs/pptx_build/figs/sun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139" y="932688"/>
            <a:ext cx="3213403" cy="2148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983480" y="309981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光照分析图（冬季太阳高度角较低）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57200" y="3291840"/>
            <a:ext cx="269748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30352" y="3364992"/>
            <a:ext cx="1234440" cy="402336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30352" y="33649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全日照区（≥6h）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1828800" y="3310128"/>
            <a:ext cx="132588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阳光草坪、运动场地、露天活动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3291840" y="3291840"/>
            <a:ext cx="269748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64992" y="3364992"/>
            <a:ext cx="1234440" cy="402336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364992" y="33649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半日照区（3—6h）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4663440" y="3310128"/>
            <a:ext cx="132588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疏林草地、慢行步道、林下休憩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6126480" y="3291840"/>
            <a:ext cx="269748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199632" y="3364992"/>
            <a:ext cx="1234440" cy="402336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199632" y="33649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阴影区（&lt;3h）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310128"/>
            <a:ext cx="132588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阴生植物景观、静谧休闲空间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2.15 SWOT分析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11480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8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216341"/>
            <a:ext cx="1600200" cy="126149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30352" y="1216341"/>
            <a:ext cx="457200" cy="4572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121634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10058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316736"/>
            <a:ext cx="2331720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规模8.6公顷，满足15分钟生活圈综合公园标准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四面临路，四面可设入口，可达性极强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场地平整无拆迁，建设成本低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周边居住人口密集，使用需求充足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709160" y="932688"/>
            <a:ext cx="411480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14" name="Image 1" descr="/home/user/lxfs/pptx_build/figs/site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3185"/>
            <a:ext cx="1600200" cy="90780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782312" y="1393185"/>
            <a:ext cx="457200" cy="45720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782312" y="13931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6492240" y="10058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劣势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316736"/>
            <a:ext cx="2331720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北侧主干道车流大，噪声粉尘干扰严重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现状成型乔木有限，初期需大量苗木栽植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场地缺少天然水系，需人工营造海绵水景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457200" y="2852928"/>
            <a:ext cx="411480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20" name="Image 2" descr="/home/user/lxfs/pptx_build/figs/ma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674" y="2926080"/>
            <a:ext cx="937556" cy="168249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861674" y="2926080"/>
            <a:ext cx="457200" cy="45720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61674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2240280" y="29260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机遇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2194560" y="3236976"/>
            <a:ext cx="2331720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仁寿城北新城公园城市规划政策支持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片区缺少综合绿地，项目民生价值高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海绵城市、15分钟生活圈政策提供设计导向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周边小区入住率持续提升，远期人流增长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4709160" y="2852928"/>
            <a:ext cx="411480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26" name="Image 3" descr="/home/user/lxfs/pptx_build/figs/site_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312" y="3311220"/>
            <a:ext cx="1600200" cy="912216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4782312" y="3311220"/>
            <a:ext cx="457200" cy="457200"/>
          </a:xfrm>
          <a:prstGeom prst="rect">
            <a:avLst/>
          </a:prstGeom>
          <a:solidFill>
            <a:srgbClr val="8A8F9C"/>
          </a:solidFill>
          <a:ln w="12700">
            <a:solidFill>
              <a:srgbClr val="8A8F9C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4782312" y="33112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6492240" y="29260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F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威胁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6446520" y="3236976"/>
            <a:ext cx="2331720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县城建设预算有限，不宜采用高端硬质景观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夏季多雨，需重点做好场地排水防涝设计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周边小区内部小型绿地分流部分休闲人群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Summary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2.16 问题梳理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pic>
        <p:nvPicPr>
          <p:cNvPr id="7" name="Image 0" descr="/home/user/lxfs/pptx_build/figs/site_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748" y="932688"/>
            <a:ext cx="2398384" cy="1371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6748" y="1920240"/>
            <a:ext cx="2398384" cy="384048"/>
          </a:xfrm>
          <a:prstGeom prst="rect">
            <a:avLst/>
          </a:prstGeom>
          <a:solidFill>
            <a:srgbClr val="E07B2A">
              <a:alpha val="85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1612" y="1920240"/>
            <a:ext cx="2288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场地现状问题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269748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2441448"/>
            <a:ext cx="260604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北侧普宁大道车流大，噪声、粉尘干扰严重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裸土地块土壤条件一般，需改良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无天然水体，旱地型地块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局部小土坡，场地平整度一般</a:t>
            </a:r>
            <a:endParaRPr lang="en-US" sz="850" dirty="0"/>
          </a:p>
        </p:txBody>
      </p:sp>
      <p:pic>
        <p:nvPicPr>
          <p:cNvPr id="12" name="Image 1" descr="/home/user/lxfs/pptx_build/figs/site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388" y="932688"/>
            <a:ext cx="2398384" cy="13716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441388" y="1920240"/>
            <a:ext cx="2398384" cy="384048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96252" y="1920240"/>
            <a:ext cx="2288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片区供给问题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91840" y="2377440"/>
            <a:ext cx="269748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37560" y="2441448"/>
            <a:ext cx="260604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集中型公共休闲绿地供给严重不足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现有绿地为小区零散附属绿化，仅简易健身器械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缺乏规模化、分龄化专业运动场地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新城缺少文化景观载体与场所记忆</a:t>
            </a:r>
            <a:endParaRPr lang="en-US" sz="850" dirty="0"/>
          </a:p>
        </p:txBody>
      </p:sp>
      <p:pic>
        <p:nvPicPr>
          <p:cNvPr id="17" name="Image 2" descr="/home/user/lxfs/pptx_build/figs/site_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197" y="932688"/>
            <a:ext cx="2406047" cy="13716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72197" y="1920240"/>
            <a:ext cx="2406047" cy="384048"/>
          </a:xfrm>
          <a:prstGeom prst="rect">
            <a:avLst/>
          </a:prstGeom>
          <a:solidFill>
            <a:srgbClr val="4E8A3E">
              <a:alpha val="85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27061" y="1920240"/>
            <a:ext cx="22963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人群需求问题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26480" y="2377440"/>
            <a:ext cx="269748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172200" y="2441448"/>
            <a:ext cx="260604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中老年占比高，康养、社交空间缺失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亲子群体缺少安全分龄游乐场地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青少年、学生缺少球类、跑步场地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夏季高温多雨，缺少遮阳与全天候活动条件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343400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以上问题对应第三部分设计目标（3.1）与设计策略（3.4）逐项回应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Planning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pic>
        <p:nvPicPr>
          <p:cNvPr id="6" name="Image 0" descr="/home/user/lxfs/pptx_build/figs/x_gym_ball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868680"/>
            <a:ext cx="3977640" cy="22409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914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场地规划分析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423160"/>
            <a:ext cx="4114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设计目标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设计原则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设计构思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设计成果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 进度安排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Objectives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设计目标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pic>
        <p:nvPicPr>
          <p:cNvPr id="7" name="Image 0" descr="/home/user/lxfs/pptx_build/figs/x_h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35608"/>
            <a:ext cx="2011680" cy="1508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532888"/>
            <a:ext cx="2011680" cy="411480"/>
          </a:xfrm>
          <a:prstGeom prst="rect">
            <a:avLst/>
          </a:prstGeom>
          <a:solidFill>
            <a:srgbClr val="4E8A3E">
              <a:alpha val="85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2064" y="2532888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生态目标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3063240"/>
            <a:ext cx="310896" cy="310896"/>
          </a:xfrm>
          <a:prstGeom prst="ellipse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30632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生态目标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2011680" cy="12801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" y="3511296"/>
            <a:ext cx="190195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多层次乡土植物群落、主干道生态缓冲带与海绵雨水系统，降低径流，削弱噪声粉尘</a:t>
            </a:r>
            <a:endParaRPr lang="en-US" sz="950" dirty="0"/>
          </a:p>
        </p:txBody>
      </p:sp>
      <p:pic>
        <p:nvPicPr>
          <p:cNvPr id="15" name="Image 1" descr="/home/user/lxfs/pptx_build/figs/x_tenni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947" y="932688"/>
            <a:ext cx="1128427" cy="20116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001947" y="2532888"/>
            <a:ext cx="1128427" cy="411480"/>
          </a:xfrm>
          <a:prstGeom prst="rect">
            <a:avLst/>
          </a:prstGeom>
          <a:solidFill>
            <a:srgbClr val="E07B2A">
              <a:alpha val="85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056811" y="2532888"/>
            <a:ext cx="101869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功能目标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2560320" y="3063240"/>
            <a:ext cx="310896" cy="310896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6032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2944368" y="30632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功能目标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2560320" y="3456432"/>
            <a:ext cx="2011680" cy="12801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615184" y="3511296"/>
            <a:ext cx="190195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婴幼儿游乐、青少年运动、老年康养、邻里草坪、自然科普五大分区</a:t>
            </a:r>
            <a:endParaRPr lang="en-US" sz="950" dirty="0"/>
          </a:p>
        </p:txBody>
      </p:sp>
      <p:pic>
        <p:nvPicPr>
          <p:cNvPr id="23" name="Image 2" descr="/home/user/lxfs/pptx_build/figs/x_aerial_roun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962396"/>
            <a:ext cx="2011680" cy="198197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4663440" y="2532888"/>
            <a:ext cx="2011680" cy="411480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718304" y="2532888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空间目标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663440" y="3063240"/>
            <a:ext cx="310896" cy="310896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6634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047488" y="30632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空间目标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4663440" y="3456432"/>
            <a:ext cx="2011680" cy="12801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718304" y="3511296"/>
            <a:ext cx="190195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优化主次入口与人车流线，四向人行通道与居住区步行无缝衔接</a:t>
            </a:r>
            <a:endParaRPr lang="en-US" sz="950" dirty="0"/>
          </a:p>
        </p:txBody>
      </p:sp>
      <p:pic>
        <p:nvPicPr>
          <p:cNvPr id="31" name="Image 3" descr="/home/user/lxfs/pptx_build/figs/satellit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1358490"/>
            <a:ext cx="2011680" cy="1585878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766560" y="2532888"/>
            <a:ext cx="2011680" cy="411480"/>
          </a:xfrm>
          <a:prstGeom prst="rect">
            <a:avLst/>
          </a:prstGeom>
          <a:solidFill>
            <a:srgbClr val="5B7DB1">
              <a:alpha val="85000"/>
            </a:srgbClr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821424" y="2532888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落地目标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6766560" y="3063240"/>
            <a:ext cx="310896" cy="310896"/>
          </a:xfrm>
          <a:prstGeom prst="ellipse">
            <a:avLst/>
          </a:prstGeom>
          <a:solidFill>
            <a:srgbClr val="5B7DB1"/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76656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150608" y="30632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落地目标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6766560" y="3456432"/>
            <a:ext cx="2011680" cy="12801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821424" y="3511296"/>
            <a:ext cx="190195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眉山本土苗木，减少土方开挖，构筑物轻量化，低成本低维护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Principles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设计原则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pic>
        <p:nvPicPr>
          <p:cNvPr id="7" name="Image 0" descr="/home/user/lxfs/pptx_build/figs/x_kids_ben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3248"/>
            <a:ext cx="2011680" cy="13411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532888"/>
            <a:ext cx="2011680" cy="411480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2064" y="2532888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以人为本·全龄友好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035808"/>
            <a:ext cx="2011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0352" y="3108960"/>
            <a:ext cx="18653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依老人、儿童、中青年行为特征分区，全域无障碍步道、休憩座椅、遮阳乔木</a:t>
            </a:r>
            <a:endParaRPr lang="en-US" sz="950" dirty="0"/>
          </a:p>
        </p:txBody>
      </p:sp>
      <p:pic>
        <p:nvPicPr>
          <p:cNvPr id="12" name="Image 1" descr="/home/user/lxfs/pptx_build/figs/x_plaz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435608"/>
            <a:ext cx="2011680" cy="15087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560320" y="2532888"/>
            <a:ext cx="2011680" cy="411480"/>
          </a:xfrm>
          <a:prstGeom prst="rect">
            <a:avLst/>
          </a:prstGeom>
          <a:solidFill>
            <a:srgbClr val="E07B2A">
              <a:alpha val="85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15184" y="2532888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交通便捷·开放共享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2560320" y="3035808"/>
            <a:ext cx="2011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33472" y="3108960"/>
            <a:ext cx="18653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四面设主次人行入口，绿篱、微地形软边界代替围墙，24小时开放</a:t>
            </a:r>
            <a:endParaRPr lang="en-US" sz="950" dirty="0"/>
          </a:p>
        </p:txBody>
      </p:sp>
      <p:pic>
        <p:nvPicPr>
          <p:cNvPr id="17" name="Image 2" descr="/home/user/lxfs/pptx_build/figs/x_dais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35608"/>
            <a:ext cx="2011680" cy="150876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663440" y="2532888"/>
            <a:ext cx="2011680" cy="411480"/>
          </a:xfrm>
          <a:prstGeom prst="rect">
            <a:avLst/>
          </a:prstGeom>
          <a:solidFill>
            <a:srgbClr val="4E8A3E">
              <a:alpha val="85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718304" y="2532888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乡土风貌·简约宜居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663440" y="3035808"/>
            <a:ext cx="2011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736592" y="3108960"/>
            <a:ext cx="18653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川南浅丘自然简约风格，小品铺装提取仁寿田园、黑龙滩水系元素</a:t>
            </a:r>
            <a:endParaRPr lang="en-US" sz="950" dirty="0"/>
          </a:p>
        </p:txBody>
      </p:sp>
      <p:pic>
        <p:nvPicPr>
          <p:cNvPr id="22" name="Image 3" descr="/home/user/lxfs/pptx_build/figs/x_pi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020" y="932688"/>
            <a:ext cx="1508760" cy="20116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7018020" y="2532888"/>
            <a:ext cx="1508760" cy="411480"/>
          </a:xfrm>
          <a:prstGeom prst="rect">
            <a:avLst/>
          </a:prstGeom>
          <a:solidFill>
            <a:srgbClr val="5B7DB1">
              <a:alpha val="85000"/>
            </a:srgbClr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072884" y="2532888"/>
            <a:ext cx="1399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生态节约·海绵低碳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6766560" y="3035808"/>
            <a:ext cx="2011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39712" y="3108960"/>
            <a:ext cx="18653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保留原始地形，土方场内平衡；乡土树种；雨水花园、植草沟就地净化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Concept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设计构思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  <p:pic>
        <p:nvPicPr>
          <p:cNvPr id="7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4206240" cy="331592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914400"/>
            <a:ext cx="4206240" cy="6858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960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跃动·栖园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10972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一环 · 一带 · 三组团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3453086"/>
            <a:ext cx="4206240" cy="777240"/>
          </a:xfrm>
          <a:prstGeom prst="rect">
            <a:avLst/>
          </a:prstGeom>
          <a:solidFill>
            <a:srgbClr val="1F3F7A">
              <a:alpha val="7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71374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思立足全民健康视角：“跃动”对应全民健身——全龄运动、活力健身；“栖园”对应生态栖居——林下休憩、海绵生态、乡土记忆。以“一环”健康步道串联“动”“静”两类组团，主干道一侧以“一带”防护林承担生态缓冲。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92040" y="914400"/>
            <a:ext cx="3931920" cy="10515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14" name="Image 1" descr="/home/user/lxfs/pptx_build/figs/x_be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998662"/>
            <a:ext cx="1325880" cy="8830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005840"/>
            <a:ext cx="64008" cy="8686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92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跃动组团（动）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1298448"/>
            <a:ext cx="23317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青少年球类运动区、中青年健身器械区、环形健康步道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892040" y="2057400"/>
            <a:ext cx="3931920" cy="10515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19" name="Image 2" descr="/home/user/lxfs/pptx_build/figs/x_bench_law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2140875"/>
            <a:ext cx="1325880" cy="884611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5080" y="2148840"/>
            <a:ext cx="64008" cy="86868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492240" y="2148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栖居组团（静）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6446520" y="2441448"/>
            <a:ext cx="23317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老年康养林荫区、邻里阳光草坪、海绵雨水花园、文化记忆节点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4892040" y="3200400"/>
            <a:ext cx="3931920" cy="10515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24" name="Image 3" descr="/home/user/lxfs/pptx_build/figs/x_fountain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6654" y="3264408"/>
            <a:ext cx="1244668" cy="923544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355080" y="3291840"/>
            <a:ext cx="64008" cy="86868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49224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亲子组团（动静结合）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6446520" y="3584448"/>
            <a:ext cx="23317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分龄儿童游乐区、家长看护休憩、自然科普种植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4892040" y="4343400"/>
            <a:ext cx="3931920" cy="411480"/>
          </a:xfrm>
          <a:prstGeom prst="rect">
            <a:avLst/>
          </a:prstGeom>
          <a:solidFill>
            <a:srgbClr val="3E5A3A"/>
          </a:solidFill>
          <a:ln w="12700">
            <a:solidFill>
              <a:srgbClr val="3E5A3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892040" y="4343400"/>
            <a:ext cx="9829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全龄运动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5875020" y="4343400"/>
            <a:ext cx="9829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林下栖居</a:t>
            </a:r>
            <a:endParaRPr lang="en-US" sz="1000" dirty="0"/>
          </a:p>
        </p:txBody>
      </p:sp>
      <p:sp>
        <p:nvSpPr>
          <p:cNvPr id="31" name="Text 25"/>
          <p:cNvSpPr txBox="1"/>
          <p:nvPr/>
        </p:nvSpPr>
        <p:spPr>
          <a:xfrm>
            <a:off x="6858000" y="4343400"/>
            <a:ext cx="9829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海绵生态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7840980" y="4343400"/>
            <a:ext cx="9829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乡土记忆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Strategy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设计策略——策略框架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pic>
        <p:nvPicPr>
          <p:cNvPr id="7" name="Image 0" descr="/home/user/lxfs/pptx_build/figs/strateg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385" y="932688"/>
            <a:ext cx="5746351" cy="3794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745736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设计策略框架图（开题报告）</a:t>
            </a:r>
            <a:endParaRPr lang="en-US" sz="800" dirty="0"/>
          </a:p>
        </p:txBody>
      </p:sp>
      <p:pic>
        <p:nvPicPr>
          <p:cNvPr id="9" name="Image 1" descr="/home/user/lxfs/pptx_build/figs/x_tande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334" y="932688"/>
            <a:ext cx="1547813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46520" y="21396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运动专项场地</a:t>
            </a:r>
            <a:endParaRPr lang="en-US" sz="800" dirty="0"/>
          </a:p>
        </p:txBody>
      </p:sp>
      <p:pic>
        <p:nvPicPr>
          <p:cNvPr id="11" name="Image 2" descr="/home/user/lxfs/pptx_build/figs/x_sig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370" y="2331720"/>
            <a:ext cx="1683739" cy="1188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46520" y="35387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标识导览与配套设施</a:t>
            </a:r>
            <a:endParaRPr lang="en-US" sz="800" dirty="0"/>
          </a:p>
        </p:txBody>
      </p:sp>
      <p:pic>
        <p:nvPicPr>
          <p:cNvPr id="13" name="Image 3" descr="/home/user/lxfs/pptx_build/figs/x_boathous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3707" y="3730752"/>
            <a:ext cx="1443066" cy="9601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46520" y="47091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生态基底与植物景观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Strategy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设计策略——回应2.16问题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36676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8" name="Image 0" descr="/home/user/lxfs/pptx_build/figs/x_aerial_p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0080" y="978408"/>
            <a:ext cx="1381760" cy="777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932688"/>
            <a:ext cx="1600200" cy="86868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93268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整体空间统筹规划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148840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结合周边人群需求划分功能板块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2130552" y="1389888"/>
            <a:ext cx="1389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运动健身区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统筹布置公园主次出入口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3593592" y="1389888"/>
            <a:ext cx="1389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四向人行入口对应小区与学校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5074920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组织场地交通流线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056632" y="1389888"/>
            <a:ext cx="1389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人车分流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457200" y="1892808"/>
            <a:ext cx="8366760" cy="86868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pic>
        <p:nvPicPr>
          <p:cNvPr id="18" name="Image 1" descr="/home/user/lxfs/pptx_build/figs/x_unicyc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139" y="1938528"/>
            <a:ext cx="517642" cy="77724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57200" y="1892808"/>
            <a:ext cx="1600200" cy="8686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2920" y="189280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中观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全龄友好分区活力营造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2148840" y="1965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匹配各年龄段活动诉求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2130552" y="2350008"/>
            <a:ext cx="1389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老年康养</a:t>
            </a:r>
            <a:endParaRPr lang="en-US" sz="750" dirty="0"/>
          </a:p>
        </p:txBody>
      </p:sp>
      <p:sp>
        <p:nvSpPr>
          <p:cNvPr id="23" name="Text 19"/>
          <p:cNvSpPr txBox="1"/>
          <p:nvPr/>
        </p:nvSpPr>
        <p:spPr>
          <a:xfrm>
            <a:off x="3611880" y="1965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打造多元全民健身场景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3593592" y="2350008"/>
            <a:ext cx="1389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分龄场地与动静分区</a:t>
            </a:r>
            <a:endParaRPr lang="en-US" sz="75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1965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激活各片区场地活力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5056632" y="2350008"/>
            <a:ext cx="1389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环形健康步道串联组团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457200" y="2852928"/>
            <a:ext cx="836676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28" name="Image 2" descr="/home/user/lxfs/pptx_build/figs/x_picke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7446" y="2898648"/>
            <a:ext cx="1167027" cy="77724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57200" y="2852928"/>
            <a:ext cx="1600200" cy="86868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02920" y="285292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微观·核心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运动专项景观设施提升</a:t>
            </a:r>
            <a:endParaRPr lang="en-US" sz="850" dirty="0"/>
          </a:p>
        </p:txBody>
      </p:sp>
      <p:sp>
        <p:nvSpPr>
          <p:cNvPr id="31" name="Text 26"/>
          <p:cNvSpPr txBox="1"/>
          <p:nvPr/>
        </p:nvSpPr>
        <p:spPr>
          <a:xfrm>
            <a:off x="2148840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体育运动场地配置</a:t>
            </a:r>
            <a:endParaRPr lang="en-US" sz="850" dirty="0"/>
          </a:p>
        </p:txBody>
      </p:sp>
      <p:sp>
        <p:nvSpPr>
          <p:cNvPr id="32" name="Text 27"/>
          <p:cNvSpPr txBox="1"/>
          <p:nvPr/>
        </p:nvSpPr>
        <p:spPr>
          <a:xfrm>
            <a:off x="2130552" y="3310128"/>
            <a:ext cx="1389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球类运动场地</a:t>
            </a:r>
            <a:endParaRPr lang="en-US" sz="750" dirty="0"/>
          </a:p>
        </p:txBody>
      </p:sp>
      <p:sp>
        <p:nvSpPr>
          <p:cNvPr id="33" name="Text 28"/>
          <p:cNvSpPr txBox="1"/>
          <p:nvPr/>
        </p:nvSpPr>
        <p:spPr>
          <a:xfrm>
            <a:off x="3611880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运动配套休憩设施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3593592" y="3310128"/>
            <a:ext cx="1389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运动休息节点</a:t>
            </a:r>
            <a:endParaRPr lang="en-US" sz="750" dirty="0"/>
          </a:p>
        </p:txBody>
      </p:sp>
      <p:sp>
        <p:nvSpPr>
          <p:cNvPr id="35" name="Text 30"/>
          <p:cNvSpPr txBox="1"/>
          <p:nvPr/>
        </p:nvSpPr>
        <p:spPr>
          <a:xfrm>
            <a:off x="5074920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文化植入</a:t>
            </a:r>
            <a:endParaRPr lang="en-US" sz="850" dirty="0"/>
          </a:p>
        </p:txBody>
      </p:sp>
      <p:sp>
        <p:nvSpPr>
          <p:cNvPr id="36" name="Text 31"/>
          <p:cNvSpPr txBox="1"/>
          <p:nvPr/>
        </p:nvSpPr>
        <p:spPr>
          <a:xfrm>
            <a:off x="5056632" y="3310128"/>
            <a:ext cx="1389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黑龙滩水利记忆铺装</a:t>
            </a:r>
            <a:endParaRPr lang="en-US" sz="750" dirty="0"/>
          </a:p>
        </p:txBody>
      </p:sp>
      <p:sp>
        <p:nvSpPr>
          <p:cNvPr id="37" name="Shape 32"/>
          <p:cNvSpPr/>
          <p:nvPr/>
        </p:nvSpPr>
        <p:spPr>
          <a:xfrm>
            <a:off x="457200" y="3813048"/>
            <a:ext cx="8366760" cy="86868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pic>
        <p:nvPicPr>
          <p:cNvPr id="38" name="Image 3" descr="/home/user/lxfs/pptx_build/figs/x_stonewal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2295" y="3858768"/>
            <a:ext cx="1017330" cy="77724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457200" y="3813048"/>
            <a:ext cx="1600200" cy="868680"/>
          </a:xfrm>
          <a:prstGeom prst="rect">
            <a:avLst/>
          </a:prstGeom>
          <a:solidFill>
            <a:srgbClr val="5B7DB1"/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502920" y="381304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次要后置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场地生态基底优化</a:t>
            </a:r>
            <a:endParaRPr lang="en-US" sz="850" dirty="0"/>
          </a:p>
        </p:txBody>
      </p:sp>
      <p:sp>
        <p:nvSpPr>
          <p:cNvPr id="41" name="Text 35"/>
          <p:cNvSpPr txBox="1"/>
          <p:nvPr/>
        </p:nvSpPr>
        <p:spPr>
          <a:xfrm>
            <a:off x="2148840" y="3886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保留场地原生林地植被</a:t>
            </a:r>
            <a:endParaRPr lang="en-US" sz="850" dirty="0"/>
          </a:p>
        </p:txBody>
      </p:sp>
      <p:sp>
        <p:nvSpPr>
          <p:cNvPr id="42" name="Text 36"/>
          <p:cNvSpPr txBox="1"/>
          <p:nvPr/>
        </p:nvSpPr>
        <p:spPr>
          <a:xfrm>
            <a:off x="2130552" y="4270248"/>
            <a:ext cx="1389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北侧多层乔灌降噪防护林带</a:t>
            </a:r>
            <a:endParaRPr lang="en-US" sz="750" dirty="0"/>
          </a:p>
        </p:txBody>
      </p:sp>
      <p:sp>
        <p:nvSpPr>
          <p:cNvPr id="43" name="Text 37"/>
          <p:cNvSpPr txBox="1"/>
          <p:nvPr/>
        </p:nvSpPr>
        <p:spPr>
          <a:xfrm>
            <a:off x="3611880" y="3886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修复场地裸土地块环境</a:t>
            </a:r>
            <a:endParaRPr lang="en-US" sz="850" dirty="0"/>
          </a:p>
        </p:txBody>
      </p:sp>
      <p:sp>
        <p:nvSpPr>
          <p:cNvPr id="44" name="Text 38"/>
          <p:cNvSpPr txBox="1"/>
          <p:nvPr/>
        </p:nvSpPr>
        <p:spPr>
          <a:xfrm>
            <a:off x="3593592" y="4270248"/>
            <a:ext cx="1389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乡土植物构建复层群落</a:t>
            </a:r>
            <a:endParaRPr lang="en-US" sz="750" dirty="0"/>
          </a:p>
        </p:txBody>
      </p:sp>
      <p:sp>
        <p:nvSpPr>
          <p:cNvPr id="45" name="Text 39"/>
          <p:cNvSpPr txBox="1"/>
          <p:nvPr/>
        </p:nvSpPr>
        <p:spPr>
          <a:xfrm>
            <a:off x="5074920" y="3886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海绵雨水场地处理</a:t>
            </a:r>
            <a:endParaRPr lang="en-US" sz="850" dirty="0"/>
          </a:p>
        </p:txBody>
      </p:sp>
      <p:sp>
        <p:nvSpPr>
          <p:cNvPr id="46" name="Text 40"/>
          <p:cNvSpPr txBox="1"/>
          <p:nvPr/>
        </p:nvSpPr>
        <p:spPr>
          <a:xfrm>
            <a:off x="5056632" y="4270248"/>
            <a:ext cx="1389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透水铺装 + 植草沟 + 线性雨水花园</a:t>
            </a:r>
            <a:endParaRPr lang="en-US" sz="7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Deliverables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设计成果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206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主要内容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现状分析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区位、自然条件、社会条件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设计分析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道路、视线、建筑、入口、人流、景观序列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设计图纸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总平面图、节点详图、植物配置图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效果图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场地鸟瞰图、节点效果图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专项设计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建筑外立面、照明、平立面、效果图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文本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目的、依据、原则、分析、设计说明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home/user/lxfs/pptx_build/figs/x_c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489329"/>
            <a:ext cx="1920240" cy="1272159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892040" y="2468880"/>
            <a:ext cx="1920240" cy="292608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946904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场地与周边环境</a:t>
            </a:r>
            <a:endParaRPr lang="en-US" sz="850" dirty="0"/>
          </a:p>
        </p:txBody>
      </p:sp>
      <p:pic>
        <p:nvPicPr>
          <p:cNvPr id="11" name="Image 1" descr="/home/user/lxfs/pptx_build/figs/x_stre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321308"/>
            <a:ext cx="1920240" cy="14401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903720" y="2468880"/>
            <a:ext cx="1920240" cy="292608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958584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运动节点效果</a:t>
            </a:r>
            <a:endParaRPr lang="en-US" sz="850" dirty="0"/>
          </a:p>
        </p:txBody>
      </p:sp>
      <p:pic>
        <p:nvPicPr>
          <p:cNvPr id="14" name="Image 2" descr="/home/user/lxfs/pptx_build/figs/plant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3627011"/>
            <a:ext cx="1920240" cy="1054717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892040" y="4389120"/>
            <a:ext cx="1920240" cy="292608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946904" y="438912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植物配置图</a:t>
            </a:r>
            <a:endParaRPr lang="en-US" sz="850" dirty="0"/>
          </a:p>
        </p:txBody>
      </p:sp>
      <p:pic>
        <p:nvPicPr>
          <p:cNvPr id="17" name="Image 3" descr="/home/user/lxfs/pptx_build/figs/siteplan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3711" y="2852928"/>
            <a:ext cx="1040258" cy="182880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7343711" y="4389120"/>
            <a:ext cx="1040258" cy="292608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398575" y="4389120"/>
            <a:ext cx="9305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总平面图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 进度安排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93192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3192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9月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4342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342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10月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15493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5493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11月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76643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6643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12月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37794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7794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1月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98944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8944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2月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60095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0095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3月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21245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1245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4月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1353312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132588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2026.09.01—09.25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13258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收集资料，完成选题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931920" y="1655064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31920" y="1399032"/>
            <a:ext cx="507549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1783080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1783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175564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2026.09.26—10.26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17556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完成开题报告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931920" y="2084832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51699" y="1828800"/>
            <a:ext cx="623735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212848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" y="218541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2026.10.27—10.28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2423160" y="218541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开题答辩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931920" y="2514600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5434" y="2258568"/>
            <a:ext cx="73152" cy="1828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2642616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7200" y="2642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" y="26151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2026.10.29—11.09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423160" y="26151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搜集资料、实地研究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31920" y="2944368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24355" y="2688336"/>
            <a:ext cx="214027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" y="3072384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5720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" y="304495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2026.11.10—12.25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2423160" y="30449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完成初稿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31920" y="3374136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56727" y="3118104"/>
            <a:ext cx="917257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502152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5720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47472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2026.12.26—2027.02.25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2423160" y="34747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完成修改稿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931920" y="3803904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86214" y="3547872"/>
            <a:ext cx="1223010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" y="3931920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5720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822960" y="390448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2027.02.26—03.25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2423160" y="39044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完成定稿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931920" y="4233672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521454" y="3977640"/>
            <a:ext cx="587045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7200" y="4361688"/>
            <a:ext cx="274320" cy="274320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7200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22960" y="43342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2027.04.07—04.08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2423160" y="433425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毕业答辩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931920" y="4663440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334756" y="4407408"/>
            <a:ext cx="73152" cy="1828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参考文献（1/2）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366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孟语.城市体育公园规划设计与发展研究[D].北京：北京林业大学,2016.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史熙文.城市体育公园景观设计研究[D].大连：大连工业大学,2021.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吴子姮.基于环境行为学的城市体育公园规划设计研究[D].北京：北京林业大学,2022.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李雨桐.全龄友好视角下县城体育公园景观设计研究[D].成都：四川农业大学,2023.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由文华,吉云波.体育景观环境[M].北京：北京体育大学出版社,2018.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王晓俊.风景园林设计[M].南京：江苏科学技术出版社,2018.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扬·盖尔.交往与空间[M].何人可,译.4版.北京：中国建筑工业出版社,2002.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胡鞍钢,方旭东.全民健身国家战略：内涵与发展思路[J].体育科学,2016,36(03):3-9.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蒋荣,熊瑶.全民健身战略下的社区体育公园景观设计研究[J].设计艺术研究,2022,12(04):77-82.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金依然.全民健身背景下县级体育公园建设研究[J].广西城镇建设,2024(07):68-72.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陈芃序,王天扬,张德顺.全民健身背景下城市社区公园环境设计研究[J].华中建筑,2023,41(02):68-72.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参考文献（2/2）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366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周聪惠,陶成蹊,刘婧方,等.基于弹性共享的户外健身设施群体需求响应评测研究[J].风景园林,2024,31(02):48-55.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张俊涛,杨洪.县域体育公园治理路径研究——以晋江智慧体育公园为例[J].运动精品,2023(07):66-68.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住房和城乡建设部.公园设计规范：GB 51192-2016[S].北京：中国建筑工业出版社,2017.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住房和城乡建设部.城市居住区规划设计标准：GB 50180-2018[S].北京：中国建筑工业出版社,2018.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中国城市科学研究会.社区体育公园规划建设指南：T/CSUS 18-2021[S].北京：中国建筑工业出版社,2021.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国务院办公厅.关于推进体育公园建设的指导意见[EB/OL].(2021-10-29)[2026-08-15].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王益鹏.基于生态恢复理念的景观设计研究[D].清华大学,2015.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[19] KACZYNSKI A T,POTWARKA L R,SAELENS B E.Association of park size,distance,and features with physical activity in neighborhood parks[J].American Journal of Public Health,2008,98(08):1451-1456.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[20] WARBURTON D E R,NICOL C W,BREDIN S S D.Health benefits of physical activity:The evidence[J].Canadian Medical Association Journal,2006,174(06):801-809.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[21] World Health Organization.Global status report on physical activity 2022[R].Geneva:WHO,2022.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51435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3" name="Image 0" descr="/home/user/lxfs/pptx_build/figs/x_tennis_pl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517" y="457200"/>
            <a:ext cx="2793206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206240" y="0"/>
            <a:ext cx="4937760" cy="51435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0" y="1737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请各位老师批评指正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572000" y="25603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跃动·栖园——全民健康视角下的眉山市仁寿县体育公园景观设计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0" y="4480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F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 PARK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跃动·栖园——全民健康视角下的眉山市仁寿县体育公园景观设计</dc:title>
  <dc:subject>PptxGenJS Presentation</dc:subject>
  <dc:creator>开题报告</dc:creator>
  <cp:lastModifiedBy>开题报告</cp:lastModifiedBy>
  <cp:revision>1</cp:revision>
  <dcterms:created xsi:type="dcterms:W3CDTF">2026-09-08T04:49:25Z</dcterms:created>
  <dcterms:modified xsi:type="dcterms:W3CDTF">2026-09-08T04:49:25Z</dcterms:modified>
</cp:coreProperties>
</file>