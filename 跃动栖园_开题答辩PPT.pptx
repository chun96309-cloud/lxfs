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第七次全国人口普查年龄构成对比（%）</a:t>
            </a:r>
          </a:p>
        </c:rich>
      </c:tx>
      <c:layout/>
      <c:overlay val="0"/>
    </c:title>
    <c:autoTitleDeleted val="0"/>
    <c:plotArea>
      <c:layout/>
      <c:barChart>
        <c:barDir val="col"/>
        <c:grouping val="clustered"/>
        <c:varyColors val="0"/>
        <c:ser>
          <c:idx val="0"/>
          <c:order val="0"/>
          <c:tx>
            <c:strRef>
              <c:f>Sheet1!$B$1</c:f>
              <c:strCache>
                <c:ptCount val="1"/>
                <c:pt idx="0">
                  <c:v>0-14岁</c:v>
                </c:pt>
              </c:strCache>
            </c:strRef>
          </c:tx>
          <c:spPr>
            <a:solidFill>
              <a:srgbClr val="4E8A3E"/>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Sheet1!$B$2:$B$4</c:f>
              <c:numCache>
                <c:formatCode>General</c:formatCode>
                <c:ptCount val="3"/>
                <c:pt idx="0">
                  <c:v>17.95</c:v>
                </c:pt>
                <c:pt idx="1">
                  <c:v>16.1</c:v>
                </c:pt>
                <c:pt idx="2">
                  <c:v>15.31</c:v>
                </c:pt>
              </c:numCache>
            </c:numRef>
          </c:val>
        </c:ser>
        <c:ser>
          <c:idx val="1"/>
          <c:order val="1"/>
          <c:tx>
            <c:strRef>
              <c:f>Sheet1!$C$1</c:f>
              <c:strCache>
                <c:ptCount val="1"/>
                <c:pt idx="0">
                  <c:v>15-59岁</c:v>
                </c:pt>
              </c:strCache>
            </c:strRef>
          </c:tx>
          <c:spPr>
            <a:solidFill>
              <a:srgbClr val="1F3F7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Sheet1!$C$2:$C$4</c:f>
              <c:numCache>
                <c:formatCode>General</c:formatCode>
                <c:ptCount val="3"/>
                <c:pt idx="0">
                  <c:v>63.35</c:v>
                </c:pt>
                <c:pt idx="1">
                  <c:v>62.19</c:v>
                </c:pt>
                <c:pt idx="2">
                  <c:v>58.13</c:v>
                </c:pt>
              </c:numCache>
            </c:numRef>
          </c:val>
        </c:ser>
        <c:ser>
          <c:idx val="2"/>
          <c:order val="2"/>
          <c:tx>
            <c:strRef>
              <c:f>Sheet1!$D$1</c:f>
              <c:strCache>
                <c:ptCount val="1"/>
                <c:pt idx="0">
                  <c:v>60岁及以上</c:v>
                </c:pt>
              </c:strCache>
            </c:strRef>
          </c:tx>
          <c:spPr>
            <a:solidFill>
              <a:srgbClr val="E07B2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Sheet1!$D$2:$D$4</c:f>
              <c:numCache>
                <c:formatCode>General</c:formatCode>
                <c:ptCount val="3"/>
                <c:pt idx="0">
                  <c:v>18.7</c:v>
                </c:pt>
                <c:pt idx="1">
                  <c:v>21.71</c:v>
                </c:pt>
                <c:pt idx="2">
                  <c:v>26.56</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Microsoft YaHei"/>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各月日照时数（h）</a:t>
            </a:r>
          </a:p>
        </c:rich>
      </c:tx>
      <c:layout/>
      <c:overlay val="0"/>
    </c:title>
    <c:autoTitleDeleted val="0"/>
    <c:plotArea>
      <c:layout/>
      <c:barChart>
        <c:barDir val="col"/>
        <c:grouping val="clustered"/>
        <c:varyColors val="0"/>
        <c:ser>
          <c:idx val="0"/>
          <c:order val="0"/>
          <c:tx>
            <c:strRef>
              <c:f>Sheet1!$B$1</c:f>
              <c:strCache>
                <c:ptCount val="1"/>
                <c:pt idx="0">
                  <c:v>日照时数</c:v>
                </c:pt>
              </c:strCache>
            </c:strRef>
          </c:tx>
          <c:spPr>
            <a:solidFill>
              <a:srgbClr val="E07B2A"/>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42.4</c:v>
                </c:pt>
                <c:pt idx="1">
                  <c:v>53.8</c:v>
                </c:pt>
                <c:pt idx="2">
                  <c:v>92.3</c:v>
                </c:pt>
                <c:pt idx="3">
                  <c:v>126.5</c:v>
                </c:pt>
                <c:pt idx="4">
                  <c:v>126.1</c:v>
                </c:pt>
                <c:pt idx="5">
                  <c:v>109.4</c:v>
                </c:pt>
                <c:pt idx="6">
                  <c:v>133.6</c:v>
                </c:pt>
                <c:pt idx="7">
                  <c:v>142.6</c:v>
                </c:pt>
                <c:pt idx="8">
                  <c:v>74.6</c:v>
                </c:pt>
                <c:pt idx="9">
                  <c:v>51</c:v>
                </c:pt>
                <c:pt idx="10">
                  <c:v>55</c:v>
                </c:pt>
                <c:pt idx="11">
                  <c:v>40.3</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各月相对湿度与降水日数</a:t>
            </a:r>
          </a:p>
        </c:rich>
      </c:tx>
      <c:layout/>
      <c:overlay val="0"/>
    </c:title>
    <c:autoTitleDeleted val="0"/>
    <c:plotArea>
      <c:layout/>
      <c:lineChart>
        <c:varyColors val="0"/>
        <c:ser>
          <c:idx val="0"/>
          <c:order val="0"/>
          <c:tx>
            <c:strRef>
              <c:f>Sheet1!$B$1</c:f>
              <c:strCache>
                <c:ptCount val="1"/>
                <c:pt idx="0">
                  <c:v>相对湿度（%）</c:v>
                </c:pt>
              </c:strCache>
            </c:strRef>
          </c:tx>
          <c:spPr>
            <a:solidFill>
              <a:srgbClr val="1F3F7A"/>
            </a:solidFill>
            <a:ln w="25400" cap="flat">
              <a:solidFill>
                <a:srgbClr val="1F3F7A"/>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1F3F7A"/>
              </a:solidFill>
              <a:ln w="9525" cap="flat">
                <a:solidFill>
                  <a:srgbClr val="1F3F7A"/>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77</c:v>
                </c:pt>
                <c:pt idx="1">
                  <c:v>74</c:v>
                </c:pt>
                <c:pt idx="2">
                  <c:v>70</c:v>
                </c:pt>
                <c:pt idx="3">
                  <c:v>69</c:v>
                </c:pt>
                <c:pt idx="4">
                  <c:v>67</c:v>
                </c:pt>
                <c:pt idx="5">
                  <c:v>75</c:v>
                </c:pt>
                <c:pt idx="6">
                  <c:v>78</c:v>
                </c:pt>
                <c:pt idx="7">
                  <c:v>77</c:v>
                </c:pt>
                <c:pt idx="8">
                  <c:v>80</c:v>
                </c:pt>
                <c:pt idx="9">
                  <c:v>81</c:v>
                </c:pt>
                <c:pt idx="10">
                  <c:v>78</c:v>
                </c:pt>
                <c:pt idx="11">
                  <c:v>78</c:v>
                </c:pt>
              </c:numCache>
            </c:numRef>
          </c:val>
          <c:smooth val="0"/>
        </c:ser>
        <c:ser>
          <c:idx val="1"/>
          <c:order val="1"/>
          <c:tx>
            <c:strRef>
              <c:f>Sheet1!$C$1</c:f>
              <c:strCache>
                <c:ptCount val="1"/>
                <c:pt idx="0">
                  <c:v>降水日数（d）</c:v>
                </c:pt>
              </c:strCache>
            </c:strRef>
          </c:tx>
          <c:spPr>
            <a:solidFill>
              <a:srgbClr val="4E8A3E"/>
            </a:solidFill>
            <a:ln w="25400" cap="flat">
              <a:solidFill>
                <a:srgbClr val="4E8A3E"/>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4E8A3E"/>
              </a:solidFill>
              <a:ln w="9525" cap="flat">
                <a:solidFill>
                  <a:srgbClr val="4E8A3E"/>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7.8</c:v>
                </c:pt>
                <c:pt idx="1">
                  <c:v>7.8</c:v>
                </c:pt>
                <c:pt idx="2">
                  <c:v>10</c:v>
                </c:pt>
                <c:pt idx="3">
                  <c:v>12.1</c:v>
                </c:pt>
                <c:pt idx="4">
                  <c:v>13.2</c:v>
                </c:pt>
                <c:pt idx="5">
                  <c:v>14.5</c:v>
                </c:pt>
                <c:pt idx="6">
                  <c:v>14.6</c:v>
                </c:pt>
                <c:pt idx="7">
                  <c:v>13.8</c:v>
                </c:pt>
                <c:pt idx="8">
                  <c:v>14.7</c:v>
                </c:pt>
                <c:pt idx="9">
                  <c:v>14.1</c:v>
                </c:pt>
                <c:pt idx="10">
                  <c:v>7.4</c:v>
                </c:pt>
                <c:pt idx="11">
                  <c:v>7</c:v>
                </c:pt>
              </c:numCache>
            </c:numRef>
          </c:val>
          <c:smooth val="0"/>
        </c:ser>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jpg"/><Relationship Id="rId3" Type="http://schemas.openxmlformats.org/officeDocument/2006/relationships/image" Target="../media/image-7-2.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image" Target="../media/image-31-4.jpg"/><Relationship Id="rId5" Type="http://schemas.openxmlformats.org/officeDocument/2006/relationships/image" Target="../media/image-31-5.jpg"/><Relationship Id="rId6" Type="http://schemas.openxmlformats.org/officeDocument/2006/relationships/image" Target="../media/image-31-6.jpg"/><Relationship Id="rId7" Type="http://schemas.openxmlformats.org/officeDocument/2006/relationships/image" Target="../media/image-31-7.jpg"/><Relationship Id="rId8" Type="http://schemas.openxmlformats.org/officeDocument/2006/relationships/image" Target="../media/image-31-8.jp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image" Target="../media/image-32-3.jpg"/><Relationship Id="rId4" Type="http://schemas.openxmlformats.org/officeDocument/2006/relationships/image" Target="../media/image-32-4.jpg"/><Relationship Id="rId5" Type="http://schemas.openxmlformats.org/officeDocument/2006/relationships/image" Target="../media/image-32-5.jpg"/><Relationship Id="rId6" Type="http://schemas.openxmlformats.org/officeDocument/2006/relationships/image" Target="../media/image-32-6.jpg"/><Relationship Id="rId7" Type="http://schemas.openxmlformats.org/officeDocument/2006/relationships/image" Target="../media/image-32-7.jpg"/><Relationship Id="rId8" Type="http://schemas.openxmlformats.org/officeDocument/2006/relationships/image" Target="../media/image-32-8.jpg"/><Relationship Id="rId9" Type="http://schemas.openxmlformats.org/officeDocument/2006/relationships/image" Target="../media/image-32-9.jpg"/><Relationship Id="rId10" Type="http://schemas.openxmlformats.org/officeDocument/2006/relationships/image" Target="../media/image-32-10.jpg"/><Relationship Id="rId11" Type="http://schemas.openxmlformats.org/officeDocument/2006/relationships/image" Target="../media/image-32-11.jpg"/><Relationship Id="rId12" Type="http://schemas.openxmlformats.org/officeDocument/2006/relationships/image" Target="../media/image-32-12.jp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image" Target="../media/image-35-3.jpg"/><Relationship Id="rId4" Type="http://schemas.openxmlformats.org/officeDocument/2006/relationships/image" Target="../media/image-35-4.jp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image" Target="../media/image-37-3.jp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image" Target="../media/image-39-3.jpg"/><Relationship Id="rId4" Type="http://schemas.openxmlformats.org/officeDocument/2006/relationships/image" Target="../media/image-39-4.jp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jpg"/><Relationship Id="rId3" Type="http://schemas.openxmlformats.org/officeDocument/2006/relationships/image" Target="../media/image-40-3.jpg"/><Relationship Id="rId4" Type="http://schemas.openxmlformats.org/officeDocument/2006/relationships/image" Target="../media/image-40-4.jp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jpg"/><Relationship Id="rId3" Type="http://schemas.openxmlformats.org/officeDocument/2006/relationships/image" Target="../media/image-41-3.jpg"/><Relationship Id="rId4" Type="http://schemas.openxmlformats.org/officeDocument/2006/relationships/image" Target="../media/image-41-4.jp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image" Target="../media/image-42-3.jpg"/><Relationship Id="rId4" Type="http://schemas.openxmlformats.org/officeDocument/2006/relationships/image" Target="../media/image-42-4.jpg"/><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image" Target="../media/image-43-2.jpg"/><Relationship Id="rId3" Type="http://schemas.openxmlformats.org/officeDocument/2006/relationships/image" Target="../media/image-43-3.jpg"/><Relationship Id="rId4" Type="http://schemas.openxmlformats.org/officeDocument/2006/relationships/image" Target="../media/image-43-4.jpg"/><Relationship Id="rId5" Type="http://schemas.openxmlformats.org/officeDocument/2006/relationships/image" Target="../media/image-43-5.jpg"/><Relationship Id="rId6" Type="http://schemas.openxmlformats.org/officeDocument/2006/relationships/image" Target="../media/image-43-6.jp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image" Target="../media/image-47-3.jp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937760" cy="5143500"/>
          </a:xfrm>
          <a:prstGeom prst="rect">
            <a:avLst/>
          </a:prstGeom>
          <a:solidFill>
            <a:srgbClr val="1F3F7A"/>
          </a:solidFill>
          <a:ln w="12700">
            <a:solidFill>
              <a:srgbClr val="1F3F7A"/>
            </a:solidFill>
            <a:prstDash val="solid"/>
          </a:ln>
        </p:spPr>
      </p:sp>
      <p:sp>
        <p:nvSpPr>
          <p:cNvPr id="3" name="Shape 1"/>
          <p:cNvSpPr/>
          <p:nvPr/>
        </p:nvSpPr>
        <p:spPr>
          <a:xfrm>
            <a:off x="4937760" y="0"/>
            <a:ext cx="4206240" cy="5143500"/>
          </a:xfrm>
          <a:prstGeom prst="rect">
            <a:avLst/>
          </a:prstGeom>
          <a:solidFill>
            <a:srgbClr val="EEF2F8"/>
          </a:solidFill>
          <a:ln w="12700">
            <a:solidFill>
              <a:srgbClr val="EEF2F8"/>
            </a:solidFill>
            <a:prstDash val="solid"/>
          </a:ln>
        </p:spPr>
      </p:sp>
      <p:pic>
        <p:nvPicPr>
          <p:cNvPr id="4" name="Image 0" descr="/home/user/lxfs/pptx_build/figs/x_aerial_city.jpg">    </p:cNvPr>
          <p:cNvPicPr>
            <a:picLocks noChangeAspect="1"/>
          </p:cNvPicPr>
          <p:nvPr/>
        </p:nvPicPr>
        <p:blipFill>
          <a:blip r:embed="rId1"/>
          <a:stretch>
            <a:fillRect/>
          </a:stretch>
        </p:blipFill>
        <p:spPr>
          <a:xfrm>
            <a:off x="5120640" y="320040"/>
            <a:ext cx="3840480" cy="2160270"/>
          </a:xfrm>
          <a:prstGeom prst="rect">
            <a:avLst/>
          </a:prstGeom>
        </p:spPr>
      </p:pic>
      <p:pic>
        <p:nvPicPr>
          <p:cNvPr id="5" name="Image 1" descr="/home/user/lxfs/pptx_build/figs/x_kites.jpg">    </p:cNvPr>
          <p:cNvPicPr>
            <a:picLocks noChangeAspect="1"/>
          </p:cNvPicPr>
          <p:nvPr/>
        </p:nvPicPr>
        <p:blipFill>
          <a:blip r:embed="rId2"/>
          <a:stretch>
            <a:fillRect/>
          </a:stretch>
        </p:blipFill>
        <p:spPr>
          <a:xfrm>
            <a:off x="5120640" y="2788920"/>
            <a:ext cx="1874520" cy="1183291"/>
          </a:xfrm>
          <a:prstGeom prst="rect">
            <a:avLst/>
          </a:prstGeom>
        </p:spPr>
      </p:pic>
      <p:pic>
        <p:nvPicPr>
          <p:cNvPr id="6" name="Image 2" descr="/home/user/lxfs/pptx_build/figs/x_bench2.jpg">    </p:cNvPr>
          <p:cNvPicPr>
            <a:picLocks noChangeAspect="1"/>
          </p:cNvPicPr>
          <p:nvPr/>
        </p:nvPicPr>
        <p:blipFill>
          <a:blip r:embed="rId3"/>
          <a:stretch>
            <a:fillRect/>
          </a:stretch>
        </p:blipFill>
        <p:spPr>
          <a:xfrm>
            <a:off x="7086600" y="2788920"/>
            <a:ext cx="1874520" cy="1438108"/>
          </a:xfrm>
          <a:prstGeom prst="rect">
            <a:avLst/>
          </a:prstGeom>
        </p:spPr>
      </p:pic>
      <p:sp>
        <p:nvSpPr>
          <p:cNvPr id="7" name="Text 2"/>
          <p:cNvSpPr txBox="1"/>
          <p:nvPr/>
        </p:nvSpPr>
        <p:spPr>
          <a:xfrm>
            <a:off x="457200" y="548640"/>
            <a:ext cx="4206240" cy="274320"/>
          </a:xfrm>
          <a:prstGeom prst="rect">
            <a:avLst/>
          </a:prstGeom>
          <a:noFill/>
          <a:ln/>
        </p:spPr>
        <p:txBody>
          <a:bodyPr wrap="square" lIns="0" tIns="0" rIns="0" bIns="0" rtlCol="0" anchor="ctr"/>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风景园林专业毕业设计  开题报告</a:t>
            </a:r>
            <a:endParaRPr lang="en-US" sz="1100" dirty="0"/>
          </a:p>
        </p:txBody>
      </p:sp>
      <p:sp>
        <p:nvSpPr>
          <p:cNvPr id="8" name="Text 3"/>
          <p:cNvSpPr txBox="1"/>
          <p:nvPr/>
        </p:nvSpPr>
        <p:spPr>
          <a:xfrm>
            <a:off x="457200" y="1051560"/>
            <a:ext cx="4297680" cy="82296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跃动·栖园</a:t>
            </a:r>
            <a:endParaRPr lang="en-US" sz="4000" dirty="0"/>
          </a:p>
        </p:txBody>
      </p:sp>
      <p:sp>
        <p:nvSpPr>
          <p:cNvPr id="9" name="Text 4"/>
          <p:cNvSpPr txBox="1"/>
          <p:nvPr/>
        </p:nvSpPr>
        <p:spPr>
          <a:xfrm>
            <a:off x="457200" y="1920240"/>
            <a:ext cx="4297680" cy="685800"/>
          </a:xfrm>
          <a:prstGeom prst="rect">
            <a:avLst/>
          </a:prstGeom>
          <a:noFill/>
          <a:ln/>
        </p:spPr>
        <p:txBody>
          <a:bodyPr wrap="square" lIns="0" tIns="0" rIns="0" bIns="0" rtlCol="0" anchor="t"/>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全民健康视角下的眉山市仁寿县体育公园景观设计</a:t>
            </a:r>
            <a:endParaRPr lang="en-US" sz="1500" dirty="0"/>
          </a:p>
        </p:txBody>
      </p:sp>
      <p:sp>
        <p:nvSpPr>
          <p:cNvPr id="10" name="Text 5"/>
          <p:cNvSpPr txBox="1"/>
          <p:nvPr/>
        </p:nvSpPr>
        <p:spPr>
          <a:xfrm>
            <a:off x="457200" y="2606040"/>
            <a:ext cx="4297680" cy="502920"/>
          </a:xfrm>
          <a:prstGeom prst="rect">
            <a:avLst/>
          </a:prstGeom>
          <a:noFill/>
          <a:ln/>
        </p:spPr>
        <p:txBody>
          <a:bodyPr wrap="square" lIns="0" tIns="0" rIns="0" bIns="0" rtlCol="0" anchor="t"/>
          <a:lstStyle/>
          <a:p>
            <a:pPr indent="0" marL="0">
              <a:buNone/>
            </a:pPr>
            <a:r>
              <a:rPr lang="en-US" sz="900" dirty="0">
                <a:solidFill>
                  <a:srgbClr val="C9D6F0"/>
                </a:solidFill>
                <a:latin typeface="Arial" pitchFamily="34" charset="0"/>
                <a:ea typeface="Arial" pitchFamily="34" charset="-122"/>
                <a:cs typeface="Arial" pitchFamily="34" charset="-120"/>
              </a:rPr>
              <a:t>Landscape Design of Renshou Sports Park, Meishan from the Perspective of Health for All</a:t>
            </a:r>
            <a:endParaRPr lang="en-US" sz="900" dirty="0"/>
          </a:p>
        </p:txBody>
      </p:sp>
      <p:sp>
        <p:nvSpPr>
          <p:cNvPr id="11" name="Text 6"/>
          <p:cNvSpPr txBox="1"/>
          <p:nvPr/>
        </p:nvSpPr>
        <p:spPr>
          <a:xfrm>
            <a:off x="457200" y="3429000"/>
            <a:ext cx="4297680" cy="1188720"/>
          </a:xfrm>
          <a:prstGeom prst="rect">
            <a:avLst/>
          </a:prstGeom>
          <a:noFill/>
          <a:ln/>
        </p:spPr>
        <p:txBody>
          <a:bodyPr wrap="square" lIns="0" tIns="0" rIns="0" bIns="0" rtlCol="0" anchor="t"/>
          <a:lstStyle/>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学院：建筑学院        专业：风景园林</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学生姓名：                学号：</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指导教师：</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二〇二六年九月</a:t>
            </a:r>
            <a:endParaRPr lang="en-US" sz="1050" dirty="0"/>
          </a:p>
        </p:txBody>
      </p:sp>
      <p:sp>
        <p:nvSpPr>
          <p:cNvPr id="12" name="Text 7"/>
          <p:cNvSpPr txBox="1"/>
          <p:nvPr/>
        </p:nvSpPr>
        <p:spPr>
          <a:xfrm>
            <a:off x="457200" y="47091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828800" cy="365760"/>
          </a:xfrm>
          <a:prstGeom prst="rect">
            <a:avLst/>
          </a:prstGeom>
          <a:noFill/>
          <a:ln/>
        </p:spPr>
        <p:txBody>
          <a:bodyPr wrap="square" lIns="0" tIns="0" rIns="0" bIns="0" rtlCol="0" anchor="b"/>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目 录</a:t>
            </a:r>
            <a:endParaRPr lang="en-US" sz="1600" dirty="0"/>
          </a:p>
        </p:txBody>
      </p:sp>
      <p:sp>
        <p:nvSpPr>
          <p:cNvPr id="3" name="Text 1"/>
          <p:cNvSpPr txBox="1"/>
          <p:nvPr/>
        </p:nvSpPr>
        <p:spPr>
          <a:xfrm>
            <a:off x="6858000" y="320040"/>
            <a:ext cx="1965960" cy="365760"/>
          </a:xfrm>
          <a:prstGeom prst="rect">
            <a:avLst/>
          </a:prstGeom>
          <a:noFill/>
          <a:ln/>
        </p:spPr>
        <p:txBody>
          <a:bodyPr wrap="square" lIns="0" tIns="0" rIns="0" bIns="0" rtlCol="0" anchor="b"/>
          <a:lstStyle/>
          <a:p>
            <a:pPr algn="r" indent="0" marL="0">
              <a:buNone/>
            </a:pPr>
            <a:r>
              <a:rPr lang="en-US" sz="1200" dirty="0">
                <a:solidFill>
                  <a:srgbClr val="1D4F91"/>
                </a:solidFill>
                <a:latin typeface="Arial" pitchFamily="34" charset="0"/>
                <a:ea typeface="Arial" pitchFamily="34" charset="-122"/>
                <a:cs typeface="Arial" pitchFamily="34" charset="-120"/>
              </a:rPr>
              <a:t>CONTENT</a:t>
            </a:r>
            <a:endParaRPr lang="en-US" sz="1200" dirty="0"/>
          </a:p>
        </p:txBody>
      </p:sp>
      <p:sp>
        <p:nvSpPr>
          <p:cNvPr id="4" name="Shape 2"/>
          <p:cNvSpPr/>
          <p:nvPr/>
        </p:nvSpPr>
        <p:spPr>
          <a:xfrm>
            <a:off x="457200" y="731520"/>
            <a:ext cx="8366760" cy="0"/>
          </a:xfrm>
          <a:prstGeom prst="line">
            <a:avLst/>
          </a:prstGeom>
          <a:noFill/>
          <a:ln w="15875">
            <a:solidFill>
              <a:srgbClr val="1D4F91"/>
            </a:solidFill>
            <a:prstDash val="solid"/>
          </a:ln>
        </p:spPr>
      </p:sp>
      <p:sp>
        <p:nvSpPr>
          <p:cNvPr id="5" name="Text 3"/>
          <p:cNvSpPr txBox="1"/>
          <p:nvPr/>
        </p:nvSpPr>
        <p:spPr>
          <a:xfrm>
            <a:off x="731520" y="1051560"/>
            <a:ext cx="2743200" cy="457200"/>
          </a:xfrm>
          <a:prstGeom prst="rect">
            <a:avLst/>
          </a:prstGeom>
          <a:noFill/>
          <a:ln/>
        </p:spPr>
        <p:txBody>
          <a:bodyPr wrap="square" lIns="0" tIns="0" rIns="0" bIns="0" rtlCol="0" anchor="ctr"/>
          <a:lstStyle/>
          <a:p>
            <a:pPr indent="0" marL="0">
              <a:buNone/>
            </a:pPr>
            <a:r>
              <a:rPr lang="en-US" sz="2000" b="1" dirty="0">
                <a:solidFill>
                  <a:srgbClr val="7FA6D9"/>
                </a:solidFill>
                <a:latin typeface="Arial" pitchFamily="34" charset="0"/>
                <a:ea typeface="Arial" pitchFamily="34" charset="-122"/>
                <a:cs typeface="Arial" pitchFamily="34" charset="-120"/>
              </a:rPr>
              <a:t>01</a:t>
            </a:r>
            <a:pPr indent="0" marL="0">
              <a:buNone/>
            </a:pPr>
            <a:r>
              <a:rPr lang="en-US" sz="1800" b="1" dirty="0">
                <a:solidFill>
                  <a:srgbClr val="444444"/>
                </a:solidFill>
                <a:latin typeface="Microsoft YaHei" pitchFamily="34" charset="0"/>
                <a:ea typeface="Microsoft YaHei" pitchFamily="34" charset="-122"/>
                <a:cs typeface="Microsoft YaHei" pitchFamily="34" charset="-120"/>
              </a:rPr>
              <a:t>课题研究背景</a:t>
            </a:r>
            <a:endParaRPr lang="en-US" sz="2000" dirty="0"/>
          </a:p>
        </p:txBody>
      </p:sp>
      <p:sp>
        <p:nvSpPr>
          <p:cNvPr id="6" name="Text 4"/>
          <p:cNvSpPr txBox="1"/>
          <p:nvPr/>
        </p:nvSpPr>
        <p:spPr>
          <a:xfrm>
            <a:off x="731520" y="1600200"/>
            <a:ext cx="2743200" cy="32004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1.1 选题背景</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1.2 研究目的</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1.3 研究意义</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1.4 技术路线与研究方法</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1.5 相关概念</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1.6 国内外研究现状</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1.7 案例参考</a:t>
            </a:r>
            <a:endParaRPr lang="en-US" sz="1000" dirty="0"/>
          </a:p>
        </p:txBody>
      </p:sp>
      <p:sp>
        <p:nvSpPr>
          <p:cNvPr id="7" name="Text 5"/>
          <p:cNvSpPr txBox="1"/>
          <p:nvPr/>
        </p:nvSpPr>
        <p:spPr>
          <a:xfrm>
            <a:off x="3566160" y="1051560"/>
            <a:ext cx="2743200" cy="457200"/>
          </a:xfrm>
          <a:prstGeom prst="rect">
            <a:avLst/>
          </a:prstGeom>
          <a:noFill/>
          <a:ln/>
        </p:spPr>
        <p:txBody>
          <a:bodyPr wrap="square" lIns="0" tIns="0" rIns="0" bIns="0" rtlCol="0" anchor="ctr"/>
          <a:lstStyle/>
          <a:p>
            <a:pPr indent="0" marL="0">
              <a:buNone/>
            </a:pPr>
            <a:r>
              <a:rPr lang="en-US" sz="2000" b="1" dirty="0">
                <a:solidFill>
                  <a:srgbClr val="7FA6D9"/>
                </a:solidFill>
                <a:latin typeface="Arial" pitchFamily="34" charset="0"/>
                <a:ea typeface="Arial" pitchFamily="34" charset="-122"/>
                <a:cs typeface="Arial" pitchFamily="34" charset="-120"/>
              </a:rPr>
              <a:t>02</a:t>
            </a:r>
            <a:pPr indent="0" marL="0">
              <a:buNone/>
            </a:pPr>
            <a:r>
              <a:rPr lang="en-US" sz="1800" b="1" dirty="0">
                <a:solidFill>
                  <a:srgbClr val="444444"/>
                </a:solidFill>
                <a:latin typeface="Microsoft YaHei" pitchFamily="34" charset="0"/>
                <a:ea typeface="Microsoft YaHei" pitchFamily="34" charset="-122"/>
                <a:cs typeface="Microsoft YaHei" pitchFamily="34" charset="-120"/>
              </a:rPr>
              <a:t>项目研究概述</a:t>
            </a:r>
            <a:endParaRPr lang="en-US" sz="2000" dirty="0"/>
          </a:p>
        </p:txBody>
      </p:sp>
      <p:sp>
        <p:nvSpPr>
          <p:cNvPr id="8" name="Text 6"/>
          <p:cNvSpPr txBox="1"/>
          <p:nvPr/>
        </p:nvSpPr>
        <p:spPr>
          <a:xfrm>
            <a:off x="3566160" y="1600200"/>
            <a:ext cx="2743200" cy="32004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2.1 上位规划</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2.2 区位分析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2.3 气候分析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2.4 植物分析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2.5 历史文化分析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2.6 周边道路分析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2.7 周边交通分析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2.8 周边人行流线分析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2.9 周边用地分析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2.10 地形地貌分析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2.11 场地现状分析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2.12 人群结构分析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2.13 主要人群需求分析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2.14 光照分析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2.15 SWOT分析</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2.16 问题梳理</a:t>
            </a:r>
            <a:endParaRPr lang="en-US" sz="1000" dirty="0"/>
          </a:p>
        </p:txBody>
      </p:sp>
      <p:sp>
        <p:nvSpPr>
          <p:cNvPr id="9" name="Text 7"/>
          <p:cNvSpPr txBox="1"/>
          <p:nvPr/>
        </p:nvSpPr>
        <p:spPr>
          <a:xfrm>
            <a:off x="6400800" y="1051560"/>
            <a:ext cx="2743200" cy="457200"/>
          </a:xfrm>
          <a:prstGeom prst="rect">
            <a:avLst/>
          </a:prstGeom>
          <a:noFill/>
          <a:ln/>
        </p:spPr>
        <p:txBody>
          <a:bodyPr wrap="square" lIns="0" tIns="0" rIns="0" bIns="0" rtlCol="0" anchor="ctr"/>
          <a:lstStyle/>
          <a:p>
            <a:pPr indent="0" marL="0">
              <a:buNone/>
            </a:pPr>
            <a:r>
              <a:rPr lang="en-US" sz="2000" b="1" dirty="0">
                <a:solidFill>
                  <a:srgbClr val="7FA6D9"/>
                </a:solidFill>
                <a:latin typeface="Arial" pitchFamily="34" charset="0"/>
                <a:ea typeface="Arial" pitchFamily="34" charset="-122"/>
                <a:cs typeface="Arial" pitchFamily="34" charset="-120"/>
              </a:rPr>
              <a:t>03</a:t>
            </a:r>
            <a:pPr indent="0" marL="0">
              <a:buNone/>
            </a:pPr>
            <a:r>
              <a:rPr lang="en-US" sz="1800" b="1" dirty="0">
                <a:solidFill>
                  <a:srgbClr val="444444"/>
                </a:solidFill>
                <a:latin typeface="Microsoft YaHei" pitchFamily="34" charset="0"/>
                <a:ea typeface="Microsoft YaHei" pitchFamily="34" charset="-122"/>
                <a:cs typeface="Microsoft YaHei" pitchFamily="34" charset="-120"/>
              </a:rPr>
              <a:t>场地规划分析</a:t>
            </a:r>
            <a:endParaRPr lang="en-US" sz="2000" dirty="0"/>
          </a:p>
        </p:txBody>
      </p:sp>
      <p:sp>
        <p:nvSpPr>
          <p:cNvPr id="10" name="Text 8"/>
          <p:cNvSpPr txBox="1"/>
          <p:nvPr/>
        </p:nvSpPr>
        <p:spPr>
          <a:xfrm>
            <a:off x="6400800" y="1600200"/>
            <a:ext cx="2743200" cy="32004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3.1 设计目标</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3.2 设计原则</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3.3 设计构思</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3.4 设计策略</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3.5 设计成果</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3.6 进度安排</a:t>
            </a:r>
            <a:endParaRPr lang="en-US" sz="1000" dirty="0"/>
          </a:p>
          <a:p>
            <a:pPr marL="342900" indent="-342900">
              <a:spcAft>
                <a:spcPts val="400"/>
              </a:spcAft>
              <a:buSzPct val="100000"/>
              <a:buChar char="■"/>
            </a:pPr>
            <a:r>
              <a:rPr lang="en-US" sz="1000" dirty="0">
                <a:solidFill>
                  <a:srgbClr val="444444"/>
                </a:solidFill>
                <a:latin typeface="Microsoft YaHei" pitchFamily="34" charset="0"/>
                <a:ea typeface="Microsoft YaHei" pitchFamily="34" charset="-122"/>
                <a:cs typeface="Microsoft YaHei" pitchFamily="34" charset="-120"/>
              </a:rPr>
              <a:t>3.7 参考文献</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Background of the Research Topic</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01</a:t>
            </a:r>
            <a:endParaRPr lang="en-US" sz="900" dirty="0"/>
          </a:p>
        </p:txBody>
      </p:sp>
      <p:pic>
        <p:nvPicPr>
          <p:cNvPr id="6" name="Image 0" descr="/home/user/lxfs/pptx_build/figs/x_kites.jpg">    </p:cNvPr>
          <p:cNvPicPr>
            <a:picLocks noChangeAspect="1"/>
          </p:cNvPicPr>
          <p:nvPr/>
        </p:nvPicPr>
        <p:blipFill>
          <a:blip r:embed="rId1"/>
          <a:stretch>
            <a:fillRect/>
          </a:stretch>
        </p:blipFill>
        <p:spPr>
          <a:xfrm>
            <a:off x="5169302" y="822960"/>
            <a:ext cx="3331675" cy="2103120"/>
          </a:xfrm>
          <a:prstGeom prst="rect">
            <a:avLst/>
          </a:prstGeom>
        </p:spPr>
      </p:pic>
      <p:pic>
        <p:nvPicPr>
          <p:cNvPr id="7" name="Image 1" descr="/home/user/lxfs/pptx_build/figs/x_bar.jpg">    </p:cNvPr>
          <p:cNvPicPr>
            <a:picLocks noChangeAspect="1"/>
          </p:cNvPicPr>
          <p:nvPr/>
        </p:nvPicPr>
        <p:blipFill>
          <a:blip r:embed="rId2"/>
          <a:stretch>
            <a:fillRect/>
          </a:stretch>
        </p:blipFill>
        <p:spPr>
          <a:xfrm>
            <a:off x="4846320" y="3017520"/>
            <a:ext cx="1920240" cy="1282720"/>
          </a:xfrm>
          <a:prstGeom prst="rect">
            <a:avLst/>
          </a:prstGeom>
        </p:spPr>
      </p:pic>
      <p:pic>
        <p:nvPicPr>
          <p:cNvPr id="8" name="Image 2" descr="/home/user/lxfs/pptx_build/figs/x_skatepark.jpg">    </p:cNvPr>
          <p:cNvPicPr>
            <a:picLocks noChangeAspect="1"/>
          </p:cNvPicPr>
          <p:nvPr/>
        </p:nvPicPr>
        <p:blipFill>
          <a:blip r:embed="rId3"/>
          <a:stretch>
            <a:fillRect/>
          </a:stretch>
        </p:blipFill>
        <p:spPr>
          <a:xfrm>
            <a:off x="6903720" y="3017520"/>
            <a:ext cx="1920240" cy="1440180"/>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01</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课题研究背景</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1.1 选题背景</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1.2 研究目的</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1.3 研究意义</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1.4 技术路线与研究方法</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1.5 相关概念</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1.6 国内外研究现状</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1.7 案例参考</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Preface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前言</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02</a:t>
            </a:r>
            <a:endParaRPr lang="en-US" sz="900" dirty="0"/>
          </a:p>
        </p:txBody>
      </p:sp>
      <p:pic>
        <p:nvPicPr>
          <p:cNvPr id="7" name="Image 0" descr="/home/user/lxfs/pptx_build/figs/x_aerial_city.jpg">    </p:cNvPr>
          <p:cNvPicPr>
            <a:picLocks noChangeAspect="1"/>
          </p:cNvPicPr>
          <p:nvPr/>
        </p:nvPicPr>
        <p:blipFill>
          <a:blip r:embed="rId1"/>
          <a:stretch>
            <a:fillRect/>
          </a:stretch>
        </p:blipFill>
        <p:spPr>
          <a:xfrm>
            <a:off x="457200" y="914400"/>
            <a:ext cx="4754880" cy="2674620"/>
          </a:xfrm>
          <a:prstGeom prst="rect">
            <a:avLst/>
          </a:prstGeom>
        </p:spPr>
      </p:pic>
      <p:sp>
        <p:nvSpPr>
          <p:cNvPr id="8" name="Shape 5"/>
          <p:cNvSpPr/>
          <p:nvPr/>
        </p:nvSpPr>
        <p:spPr>
          <a:xfrm>
            <a:off x="457200" y="2720340"/>
            <a:ext cx="4754880" cy="868680"/>
          </a:xfrm>
          <a:prstGeom prst="rect">
            <a:avLst/>
          </a:prstGeom>
          <a:solidFill>
            <a:srgbClr val="000000">
              <a:alpha val="55000"/>
            </a:srgbClr>
          </a:solidFill>
          <a:ln w="12700">
            <a:solidFill>
              <a:srgbClr val="000000"/>
            </a:solidFill>
            <a:prstDash val="solid"/>
          </a:ln>
        </p:spPr>
      </p:sp>
      <p:sp>
        <p:nvSpPr>
          <p:cNvPr id="9" name="Text 6"/>
          <p:cNvSpPr txBox="1"/>
          <p:nvPr/>
        </p:nvSpPr>
        <p:spPr>
          <a:xfrm>
            <a:off x="548640" y="2766060"/>
            <a:ext cx="4572000" cy="777240"/>
          </a:xfrm>
          <a:prstGeom prst="rect">
            <a:avLst/>
          </a:prstGeom>
          <a:noFill/>
          <a:ln/>
        </p:spPr>
        <p:txBody>
          <a:bodyPr wrap="square" lIns="0" tIns="0" rIns="0" bIns="0" rtlCol="0" anchor="ctr"/>
          <a:lstStyle/>
          <a:p>
            <a:pPr indent="0" marL="0">
              <a:buNone/>
            </a:pPr>
            <a:r>
              <a:rPr lang="en-US" sz="850" dirty="0">
                <a:solidFill>
                  <a:srgbClr val="FFFFFF"/>
                </a:solidFill>
                <a:latin typeface="Microsoft YaHei" pitchFamily="34" charset="0"/>
                <a:ea typeface="Microsoft YaHei" pitchFamily="34" charset="-122"/>
                <a:cs typeface="Microsoft YaHei" pitchFamily="34" charset="-120"/>
              </a:rPr>
              <a:t>我国城市人口老龄化加剧，高密度新城缺少运动与康养场所。如何为亚健康人群与老年人提供一个兼顾美观、实用，同时能休闲娱乐、锻炼身体、放松身心的场所，非常值得探究。</a:t>
            </a:r>
            <a:endParaRPr lang="en-US" sz="850" dirty="0"/>
          </a:p>
        </p:txBody>
      </p:sp>
      <p:sp>
        <p:nvSpPr>
          <p:cNvPr id="10" name="Text 7"/>
          <p:cNvSpPr txBox="1"/>
          <p:nvPr/>
        </p:nvSpPr>
        <p:spPr>
          <a:xfrm rot="20400000">
            <a:off x="731520" y="1737360"/>
            <a:ext cx="3291840" cy="548640"/>
          </a:xfrm>
          <a:prstGeom prst="rect">
            <a:avLst/>
          </a:prstGeom>
          <a:noFill/>
          <a:ln/>
          <a:effectLst>
            <a:outerShdw sx="100000" sy="100000" kx="0" ky="0" algn="bl" rotWithShape="0" blurRad="38100" dist="12700" dir="2700000">
              <a:srgbClr val="000000">
                <a:alpha val="60000"/>
              </a:srgbClr>
            </a:outerShdw>
          </a:effectLst>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压力！城市病！NO！</a:t>
            </a:r>
            <a:endParaRPr lang="en-US" sz="2400" dirty="0"/>
          </a:p>
        </p:txBody>
      </p:sp>
      <p:sp>
        <p:nvSpPr>
          <p:cNvPr id="11" name="Text 8"/>
          <p:cNvSpPr txBox="1"/>
          <p:nvPr/>
        </p:nvSpPr>
        <p:spPr>
          <a:xfrm>
            <a:off x="5394960" y="914400"/>
            <a:ext cx="3429000" cy="640080"/>
          </a:xfrm>
          <a:prstGeom prst="rect">
            <a:avLst/>
          </a:prstGeom>
          <a:noFill/>
          <a:ln/>
        </p:spPr>
        <p:txBody>
          <a:bodyPr wrap="square" lIns="0" tIns="0" rIns="0" bIns="0" rtlCol="0" anchor="ctr"/>
          <a:lstStyle/>
          <a:p>
            <a:pPr algn="r" indent="0" marL="0">
              <a:buNone/>
            </a:pPr>
            <a:r>
              <a:rPr lang="en-US" sz="3000" b="1" dirty="0">
                <a:solidFill>
                  <a:srgbClr val="444444"/>
                </a:solidFill>
                <a:latin typeface="Microsoft YaHei" pitchFamily="34" charset="0"/>
                <a:ea typeface="Microsoft YaHei" pitchFamily="34" charset="-122"/>
                <a:cs typeface="Microsoft YaHei" pitchFamily="34" charset="-120"/>
              </a:rPr>
              <a:t>心理健康状态</a:t>
            </a:r>
            <a:endParaRPr lang="en-US" sz="3000" dirty="0"/>
          </a:p>
        </p:txBody>
      </p:sp>
      <p:sp>
        <p:nvSpPr>
          <p:cNvPr id="12" name="Shape 9"/>
          <p:cNvSpPr/>
          <p:nvPr/>
        </p:nvSpPr>
        <p:spPr>
          <a:xfrm>
            <a:off x="5440680" y="1645920"/>
            <a:ext cx="502920" cy="256032"/>
          </a:xfrm>
          <a:prstGeom prst="rect">
            <a:avLst/>
          </a:prstGeom>
          <a:solidFill>
            <a:srgbClr val="D9DEE8"/>
          </a:solidFill>
          <a:ln w="12700">
            <a:solidFill>
              <a:srgbClr val="D9DEE8"/>
            </a:solidFill>
            <a:prstDash val="solid"/>
          </a:ln>
        </p:spPr>
      </p:sp>
      <p:sp>
        <p:nvSpPr>
          <p:cNvPr id="13" name="Shape 10"/>
          <p:cNvSpPr/>
          <p:nvPr/>
        </p:nvSpPr>
        <p:spPr>
          <a:xfrm>
            <a:off x="6007608" y="1645920"/>
            <a:ext cx="502920" cy="256032"/>
          </a:xfrm>
          <a:prstGeom prst="rect">
            <a:avLst/>
          </a:prstGeom>
          <a:solidFill>
            <a:srgbClr val="C5CDDC"/>
          </a:solidFill>
          <a:ln w="12700">
            <a:solidFill>
              <a:srgbClr val="C5CDDC"/>
            </a:solidFill>
            <a:prstDash val="solid"/>
          </a:ln>
        </p:spPr>
      </p:sp>
      <p:sp>
        <p:nvSpPr>
          <p:cNvPr id="14" name="Shape 11"/>
          <p:cNvSpPr/>
          <p:nvPr/>
        </p:nvSpPr>
        <p:spPr>
          <a:xfrm>
            <a:off x="6574536" y="1645920"/>
            <a:ext cx="502920" cy="256032"/>
          </a:xfrm>
          <a:prstGeom prst="rect">
            <a:avLst/>
          </a:prstGeom>
          <a:solidFill>
            <a:srgbClr val="AEB9CE"/>
          </a:solidFill>
          <a:ln w="12700">
            <a:solidFill>
              <a:srgbClr val="AEB9CE"/>
            </a:solidFill>
            <a:prstDash val="solid"/>
          </a:ln>
        </p:spPr>
      </p:sp>
      <p:sp>
        <p:nvSpPr>
          <p:cNvPr id="15" name="Shape 12"/>
          <p:cNvSpPr/>
          <p:nvPr/>
        </p:nvSpPr>
        <p:spPr>
          <a:xfrm>
            <a:off x="7141464" y="1645920"/>
            <a:ext cx="502920" cy="256032"/>
          </a:xfrm>
          <a:prstGeom prst="rect">
            <a:avLst/>
          </a:prstGeom>
          <a:solidFill>
            <a:srgbClr val="97A5C0"/>
          </a:solidFill>
          <a:ln w="12700">
            <a:solidFill>
              <a:srgbClr val="97A5C0"/>
            </a:solidFill>
            <a:prstDash val="solid"/>
          </a:ln>
        </p:spPr>
      </p:sp>
      <p:sp>
        <p:nvSpPr>
          <p:cNvPr id="16" name="Shape 13"/>
          <p:cNvSpPr/>
          <p:nvPr/>
        </p:nvSpPr>
        <p:spPr>
          <a:xfrm>
            <a:off x="7708392" y="1645920"/>
            <a:ext cx="502920" cy="256032"/>
          </a:xfrm>
          <a:prstGeom prst="rect">
            <a:avLst/>
          </a:prstGeom>
          <a:solidFill>
            <a:srgbClr val="7E90B2"/>
          </a:solidFill>
          <a:ln w="12700">
            <a:solidFill>
              <a:srgbClr val="7E90B2"/>
            </a:solidFill>
            <a:prstDash val="solid"/>
          </a:ln>
        </p:spPr>
      </p:sp>
      <p:sp>
        <p:nvSpPr>
          <p:cNvPr id="17" name="Shape 14"/>
          <p:cNvSpPr/>
          <p:nvPr/>
        </p:nvSpPr>
        <p:spPr>
          <a:xfrm>
            <a:off x="8275320" y="1645920"/>
            <a:ext cx="502920" cy="256032"/>
          </a:xfrm>
          <a:prstGeom prst="rect">
            <a:avLst/>
          </a:prstGeom>
          <a:solidFill>
            <a:srgbClr val="5B6F9C"/>
          </a:solidFill>
          <a:ln w="12700">
            <a:solidFill>
              <a:srgbClr val="5B6F9C"/>
            </a:solidFill>
            <a:prstDash val="solid"/>
          </a:ln>
        </p:spPr>
      </p:sp>
      <p:sp>
        <p:nvSpPr>
          <p:cNvPr id="18" name="Text 15"/>
          <p:cNvSpPr txBox="1"/>
          <p:nvPr/>
        </p:nvSpPr>
        <p:spPr>
          <a:xfrm>
            <a:off x="5394960" y="1965960"/>
            <a:ext cx="3429000" cy="411480"/>
          </a:xfrm>
          <a:prstGeom prst="rect">
            <a:avLst/>
          </a:prstGeom>
          <a:noFill/>
          <a:ln/>
        </p:spPr>
        <p:txBody>
          <a:bodyPr wrap="square" lIns="0" tIns="0" rIns="0" bIns="0" rtlCol="0" anchor="ctr"/>
          <a:lstStyle/>
          <a:p>
            <a:pPr algn="r" indent="0" marL="0">
              <a:buNone/>
            </a:pPr>
            <a:r>
              <a:rPr lang="en-US" sz="1600" b="1" dirty="0">
                <a:solidFill>
                  <a:srgbClr val="444444"/>
                </a:solidFill>
                <a:latin typeface="Microsoft YaHei" pitchFamily="34" charset="0"/>
                <a:ea typeface="Microsoft YaHei" pitchFamily="34" charset="-122"/>
                <a:cs typeface="Microsoft YaHei" pitchFamily="34" charset="-120"/>
              </a:rPr>
              <a:t>被忽略的亚健康群体</a:t>
            </a:r>
            <a:endParaRPr lang="en-US" sz="1600" dirty="0"/>
          </a:p>
        </p:txBody>
      </p:sp>
      <p:sp>
        <p:nvSpPr>
          <p:cNvPr id="19" name="Shape 16"/>
          <p:cNvSpPr/>
          <p:nvPr/>
        </p:nvSpPr>
        <p:spPr>
          <a:xfrm>
            <a:off x="5394960" y="2423160"/>
            <a:ext cx="1691640" cy="1691640"/>
          </a:xfrm>
          <a:prstGeom prst="rect">
            <a:avLst/>
          </a:prstGeom>
          <a:solidFill>
            <a:srgbClr val="3E5A3A"/>
          </a:solidFill>
          <a:ln w="12700">
            <a:solidFill>
              <a:srgbClr val="3E5A3A"/>
            </a:solidFill>
            <a:prstDash val="solid"/>
          </a:ln>
        </p:spPr>
      </p:sp>
      <p:sp>
        <p:nvSpPr>
          <p:cNvPr id="20" name="Text 17"/>
          <p:cNvSpPr txBox="1"/>
          <p:nvPr/>
        </p:nvSpPr>
        <p:spPr>
          <a:xfrm>
            <a:off x="5468112" y="2514600"/>
            <a:ext cx="1188720" cy="365760"/>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孤独感</a:t>
            </a:r>
            <a:endParaRPr lang="en-US" sz="1400" dirty="0"/>
          </a:p>
        </p:txBody>
      </p:sp>
      <p:sp>
        <p:nvSpPr>
          <p:cNvPr id="21" name="Text 18"/>
          <p:cNvSpPr txBox="1"/>
          <p:nvPr/>
        </p:nvSpPr>
        <p:spPr>
          <a:xfrm>
            <a:off x="6355080" y="2532888"/>
            <a:ext cx="1188720" cy="365760"/>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依赖</a:t>
            </a:r>
            <a:endParaRPr lang="en-US" sz="1200" dirty="0"/>
          </a:p>
        </p:txBody>
      </p:sp>
      <p:sp>
        <p:nvSpPr>
          <p:cNvPr id="22" name="Text 19"/>
          <p:cNvSpPr txBox="1"/>
          <p:nvPr/>
        </p:nvSpPr>
        <p:spPr>
          <a:xfrm>
            <a:off x="5504688" y="2926080"/>
            <a:ext cx="1188720" cy="365760"/>
          </a:xfrm>
          <a:prstGeom prst="rect">
            <a:avLst/>
          </a:prstGeom>
          <a:noFill/>
          <a:ln/>
        </p:spPr>
        <p:txBody>
          <a:bodyPr wrap="square" lIns="0" tIns="0" rIns="0" bIns="0" rtlCol="0" anchor="ctr"/>
          <a:lstStyle/>
          <a:p>
            <a:pPr indent="0" marL="0">
              <a:buNone/>
            </a:pPr>
            <a:r>
              <a:rPr lang="en-US" sz="1100" b="1" dirty="0">
                <a:solidFill>
                  <a:srgbClr val="FFFFFF"/>
                </a:solidFill>
                <a:latin typeface="Microsoft YaHei" pitchFamily="34" charset="0"/>
                <a:ea typeface="Microsoft YaHei" pitchFamily="34" charset="-122"/>
                <a:cs typeface="Microsoft YaHei" pitchFamily="34" charset="-120"/>
              </a:rPr>
              <a:t>关爱</a:t>
            </a:r>
            <a:endParaRPr lang="en-US" sz="1100" dirty="0"/>
          </a:p>
        </p:txBody>
      </p:sp>
      <p:sp>
        <p:nvSpPr>
          <p:cNvPr id="23" name="Text 20"/>
          <p:cNvSpPr txBox="1"/>
          <p:nvPr/>
        </p:nvSpPr>
        <p:spPr>
          <a:xfrm>
            <a:off x="6035040" y="3081528"/>
            <a:ext cx="1188720" cy="365760"/>
          </a:xfrm>
          <a:prstGeom prst="rect">
            <a:avLst/>
          </a:prstGeom>
          <a:noFill/>
          <a:ln/>
        </p:spPr>
        <p:txBody>
          <a:bodyPr wrap="square" lIns="0" tIns="0" rIns="0" bIns="0" rtlCol="0" anchor="ctr"/>
          <a:lstStyle/>
          <a:p>
            <a:pPr indent="0" marL="0">
              <a:buNone/>
            </a:pPr>
            <a:r>
              <a:rPr lang="en-US" sz="1000" b="1" dirty="0">
                <a:solidFill>
                  <a:srgbClr val="FFFFFF"/>
                </a:solidFill>
                <a:latin typeface="Microsoft YaHei" pitchFamily="34" charset="0"/>
                <a:ea typeface="Microsoft YaHei" pitchFamily="34" charset="-122"/>
                <a:cs typeface="Microsoft YaHei" pitchFamily="34" charset="-120"/>
              </a:rPr>
              <a:t>经济困扰</a:t>
            </a:r>
            <a:endParaRPr lang="en-US" sz="1000" dirty="0"/>
          </a:p>
        </p:txBody>
      </p:sp>
      <p:sp>
        <p:nvSpPr>
          <p:cNvPr id="24" name="Text 21"/>
          <p:cNvSpPr txBox="1"/>
          <p:nvPr/>
        </p:nvSpPr>
        <p:spPr>
          <a:xfrm>
            <a:off x="5468112" y="3474720"/>
            <a:ext cx="1188720" cy="365760"/>
          </a:xfrm>
          <a:prstGeom prst="rect">
            <a:avLst/>
          </a:prstGeom>
          <a:noFill/>
          <a:ln/>
        </p:spPr>
        <p:txBody>
          <a:bodyPr wrap="square" lIns="0" tIns="0" rIns="0" bIns="0" rtlCol="0" anchor="ctr"/>
          <a:lstStyle/>
          <a:p>
            <a:pPr indent="0" marL="0">
              <a:buNone/>
            </a:pPr>
            <a:r>
              <a:rPr lang="en-US" sz="900" b="1" dirty="0">
                <a:solidFill>
                  <a:srgbClr val="FFFFFF"/>
                </a:solidFill>
                <a:latin typeface="Microsoft YaHei" pitchFamily="34" charset="0"/>
                <a:ea typeface="Microsoft YaHei" pitchFamily="34" charset="-122"/>
                <a:cs typeface="Microsoft YaHei" pitchFamily="34" charset="-120"/>
              </a:rPr>
              <a:t>焦虑</a:t>
            </a:r>
            <a:endParaRPr lang="en-US" sz="900" dirty="0"/>
          </a:p>
        </p:txBody>
      </p:sp>
      <p:sp>
        <p:nvSpPr>
          <p:cNvPr id="25" name="Text 22"/>
          <p:cNvSpPr txBox="1"/>
          <p:nvPr/>
        </p:nvSpPr>
        <p:spPr>
          <a:xfrm>
            <a:off x="5897880" y="3611880"/>
            <a:ext cx="1188720" cy="365760"/>
          </a:xfrm>
          <a:prstGeom prst="rect">
            <a:avLst/>
          </a:prstGeom>
          <a:noFill/>
          <a:ln/>
        </p:spPr>
        <p:txBody>
          <a:bodyPr wrap="square" lIns="0" tIns="0" rIns="0" bIns="0" rtlCol="0" anchor="ctr"/>
          <a:lstStyle/>
          <a:p>
            <a:pPr indent="0" marL="0">
              <a:buNone/>
            </a:pPr>
            <a:r>
              <a:rPr lang="en-US" sz="1300" b="1" dirty="0">
                <a:solidFill>
                  <a:srgbClr val="FFFFFF"/>
                </a:solidFill>
                <a:latin typeface="Microsoft YaHei" pitchFamily="34" charset="0"/>
                <a:ea typeface="Microsoft YaHei" pitchFamily="34" charset="-122"/>
                <a:cs typeface="Microsoft YaHei" pitchFamily="34" charset="-120"/>
              </a:rPr>
              <a:t>健康担忧</a:t>
            </a:r>
            <a:endParaRPr lang="en-US" sz="1300" dirty="0"/>
          </a:p>
        </p:txBody>
      </p:sp>
      <p:sp>
        <p:nvSpPr>
          <p:cNvPr id="26" name="Shape 23"/>
          <p:cNvSpPr/>
          <p:nvPr/>
        </p:nvSpPr>
        <p:spPr>
          <a:xfrm>
            <a:off x="7223760" y="2423160"/>
            <a:ext cx="1600200" cy="1691640"/>
          </a:xfrm>
          <a:prstGeom prst="rect">
            <a:avLst/>
          </a:prstGeom>
          <a:solidFill>
            <a:srgbClr val="E4E6EA"/>
          </a:solidFill>
          <a:ln w="12700">
            <a:solidFill>
              <a:srgbClr val="E4E6EA"/>
            </a:solidFill>
            <a:prstDash val="solid"/>
          </a:ln>
        </p:spPr>
      </p:sp>
      <p:sp>
        <p:nvSpPr>
          <p:cNvPr id="27" name="Text 24"/>
          <p:cNvSpPr txBox="1"/>
          <p:nvPr/>
        </p:nvSpPr>
        <p:spPr>
          <a:xfrm>
            <a:off x="7269480" y="2468880"/>
            <a:ext cx="1508760" cy="1600200"/>
          </a:xfrm>
          <a:prstGeom prst="rect">
            <a:avLst/>
          </a:prstGeom>
          <a:noFill/>
          <a:ln/>
        </p:spPr>
        <p:txBody>
          <a:bodyPr wrap="square" lIns="25400" tIns="25400" rIns="25400" bIns="25400" rtlCol="0" anchor="ctr"/>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我国正处于高速发展时期，伴随而来的是快节奏生活，使人压力日益增加。据世界卫生组织统计，人群中亚健康人群已高达70%。</a:t>
            </a:r>
            <a:endParaRPr lang="en-US" sz="800" dirty="0"/>
          </a:p>
        </p:txBody>
      </p:sp>
      <p:sp>
        <p:nvSpPr>
          <p:cNvPr id="28" name="Text 25"/>
          <p:cNvSpPr txBox="1"/>
          <p:nvPr/>
        </p:nvSpPr>
        <p:spPr>
          <a:xfrm>
            <a:off x="457200" y="4206240"/>
            <a:ext cx="3291840" cy="457200"/>
          </a:xfrm>
          <a:prstGeom prst="rect">
            <a:avLst/>
          </a:prstGeom>
          <a:noFill/>
          <a:ln/>
        </p:spPr>
        <p:txBody>
          <a:bodyPr wrap="square" lIns="0" tIns="0" rIns="0" bIns="0" rtlCol="0" anchor="ctr"/>
          <a:lstStyle/>
          <a:p>
            <a:pPr indent="0" marL="0">
              <a:buNone/>
            </a:pPr>
            <a:r>
              <a:rPr lang="en-US" sz="2000" b="1" dirty="0">
                <a:solidFill>
                  <a:srgbClr val="3E5A3A"/>
                </a:solidFill>
                <a:latin typeface="Microsoft YaHei" pitchFamily="34" charset="0"/>
                <a:ea typeface="Microsoft YaHei" pitchFamily="34" charset="-122"/>
                <a:cs typeface="Microsoft YaHei" pitchFamily="34" charset="-120"/>
              </a:rPr>
              <a:t>亚！亚！健康！亚！</a:t>
            </a:r>
            <a:endParaRPr lang="en-US" sz="2000" dirty="0"/>
          </a:p>
        </p:txBody>
      </p:sp>
      <p:sp>
        <p:nvSpPr>
          <p:cNvPr id="29" name="Text 26"/>
          <p:cNvSpPr txBox="1"/>
          <p:nvPr/>
        </p:nvSpPr>
        <p:spPr>
          <a:xfrm>
            <a:off x="3840480" y="4251960"/>
            <a:ext cx="4983480" cy="365760"/>
          </a:xfrm>
          <a:prstGeom prst="rect">
            <a:avLst/>
          </a:prstGeom>
          <a:noFill/>
          <a:ln/>
        </p:spPr>
        <p:txBody>
          <a:bodyPr wrap="square" lIns="25400" tIns="25400" rIns="25400" bIns="25400" rtlCol="0" anchor="ctr"/>
          <a:lstStyle/>
          <a:p>
            <a:pPr algn="r" indent="0" marL="0">
              <a:lnSpc>
                <a:spcPct val="115000"/>
              </a:lnSpc>
              <a:buNone/>
            </a:pPr>
            <a:r>
              <a:rPr lang="en-US" sz="1000" dirty="0">
                <a:solidFill>
                  <a:srgbClr val="444444"/>
                </a:solidFill>
                <a:latin typeface="Microsoft YaHei" pitchFamily="34" charset="0"/>
                <a:ea typeface="Microsoft YaHei" pitchFamily="34" charset="-122"/>
                <a:cs typeface="Microsoft YaHei" pitchFamily="34" charset="-120"/>
              </a:rPr>
              <a:t>健康不是身体状况的问题，而是精神状况的问题。</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选题背景——时代需求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03</a:t>
            </a:r>
            <a:endParaRPr lang="en-US" sz="900" dirty="0"/>
          </a:p>
        </p:txBody>
      </p:sp>
      <p:sp>
        <p:nvSpPr>
          <p:cNvPr id="7" name="Text 5"/>
          <p:cNvSpPr txBox="1"/>
          <p:nvPr/>
        </p:nvSpPr>
        <p:spPr>
          <a:xfrm>
            <a:off x="457200" y="896112"/>
            <a:ext cx="8366760" cy="274320"/>
          </a:xfrm>
          <a:prstGeom prst="rect">
            <a:avLst/>
          </a:prstGeom>
          <a:noFill/>
          <a:ln/>
        </p:spPr>
        <p:txBody>
          <a:bodyPr wrap="square" lIns="0" tIns="0" rIns="0" bIns="0" rtlCol="0" anchor="ctr"/>
          <a:lstStyle/>
          <a:p>
            <a:pPr algn="ctr" indent="0" marL="0">
              <a:buNone/>
            </a:pPr>
            <a:r>
              <a:rPr lang="en-US" sz="1200" dirty="0">
                <a:solidFill>
                  <a:srgbClr val="444444"/>
                </a:solidFill>
                <a:latin typeface="Microsoft YaHei" pitchFamily="34" charset="0"/>
                <a:ea typeface="Microsoft YaHei" pitchFamily="34" charset="-122"/>
                <a:cs typeface="Microsoft YaHei" pitchFamily="34" charset="-120"/>
              </a:rPr>
              <a:t>70%中国人处于亚健康状态</a:t>
            </a:r>
            <a:endParaRPr lang="en-US" sz="1200" dirty="0"/>
          </a:p>
        </p:txBody>
      </p:sp>
      <p:sp>
        <p:nvSpPr>
          <p:cNvPr id="8" name="Text 6"/>
          <p:cNvSpPr txBox="1"/>
          <p:nvPr/>
        </p:nvSpPr>
        <p:spPr>
          <a:xfrm>
            <a:off x="457200" y="1170432"/>
            <a:ext cx="8366760" cy="256032"/>
          </a:xfrm>
          <a:prstGeom prst="rect">
            <a:avLst/>
          </a:prstGeom>
          <a:noFill/>
          <a:ln/>
        </p:spPr>
        <p:txBody>
          <a:bodyPr wrap="square" lIns="0" tIns="0" rIns="0" bIns="0" rtlCol="0" anchor="ctr"/>
          <a:lstStyle/>
          <a:p>
            <a:pPr algn="ctr" indent="0" marL="0">
              <a:buNone/>
            </a:pPr>
            <a:r>
              <a:rPr lang="en-US" sz="1000" dirty="0">
                <a:solidFill>
                  <a:srgbClr val="444444"/>
                </a:solidFill>
                <a:latin typeface="Microsoft YaHei" pitchFamily="34" charset="0"/>
                <a:ea typeface="Microsoft YaHei" pitchFamily="34" charset="-122"/>
                <a:cs typeface="Microsoft YaHei" pitchFamily="34" charset="-120"/>
              </a:rPr>
              <a:t>慢性病死亡人数占总死亡人数86.6%；2023年我国60岁以上人口占比21.1%，65岁以上占比15.4%</a:t>
            </a:r>
            <a:endParaRPr lang="en-US" sz="1000" dirty="0"/>
          </a:p>
        </p:txBody>
      </p:sp>
      <p:pic>
        <p:nvPicPr>
          <p:cNvPr id="9" name="Image 0" descr="/home/user/lxfs/pptx_build/figs/x_elders_bench.jpg">    </p:cNvPr>
          <p:cNvPicPr>
            <a:picLocks noChangeAspect="1"/>
          </p:cNvPicPr>
          <p:nvPr/>
        </p:nvPicPr>
        <p:blipFill>
          <a:blip r:embed="rId1"/>
          <a:stretch>
            <a:fillRect/>
          </a:stretch>
        </p:blipFill>
        <p:spPr>
          <a:xfrm>
            <a:off x="502920" y="1481328"/>
            <a:ext cx="1965960" cy="1508260"/>
          </a:xfrm>
          <a:prstGeom prst="rect">
            <a:avLst/>
          </a:prstGeom>
        </p:spPr>
      </p:pic>
      <p:sp>
        <p:nvSpPr>
          <p:cNvPr id="10" name="Shape 7"/>
          <p:cNvSpPr/>
          <p:nvPr/>
        </p:nvSpPr>
        <p:spPr>
          <a:xfrm>
            <a:off x="502920" y="2084632"/>
            <a:ext cx="1965960" cy="868680"/>
          </a:xfrm>
          <a:prstGeom prst="rect">
            <a:avLst/>
          </a:prstGeom>
          <a:solidFill>
            <a:srgbClr val="1F3F7A">
              <a:alpha val="70000"/>
            </a:srgbClr>
          </a:solidFill>
          <a:ln w="12700">
            <a:solidFill>
              <a:srgbClr val="1F3F7A"/>
            </a:solidFill>
            <a:prstDash val="solid"/>
          </a:ln>
        </p:spPr>
      </p:sp>
      <p:sp>
        <p:nvSpPr>
          <p:cNvPr id="11" name="Text 8"/>
          <p:cNvSpPr txBox="1"/>
          <p:nvPr/>
        </p:nvSpPr>
        <p:spPr>
          <a:xfrm>
            <a:off x="557784" y="2084632"/>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截至2023年，我国60岁以上人口占比21.1%，65岁以上占比15.4%；仁寿县60岁以上人口达26.56%。</a:t>
            </a:r>
            <a:endParaRPr lang="en-US" sz="750" dirty="0"/>
          </a:p>
        </p:txBody>
      </p:sp>
      <p:sp>
        <p:nvSpPr>
          <p:cNvPr id="12" name="Text 9"/>
          <p:cNvSpPr txBox="1"/>
          <p:nvPr/>
        </p:nvSpPr>
        <p:spPr>
          <a:xfrm>
            <a:off x="50292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时代背景需求</a:t>
            </a:r>
            <a:endParaRPr lang="en-US" sz="1200" dirty="0"/>
          </a:p>
        </p:txBody>
      </p:sp>
      <p:pic>
        <p:nvPicPr>
          <p:cNvPr id="13" name="Image 1" descr="/home/user/lxfs/pptx_build/figs/x_umbrella.jpg">    </p:cNvPr>
          <p:cNvPicPr>
            <a:picLocks noChangeAspect="1"/>
          </p:cNvPicPr>
          <p:nvPr/>
        </p:nvPicPr>
        <p:blipFill>
          <a:blip r:embed="rId2"/>
          <a:stretch>
            <a:fillRect/>
          </a:stretch>
        </p:blipFill>
        <p:spPr>
          <a:xfrm>
            <a:off x="2646045" y="1481328"/>
            <a:ext cx="1885950" cy="2514600"/>
          </a:xfrm>
          <a:prstGeom prst="rect">
            <a:avLst/>
          </a:prstGeom>
        </p:spPr>
      </p:pic>
      <p:sp>
        <p:nvSpPr>
          <p:cNvPr id="14" name="Shape 10"/>
          <p:cNvSpPr/>
          <p:nvPr/>
        </p:nvSpPr>
        <p:spPr>
          <a:xfrm>
            <a:off x="2646045" y="2487168"/>
            <a:ext cx="1885950" cy="868680"/>
          </a:xfrm>
          <a:prstGeom prst="rect">
            <a:avLst/>
          </a:prstGeom>
          <a:solidFill>
            <a:srgbClr val="1F3F7A">
              <a:alpha val="70000"/>
            </a:srgbClr>
          </a:solidFill>
          <a:ln w="12700">
            <a:solidFill>
              <a:srgbClr val="1F3F7A"/>
            </a:solidFill>
            <a:prstDash val="solid"/>
          </a:ln>
        </p:spPr>
      </p:sp>
      <p:sp>
        <p:nvSpPr>
          <p:cNvPr id="15" name="Text 11"/>
          <p:cNvSpPr txBox="1"/>
          <p:nvPr/>
        </p:nvSpPr>
        <p:spPr>
          <a:xfrm>
            <a:off x="2700909" y="2487168"/>
            <a:ext cx="177622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70%国人处于亚健康状态，工作、生活、学习压力增大，作息不规律，缺乏日常运动与情绪释放场所。</a:t>
            </a:r>
            <a:endParaRPr lang="en-US" sz="750" dirty="0"/>
          </a:p>
        </p:txBody>
      </p:sp>
      <p:sp>
        <p:nvSpPr>
          <p:cNvPr id="16" name="Text 12"/>
          <p:cNvSpPr txBox="1"/>
          <p:nvPr/>
        </p:nvSpPr>
        <p:spPr>
          <a:xfrm>
            <a:off x="260604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全民健身需求</a:t>
            </a:r>
            <a:endParaRPr lang="en-US" sz="1200" dirty="0"/>
          </a:p>
        </p:txBody>
      </p:sp>
      <p:pic>
        <p:nvPicPr>
          <p:cNvPr id="17" name="Image 2" descr="/home/user/lxfs/pptx_build/figs/x_family.jpg">    </p:cNvPr>
          <p:cNvPicPr>
            <a:picLocks noChangeAspect="1"/>
          </p:cNvPicPr>
          <p:nvPr/>
        </p:nvPicPr>
        <p:blipFill>
          <a:blip r:embed="rId3"/>
          <a:stretch>
            <a:fillRect/>
          </a:stretch>
        </p:blipFill>
        <p:spPr>
          <a:xfrm>
            <a:off x="4709160" y="1481328"/>
            <a:ext cx="1965960" cy="1513789"/>
          </a:xfrm>
          <a:prstGeom prst="rect">
            <a:avLst/>
          </a:prstGeom>
        </p:spPr>
      </p:pic>
      <p:sp>
        <p:nvSpPr>
          <p:cNvPr id="18" name="Shape 13"/>
          <p:cNvSpPr/>
          <p:nvPr/>
        </p:nvSpPr>
        <p:spPr>
          <a:xfrm>
            <a:off x="4709160" y="2086844"/>
            <a:ext cx="1965960" cy="868680"/>
          </a:xfrm>
          <a:prstGeom prst="rect">
            <a:avLst/>
          </a:prstGeom>
          <a:solidFill>
            <a:srgbClr val="1F3F7A">
              <a:alpha val="70000"/>
            </a:srgbClr>
          </a:solidFill>
          <a:ln w="12700">
            <a:solidFill>
              <a:srgbClr val="1F3F7A"/>
            </a:solidFill>
            <a:prstDash val="solid"/>
          </a:ln>
        </p:spPr>
      </p:sp>
      <p:sp>
        <p:nvSpPr>
          <p:cNvPr id="19" name="Text 14"/>
          <p:cNvSpPr txBox="1"/>
          <p:nvPr/>
        </p:nvSpPr>
        <p:spPr>
          <a:xfrm>
            <a:off x="4764024" y="2086844"/>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居民健康意识提升，全龄运动、亲子游憩、老年康养需求增长，推动体育公园与健康城市建设。</a:t>
            </a:r>
            <a:endParaRPr lang="en-US" sz="750" dirty="0"/>
          </a:p>
        </p:txBody>
      </p:sp>
      <p:sp>
        <p:nvSpPr>
          <p:cNvPr id="20" name="Text 15"/>
          <p:cNvSpPr txBox="1"/>
          <p:nvPr/>
        </p:nvSpPr>
        <p:spPr>
          <a:xfrm>
            <a:off x="470916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市场机遇人群</a:t>
            </a:r>
            <a:endParaRPr lang="en-US" sz="1200" dirty="0"/>
          </a:p>
        </p:txBody>
      </p:sp>
      <p:pic>
        <p:nvPicPr>
          <p:cNvPr id="21" name="Image 3" descr="/home/user/lxfs/pptx_build/figs/x_cyclists.jpg">    </p:cNvPr>
          <p:cNvPicPr>
            <a:picLocks noChangeAspect="1"/>
          </p:cNvPicPr>
          <p:nvPr/>
        </p:nvPicPr>
        <p:blipFill>
          <a:blip r:embed="rId4"/>
          <a:stretch>
            <a:fillRect/>
          </a:stretch>
        </p:blipFill>
        <p:spPr>
          <a:xfrm>
            <a:off x="6812280" y="1481328"/>
            <a:ext cx="1965960" cy="1233866"/>
          </a:xfrm>
          <a:prstGeom prst="rect">
            <a:avLst/>
          </a:prstGeom>
        </p:spPr>
      </p:pic>
      <p:sp>
        <p:nvSpPr>
          <p:cNvPr id="22" name="Shape 16"/>
          <p:cNvSpPr/>
          <p:nvPr/>
        </p:nvSpPr>
        <p:spPr>
          <a:xfrm>
            <a:off x="6812280" y="1974874"/>
            <a:ext cx="1965960" cy="868680"/>
          </a:xfrm>
          <a:prstGeom prst="rect">
            <a:avLst/>
          </a:prstGeom>
          <a:solidFill>
            <a:srgbClr val="1F3F7A">
              <a:alpha val="70000"/>
            </a:srgbClr>
          </a:solidFill>
          <a:ln w="12700">
            <a:solidFill>
              <a:srgbClr val="1F3F7A"/>
            </a:solidFill>
            <a:prstDash val="solid"/>
          </a:ln>
        </p:spPr>
      </p:sp>
      <p:sp>
        <p:nvSpPr>
          <p:cNvPr id="23" name="Text 17"/>
          <p:cNvSpPr txBox="1"/>
          <p:nvPr/>
        </p:nvSpPr>
        <p:spPr>
          <a:xfrm>
            <a:off x="6867144" y="1974874"/>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国家全面推进“健康中国2030”与体育公园建设，仁寿县公园城市规划大力支持。</a:t>
            </a:r>
            <a:endParaRPr lang="en-US" sz="750" dirty="0"/>
          </a:p>
        </p:txBody>
      </p:sp>
      <p:sp>
        <p:nvSpPr>
          <p:cNvPr id="24" name="Text 18"/>
          <p:cNvSpPr txBox="1"/>
          <p:nvPr/>
        </p:nvSpPr>
        <p:spPr>
          <a:xfrm>
            <a:off x="681228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政策导向优势</a:t>
            </a:r>
            <a:endParaRPr lang="en-US" sz="1200" dirty="0"/>
          </a:p>
        </p:txBody>
      </p:sp>
      <p:sp>
        <p:nvSpPr>
          <p:cNvPr id="25" name="Text 19"/>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如今，因工作、生活、学习等带来的压力，导致人们生活作息不规律、熬夜、睡眠不足，身体状况变差。但我国缺少运动与疗愈场所，人们压力无处释放，导致许多年轻人处于亚健康状态。在全民健康、公园城市政策背景下，集运动健康、全龄游憩于一体的体育型综合公园成为化解上述矛盾的核心空间载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选题背景——政策导向</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04</a:t>
            </a:r>
            <a:endParaRPr lang="en-US" sz="900" dirty="0"/>
          </a:p>
        </p:txBody>
      </p:sp>
      <p:sp>
        <p:nvSpPr>
          <p:cNvPr id="7" name="Shape 5"/>
          <p:cNvSpPr/>
          <p:nvPr/>
        </p:nvSpPr>
        <p:spPr>
          <a:xfrm>
            <a:off x="457200" y="1069848"/>
            <a:ext cx="868680" cy="384048"/>
          </a:xfrm>
          <a:prstGeom prst="rect">
            <a:avLst/>
          </a:prstGeom>
          <a:solidFill>
            <a:srgbClr val="1F3F7A"/>
          </a:solidFill>
          <a:ln w="12700">
            <a:solidFill>
              <a:srgbClr val="1F3F7A"/>
            </a:solidFill>
            <a:prstDash val="solid"/>
          </a:ln>
        </p:spPr>
      </p:sp>
      <p:sp>
        <p:nvSpPr>
          <p:cNvPr id="8" name="Text 6"/>
          <p:cNvSpPr txBox="1"/>
          <p:nvPr/>
        </p:nvSpPr>
        <p:spPr>
          <a:xfrm>
            <a:off x="457200" y="106984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国家战略</a:t>
            </a:r>
            <a:endParaRPr lang="en-US" sz="950" dirty="0"/>
          </a:p>
        </p:txBody>
      </p:sp>
      <p:sp>
        <p:nvSpPr>
          <p:cNvPr id="9" name="Text 7"/>
          <p:cNvSpPr txBox="1"/>
          <p:nvPr/>
        </p:nvSpPr>
        <p:spPr>
          <a:xfrm>
            <a:off x="1463040" y="96012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《“健康中国2030”规划纲要》</a:t>
            </a:r>
            <a:endParaRPr lang="en-US" sz="1050" dirty="0"/>
          </a:p>
        </p:txBody>
      </p:sp>
      <p:sp>
        <p:nvSpPr>
          <p:cNvPr id="10" name="Text 8"/>
          <p:cNvSpPr txBox="1"/>
          <p:nvPr/>
        </p:nvSpPr>
        <p:spPr>
          <a:xfrm>
            <a:off x="1463040" y="125272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健全城乡全民健身公共服务体系，完善社区体育配套设施</a:t>
            </a:r>
            <a:endParaRPr lang="en-US" sz="900" dirty="0"/>
          </a:p>
        </p:txBody>
      </p:sp>
      <p:sp>
        <p:nvSpPr>
          <p:cNvPr id="11" name="Shape 9"/>
          <p:cNvSpPr/>
          <p:nvPr/>
        </p:nvSpPr>
        <p:spPr>
          <a:xfrm>
            <a:off x="457200" y="1801368"/>
            <a:ext cx="868680" cy="384048"/>
          </a:xfrm>
          <a:prstGeom prst="rect">
            <a:avLst/>
          </a:prstGeom>
          <a:solidFill>
            <a:srgbClr val="1F3F7A"/>
          </a:solidFill>
          <a:ln w="12700">
            <a:solidFill>
              <a:srgbClr val="1F3F7A"/>
            </a:solidFill>
            <a:prstDash val="solid"/>
          </a:ln>
        </p:spPr>
      </p:sp>
      <p:sp>
        <p:nvSpPr>
          <p:cNvPr id="12" name="Text 10"/>
          <p:cNvSpPr txBox="1"/>
          <p:nvPr/>
        </p:nvSpPr>
        <p:spPr>
          <a:xfrm>
            <a:off x="457200" y="180136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规划标准</a:t>
            </a:r>
            <a:endParaRPr lang="en-US" sz="950" dirty="0"/>
          </a:p>
        </p:txBody>
      </p:sp>
      <p:sp>
        <p:nvSpPr>
          <p:cNvPr id="13" name="Text 11"/>
          <p:cNvSpPr txBox="1"/>
          <p:nvPr/>
        </p:nvSpPr>
        <p:spPr>
          <a:xfrm>
            <a:off x="1463040" y="169164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《城市居住区规划设计标准》GB 50180-2018</a:t>
            </a:r>
            <a:endParaRPr lang="en-US" sz="1050" dirty="0"/>
          </a:p>
        </p:txBody>
      </p:sp>
      <p:sp>
        <p:nvSpPr>
          <p:cNvPr id="14" name="Text 12"/>
          <p:cNvSpPr txBox="1"/>
          <p:nvPr/>
        </p:nvSpPr>
        <p:spPr>
          <a:xfrm>
            <a:off x="1463040" y="198424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构建15分钟生活圈绿地系统，保障片区级综合公园落地</a:t>
            </a:r>
            <a:endParaRPr lang="en-US" sz="900" dirty="0"/>
          </a:p>
        </p:txBody>
      </p:sp>
      <p:sp>
        <p:nvSpPr>
          <p:cNvPr id="15" name="Shape 13"/>
          <p:cNvSpPr/>
          <p:nvPr/>
        </p:nvSpPr>
        <p:spPr>
          <a:xfrm>
            <a:off x="457200" y="2532888"/>
            <a:ext cx="868680" cy="384048"/>
          </a:xfrm>
          <a:prstGeom prst="rect">
            <a:avLst/>
          </a:prstGeom>
          <a:solidFill>
            <a:srgbClr val="1F3F7A"/>
          </a:solidFill>
          <a:ln w="12700">
            <a:solidFill>
              <a:srgbClr val="1F3F7A"/>
            </a:solidFill>
            <a:prstDash val="solid"/>
          </a:ln>
        </p:spPr>
      </p:sp>
      <p:sp>
        <p:nvSpPr>
          <p:cNvPr id="16" name="Text 14"/>
          <p:cNvSpPr txBox="1"/>
          <p:nvPr/>
        </p:nvSpPr>
        <p:spPr>
          <a:xfrm>
            <a:off x="457200" y="253288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生态导向</a:t>
            </a:r>
            <a:endParaRPr lang="en-US" sz="950" dirty="0"/>
          </a:p>
        </p:txBody>
      </p:sp>
      <p:sp>
        <p:nvSpPr>
          <p:cNvPr id="17" name="Text 15"/>
          <p:cNvSpPr txBox="1"/>
          <p:nvPr/>
        </p:nvSpPr>
        <p:spPr>
          <a:xfrm>
            <a:off x="1463040" y="242316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《海绵城市建设技术指南》</a:t>
            </a:r>
            <a:endParaRPr lang="en-US" sz="1050" dirty="0"/>
          </a:p>
        </p:txBody>
      </p:sp>
      <p:sp>
        <p:nvSpPr>
          <p:cNvPr id="18" name="Text 16"/>
          <p:cNvSpPr txBox="1"/>
          <p:nvPr/>
        </p:nvSpPr>
        <p:spPr>
          <a:xfrm>
            <a:off x="1463040" y="271576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低影响开发，城市绿地兼顾生态缓冲、雨水调蓄、休闲游憩复合功能</a:t>
            </a:r>
            <a:endParaRPr lang="en-US" sz="900" dirty="0"/>
          </a:p>
        </p:txBody>
      </p:sp>
      <p:sp>
        <p:nvSpPr>
          <p:cNvPr id="19" name="Shape 17"/>
          <p:cNvSpPr/>
          <p:nvPr/>
        </p:nvSpPr>
        <p:spPr>
          <a:xfrm>
            <a:off x="457200" y="3264408"/>
            <a:ext cx="868680" cy="384048"/>
          </a:xfrm>
          <a:prstGeom prst="rect">
            <a:avLst/>
          </a:prstGeom>
          <a:solidFill>
            <a:srgbClr val="1F3F7A"/>
          </a:solidFill>
          <a:ln w="12700">
            <a:solidFill>
              <a:srgbClr val="1F3F7A"/>
            </a:solidFill>
            <a:prstDash val="solid"/>
          </a:ln>
        </p:spPr>
      </p:sp>
      <p:sp>
        <p:nvSpPr>
          <p:cNvPr id="20" name="Text 18"/>
          <p:cNvSpPr txBox="1"/>
          <p:nvPr/>
        </p:nvSpPr>
        <p:spPr>
          <a:xfrm>
            <a:off x="457200" y="326440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专项指导</a:t>
            </a:r>
            <a:endParaRPr lang="en-US" sz="950" dirty="0"/>
          </a:p>
        </p:txBody>
      </p:sp>
      <p:sp>
        <p:nvSpPr>
          <p:cNvPr id="21" name="Text 19"/>
          <p:cNvSpPr txBox="1"/>
          <p:nvPr/>
        </p:nvSpPr>
        <p:spPr>
          <a:xfrm>
            <a:off x="1463040" y="315468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七部委《关于推进体育公园建设的指导意见》</a:t>
            </a:r>
            <a:endParaRPr lang="en-US" sz="1050" dirty="0"/>
          </a:p>
        </p:txBody>
      </p:sp>
      <p:sp>
        <p:nvSpPr>
          <p:cNvPr id="22" name="Text 20"/>
          <p:cNvSpPr txBox="1"/>
          <p:nvPr/>
        </p:nvSpPr>
        <p:spPr>
          <a:xfrm>
            <a:off x="1463040" y="344728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以体育健身为核心、与自然生态融合，绿化用地占比不低于65%</a:t>
            </a:r>
            <a:endParaRPr lang="en-US" sz="900" dirty="0"/>
          </a:p>
        </p:txBody>
      </p:sp>
      <p:sp>
        <p:nvSpPr>
          <p:cNvPr id="23" name="Shape 21"/>
          <p:cNvSpPr/>
          <p:nvPr/>
        </p:nvSpPr>
        <p:spPr>
          <a:xfrm>
            <a:off x="457200" y="3995928"/>
            <a:ext cx="868680" cy="384048"/>
          </a:xfrm>
          <a:prstGeom prst="rect">
            <a:avLst/>
          </a:prstGeom>
          <a:solidFill>
            <a:srgbClr val="E07B2A"/>
          </a:solidFill>
          <a:ln w="12700">
            <a:solidFill>
              <a:srgbClr val="E07B2A"/>
            </a:solidFill>
            <a:prstDash val="solid"/>
          </a:ln>
        </p:spPr>
      </p:sp>
      <p:sp>
        <p:nvSpPr>
          <p:cNvPr id="24" name="Text 22"/>
          <p:cNvSpPr txBox="1"/>
          <p:nvPr/>
        </p:nvSpPr>
        <p:spPr>
          <a:xfrm>
            <a:off x="457200" y="399592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地方规划</a:t>
            </a:r>
            <a:endParaRPr lang="en-US" sz="950" dirty="0"/>
          </a:p>
        </p:txBody>
      </p:sp>
      <p:sp>
        <p:nvSpPr>
          <p:cNvPr id="25" name="Text 23"/>
          <p:cNvSpPr txBox="1"/>
          <p:nvPr/>
        </p:nvSpPr>
        <p:spPr>
          <a:xfrm>
            <a:off x="1463040" y="388620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《仁寿县国土空间总体规划(2021-2035)》</a:t>
            </a:r>
            <a:endParaRPr lang="en-US" sz="1050" dirty="0"/>
          </a:p>
        </p:txBody>
      </p:sp>
      <p:sp>
        <p:nvSpPr>
          <p:cNvPr id="26" name="Text 24"/>
          <p:cNvSpPr txBox="1"/>
          <p:nvPr/>
        </p:nvSpPr>
        <p:spPr>
          <a:xfrm>
            <a:off x="1463040" y="417880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城北新城“三生融合、公园城市”目标，完善居住区集中绿地布局</a:t>
            </a:r>
            <a:endParaRPr lang="en-US" sz="900" dirty="0"/>
          </a:p>
        </p:txBody>
      </p:sp>
      <p:pic>
        <p:nvPicPr>
          <p:cNvPr id="27" name="Image 0" descr="/home/user/lxfs/pptx_build/figs/x_bar.jpg">    </p:cNvPr>
          <p:cNvPicPr>
            <a:picLocks noChangeAspect="1"/>
          </p:cNvPicPr>
          <p:nvPr/>
        </p:nvPicPr>
        <p:blipFill>
          <a:blip r:embed="rId1"/>
          <a:stretch>
            <a:fillRect/>
          </a:stretch>
        </p:blipFill>
        <p:spPr>
          <a:xfrm>
            <a:off x="6035040" y="932688"/>
            <a:ext cx="1325880" cy="885688"/>
          </a:xfrm>
          <a:prstGeom prst="rect">
            <a:avLst/>
          </a:prstGeom>
        </p:spPr>
      </p:pic>
      <p:pic>
        <p:nvPicPr>
          <p:cNvPr id="28" name="Image 1" descr="/home/user/lxfs/pptx_build/figs/x_tennis.jpg">    </p:cNvPr>
          <p:cNvPicPr>
            <a:picLocks noChangeAspect="1"/>
          </p:cNvPicPr>
          <p:nvPr/>
        </p:nvPicPr>
        <p:blipFill>
          <a:blip r:embed="rId2"/>
          <a:stretch>
            <a:fillRect/>
          </a:stretch>
        </p:blipFill>
        <p:spPr>
          <a:xfrm>
            <a:off x="7599343" y="932688"/>
            <a:ext cx="1123355" cy="1691640"/>
          </a:xfrm>
          <a:prstGeom prst="rect">
            <a:avLst/>
          </a:prstGeom>
        </p:spPr>
      </p:pic>
      <p:pic>
        <p:nvPicPr>
          <p:cNvPr id="29" name="Image 2" descr="/home/user/lxfs/pptx_build/figs/x_kites.jpg">    </p:cNvPr>
          <p:cNvPicPr>
            <a:picLocks noChangeAspect="1"/>
          </p:cNvPicPr>
          <p:nvPr/>
        </p:nvPicPr>
        <p:blipFill>
          <a:blip r:embed="rId3"/>
          <a:stretch>
            <a:fillRect/>
          </a:stretch>
        </p:blipFill>
        <p:spPr>
          <a:xfrm>
            <a:off x="6162015" y="2788920"/>
            <a:ext cx="2534970" cy="1600200"/>
          </a:xfrm>
          <a:prstGeom prst="rect">
            <a:avLst/>
          </a:prstGeom>
        </p:spPr>
      </p:pic>
      <p:sp>
        <p:nvSpPr>
          <p:cNvPr id="30" name="Text 25"/>
          <p:cNvSpPr txBox="1"/>
          <p:nvPr/>
        </p:nvSpPr>
        <p:spPr>
          <a:xfrm>
            <a:off x="6035040" y="4407408"/>
            <a:ext cx="27889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户外健身与社区绿地（示意照片）</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选题背景——人口结构与地方需求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05</a:t>
            </a:r>
            <a:endParaRPr lang="en-US" sz="900" dirty="0"/>
          </a:p>
        </p:txBody>
      </p:sp>
      <p:graphicFrame>
        <p:nvGraphicFramePr>
          <p:cNvPr id="7" name="Chart 0" descr=""/>
          <p:cNvGraphicFramePr/>
          <p:nvPr/>
        </p:nvGraphicFramePr>
        <p:xfrm>
          <a:off x="411480" y="91440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577840" y="914400"/>
            <a:ext cx="3246120" cy="1143000"/>
          </a:xfrm>
          <a:prstGeom prst="rect">
            <a:avLst/>
          </a:prstGeom>
          <a:solidFill>
            <a:srgbClr val="EEF2F8"/>
          </a:solidFill>
          <a:ln w="12700">
            <a:solidFill>
              <a:srgbClr val="EEF2F8"/>
            </a:solidFill>
            <a:prstDash val="solid"/>
          </a:ln>
        </p:spPr>
      </p:sp>
      <p:sp>
        <p:nvSpPr>
          <p:cNvPr id="9" name="Text 6"/>
          <p:cNvSpPr txBox="1"/>
          <p:nvPr/>
        </p:nvSpPr>
        <p:spPr>
          <a:xfrm>
            <a:off x="5715000" y="94183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仁寿县人口特征（2020年七普）</a:t>
            </a:r>
            <a:endParaRPr lang="en-US" sz="1000" dirty="0"/>
          </a:p>
        </p:txBody>
      </p:sp>
      <p:sp>
        <p:nvSpPr>
          <p:cNvPr id="10" name="Text 7"/>
          <p:cNvSpPr txBox="1"/>
          <p:nvPr/>
        </p:nvSpPr>
        <p:spPr>
          <a:xfrm>
            <a:off x="5669280" y="117043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常住人口111.0万人。60岁及以上占26.56%，65岁及以上占21.94%，分别高于全国7.86和8.44个百分点，已进入深度老龄化；0-14岁占15.31%。老年康养与亲子游憩需求突出。</a:t>
            </a:r>
            <a:endParaRPr lang="en-US" sz="800" dirty="0"/>
          </a:p>
        </p:txBody>
      </p:sp>
      <p:sp>
        <p:nvSpPr>
          <p:cNvPr id="11" name="Shape 8"/>
          <p:cNvSpPr/>
          <p:nvPr/>
        </p:nvSpPr>
        <p:spPr>
          <a:xfrm>
            <a:off x="5577840" y="2148840"/>
            <a:ext cx="3246120" cy="1143000"/>
          </a:xfrm>
          <a:prstGeom prst="rect">
            <a:avLst/>
          </a:prstGeom>
          <a:solidFill>
            <a:srgbClr val="EEF2F8"/>
          </a:solidFill>
          <a:ln w="12700">
            <a:solidFill>
              <a:srgbClr val="EEF2F8"/>
            </a:solidFill>
            <a:prstDash val="solid"/>
          </a:ln>
        </p:spPr>
      </p:sp>
      <p:sp>
        <p:nvSpPr>
          <p:cNvPr id="12" name="Text 9"/>
          <p:cNvSpPr txBox="1"/>
          <p:nvPr/>
        </p:nvSpPr>
        <p:spPr>
          <a:xfrm>
            <a:off x="5715000" y="217627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城北新城现状问题</a:t>
            </a:r>
            <a:endParaRPr lang="en-US" sz="1000" dirty="0"/>
          </a:p>
        </p:txBody>
      </p:sp>
      <p:sp>
        <p:nvSpPr>
          <p:cNvPr id="13" name="Text 10"/>
          <p:cNvSpPr txBox="1"/>
          <p:nvPr/>
        </p:nvSpPr>
        <p:spPr>
          <a:xfrm>
            <a:off x="5669280" y="240487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成德眉资同城化片区，仁寿向北拓展核心宜居板块；大量商品住宅集中落地，居住密度持续提升。配套逐步完善，但集中型公共休闲绿地供给严重不足，缺少服务全龄、兼具生态运动休闲社交功能的综合公园。</a:t>
            </a:r>
            <a:endParaRPr lang="en-US" sz="800" dirty="0"/>
          </a:p>
        </p:txBody>
      </p:sp>
      <p:pic>
        <p:nvPicPr>
          <p:cNvPr id="14" name="Image 0" descr="/home/user/lxfs/pptx_build/figs/site_1.jpg">    </p:cNvPr>
          <p:cNvPicPr>
            <a:picLocks noChangeAspect="1"/>
          </p:cNvPicPr>
          <p:nvPr/>
        </p:nvPicPr>
        <p:blipFill>
          <a:blip r:embed="rId2"/>
          <a:stretch>
            <a:fillRect/>
          </a:stretch>
        </p:blipFill>
        <p:spPr>
          <a:xfrm>
            <a:off x="5577840" y="3383280"/>
            <a:ext cx="1572768" cy="892243"/>
          </a:xfrm>
          <a:prstGeom prst="rect">
            <a:avLst/>
          </a:prstGeom>
        </p:spPr>
      </p:pic>
      <p:pic>
        <p:nvPicPr>
          <p:cNvPr id="15" name="Image 1" descr="/home/user/lxfs/pptx_build/figs/site_3.jpg">    </p:cNvPr>
          <p:cNvPicPr>
            <a:picLocks noChangeAspect="1"/>
          </p:cNvPicPr>
          <p:nvPr/>
        </p:nvPicPr>
        <p:blipFill>
          <a:blip r:embed="rId3"/>
          <a:stretch>
            <a:fillRect/>
          </a:stretch>
        </p:blipFill>
        <p:spPr>
          <a:xfrm>
            <a:off x="7251192" y="3383280"/>
            <a:ext cx="1572768" cy="899442"/>
          </a:xfrm>
          <a:prstGeom prst="rect">
            <a:avLst/>
          </a:prstGeom>
        </p:spPr>
      </p:pic>
      <p:sp>
        <p:nvSpPr>
          <p:cNvPr id="16" name="Text 11"/>
          <p:cNvSpPr txBox="1"/>
          <p:nvPr/>
        </p:nvSpPr>
        <p:spPr>
          <a:xfrm>
            <a:off x="5577840" y="4315968"/>
            <a:ext cx="324612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城北新城场地周边现状</a:t>
            </a:r>
            <a:endParaRPr lang="en-US" sz="750" dirty="0"/>
          </a:p>
        </p:txBody>
      </p:sp>
      <p:sp>
        <p:nvSpPr>
          <p:cNvPr id="17" name="Text 12"/>
          <p:cNvSpPr txBox="1"/>
          <p:nvPr/>
        </p:nvSpPr>
        <p:spPr>
          <a:xfrm>
            <a:off x="457200" y="4206240"/>
            <a:ext cx="4937760" cy="50292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数据来源：国家统计局《第七次全国人口普查公报（第五号）》；四川省统计局《四川省第七次全国人口普查公报（第四号）》；仁寿县人民政府《仁寿县第七次全国人口普查公报（第三号）》。</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Purpose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1.2 研究目的</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06</a:t>
            </a:r>
            <a:endParaRPr lang="en-US" sz="900" dirty="0"/>
          </a:p>
        </p:txBody>
      </p:sp>
      <p:pic>
        <p:nvPicPr>
          <p:cNvPr id="7" name="Image 0" descr="/home/user/lxfs/pptx_build/figs/x_kites.jpg">    </p:cNvPr>
          <p:cNvPicPr>
            <a:picLocks noChangeAspect="1"/>
          </p:cNvPicPr>
          <p:nvPr/>
        </p:nvPicPr>
        <p:blipFill>
          <a:blip r:embed="rId1"/>
          <a:stretch>
            <a:fillRect/>
          </a:stretch>
        </p:blipFill>
        <p:spPr>
          <a:xfrm>
            <a:off x="457200" y="932688"/>
            <a:ext cx="2697480" cy="1702784"/>
          </a:xfrm>
          <a:prstGeom prst="rect">
            <a:avLst/>
          </a:prstGeom>
        </p:spPr>
      </p:pic>
      <p:sp>
        <p:nvSpPr>
          <p:cNvPr id="8" name="Shape 5"/>
          <p:cNvSpPr/>
          <p:nvPr/>
        </p:nvSpPr>
        <p:spPr>
          <a:xfrm>
            <a:off x="457200" y="2086832"/>
            <a:ext cx="2697480" cy="548640"/>
          </a:xfrm>
          <a:prstGeom prst="rect">
            <a:avLst/>
          </a:prstGeom>
          <a:solidFill>
            <a:srgbClr val="1F3F7A">
              <a:alpha val="75000"/>
            </a:srgbClr>
          </a:solidFill>
          <a:ln w="12700">
            <a:solidFill>
              <a:srgbClr val="1F3F7A"/>
            </a:solidFill>
            <a:prstDash val="solid"/>
          </a:ln>
        </p:spPr>
      </p:sp>
      <p:sp>
        <p:nvSpPr>
          <p:cNvPr id="9" name="Text 6"/>
          <p:cNvSpPr txBox="1"/>
          <p:nvPr/>
        </p:nvSpPr>
        <p:spPr>
          <a:xfrm>
            <a:off x="512064" y="2086832"/>
            <a:ext cx="2587752"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营造适配全龄人群的多元运动游憩空间</a:t>
            </a:r>
            <a:endParaRPr lang="en-US" sz="900" dirty="0"/>
          </a:p>
        </p:txBody>
      </p:sp>
      <p:sp>
        <p:nvSpPr>
          <p:cNvPr id="10" name="Shape 7"/>
          <p:cNvSpPr/>
          <p:nvPr/>
        </p:nvSpPr>
        <p:spPr>
          <a:xfrm>
            <a:off x="548640" y="2880360"/>
            <a:ext cx="329184" cy="329184"/>
          </a:xfrm>
          <a:prstGeom prst="ellipse">
            <a:avLst/>
          </a:prstGeom>
          <a:solidFill>
            <a:srgbClr val="E07B2A"/>
          </a:solidFill>
          <a:ln w="12700">
            <a:solidFill>
              <a:srgbClr val="E07B2A"/>
            </a:solidFill>
            <a:prstDash val="solid"/>
          </a:ln>
        </p:spPr>
      </p:sp>
      <p:sp>
        <p:nvSpPr>
          <p:cNvPr id="11" name="Text 8"/>
          <p:cNvSpPr txBox="1"/>
          <p:nvPr/>
        </p:nvSpPr>
        <p:spPr>
          <a:xfrm>
            <a:off x="54864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96012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全龄游憩</a:t>
            </a:r>
            <a:endParaRPr lang="en-US" sz="1100" dirty="0"/>
          </a:p>
        </p:txBody>
      </p:sp>
      <p:sp>
        <p:nvSpPr>
          <p:cNvPr id="13" name="Shape 10"/>
          <p:cNvSpPr/>
          <p:nvPr/>
        </p:nvSpPr>
        <p:spPr>
          <a:xfrm>
            <a:off x="457200" y="3291840"/>
            <a:ext cx="2697480" cy="1463040"/>
          </a:xfrm>
          <a:prstGeom prst="rect">
            <a:avLst/>
          </a:prstGeom>
          <a:solidFill>
            <a:srgbClr val="EEF2F8"/>
          </a:solidFill>
          <a:ln w="12700">
            <a:solidFill>
              <a:srgbClr val="EEF2F8"/>
            </a:solidFill>
            <a:prstDash val="solid"/>
          </a:ln>
        </p:spPr>
      </p:sp>
      <p:sp>
        <p:nvSpPr>
          <p:cNvPr id="14" name="Text 11"/>
          <p:cNvSpPr txBox="1"/>
          <p:nvPr/>
        </p:nvSpPr>
        <p:spPr>
          <a:xfrm>
            <a:off x="53035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立足全民健康发展背景，针对仁寿城北新城居住区户外健身场地不足的现实问题，结合场地现状条件，打造融合生态缓冲、运动健身、亲子游乐、邻里社交、乡土科普功能的公园空间，满足周边不同年龄居民日常健身休闲与社交活动需求。</a:t>
            </a:r>
            <a:endParaRPr lang="en-US" sz="850" dirty="0"/>
          </a:p>
        </p:txBody>
      </p:sp>
      <p:pic>
        <p:nvPicPr>
          <p:cNvPr id="15" name="Image 1" descr="/home/user/lxfs/pptx_build/figs/x_lake.jpg">    </p:cNvPr>
          <p:cNvPicPr>
            <a:picLocks noChangeAspect="1"/>
          </p:cNvPicPr>
          <p:nvPr/>
        </p:nvPicPr>
        <p:blipFill>
          <a:blip r:embed="rId2"/>
          <a:stretch>
            <a:fillRect/>
          </a:stretch>
        </p:blipFill>
        <p:spPr>
          <a:xfrm>
            <a:off x="3434248" y="932688"/>
            <a:ext cx="2412665" cy="1828800"/>
          </a:xfrm>
          <a:prstGeom prst="rect">
            <a:avLst/>
          </a:prstGeom>
        </p:spPr>
      </p:pic>
      <p:sp>
        <p:nvSpPr>
          <p:cNvPr id="16" name="Shape 12"/>
          <p:cNvSpPr/>
          <p:nvPr/>
        </p:nvSpPr>
        <p:spPr>
          <a:xfrm>
            <a:off x="3434248" y="2212848"/>
            <a:ext cx="2412665" cy="548640"/>
          </a:xfrm>
          <a:prstGeom prst="rect">
            <a:avLst/>
          </a:prstGeom>
          <a:solidFill>
            <a:srgbClr val="E07B2A">
              <a:alpha val="75000"/>
            </a:srgbClr>
          </a:solidFill>
          <a:ln w="12700">
            <a:solidFill>
              <a:srgbClr val="E07B2A"/>
            </a:solidFill>
            <a:prstDash val="solid"/>
          </a:ln>
        </p:spPr>
      </p:sp>
      <p:sp>
        <p:nvSpPr>
          <p:cNvPr id="17" name="Text 13"/>
          <p:cNvSpPr txBox="1"/>
          <p:nvPr/>
        </p:nvSpPr>
        <p:spPr>
          <a:xfrm>
            <a:off x="3489112" y="2212848"/>
            <a:ext cx="2302937"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形成多目标统筹的可落地综合规划方案</a:t>
            </a:r>
            <a:endParaRPr lang="en-US" sz="900" dirty="0"/>
          </a:p>
        </p:txBody>
      </p:sp>
      <p:sp>
        <p:nvSpPr>
          <p:cNvPr id="18" name="Shape 14"/>
          <p:cNvSpPr/>
          <p:nvPr/>
        </p:nvSpPr>
        <p:spPr>
          <a:xfrm>
            <a:off x="3383280" y="2880360"/>
            <a:ext cx="329184" cy="329184"/>
          </a:xfrm>
          <a:prstGeom prst="ellipse">
            <a:avLst/>
          </a:prstGeom>
          <a:solidFill>
            <a:srgbClr val="E07B2A"/>
          </a:solidFill>
          <a:ln w="12700">
            <a:solidFill>
              <a:srgbClr val="E07B2A"/>
            </a:solidFill>
            <a:prstDash val="solid"/>
          </a:ln>
        </p:spPr>
      </p:sp>
      <p:sp>
        <p:nvSpPr>
          <p:cNvPr id="19" name="Text 15"/>
          <p:cNvSpPr txBox="1"/>
          <p:nvPr/>
        </p:nvSpPr>
        <p:spPr>
          <a:xfrm>
            <a:off x="338328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0" name="Text 16"/>
          <p:cNvSpPr txBox="1"/>
          <p:nvPr/>
        </p:nvSpPr>
        <p:spPr>
          <a:xfrm>
            <a:off x="379476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综合规划</a:t>
            </a:r>
            <a:endParaRPr lang="en-US" sz="1100" dirty="0"/>
          </a:p>
        </p:txBody>
      </p:sp>
      <p:sp>
        <p:nvSpPr>
          <p:cNvPr id="21" name="Shape 17"/>
          <p:cNvSpPr/>
          <p:nvPr/>
        </p:nvSpPr>
        <p:spPr>
          <a:xfrm>
            <a:off x="3291840" y="3291840"/>
            <a:ext cx="2697480" cy="1463040"/>
          </a:xfrm>
          <a:prstGeom prst="rect">
            <a:avLst/>
          </a:prstGeom>
          <a:solidFill>
            <a:srgbClr val="EEF2F8"/>
          </a:solidFill>
          <a:ln w="12700">
            <a:solidFill>
              <a:srgbClr val="EEF2F8"/>
            </a:solidFill>
            <a:prstDash val="solid"/>
          </a:ln>
        </p:spPr>
      </p:sp>
      <p:sp>
        <p:nvSpPr>
          <p:cNvPr id="22" name="Text 18"/>
          <p:cNvSpPr txBox="1"/>
          <p:nvPr/>
        </p:nvSpPr>
        <p:spPr>
          <a:xfrm>
            <a:off x="336499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统筹城市主干道噪声防护、全龄活动场地布置、海绵雨水调蓄、乡土植物群落营造四大核心功能，形成兼顾生态效益、民生需求、建设成本的可落地方案；以城北新城8.6公顷闲置绿地为实践载体，为川南同类新建居住区集中绿地、体育公园建设提供参考案例。</a:t>
            </a:r>
            <a:endParaRPr lang="en-US" sz="850" dirty="0"/>
          </a:p>
        </p:txBody>
      </p:sp>
      <p:pic>
        <p:nvPicPr>
          <p:cNvPr id="23" name="Image 2" descr="/home/user/lxfs/pptx_build/figs/x_alp.jpg">    </p:cNvPr>
          <p:cNvPicPr>
            <a:picLocks noChangeAspect="1"/>
          </p:cNvPicPr>
          <p:nvPr/>
        </p:nvPicPr>
        <p:blipFill>
          <a:blip r:embed="rId3"/>
          <a:stretch>
            <a:fillRect/>
          </a:stretch>
        </p:blipFill>
        <p:spPr>
          <a:xfrm>
            <a:off x="6256020" y="932688"/>
            <a:ext cx="2438400" cy="1828800"/>
          </a:xfrm>
          <a:prstGeom prst="rect">
            <a:avLst/>
          </a:prstGeom>
        </p:spPr>
      </p:pic>
      <p:sp>
        <p:nvSpPr>
          <p:cNvPr id="24" name="Shape 19"/>
          <p:cNvSpPr/>
          <p:nvPr/>
        </p:nvSpPr>
        <p:spPr>
          <a:xfrm>
            <a:off x="6256020" y="2212848"/>
            <a:ext cx="2438400" cy="548640"/>
          </a:xfrm>
          <a:prstGeom prst="rect">
            <a:avLst/>
          </a:prstGeom>
          <a:solidFill>
            <a:srgbClr val="4E8A3E">
              <a:alpha val="75000"/>
            </a:srgbClr>
          </a:solidFill>
          <a:ln w="12700">
            <a:solidFill>
              <a:srgbClr val="4E8A3E"/>
            </a:solidFill>
            <a:prstDash val="solid"/>
          </a:ln>
        </p:spPr>
      </p:sp>
      <p:sp>
        <p:nvSpPr>
          <p:cNvPr id="25" name="Text 20"/>
          <p:cNvSpPr txBox="1"/>
          <p:nvPr/>
        </p:nvSpPr>
        <p:spPr>
          <a:xfrm>
            <a:off x="6310884" y="2212848"/>
            <a:ext cx="2328672"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探索适用于西南城市的体育公园景观营造方法</a:t>
            </a:r>
            <a:endParaRPr lang="en-US" sz="900" dirty="0"/>
          </a:p>
        </p:txBody>
      </p:sp>
      <p:sp>
        <p:nvSpPr>
          <p:cNvPr id="26" name="Shape 21"/>
          <p:cNvSpPr/>
          <p:nvPr/>
        </p:nvSpPr>
        <p:spPr>
          <a:xfrm>
            <a:off x="6217920" y="2880360"/>
            <a:ext cx="329184" cy="329184"/>
          </a:xfrm>
          <a:prstGeom prst="ellipse">
            <a:avLst/>
          </a:prstGeom>
          <a:solidFill>
            <a:srgbClr val="E07B2A"/>
          </a:solidFill>
          <a:ln w="12700">
            <a:solidFill>
              <a:srgbClr val="E07B2A"/>
            </a:solidFill>
            <a:prstDash val="solid"/>
          </a:ln>
        </p:spPr>
      </p:sp>
      <p:sp>
        <p:nvSpPr>
          <p:cNvPr id="27" name="Text 22"/>
          <p:cNvSpPr txBox="1"/>
          <p:nvPr/>
        </p:nvSpPr>
        <p:spPr>
          <a:xfrm>
            <a:off x="621792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8" name="Text 23"/>
          <p:cNvSpPr txBox="1"/>
          <p:nvPr/>
        </p:nvSpPr>
        <p:spPr>
          <a:xfrm>
            <a:off x="662940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地域营造</a:t>
            </a:r>
            <a:endParaRPr lang="en-US" sz="1100" dirty="0"/>
          </a:p>
        </p:txBody>
      </p:sp>
      <p:sp>
        <p:nvSpPr>
          <p:cNvPr id="29" name="Shape 24"/>
          <p:cNvSpPr/>
          <p:nvPr/>
        </p:nvSpPr>
        <p:spPr>
          <a:xfrm>
            <a:off x="6126480" y="3291840"/>
            <a:ext cx="2697480" cy="1463040"/>
          </a:xfrm>
          <a:prstGeom prst="rect">
            <a:avLst/>
          </a:prstGeom>
          <a:solidFill>
            <a:srgbClr val="EEF2F8"/>
          </a:solidFill>
          <a:ln w="12700">
            <a:solidFill>
              <a:srgbClr val="EEF2F8"/>
            </a:solidFill>
            <a:prstDash val="solid"/>
          </a:ln>
        </p:spPr>
      </p:sp>
      <p:sp>
        <p:nvSpPr>
          <p:cNvPr id="30" name="Text 25"/>
          <p:cNvSpPr txBox="1"/>
          <p:nvPr/>
        </p:nvSpPr>
        <p:spPr>
          <a:xfrm>
            <a:off x="619963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结合西南地区丘陵地貌、亚热带气候特征以及山地城市建设特点，充分运用乡土植物、海绵设施与低维护景观材料，构建适应性强、易管理、生态效益显著的运动景观环境，探索适合西南山地城市体育公园建设的景观营造思路。</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Significance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1.3 研究意义</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07</a:t>
            </a:r>
            <a:endParaRPr lang="en-US" sz="900" dirty="0"/>
          </a:p>
        </p:txBody>
      </p:sp>
      <p:sp>
        <p:nvSpPr>
          <p:cNvPr id="7" name="Shape 5"/>
          <p:cNvSpPr/>
          <p:nvPr/>
        </p:nvSpPr>
        <p:spPr>
          <a:xfrm>
            <a:off x="457200" y="914400"/>
            <a:ext cx="2148840" cy="502920"/>
          </a:xfrm>
          <a:prstGeom prst="rect">
            <a:avLst/>
          </a:prstGeom>
          <a:solidFill>
            <a:srgbClr val="E6E8DF"/>
          </a:solidFill>
          <a:ln w="12700">
            <a:solidFill>
              <a:srgbClr val="E6E8DF"/>
            </a:solidFill>
            <a:prstDash val="solid"/>
          </a:ln>
        </p:spPr>
      </p:sp>
      <p:sp>
        <p:nvSpPr>
          <p:cNvPr id="8" name="Text 6"/>
          <p:cNvSpPr txBox="1"/>
          <p:nvPr/>
        </p:nvSpPr>
        <p:spPr>
          <a:xfrm>
            <a:off x="45720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“预防疾病”</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Prevent illness</a:t>
            </a:r>
            <a:endParaRPr lang="en-US" sz="1200" dirty="0"/>
          </a:p>
        </p:txBody>
      </p:sp>
      <p:sp>
        <p:nvSpPr>
          <p:cNvPr id="9" name="Shape 7"/>
          <p:cNvSpPr/>
          <p:nvPr/>
        </p:nvSpPr>
        <p:spPr>
          <a:xfrm>
            <a:off x="457200" y="1536192"/>
            <a:ext cx="2148840" cy="502920"/>
          </a:xfrm>
          <a:prstGeom prst="rect">
            <a:avLst/>
          </a:prstGeom>
          <a:solidFill>
            <a:srgbClr val="E6E8DF"/>
          </a:solidFill>
          <a:ln w="12700">
            <a:solidFill>
              <a:srgbClr val="E6E8DF"/>
            </a:solidFill>
            <a:prstDash val="solid"/>
          </a:ln>
        </p:spPr>
      </p:sp>
      <p:sp>
        <p:nvSpPr>
          <p:cNvPr id="10" name="Text 8"/>
          <p:cNvSpPr txBox="1"/>
          <p:nvPr/>
        </p:nvSpPr>
        <p:spPr>
          <a:xfrm>
            <a:off x="45720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“改善心理”</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Improve psychological health</a:t>
            </a:r>
            <a:endParaRPr lang="en-US" sz="1200" dirty="0"/>
          </a:p>
        </p:txBody>
      </p:sp>
      <p:sp>
        <p:nvSpPr>
          <p:cNvPr id="11" name="Shape 9"/>
          <p:cNvSpPr/>
          <p:nvPr/>
        </p:nvSpPr>
        <p:spPr>
          <a:xfrm>
            <a:off x="457200" y="2157984"/>
            <a:ext cx="2148840" cy="502920"/>
          </a:xfrm>
          <a:prstGeom prst="rect">
            <a:avLst/>
          </a:prstGeom>
          <a:solidFill>
            <a:srgbClr val="E6E8DF"/>
          </a:solidFill>
          <a:ln w="12700">
            <a:solidFill>
              <a:srgbClr val="E6E8DF"/>
            </a:solidFill>
            <a:prstDash val="solid"/>
          </a:ln>
        </p:spPr>
      </p:sp>
      <p:sp>
        <p:nvSpPr>
          <p:cNvPr id="12" name="Text 10"/>
          <p:cNvSpPr txBox="1"/>
          <p:nvPr/>
        </p:nvSpPr>
        <p:spPr>
          <a:xfrm>
            <a:off x="45720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“调节身心”</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Adjust body and mind</a:t>
            </a:r>
            <a:endParaRPr lang="en-US" sz="1200" dirty="0"/>
          </a:p>
        </p:txBody>
      </p:sp>
      <p:sp>
        <p:nvSpPr>
          <p:cNvPr id="13" name="Shape 11"/>
          <p:cNvSpPr/>
          <p:nvPr/>
        </p:nvSpPr>
        <p:spPr>
          <a:xfrm>
            <a:off x="6675120" y="914400"/>
            <a:ext cx="2148840" cy="502920"/>
          </a:xfrm>
          <a:prstGeom prst="rect">
            <a:avLst/>
          </a:prstGeom>
          <a:solidFill>
            <a:srgbClr val="E6E8DF"/>
          </a:solidFill>
          <a:ln w="12700">
            <a:solidFill>
              <a:srgbClr val="E6E8DF"/>
            </a:solidFill>
            <a:prstDash val="solid"/>
          </a:ln>
        </p:spPr>
      </p:sp>
      <p:sp>
        <p:nvSpPr>
          <p:cNvPr id="14" name="Text 12"/>
          <p:cNvSpPr txBox="1"/>
          <p:nvPr/>
        </p:nvSpPr>
        <p:spPr>
          <a:xfrm>
            <a:off x="667512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“老年康养”</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Health care for the aged</a:t>
            </a:r>
            <a:endParaRPr lang="en-US" sz="1200" dirty="0"/>
          </a:p>
        </p:txBody>
      </p:sp>
      <p:sp>
        <p:nvSpPr>
          <p:cNvPr id="15" name="Shape 13"/>
          <p:cNvSpPr/>
          <p:nvPr/>
        </p:nvSpPr>
        <p:spPr>
          <a:xfrm>
            <a:off x="6675120" y="1536192"/>
            <a:ext cx="2148840" cy="502920"/>
          </a:xfrm>
          <a:prstGeom prst="rect">
            <a:avLst/>
          </a:prstGeom>
          <a:solidFill>
            <a:srgbClr val="E6E8DF"/>
          </a:solidFill>
          <a:ln w="12700">
            <a:solidFill>
              <a:srgbClr val="E6E8DF"/>
            </a:solidFill>
            <a:prstDash val="solid"/>
          </a:ln>
        </p:spPr>
      </p:sp>
      <p:sp>
        <p:nvSpPr>
          <p:cNvPr id="16" name="Text 14"/>
          <p:cNvSpPr txBox="1"/>
          <p:nvPr/>
        </p:nvSpPr>
        <p:spPr>
          <a:xfrm>
            <a:off x="667512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“社区运动”</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Community sports</a:t>
            </a:r>
            <a:endParaRPr lang="en-US" sz="1200" dirty="0"/>
          </a:p>
        </p:txBody>
      </p:sp>
      <p:sp>
        <p:nvSpPr>
          <p:cNvPr id="17" name="Shape 15"/>
          <p:cNvSpPr/>
          <p:nvPr/>
        </p:nvSpPr>
        <p:spPr>
          <a:xfrm>
            <a:off x="6675120" y="2157984"/>
            <a:ext cx="2148840" cy="502920"/>
          </a:xfrm>
          <a:prstGeom prst="rect">
            <a:avLst/>
          </a:prstGeom>
          <a:solidFill>
            <a:srgbClr val="E6E8DF"/>
          </a:solidFill>
          <a:ln w="12700">
            <a:solidFill>
              <a:srgbClr val="E6E8DF"/>
            </a:solidFill>
            <a:prstDash val="solid"/>
          </a:ln>
        </p:spPr>
      </p:sp>
      <p:sp>
        <p:nvSpPr>
          <p:cNvPr id="18" name="Text 16"/>
          <p:cNvSpPr txBox="1"/>
          <p:nvPr/>
        </p:nvSpPr>
        <p:spPr>
          <a:xfrm>
            <a:off x="667512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“邻里社交”</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Neighborhood interaction</a:t>
            </a:r>
            <a:endParaRPr lang="en-US" sz="1200" dirty="0"/>
          </a:p>
        </p:txBody>
      </p:sp>
      <p:sp>
        <p:nvSpPr>
          <p:cNvPr id="19" name="Text 17"/>
          <p:cNvSpPr txBox="1"/>
          <p:nvPr/>
        </p:nvSpPr>
        <p:spPr>
          <a:xfrm>
            <a:off x="2743200" y="96012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第一阶段：疗愈亚健康人群身心</a:t>
            </a:r>
            <a:endParaRPr lang="en-US" sz="1400" dirty="0"/>
          </a:p>
        </p:txBody>
      </p:sp>
      <p:sp>
        <p:nvSpPr>
          <p:cNvPr id="20" name="Text 18"/>
          <p:cNvSpPr txBox="1"/>
          <p:nvPr/>
        </p:nvSpPr>
        <p:spPr>
          <a:xfrm>
            <a:off x="2743200" y="214884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第二阶段：全龄健身·康养·社交</a:t>
            </a:r>
            <a:endParaRPr lang="en-US" sz="1400" dirty="0"/>
          </a:p>
        </p:txBody>
      </p:sp>
      <p:sp>
        <p:nvSpPr>
          <p:cNvPr id="21" name="Shape 19"/>
          <p:cNvSpPr/>
          <p:nvPr/>
        </p:nvSpPr>
        <p:spPr>
          <a:xfrm>
            <a:off x="3108960" y="1828800"/>
            <a:ext cx="3063240" cy="0"/>
          </a:xfrm>
          <a:prstGeom prst="line">
            <a:avLst/>
          </a:prstGeom>
          <a:noFill/>
          <a:ln w="9525">
            <a:solidFill>
              <a:srgbClr val="A9B4CC"/>
            </a:solidFill>
            <a:prstDash val="dash"/>
          </a:ln>
        </p:spPr>
      </p:sp>
      <p:pic>
        <p:nvPicPr>
          <p:cNvPr id="22" name="Image 0" descr="/home/user/lxfs/pptx_build/figs/x_people_band.png">    </p:cNvPr>
          <p:cNvPicPr>
            <a:picLocks noChangeAspect="1"/>
          </p:cNvPicPr>
          <p:nvPr/>
        </p:nvPicPr>
        <p:blipFill>
          <a:blip r:embed="rId1"/>
          <a:stretch>
            <a:fillRect/>
          </a:stretch>
        </p:blipFill>
        <p:spPr>
          <a:xfrm>
            <a:off x="457200" y="2788920"/>
            <a:ext cx="8366760" cy="853249"/>
          </a:xfrm>
          <a:prstGeom prst="rect">
            <a:avLst/>
          </a:prstGeom>
        </p:spPr>
      </p:pic>
      <p:sp>
        <p:nvSpPr>
          <p:cNvPr id="23" name="Text 20"/>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随着国家发展和社会进步，健康观念已深入人心，要让居民认识到体育公园的重要性并积极走入公园运动。理论上，本研究丰富川南县域新城高密度居住区体育公园设计研究；实践上，城市层面盘活闲置绿地、补齐城北新城体育设施短板，民生层面满足全龄康养、游乐、运动、社交需求，生态层面削弱主干道噪声粉尘、缓解热岛效应，实现全民健康是本次设计的主要意义。</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Technical Route and Methods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1.4 技术路线与研究方法</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08</a:t>
            </a:r>
            <a:endParaRPr lang="en-US" sz="900" dirty="0"/>
          </a:p>
        </p:txBody>
      </p:sp>
      <p:pic>
        <p:nvPicPr>
          <p:cNvPr id="7" name="Image 0" descr="/home/user/lxfs/pptx_build/figs/route.jpg">    </p:cNvPr>
          <p:cNvPicPr>
            <a:picLocks noChangeAspect="1"/>
          </p:cNvPicPr>
          <p:nvPr/>
        </p:nvPicPr>
        <p:blipFill>
          <a:blip r:embed="rId1"/>
          <a:stretch>
            <a:fillRect/>
          </a:stretch>
        </p:blipFill>
        <p:spPr>
          <a:xfrm>
            <a:off x="411480" y="896112"/>
            <a:ext cx="3703320" cy="3913632"/>
          </a:xfrm>
          <a:prstGeom prst="rect">
            <a:avLst/>
          </a:prstGeom>
        </p:spPr>
      </p:pic>
      <p:sp>
        <p:nvSpPr>
          <p:cNvPr id="8" name="Text 5"/>
          <p:cNvSpPr txBox="1"/>
          <p:nvPr/>
        </p:nvSpPr>
        <p:spPr>
          <a:xfrm>
            <a:off x="4434840" y="914400"/>
            <a:ext cx="2743200" cy="274320"/>
          </a:xfrm>
          <a:prstGeom prst="rect">
            <a:avLst/>
          </a:prstGeom>
          <a:noFill/>
          <a:ln/>
        </p:spPr>
        <p:txBody>
          <a:bodyPr wrap="square" lIns="0" tIns="0" rIns="0" bIns="0" rtlCol="0" anchor="ctr"/>
          <a:lstStyle/>
          <a:p>
            <a:pPr indent="0" marL="0">
              <a:buNone/>
            </a:pPr>
            <a:r>
              <a:rPr lang="en-US" sz="1200" b="1" dirty="0">
                <a:solidFill>
                  <a:srgbClr val="1F3F7A"/>
                </a:solidFill>
                <a:latin typeface="Microsoft YaHei" pitchFamily="34" charset="0"/>
                <a:ea typeface="Microsoft YaHei" pitchFamily="34" charset="-122"/>
                <a:cs typeface="Microsoft YaHei" pitchFamily="34" charset="-120"/>
              </a:rPr>
              <a:t>研究方法</a:t>
            </a:r>
            <a:endParaRPr lang="en-US" sz="1200" dirty="0"/>
          </a:p>
        </p:txBody>
      </p:sp>
      <p:sp>
        <p:nvSpPr>
          <p:cNvPr id="9" name="Shape 6"/>
          <p:cNvSpPr/>
          <p:nvPr/>
        </p:nvSpPr>
        <p:spPr>
          <a:xfrm>
            <a:off x="4434840" y="1280160"/>
            <a:ext cx="4389120" cy="603504"/>
          </a:xfrm>
          <a:prstGeom prst="rect">
            <a:avLst/>
          </a:prstGeom>
          <a:solidFill>
            <a:srgbClr val="EEF2F8"/>
          </a:solidFill>
          <a:ln w="12700">
            <a:solidFill>
              <a:srgbClr val="EEF2F8"/>
            </a:solidFill>
            <a:prstDash val="solid"/>
          </a:ln>
        </p:spPr>
      </p:sp>
      <p:sp>
        <p:nvSpPr>
          <p:cNvPr id="10" name="Shape 7"/>
          <p:cNvSpPr/>
          <p:nvPr/>
        </p:nvSpPr>
        <p:spPr>
          <a:xfrm>
            <a:off x="4526280" y="1408176"/>
            <a:ext cx="960120" cy="347472"/>
          </a:xfrm>
          <a:prstGeom prst="rect">
            <a:avLst/>
          </a:prstGeom>
          <a:solidFill>
            <a:srgbClr val="1F3F7A"/>
          </a:solidFill>
          <a:ln w="12700">
            <a:solidFill>
              <a:srgbClr val="1F3F7A"/>
            </a:solidFill>
            <a:prstDash val="solid"/>
          </a:ln>
        </p:spPr>
      </p:sp>
      <p:sp>
        <p:nvSpPr>
          <p:cNvPr id="11" name="Text 8"/>
          <p:cNvSpPr txBox="1"/>
          <p:nvPr/>
        </p:nvSpPr>
        <p:spPr>
          <a:xfrm>
            <a:off x="4526280" y="1408176"/>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文献查阅法</a:t>
            </a:r>
            <a:endParaRPr lang="en-US" sz="950" dirty="0"/>
          </a:p>
        </p:txBody>
      </p:sp>
      <p:sp>
        <p:nvSpPr>
          <p:cNvPr id="12" name="Text 9"/>
          <p:cNvSpPr txBox="1"/>
          <p:nvPr/>
        </p:nvSpPr>
        <p:spPr>
          <a:xfrm>
            <a:off x="5577840" y="1325880"/>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检索知网、万方等，研读《公园设计规范》《居住区规划设计标准》及全龄景观专著</a:t>
            </a:r>
            <a:endParaRPr lang="en-US" sz="850" dirty="0"/>
          </a:p>
        </p:txBody>
      </p:sp>
      <p:sp>
        <p:nvSpPr>
          <p:cNvPr id="13" name="Shape 10"/>
          <p:cNvSpPr/>
          <p:nvPr/>
        </p:nvSpPr>
        <p:spPr>
          <a:xfrm>
            <a:off x="4434840" y="1975104"/>
            <a:ext cx="4389120" cy="603504"/>
          </a:xfrm>
          <a:prstGeom prst="rect">
            <a:avLst/>
          </a:prstGeom>
          <a:solidFill>
            <a:srgbClr val="F6F7FA"/>
          </a:solidFill>
          <a:ln w="12700">
            <a:solidFill>
              <a:srgbClr val="F6F7FA"/>
            </a:solidFill>
            <a:prstDash val="solid"/>
          </a:ln>
        </p:spPr>
      </p:sp>
      <p:sp>
        <p:nvSpPr>
          <p:cNvPr id="14" name="Shape 11"/>
          <p:cNvSpPr/>
          <p:nvPr/>
        </p:nvSpPr>
        <p:spPr>
          <a:xfrm>
            <a:off x="4526280" y="2103120"/>
            <a:ext cx="960120" cy="347472"/>
          </a:xfrm>
          <a:prstGeom prst="rect">
            <a:avLst/>
          </a:prstGeom>
          <a:solidFill>
            <a:srgbClr val="1F3F7A"/>
          </a:solidFill>
          <a:ln w="12700">
            <a:solidFill>
              <a:srgbClr val="1F3F7A"/>
            </a:solidFill>
            <a:prstDash val="solid"/>
          </a:ln>
        </p:spPr>
      </p:sp>
      <p:sp>
        <p:nvSpPr>
          <p:cNvPr id="15" name="Text 12"/>
          <p:cNvSpPr txBox="1"/>
          <p:nvPr/>
        </p:nvSpPr>
        <p:spPr>
          <a:xfrm>
            <a:off x="4526280" y="2103120"/>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实地调研法</a:t>
            </a:r>
            <a:endParaRPr lang="en-US" sz="950" dirty="0"/>
          </a:p>
        </p:txBody>
      </p:sp>
      <p:sp>
        <p:nvSpPr>
          <p:cNvPr id="16" name="Text 13"/>
          <p:cNvSpPr txBox="1"/>
          <p:nvPr/>
        </p:nvSpPr>
        <p:spPr>
          <a:xfrm>
            <a:off x="5577840" y="2020824"/>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现场踏勘地形、道路、住宅分布、植被；走访小区观察居民户外行为</a:t>
            </a:r>
            <a:endParaRPr lang="en-US" sz="850" dirty="0"/>
          </a:p>
        </p:txBody>
      </p:sp>
      <p:sp>
        <p:nvSpPr>
          <p:cNvPr id="17" name="Shape 14"/>
          <p:cNvSpPr/>
          <p:nvPr/>
        </p:nvSpPr>
        <p:spPr>
          <a:xfrm>
            <a:off x="4434840" y="2670048"/>
            <a:ext cx="4389120" cy="603504"/>
          </a:xfrm>
          <a:prstGeom prst="rect">
            <a:avLst/>
          </a:prstGeom>
          <a:solidFill>
            <a:srgbClr val="EEF2F8"/>
          </a:solidFill>
          <a:ln w="12700">
            <a:solidFill>
              <a:srgbClr val="EEF2F8"/>
            </a:solidFill>
            <a:prstDash val="solid"/>
          </a:ln>
        </p:spPr>
      </p:sp>
      <p:sp>
        <p:nvSpPr>
          <p:cNvPr id="18" name="Shape 15"/>
          <p:cNvSpPr/>
          <p:nvPr/>
        </p:nvSpPr>
        <p:spPr>
          <a:xfrm>
            <a:off x="4526280" y="2798064"/>
            <a:ext cx="960120" cy="347472"/>
          </a:xfrm>
          <a:prstGeom prst="rect">
            <a:avLst/>
          </a:prstGeom>
          <a:solidFill>
            <a:srgbClr val="1F3F7A"/>
          </a:solidFill>
          <a:ln w="12700">
            <a:solidFill>
              <a:srgbClr val="1F3F7A"/>
            </a:solidFill>
            <a:prstDash val="solid"/>
          </a:ln>
        </p:spPr>
      </p:sp>
      <p:sp>
        <p:nvSpPr>
          <p:cNvPr id="19" name="Text 16"/>
          <p:cNvSpPr txBox="1"/>
          <p:nvPr/>
        </p:nvSpPr>
        <p:spPr>
          <a:xfrm>
            <a:off x="4526280" y="2798064"/>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问卷调查法</a:t>
            </a:r>
            <a:endParaRPr lang="en-US" sz="950" dirty="0"/>
          </a:p>
        </p:txBody>
      </p:sp>
      <p:sp>
        <p:nvSpPr>
          <p:cNvPr id="20" name="Text 17"/>
          <p:cNvSpPr txBox="1"/>
          <p:nvPr/>
        </p:nvSpPr>
        <p:spPr>
          <a:xfrm>
            <a:off x="5577840" y="2715768"/>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面向老人、家长、青少年发放问卷，统计场地、设施、风格需求偏好</a:t>
            </a:r>
            <a:endParaRPr lang="en-US" sz="850" dirty="0"/>
          </a:p>
        </p:txBody>
      </p:sp>
      <p:sp>
        <p:nvSpPr>
          <p:cNvPr id="21" name="Shape 18"/>
          <p:cNvSpPr/>
          <p:nvPr/>
        </p:nvSpPr>
        <p:spPr>
          <a:xfrm>
            <a:off x="4434840" y="3364992"/>
            <a:ext cx="4389120" cy="603504"/>
          </a:xfrm>
          <a:prstGeom prst="rect">
            <a:avLst/>
          </a:prstGeom>
          <a:solidFill>
            <a:srgbClr val="F6F7FA"/>
          </a:solidFill>
          <a:ln w="12700">
            <a:solidFill>
              <a:srgbClr val="F6F7FA"/>
            </a:solidFill>
            <a:prstDash val="solid"/>
          </a:ln>
        </p:spPr>
      </p:sp>
      <p:sp>
        <p:nvSpPr>
          <p:cNvPr id="22" name="Shape 19"/>
          <p:cNvSpPr/>
          <p:nvPr/>
        </p:nvSpPr>
        <p:spPr>
          <a:xfrm>
            <a:off x="4526280" y="3493008"/>
            <a:ext cx="960120" cy="347472"/>
          </a:xfrm>
          <a:prstGeom prst="rect">
            <a:avLst/>
          </a:prstGeom>
          <a:solidFill>
            <a:srgbClr val="1F3F7A"/>
          </a:solidFill>
          <a:ln w="12700">
            <a:solidFill>
              <a:srgbClr val="1F3F7A"/>
            </a:solidFill>
            <a:prstDash val="solid"/>
          </a:ln>
        </p:spPr>
      </p:sp>
      <p:sp>
        <p:nvSpPr>
          <p:cNvPr id="23" name="Text 20"/>
          <p:cNvSpPr txBox="1"/>
          <p:nvPr/>
        </p:nvSpPr>
        <p:spPr>
          <a:xfrm>
            <a:off x="4526280" y="3493008"/>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案例分析法</a:t>
            </a:r>
            <a:endParaRPr lang="en-US" sz="950" dirty="0"/>
          </a:p>
        </p:txBody>
      </p:sp>
      <p:sp>
        <p:nvSpPr>
          <p:cNvPr id="24" name="Text 21"/>
          <p:cNvSpPr txBox="1"/>
          <p:nvPr/>
        </p:nvSpPr>
        <p:spPr>
          <a:xfrm>
            <a:off x="5577840" y="3410712"/>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收集西南地区居住区综合公园案例，对比布局、分区、植物配置</a:t>
            </a:r>
            <a:endParaRPr lang="en-US" sz="850" dirty="0"/>
          </a:p>
        </p:txBody>
      </p:sp>
      <p:sp>
        <p:nvSpPr>
          <p:cNvPr id="25" name="Shape 22"/>
          <p:cNvSpPr/>
          <p:nvPr/>
        </p:nvSpPr>
        <p:spPr>
          <a:xfrm>
            <a:off x="4434840" y="4059936"/>
            <a:ext cx="4389120" cy="603504"/>
          </a:xfrm>
          <a:prstGeom prst="rect">
            <a:avLst/>
          </a:prstGeom>
          <a:solidFill>
            <a:srgbClr val="EEF2F8"/>
          </a:solidFill>
          <a:ln w="12700">
            <a:solidFill>
              <a:srgbClr val="EEF2F8"/>
            </a:solidFill>
            <a:prstDash val="solid"/>
          </a:ln>
        </p:spPr>
      </p:sp>
      <p:sp>
        <p:nvSpPr>
          <p:cNvPr id="26" name="Shape 23"/>
          <p:cNvSpPr/>
          <p:nvPr/>
        </p:nvSpPr>
        <p:spPr>
          <a:xfrm>
            <a:off x="4526280" y="4187952"/>
            <a:ext cx="960120" cy="347472"/>
          </a:xfrm>
          <a:prstGeom prst="rect">
            <a:avLst/>
          </a:prstGeom>
          <a:solidFill>
            <a:srgbClr val="1F3F7A"/>
          </a:solidFill>
          <a:ln w="12700">
            <a:solidFill>
              <a:srgbClr val="1F3F7A"/>
            </a:solidFill>
            <a:prstDash val="solid"/>
          </a:ln>
        </p:spPr>
      </p:sp>
      <p:sp>
        <p:nvSpPr>
          <p:cNvPr id="27" name="Text 24"/>
          <p:cNvSpPr txBox="1"/>
          <p:nvPr/>
        </p:nvSpPr>
        <p:spPr>
          <a:xfrm>
            <a:off x="4526280" y="4187952"/>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图解分析法</a:t>
            </a:r>
            <a:endParaRPr lang="en-US" sz="950" dirty="0"/>
          </a:p>
        </p:txBody>
      </p:sp>
      <p:sp>
        <p:nvSpPr>
          <p:cNvPr id="28" name="Text 25"/>
          <p:cNvSpPr txBox="1"/>
          <p:nvPr/>
        </p:nvSpPr>
        <p:spPr>
          <a:xfrm>
            <a:off x="5577840" y="4105656"/>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CAD、GIS完成区位、交通、人流、日照、用地分析，推导总平面</a:t>
            </a:r>
            <a:endParaRPr lang="en-US" sz="850" dirty="0"/>
          </a:p>
        </p:txBody>
      </p:sp>
      <p:sp>
        <p:nvSpPr>
          <p:cNvPr id="29" name="Text 26"/>
          <p:cNvSpPr txBox="1"/>
          <p:nvPr/>
        </p:nvSpPr>
        <p:spPr>
          <a:xfrm>
            <a:off x="4434840" y="4754880"/>
            <a:ext cx="4389120" cy="228600"/>
          </a:xfrm>
          <a:prstGeom prst="rect">
            <a:avLst/>
          </a:prstGeom>
          <a:noFill/>
          <a:ln/>
        </p:spPr>
        <p:txBody>
          <a:bodyPr wrap="square" lIns="25400" tIns="25400" rIns="25400" bIns="25400" rtlCol="0" anchor="t"/>
          <a:lstStyle/>
          <a:p>
            <a:pP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技术路线：提出问题—理论支撑—分析方案—解决问题—总结问题</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Key Concepts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1.5 相关概念</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09</a:t>
            </a:r>
            <a:endParaRPr lang="en-US" sz="900" dirty="0"/>
          </a:p>
        </p:txBody>
      </p:sp>
      <p:pic>
        <p:nvPicPr>
          <p:cNvPr id="7" name="Image 0" descr="/home/user/lxfs/pptx_build/figs/x_basketball.jpg">    </p:cNvPr>
          <p:cNvPicPr>
            <a:picLocks noChangeAspect="1"/>
          </p:cNvPicPr>
          <p:nvPr/>
        </p:nvPicPr>
        <p:blipFill>
          <a:blip r:embed="rId1"/>
          <a:stretch>
            <a:fillRect/>
          </a:stretch>
        </p:blipFill>
        <p:spPr>
          <a:xfrm>
            <a:off x="1288298" y="932688"/>
            <a:ext cx="1035284" cy="1554480"/>
          </a:xfrm>
          <a:prstGeom prst="rect">
            <a:avLst/>
          </a:prstGeom>
        </p:spPr>
      </p:pic>
      <p:sp>
        <p:nvSpPr>
          <p:cNvPr id="8" name="Shape 5"/>
          <p:cNvSpPr/>
          <p:nvPr/>
        </p:nvSpPr>
        <p:spPr>
          <a:xfrm>
            <a:off x="1288298" y="1920240"/>
            <a:ext cx="1035284" cy="566928"/>
          </a:xfrm>
          <a:prstGeom prst="rect">
            <a:avLst/>
          </a:prstGeom>
          <a:solidFill>
            <a:srgbClr val="1F3F7A">
              <a:alpha val="80000"/>
            </a:srgbClr>
          </a:solidFill>
          <a:ln w="12700">
            <a:solidFill>
              <a:srgbClr val="1F3F7A"/>
            </a:solidFill>
            <a:prstDash val="solid"/>
          </a:ln>
        </p:spPr>
      </p:sp>
      <p:sp>
        <p:nvSpPr>
          <p:cNvPr id="9" name="Text 6"/>
          <p:cNvSpPr txBox="1"/>
          <p:nvPr/>
        </p:nvSpPr>
        <p:spPr>
          <a:xfrm>
            <a:off x="1379738" y="1920240"/>
            <a:ext cx="852404"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体育公园</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Sports Park</a:t>
            </a:r>
            <a:endParaRPr lang="en-US" sz="1200" dirty="0"/>
          </a:p>
        </p:txBody>
      </p:sp>
      <p:sp>
        <p:nvSpPr>
          <p:cNvPr id="10" name="Shape 7"/>
          <p:cNvSpPr/>
          <p:nvPr/>
        </p:nvSpPr>
        <p:spPr>
          <a:xfrm>
            <a:off x="484632" y="2578608"/>
            <a:ext cx="844296" cy="365760"/>
          </a:xfrm>
          <a:prstGeom prst="rect">
            <a:avLst/>
          </a:prstGeom>
          <a:solidFill>
            <a:srgbClr val="E6E8DF"/>
          </a:solidFill>
          <a:ln w="12700">
            <a:solidFill>
              <a:srgbClr val="E6E8DF"/>
            </a:solidFill>
            <a:prstDash val="solid"/>
          </a:ln>
        </p:spPr>
      </p:sp>
      <p:sp>
        <p:nvSpPr>
          <p:cNvPr id="11" name="Text 8"/>
          <p:cNvSpPr txBox="1"/>
          <p:nvPr/>
        </p:nvSpPr>
        <p:spPr>
          <a:xfrm>
            <a:off x="4846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体育健身为核心</a:t>
            </a:r>
            <a:endParaRPr lang="en-US" sz="750" dirty="0"/>
          </a:p>
        </p:txBody>
      </p:sp>
      <p:sp>
        <p:nvSpPr>
          <p:cNvPr id="12" name="Shape 9"/>
          <p:cNvSpPr/>
          <p:nvPr/>
        </p:nvSpPr>
        <p:spPr>
          <a:xfrm>
            <a:off x="1383792" y="2578608"/>
            <a:ext cx="844296" cy="365760"/>
          </a:xfrm>
          <a:prstGeom prst="rect">
            <a:avLst/>
          </a:prstGeom>
          <a:solidFill>
            <a:srgbClr val="E6E8DF"/>
          </a:solidFill>
          <a:ln w="12700">
            <a:solidFill>
              <a:srgbClr val="E6E8DF"/>
            </a:solidFill>
            <a:prstDash val="solid"/>
          </a:ln>
        </p:spPr>
      </p:sp>
      <p:sp>
        <p:nvSpPr>
          <p:cNvPr id="13" name="Text 10"/>
          <p:cNvSpPr txBox="1"/>
          <p:nvPr/>
        </p:nvSpPr>
        <p:spPr>
          <a:xfrm>
            <a:off x="138379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与自然生态融合</a:t>
            </a:r>
            <a:endParaRPr lang="en-US" sz="750" dirty="0"/>
          </a:p>
        </p:txBody>
      </p:sp>
      <p:sp>
        <p:nvSpPr>
          <p:cNvPr id="14" name="Shape 11"/>
          <p:cNvSpPr/>
          <p:nvPr/>
        </p:nvSpPr>
        <p:spPr>
          <a:xfrm>
            <a:off x="2282952" y="2578608"/>
            <a:ext cx="844296" cy="365760"/>
          </a:xfrm>
          <a:prstGeom prst="rect">
            <a:avLst/>
          </a:prstGeom>
          <a:solidFill>
            <a:srgbClr val="E6E8DF"/>
          </a:solidFill>
          <a:ln w="12700">
            <a:solidFill>
              <a:srgbClr val="E6E8DF"/>
            </a:solidFill>
            <a:prstDash val="solid"/>
          </a:ln>
        </p:spPr>
      </p:sp>
      <p:sp>
        <p:nvSpPr>
          <p:cNvPr id="15" name="Text 12"/>
          <p:cNvSpPr txBox="1"/>
          <p:nvPr/>
        </p:nvSpPr>
        <p:spPr>
          <a:xfrm>
            <a:off x="228295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绿化占比不低于65%</a:t>
            </a:r>
            <a:endParaRPr lang="en-US" sz="750" dirty="0"/>
          </a:p>
        </p:txBody>
      </p:sp>
      <p:sp>
        <p:nvSpPr>
          <p:cNvPr id="16" name="Shape 13"/>
          <p:cNvSpPr/>
          <p:nvPr/>
        </p:nvSpPr>
        <p:spPr>
          <a:xfrm>
            <a:off x="457200" y="3035808"/>
            <a:ext cx="2697480" cy="1691640"/>
          </a:xfrm>
          <a:prstGeom prst="rect">
            <a:avLst/>
          </a:prstGeom>
          <a:solidFill>
            <a:srgbClr val="EEF2F8"/>
          </a:solidFill>
          <a:ln w="12700">
            <a:solidFill>
              <a:srgbClr val="EEF2F8"/>
            </a:solidFill>
            <a:prstDash val="solid"/>
          </a:ln>
        </p:spPr>
      </p:sp>
      <p:sp>
        <p:nvSpPr>
          <p:cNvPr id="17" name="Text 14"/>
          <p:cNvSpPr txBox="1"/>
          <p:nvPr/>
        </p:nvSpPr>
        <p:spPr>
          <a:xfrm>
            <a:off x="53035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依据七部委《关于推进体育公园建设的指导意见》：以体育健身为核心要素、与自然生态融合的城市绿色公共空间，兼具生态美化、全民健身、休闲游憩、防灾避险等功能。社区型综合体育公园依托城市集中绿地建设，面向周边成片居住区开放。</a:t>
            </a:r>
            <a:endParaRPr lang="en-US" sz="850" dirty="0"/>
          </a:p>
        </p:txBody>
      </p:sp>
      <p:pic>
        <p:nvPicPr>
          <p:cNvPr id="18" name="Image 1" descr="/home/user/lxfs/pptx_build/figs/x_exercise.jpg">    </p:cNvPr>
          <p:cNvPicPr>
            <a:picLocks noChangeAspect="1"/>
          </p:cNvPicPr>
          <p:nvPr/>
        </p:nvPicPr>
        <p:blipFill>
          <a:blip r:embed="rId2"/>
          <a:stretch>
            <a:fillRect/>
          </a:stretch>
        </p:blipFill>
        <p:spPr>
          <a:xfrm>
            <a:off x="3477047" y="932688"/>
            <a:ext cx="2327066" cy="1554480"/>
          </a:xfrm>
          <a:prstGeom prst="rect">
            <a:avLst/>
          </a:prstGeom>
        </p:spPr>
      </p:pic>
      <p:sp>
        <p:nvSpPr>
          <p:cNvPr id="19" name="Shape 15"/>
          <p:cNvSpPr/>
          <p:nvPr/>
        </p:nvSpPr>
        <p:spPr>
          <a:xfrm>
            <a:off x="3477047" y="1920240"/>
            <a:ext cx="2327066" cy="566928"/>
          </a:xfrm>
          <a:prstGeom prst="rect">
            <a:avLst/>
          </a:prstGeom>
          <a:solidFill>
            <a:srgbClr val="E07B2A">
              <a:alpha val="80000"/>
            </a:srgbClr>
          </a:solidFill>
          <a:ln w="12700">
            <a:solidFill>
              <a:srgbClr val="E07B2A"/>
            </a:solidFill>
            <a:prstDash val="solid"/>
          </a:ln>
        </p:spPr>
      </p:sp>
      <p:sp>
        <p:nvSpPr>
          <p:cNvPr id="20" name="Text 16"/>
          <p:cNvSpPr txBox="1"/>
          <p:nvPr/>
        </p:nvSpPr>
        <p:spPr>
          <a:xfrm>
            <a:off x="3568487" y="1920240"/>
            <a:ext cx="2144186"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全民健康视角</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Health for All</a:t>
            </a:r>
            <a:endParaRPr lang="en-US" sz="1200" dirty="0"/>
          </a:p>
        </p:txBody>
      </p:sp>
      <p:sp>
        <p:nvSpPr>
          <p:cNvPr id="21" name="Shape 17"/>
          <p:cNvSpPr/>
          <p:nvPr/>
        </p:nvSpPr>
        <p:spPr>
          <a:xfrm>
            <a:off x="3319272" y="2578608"/>
            <a:ext cx="844296" cy="365760"/>
          </a:xfrm>
          <a:prstGeom prst="rect">
            <a:avLst/>
          </a:prstGeom>
          <a:solidFill>
            <a:srgbClr val="E6E8DF"/>
          </a:solidFill>
          <a:ln w="12700">
            <a:solidFill>
              <a:srgbClr val="E6E8DF"/>
            </a:solidFill>
            <a:prstDash val="solid"/>
          </a:ln>
        </p:spPr>
      </p:sp>
      <p:sp>
        <p:nvSpPr>
          <p:cNvPr id="22" name="Text 18"/>
          <p:cNvSpPr txBox="1"/>
          <p:nvPr/>
        </p:nvSpPr>
        <p:spPr>
          <a:xfrm>
            <a:off x="331927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人人可运动</a:t>
            </a:r>
            <a:endParaRPr lang="en-US" sz="750" dirty="0"/>
          </a:p>
        </p:txBody>
      </p:sp>
      <p:sp>
        <p:nvSpPr>
          <p:cNvPr id="23" name="Shape 19"/>
          <p:cNvSpPr/>
          <p:nvPr/>
        </p:nvSpPr>
        <p:spPr>
          <a:xfrm>
            <a:off x="4218432" y="2578608"/>
            <a:ext cx="844296" cy="365760"/>
          </a:xfrm>
          <a:prstGeom prst="rect">
            <a:avLst/>
          </a:prstGeom>
          <a:solidFill>
            <a:srgbClr val="E6E8DF"/>
          </a:solidFill>
          <a:ln w="12700">
            <a:solidFill>
              <a:srgbClr val="E6E8DF"/>
            </a:solidFill>
            <a:prstDash val="solid"/>
          </a:ln>
        </p:spPr>
      </p:sp>
      <p:sp>
        <p:nvSpPr>
          <p:cNvPr id="24" name="Text 20"/>
          <p:cNvSpPr txBox="1"/>
          <p:nvPr/>
        </p:nvSpPr>
        <p:spPr>
          <a:xfrm>
            <a:off x="42184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处处能休憩</a:t>
            </a:r>
            <a:endParaRPr lang="en-US" sz="750" dirty="0"/>
          </a:p>
        </p:txBody>
      </p:sp>
      <p:sp>
        <p:nvSpPr>
          <p:cNvPr id="25" name="Shape 21"/>
          <p:cNvSpPr/>
          <p:nvPr/>
        </p:nvSpPr>
        <p:spPr>
          <a:xfrm>
            <a:off x="5117592" y="2578608"/>
            <a:ext cx="844296" cy="365760"/>
          </a:xfrm>
          <a:prstGeom prst="rect">
            <a:avLst/>
          </a:prstGeom>
          <a:solidFill>
            <a:srgbClr val="E6E8DF"/>
          </a:solidFill>
          <a:ln w="12700">
            <a:solidFill>
              <a:srgbClr val="E6E8DF"/>
            </a:solidFill>
            <a:prstDash val="solid"/>
          </a:ln>
        </p:spPr>
      </p:sp>
      <p:sp>
        <p:nvSpPr>
          <p:cNvPr id="26" name="Text 22"/>
          <p:cNvSpPr txBox="1"/>
          <p:nvPr/>
        </p:nvSpPr>
        <p:spPr>
          <a:xfrm>
            <a:off x="511759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动静分区</a:t>
            </a:r>
            <a:endParaRPr lang="en-US" sz="750" dirty="0"/>
          </a:p>
        </p:txBody>
      </p:sp>
      <p:sp>
        <p:nvSpPr>
          <p:cNvPr id="27" name="Shape 23"/>
          <p:cNvSpPr/>
          <p:nvPr/>
        </p:nvSpPr>
        <p:spPr>
          <a:xfrm>
            <a:off x="3291840" y="3035808"/>
            <a:ext cx="2697480" cy="1691640"/>
          </a:xfrm>
          <a:prstGeom prst="rect">
            <a:avLst/>
          </a:prstGeom>
          <a:solidFill>
            <a:srgbClr val="EEF2F8"/>
          </a:solidFill>
          <a:ln w="12700">
            <a:solidFill>
              <a:srgbClr val="EEF2F8"/>
            </a:solidFill>
            <a:prstDash val="solid"/>
          </a:ln>
        </p:spPr>
      </p:sp>
      <p:sp>
        <p:nvSpPr>
          <p:cNvPr id="28" name="Text 24"/>
          <p:cNvSpPr txBox="1"/>
          <p:nvPr/>
        </p:nvSpPr>
        <p:spPr>
          <a:xfrm>
            <a:off x="336499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以全民健康为核心导向，将全民健身理念融入公园整体空间设计，兼顾婴幼儿、学龄儿童、中青年、老年人、残障群体的生理运动需求；在场地尺度、运动设施、无障碍通行、休憩配套上分层适配。</a:t>
            </a:r>
            <a:endParaRPr lang="en-US" sz="850" dirty="0"/>
          </a:p>
        </p:txBody>
      </p:sp>
      <p:pic>
        <p:nvPicPr>
          <p:cNvPr id="29" name="Image 2" descr="/home/user/lxfs/pptx_build/figs/x_swing.jpg">    </p:cNvPr>
          <p:cNvPicPr>
            <a:picLocks noChangeAspect="1"/>
          </p:cNvPicPr>
          <p:nvPr/>
        </p:nvPicPr>
        <p:blipFill>
          <a:blip r:embed="rId3"/>
          <a:stretch>
            <a:fillRect/>
          </a:stretch>
        </p:blipFill>
        <p:spPr>
          <a:xfrm>
            <a:off x="6225756" y="932688"/>
            <a:ext cx="2498928" cy="1554480"/>
          </a:xfrm>
          <a:prstGeom prst="rect">
            <a:avLst/>
          </a:prstGeom>
        </p:spPr>
      </p:pic>
      <p:sp>
        <p:nvSpPr>
          <p:cNvPr id="30" name="Shape 25"/>
          <p:cNvSpPr/>
          <p:nvPr/>
        </p:nvSpPr>
        <p:spPr>
          <a:xfrm>
            <a:off x="6225756" y="1920240"/>
            <a:ext cx="2498928" cy="566928"/>
          </a:xfrm>
          <a:prstGeom prst="rect">
            <a:avLst/>
          </a:prstGeom>
          <a:solidFill>
            <a:srgbClr val="4E8A3E">
              <a:alpha val="80000"/>
            </a:srgbClr>
          </a:solidFill>
          <a:ln w="12700">
            <a:solidFill>
              <a:srgbClr val="4E8A3E"/>
            </a:solidFill>
            <a:prstDash val="solid"/>
          </a:ln>
        </p:spPr>
      </p:sp>
      <p:sp>
        <p:nvSpPr>
          <p:cNvPr id="31" name="Text 26"/>
          <p:cNvSpPr txBox="1"/>
          <p:nvPr/>
        </p:nvSpPr>
        <p:spPr>
          <a:xfrm>
            <a:off x="6317196" y="1920240"/>
            <a:ext cx="2316048"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全龄友好型景观</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All-age Friendly</a:t>
            </a:r>
            <a:endParaRPr lang="en-US" sz="1200" dirty="0"/>
          </a:p>
        </p:txBody>
      </p:sp>
      <p:sp>
        <p:nvSpPr>
          <p:cNvPr id="32" name="Shape 27"/>
          <p:cNvSpPr/>
          <p:nvPr/>
        </p:nvSpPr>
        <p:spPr>
          <a:xfrm>
            <a:off x="6153912" y="2578608"/>
            <a:ext cx="844296" cy="365760"/>
          </a:xfrm>
          <a:prstGeom prst="rect">
            <a:avLst/>
          </a:prstGeom>
          <a:solidFill>
            <a:srgbClr val="E6E8DF"/>
          </a:solidFill>
          <a:ln w="12700">
            <a:solidFill>
              <a:srgbClr val="E6E8DF"/>
            </a:solidFill>
            <a:prstDash val="solid"/>
          </a:ln>
        </p:spPr>
      </p:sp>
      <p:sp>
        <p:nvSpPr>
          <p:cNvPr id="33" name="Text 28"/>
          <p:cNvSpPr txBox="1"/>
          <p:nvPr/>
        </p:nvSpPr>
        <p:spPr>
          <a:xfrm>
            <a:off x="615391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分区适配</a:t>
            </a:r>
            <a:endParaRPr lang="en-US" sz="750" dirty="0"/>
          </a:p>
        </p:txBody>
      </p:sp>
      <p:sp>
        <p:nvSpPr>
          <p:cNvPr id="34" name="Shape 29"/>
          <p:cNvSpPr/>
          <p:nvPr/>
        </p:nvSpPr>
        <p:spPr>
          <a:xfrm>
            <a:off x="7053072" y="2578608"/>
            <a:ext cx="844296" cy="365760"/>
          </a:xfrm>
          <a:prstGeom prst="rect">
            <a:avLst/>
          </a:prstGeom>
          <a:solidFill>
            <a:srgbClr val="E6E8DF"/>
          </a:solidFill>
          <a:ln w="12700">
            <a:solidFill>
              <a:srgbClr val="E6E8DF"/>
            </a:solidFill>
            <a:prstDash val="solid"/>
          </a:ln>
        </p:spPr>
      </p:sp>
      <p:sp>
        <p:nvSpPr>
          <p:cNvPr id="35" name="Text 30"/>
          <p:cNvSpPr txBox="1"/>
          <p:nvPr/>
        </p:nvSpPr>
        <p:spPr>
          <a:xfrm>
            <a:off x="705307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无障碍通行</a:t>
            </a:r>
            <a:endParaRPr lang="en-US" sz="750" dirty="0"/>
          </a:p>
        </p:txBody>
      </p:sp>
      <p:sp>
        <p:nvSpPr>
          <p:cNvPr id="36" name="Shape 31"/>
          <p:cNvSpPr/>
          <p:nvPr/>
        </p:nvSpPr>
        <p:spPr>
          <a:xfrm>
            <a:off x="7952232" y="2578608"/>
            <a:ext cx="844296" cy="365760"/>
          </a:xfrm>
          <a:prstGeom prst="rect">
            <a:avLst/>
          </a:prstGeom>
          <a:solidFill>
            <a:srgbClr val="E6E8DF"/>
          </a:solidFill>
          <a:ln w="12700">
            <a:solidFill>
              <a:srgbClr val="E6E8DF"/>
            </a:solidFill>
            <a:prstDash val="solid"/>
          </a:ln>
        </p:spPr>
      </p:sp>
      <p:sp>
        <p:nvSpPr>
          <p:cNvPr id="37" name="Text 32"/>
          <p:cNvSpPr txBox="1"/>
          <p:nvPr/>
        </p:nvSpPr>
        <p:spPr>
          <a:xfrm>
            <a:off x="79522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安全防护</a:t>
            </a:r>
            <a:endParaRPr lang="en-US" sz="750" dirty="0"/>
          </a:p>
        </p:txBody>
      </p:sp>
      <p:sp>
        <p:nvSpPr>
          <p:cNvPr id="38" name="Shape 33"/>
          <p:cNvSpPr/>
          <p:nvPr/>
        </p:nvSpPr>
        <p:spPr>
          <a:xfrm>
            <a:off x="6126480" y="3035808"/>
            <a:ext cx="2697480" cy="1691640"/>
          </a:xfrm>
          <a:prstGeom prst="rect">
            <a:avLst/>
          </a:prstGeom>
          <a:solidFill>
            <a:srgbClr val="EEF2F8"/>
          </a:solidFill>
          <a:ln w="12700">
            <a:solidFill>
              <a:srgbClr val="EEF2F8"/>
            </a:solidFill>
            <a:prstDash val="solid"/>
          </a:ln>
        </p:spPr>
      </p:sp>
      <p:sp>
        <p:nvSpPr>
          <p:cNvPr id="39" name="Text 34"/>
          <p:cNvSpPr txBox="1"/>
          <p:nvPr/>
        </p:nvSpPr>
        <p:spPr>
          <a:xfrm>
            <a:off x="619963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在公园空间布局、设施配置、尺度设计上兼顾不同人群生理与行为需求，分区设置适配活动场地，完善无障碍通行、休憩、安全防护配套，实现一座公园满足全年龄段居民日常户外需求。</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Status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457200" y="932688"/>
            <a:ext cx="731520" cy="274320"/>
          </a:xfrm>
          <a:prstGeom prst="rect">
            <a:avLst/>
          </a:prstGeom>
          <a:solidFill>
            <a:srgbClr val="1F3F7A"/>
          </a:solidFill>
          <a:ln w="12700">
            <a:solidFill>
              <a:srgbClr val="1F3F7A"/>
            </a:solidFill>
            <a:prstDash val="solid"/>
          </a:ln>
        </p:spPr>
      </p:sp>
      <p:sp>
        <p:nvSpPr>
          <p:cNvPr id="8" name="Text 6"/>
          <p:cNvSpPr txBox="1"/>
          <p:nvPr/>
        </p:nvSpPr>
        <p:spPr>
          <a:xfrm>
            <a:off x="45720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国外</a:t>
            </a:r>
            <a:endParaRPr lang="en-US" sz="1000" dirty="0"/>
          </a:p>
        </p:txBody>
      </p:sp>
      <p:sp>
        <p:nvSpPr>
          <p:cNvPr id="9" name="Text 7"/>
          <p:cNvSpPr txBox="1"/>
          <p:nvPr/>
        </p:nvSpPr>
        <p:spPr>
          <a:xfrm>
            <a:off x="45720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奥姆斯特德城市公园体系提出“绿地+运动”融合模式；简·雅各布斯强调高密度社区分散布局中小型运动场地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德国分级体育绿地规划；法国社区体育公园24小时开放与智能预约；丹麦、温哥华连续健身绿道网络</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日本居住区体育公园分龄分区、全域无障碍、低维护乡土绿化与简易雨水调蓄；新加坡Active SG社区体育公园：模块化球类场地、全天候遮阳健身区、多层次林下空间</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研究热点：体育公园可达性与配套对全年龄段日常运动量、慢性病与焦虑发生率的正向影响（Kaczynski et al., 2008；Warburton et al., 2006；WHO, 2022）</a:t>
            </a:r>
            <a:endParaRPr lang="en-US" sz="850" dirty="0"/>
          </a:p>
        </p:txBody>
      </p:sp>
      <p:sp>
        <p:nvSpPr>
          <p:cNvPr id="10" name="Shape 8"/>
          <p:cNvSpPr/>
          <p:nvPr/>
        </p:nvSpPr>
        <p:spPr>
          <a:xfrm>
            <a:off x="4754880" y="932688"/>
            <a:ext cx="731520" cy="274320"/>
          </a:xfrm>
          <a:prstGeom prst="rect">
            <a:avLst/>
          </a:prstGeom>
          <a:solidFill>
            <a:srgbClr val="E07B2A"/>
          </a:solidFill>
          <a:ln w="12700">
            <a:solidFill>
              <a:srgbClr val="E07B2A"/>
            </a:solidFill>
            <a:prstDash val="solid"/>
          </a:ln>
        </p:spPr>
      </p:sp>
      <p:sp>
        <p:nvSpPr>
          <p:cNvPr id="11" name="Text 9"/>
          <p:cNvSpPr txBox="1"/>
          <p:nvPr/>
        </p:nvSpPr>
        <p:spPr>
          <a:xfrm>
            <a:off x="475488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国内</a:t>
            </a:r>
            <a:endParaRPr lang="en-US" sz="1000" dirty="0"/>
          </a:p>
        </p:txBody>
      </p:sp>
      <p:sp>
        <p:nvSpPr>
          <p:cNvPr id="12" name="Text 10"/>
          <p:cNvSpPr txBox="1"/>
          <p:nvPr/>
        </p:nvSpPr>
        <p:spPr>
          <a:xfrm>
            <a:off x="475488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全民健身与15分钟社区生活圈推进下，体育公园成为风景园林热点方向</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规范出台：《公园设计规范》GB 51192-2016、《社区体育公园规划建设指南》T/CSUS 18-2021</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成渝西南片区实践：浅丘地貌土方优化、乡土植物应用、海绵设施整合、动静分区</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现有研究多聚焦大中型城市综合体育公园，面向县域新城尺度、服务高密度居住区的中小型体育公园研究薄弱，缺乏适配县域人群结构、建设投资条件的成熟设计范式——本研究的探索空间</a:t>
            </a:r>
            <a:endParaRPr lang="en-US" sz="850" dirty="0"/>
          </a:p>
        </p:txBody>
      </p:sp>
      <p:pic>
        <p:nvPicPr>
          <p:cNvPr id="13" name="Image 0" descr="/home/user/lxfs/pptx_build/figs/x_volleyball.jpg">    </p:cNvPr>
          <p:cNvPicPr>
            <a:picLocks noChangeAspect="1"/>
          </p:cNvPicPr>
          <p:nvPr/>
        </p:nvPicPr>
        <p:blipFill>
          <a:blip r:embed="rId1"/>
          <a:stretch>
            <a:fillRect/>
          </a:stretch>
        </p:blipFill>
        <p:spPr>
          <a:xfrm>
            <a:off x="948690" y="3154680"/>
            <a:ext cx="1028700" cy="1371600"/>
          </a:xfrm>
          <a:prstGeom prst="rect">
            <a:avLst/>
          </a:prstGeom>
        </p:spPr>
      </p:pic>
      <p:sp>
        <p:nvSpPr>
          <p:cNvPr id="14" name="Text 11"/>
          <p:cNvSpPr txBox="1"/>
          <p:nvPr/>
        </p:nvSpPr>
        <p:spPr>
          <a:xfrm>
            <a:off x="457200"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全天候室内运动空间</a:t>
            </a:r>
            <a:endParaRPr lang="en-US" sz="800" dirty="0"/>
          </a:p>
        </p:txBody>
      </p:sp>
      <p:pic>
        <p:nvPicPr>
          <p:cNvPr id="15" name="Image 1" descr="/home/user/lxfs/pptx_build/figs/x_skatepark.jpg">    </p:cNvPr>
          <p:cNvPicPr>
            <a:picLocks noChangeAspect="1"/>
          </p:cNvPicPr>
          <p:nvPr/>
        </p:nvPicPr>
        <p:blipFill>
          <a:blip r:embed="rId2"/>
          <a:stretch>
            <a:fillRect/>
          </a:stretch>
        </p:blipFill>
        <p:spPr>
          <a:xfrm>
            <a:off x="2670048" y="3154680"/>
            <a:ext cx="1828800" cy="1371600"/>
          </a:xfrm>
          <a:prstGeom prst="rect">
            <a:avLst/>
          </a:prstGeom>
        </p:spPr>
      </p:pic>
      <p:sp>
        <p:nvSpPr>
          <p:cNvPr id="16" name="Text 12"/>
          <p:cNvSpPr txBox="1"/>
          <p:nvPr/>
        </p:nvSpPr>
        <p:spPr>
          <a:xfrm>
            <a:off x="2578608"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青少年极限运动</a:t>
            </a:r>
            <a:endParaRPr lang="en-US" sz="800" dirty="0"/>
          </a:p>
        </p:txBody>
      </p:sp>
      <p:pic>
        <p:nvPicPr>
          <p:cNvPr id="17" name="Image 2" descr="/home/user/lxfs/pptx_build/figs/x_cyclists.jpg">    </p:cNvPr>
          <p:cNvPicPr>
            <a:picLocks noChangeAspect="1"/>
          </p:cNvPicPr>
          <p:nvPr/>
        </p:nvPicPr>
        <p:blipFill>
          <a:blip r:embed="rId3"/>
          <a:stretch>
            <a:fillRect/>
          </a:stretch>
        </p:blipFill>
        <p:spPr>
          <a:xfrm>
            <a:off x="4700016" y="3154680"/>
            <a:ext cx="2011680" cy="1262561"/>
          </a:xfrm>
          <a:prstGeom prst="rect">
            <a:avLst/>
          </a:prstGeom>
        </p:spPr>
      </p:pic>
      <p:sp>
        <p:nvSpPr>
          <p:cNvPr id="18" name="Text 13"/>
          <p:cNvSpPr txBox="1"/>
          <p:nvPr/>
        </p:nvSpPr>
        <p:spPr>
          <a:xfrm>
            <a:off x="4700016" y="4435529"/>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连续健身绿道与骑行</a:t>
            </a:r>
            <a:endParaRPr lang="en-US" sz="800" dirty="0"/>
          </a:p>
        </p:txBody>
      </p:sp>
      <p:pic>
        <p:nvPicPr>
          <p:cNvPr id="19" name="Image 3" descr="/home/user/lxfs/pptx_build/figs/x_bench.jpg">    </p:cNvPr>
          <p:cNvPicPr>
            <a:picLocks noChangeAspect="1"/>
          </p:cNvPicPr>
          <p:nvPr/>
        </p:nvPicPr>
        <p:blipFill>
          <a:blip r:embed="rId4"/>
          <a:stretch>
            <a:fillRect/>
          </a:stretch>
        </p:blipFill>
        <p:spPr>
          <a:xfrm>
            <a:off x="6821424" y="3154680"/>
            <a:ext cx="2011680" cy="1343802"/>
          </a:xfrm>
          <a:prstGeom prst="rect">
            <a:avLst/>
          </a:prstGeom>
        </p:spPr>
      </p:pic>
      <p:sp>
        <p:nvSpPr>
          <p:cNvPr id="20" name="Text 14"/>
          <p:cNvSpPr txBox="1"/>
          <p:nvPr/>
        </p:nvSpPr>
        <p:spPr>
          <a:xfrm>
            <a:off x="6821424" y="4516770"/>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林下休憩与滨水空间</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Development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国内外研究现状——发展脉络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11</a:t>
            </a:r>
            <a:endParaRPr lang="en-US" sz="900" dirty="0"/>
          </a:p>
        </p:txBody>
      </p:sp>
      <p:sp>
        <p:nvSpPr>
          <p:cNvPr id="7" name="Shape 5"/>
          <p:cNvSpPr/>
          <p:nvPr/>
        </p:nvSpPr>
        <p:spPr>
          <a:xfrm rot="20943971">
            <a:off x="474253" y="2779776"/>
            <a:ext cx="8195493" cy="201168"/>
          </a:xfrm>
          <a:prstGeom prst="rect">
            <a:avLst/>
          </a:prstGeom>
          <a:solidFill>
            <a:srgbClr val="C9D6C1"/>
          </a:solidFill>
          <a:ln w="12700">
            <a:solidFill>
              <a:srgbClr val="C9D6C1"/>
            </a:solidFill>
            <a:prstDash val="solid"/>
          </a:ln>
        </p:spPr>
      </p:sp>
      <p:sp>
        <p:nvSpPr>
          <p:cNvPr id="8" name="Shape 6"/>
          <p:cNvSpPr/>
          <p:nvPr/>
        </p:nvSpPr>
        <p:spPr>
          <a:xfrm rot="20943971">
            <a:off x="474253" y="2852928"/>
            <a:ext cx="8195493" cy="54864"/>
          </a:xfrm>
          <a:prstGeom prst="rect">
            <a:avLst/>
          </a:prstGeom>
          <a:solidFill>
            <a:srgbClr val="4E6B3A"/>
          </a:solidFill>
          <a:ln w="12700">
            <a:solidFill>
              <a:srgbClr val="4E6B3A"/>
            </a:solidFill>
            <a:prstDash val="solid"/>
          </a:ln>
        </p:spPr>
      </p:sp>
      <p:sp>
        <p:nvSpPr>
          <p:cNvPr id="9" name="Text 7"/>
          <p:cNvSpPr txBox="1"/>
          <p:nvPr/>
        </p:nvSpPr>
        <p:spPr>
          <a:xfrm rot="20943971">
            <a:off x="793699" y="3047695"/>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萌芽期</a:t>
            </a:r>
            <a:endParaRPr lang="en-US" sz="900" dirty="0"/>
          </a:p>
        </p:txBody>
      </p:sp>
      <p:sp>
        <p:nvSpPr>
          <p:cNvPr id="10" name="Text 8"/>
          <p:cNvSpPr txBox="1"/>
          <p:nvPr/>
        </p:nvSpPr>
        <p:spPr>
          <a:xfrm rot="20943971">
            <a:off x="3931920" y="2441448"/>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发展期</a:t>
            </a:r>
            <a:endParaRPr lang="en-US" sz="900" dirty="0"/>
          </a:p>
        </p:txBody>
      </p:sp>
      <p:sp>
        <p:nvSpPr>
          <p:cNvPr id="11" name="Text 9"/>
          <p:cNvSpPr txBox="1"/>
          <p:nvPr/>
        </p:nvSpPr>
        <p:spPr>
          <a:xfrm rot="20943971">
            <a:off x="6989674" y="1850746"/>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创新成熟期</a:t>
            </a:r>
            <a:endParaRPr lang="en-US" sz="900" dirty="0"/>
          </a:p>
        </p:txBody>
      </p:sp>
      <p:sp>
        <p:nvSpPr>
          <p:cNvPr id="12" name="Shape 10"/>
          <p:cNvSpPr/>
          <p:nvPr/>
        </p:nvSpPr>
        <p:spPr>
          <a:xfrm>
            <a:off x="797357" y="3522269"/>
            <a:ext cx="146304" cy="146304"/>
          </a:xfrm>
          <a:prstGeom prst="ellipse">
            <a:avLst/>
          </a:prstGeom>
          <a:solidFill>
            <a:srgbClr val="1F3F7A"/>
          </a:solidFill>
          <a:ln w="12700">
            <a:solidFill>
              <a:srgbClr val="FFFFFF"/>
            </a:solidFill>
            <a:prstDash val="solid"/>
          </a:ln>
        </p:spPr>
      </p:sp>
      <p:sp>
        <p:nvSpPr>
          <p:cNvPr id="13" name="Text 11"/>
          <p:cNvSpPr txBox="1"/>
          <p:nvPr/>
        </p:nvSpPr>
        <p:spPr>
          <a:xfrm>
            <a:off x="413309" y="3686861"/>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1858</a:t>
            </a:r>
            <a:endParaRPr lang="en-US" sz="900" dirty="0"/>
          </a:p>
        </p:txBody>
      </p:sp>
      <p:sp>
        <p:nvSpPr>
          <p:cNvPr id="14" name="Shape 12"/>
          <p:cNvSpPr/>
          <p:nvPr/>
        </p:nvSpPr>
        <p:spPr>
          <a:xfrm>
            <a:off x="870509" y="3339389"/>
            <a:ext cx="0" cy="256032"/>
          </a:xfrm>
          <a:prstGeom prst="line">
            <a:avLst/>
          </a:prstGeom>
          <a:noFill/>
          <a:ln w="12700">
            <a:solidFill>
              <a:srgbClr val="1F3F7A"/>
            </a:solidFill>
            <a:prstDash val="dash"/>
          </a:ln>
        </p:spPr>
      </p:sp>
      <p:sp>
        <p:nvSpPr>
          <p:cNvPr id="15" name="Shape 13"/>
          <p:cNvSpPr/>
          <p:nvPr/>
        </p:nvSpPr>
        <p:spPr>
          <a:xfrm>
            <a:off x="411480" y="2242109"/>
            <a:ext cx="1627632" cy="1097280"/>
          </a:xfrm>
          <a:prstGeom prst="rect">
            <a:avLst/>
          </a:prstGeom>
          <a:solidFill>
            <a:srgbClr val="EEF2F8"/>
          </a:solidFill>
          <a:ln w="12700">
            <a:solidFill>
              <a:srgbClr val="EEF2F8"/>
            </a:solidFill>
            <a:prstDash val="solid"/>
          </a:ln>
        </p:spPr>
      </p:sp>
      <p:pic>
        <p:nvPicPr>
          <p:cNvPr id="16" name="Image 0" descr="/home/user/lxfs/pptx_build/figs/x_bench.jpg">    </p:cNvPr>
          <p:cNvPicPr>
            <a:picLocks noChangeAspect="1"/>
          </p:cNvPicPr>
          <p:nvPr/>
        </p:nvPicPr>
        <p:blipFill>
          <a:blip r:embed="rId1"/>
          <a:stretch>
            <a:fillRect/>
          </a:stretch>
        </p:blipFill>
        <p:spPr>
          <a:xfrm>
            <a:off x="800949" y="2287829"/>
            <a:ext cx="848695" cy="566928"/>
          </a:xfrm>
          <a:prstGeom prst="rect">
            <a:avLst/>
          </a:prstGeom>
        </p:spPr>
      </p:pic>
      <p:sp>
        <p:nvSpPr>
          <p:cNvPr id="17" name="Text 14"/>
          <p:cNvSpPr txBox="1"/>
          <p:nvPr/>
        </p:nvSpPr>
        <p:spPr>
          <a:xfrm>
            <a:off x="457200" y="2873045"/>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奥姆斯特德中央公园，提出“绿地+运动”融合模式</a:t>
            </a:r>
            <a:endParaRPr lang="en-US" sz="650" dirty="0"/>
          </a:p>
        </p:txBody>
      </p:sp>
      <p:sp>
        <p:nvSpPr>
          <p:cNvPr id="18" name="Shape 15"/>
          <p:cNvSpPr/>
          <p:nvPr/>
        </p:nvSpPr>
        <p:spPr>
          <a:xfrm>
            <a:off x="1843430" y="3320186"/>
            <a:ext cx="146304" cy="146304"/>
          </a:xfrm>
          <a:prstGeom prst="ellipse">
            <a:avLst/>
          </a:prstGeom>
          <a:solidFill>
            <a:srgbClr val="1F3F7A"/>
          </a:solidFill>
          <a:ln w="12700">
            <a:solidFill>
              <a:srgbClr val="FFFFFF"/>
            </a:solidFill>
            <a:prstDash val="solid"/>
          </a:ln>
        </p:spPr>
      </p:sp>
      <p:sp>
        <p:nvSpPr>
          <p:cNvPr id="19" name="Text 16"/>
          <p:cNvSpPr txBox="1"/>
          <p:nvPr/>
        </p:nvSpPr>
        <p:spPr>
          <a:xfrm>
            <a:off x="1459382" y="3064154"/>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1961</a:t>
            </a:r>
            <a:endParaRPr lang="en-US" sz="900" dirty="0"/>
          </a:p>
        </p:txBody>
      </p:sp>
      <p:sp>
        <p:nvSpPr>
          <p:cNvPr id="20" name="Shape 17"/>
          <p:cNvSpPr/>
          <p:nvPr/>
        </p:nvSpPr>
        <p:spPr>
          <a:xfrm>
            <a:off x="1916582" y="3393338"/>
            <a:ext cx="0" cy="256032"/>
          </a:xfrm>
          <a:prstGeom prst="line">
            <a:avLst/>
          </a:prstGeom>
          <a:noFill/>
          <a:ln w="12700">
            <a:solidFill>
              <a:srgbClr val="1F3F7A"/>
            </a:solidFill>
            <a:prstDash val="dash"/>
          </a:ln>
        </p:spPr>
      </p:sp>
      <p:sp>
        <p:nvSpPr>
          <p:cNvPr id="21" name="Shape 18"/>
          <p:cNvSpPr/>
          <p:nvPr/>
        </p:nvSpPr>
        <p:spPr>
          <a:xfrm>
            <a:off x="1102766" y="3649370"/>
            <a:ext cx="1627632" cy="1097280"/>
          </a:xfrm>
          <a:prstGeom prst="rect">
            <a:avLst/>
          </a:prstGeom>
          <a:solidFill>
            <a:srgbClr val="EEF2F8"/>
          </a:solidFill>
          <a:ln w="12700">
            <a:solidFill>
              <a:srgbClr val="EEF2F8"/>
            </a:solidFill>
            <a:prstDash val="solid"/>
          </a:ln>
        </p:spPr>
      </p:sp>
      <p:pic>
        <p:nvPicPr>
          <p:cNvPr id="22" name="Image 1" descr="/home/user/lxfs/pptx_build/figs/x_plaza.jpg">    </p:cNvPr>
          <p:cNvPicPr>
            <a:picLocks noChangeAspect="1"/>
          </p:cNvPicPr>
          <p:nvPr/>
        </p:nvPicPr>
        <p:blipFill>
          <a:blip r:embed="rId2"/>
          <a:stretch>
            <a:fillRect/>
          </a:stretch>
        </p:blipFill>
        <p:spPr>
          <a:xfrm>
            <a:off x="1538630" y="3695090"/>
            <a:ext cx="755904" cy="566928"/>
          </a:xfrm>
          <a:prstGeom prst="rect">
            <a:avLst/>
          </a:prstGeom>
        </p:spPr>
      </p:pic>
      <p:sp>
        <p:nvSpPr>
          <p:cNvPr id="23" name="Text 19"/>
          <p:cNvSpPr txBox="1"/>
          <p:nvPr/>
        </p:nvSpPr>
        <p:spPr>
          <a:xfrm>
            <a:off x="1148486" y="4280306"/>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简·雅各布斯：高密度社区分散布局中小型运动场地</a:t>
            </a:r>
            <a:endParaRPr lang="en-US" sz="650" dirty="0"/>
          </a:p>
        </p:txBody>
      </p:sp>
      <p:sp>
        <p:nvSpPr>
          <p:cNvPr id="24" name="Shape 20"/>
          <p:cNvSpPr/>
          <p:nvPr/>
        </p:nvSpPr>
        <p:spPr>
          <a:xfrm>
            <a:off x="2889504" y="3118104"/>
            <a:ext cx="146304" cy="146304"/>
          </a:xfrm>
          <a:prstGeom prst="ellipse">
            <a:avLst/>
          </a:prstGeom>
          <a:solidFill>
            <a:srgbClr val="E07B2A"/>
          </a:solidFill>
          <a:ln w="12700">
            <a:solidFill>
              <a:srgbClr val="FFFFFF"/>
            </a:solidFill>
            <a:prstDash val="solid"/>
          </a:ln>
        </p:spPr>
      </p:sp>
      <p:sp>
        <p:nvSpPr>
          <p:cNvPr id="25" name="Text 21"/>
          <p:cNvSpPr txBox="1"/>
          <p:nvPr/>
        </p:nvSpPr>
        <p:spPr>
          <a:xfrm>
            <a:off x="2505456" y="3282696"/>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1995</a:t>
            </a:r>
            <a:endParaRPr lang="en-US" sz="900" dirty="0"/>
          </a:p>
        </p:txBody>
      </p:sp>
      <p:sp>
        <p:nvSpPr>
          <p:cNvPr id="26" name="Shape 22"/>
          <p:cNvSpPr/>
          <p:nvPr/>
        </p:nvSpPr>
        <p:spPr>
          <a:xfrm>
            <a:off x="2962656" y="2935224"/>
            <a:ext cx="0" cy="256032"/>
          </a:xfrm>
          <a:prstGeom prst="line">
            <a:avLst/>
          </a:prstGeom>
          <a:noFill/>
          <a:ln w="12700">
            <a:solidFill>
              <a:srgbClr val="E07B2A"/>
            </a:solidFill>
            <a:prstDash val="dash"/>
          </a:ln>
        </p:spPr>
      </p:sp>
      <p:sp>
        <p:nvSpPr>
          <p:cNvPr id="27" name="Shape 23"/>
          <p:cNvSpPr/>
          <p:nvPr/>
        </p:nvSpPr>
        <p:spPr>
          <a:xfrm>
            <a:off x="2148840" y="1837944"/>
            <a:ext cx="1627632" cy="1097280"/>
          </a:xfrm>
          <a:prstGeom prst="rect">
            <a:avLst/>
          </a:prstGeom>
          <a:solidFill>
            <a:srgbClr val="EEF2F8"/>
          </a:solidFill>
          <a:ln w="12700">
            <a:solidFill>
              <a:srgbClr val="EEF2F8"/>
            </a:solidFill>
            <a:prstDash val="solid"/>
          </a:ln>
        </p:spPr>
      </p:sp>
      <p:pic>
        <p:nvPicPr>
          <p:cNvPr id="28" name="Image 2" descr="/home/user/lxfs/pptx_build/figs/x_bar.jpg">    </p:cNvPr>
          <p:cNvPicPr>
            <a:picLocks noChangeAspect="1"/>
          </p:cNvPicPr>
          <p:nvPr/>
        </p:nvPicPr>
        <p:blipFill>
          <a:blip r:embed="rId3"/>
          <a:stretch>
            <a:fillRect/>
          </a:stretch>
        </p:blipFill>
        <p:spPr>
          <a:xfrm>
            <a:off x="2538309" y="1883664"/>
            <a:ext cx="848695" cy="566928"/>
          </a:xfrm>
          <a:prstGeom prst="rect">
            <a:avLst/>
          </a:prstGeom>
        </p:spPr>
      </p:pic>
      <p:sp>
        <p:nvSpPr>
          <p:cNvPr id="29" name="Text 24"/>
          <p:cNvSpPr txBox="1"/>
          <p:nvPr/>
        </p:nvSpPr>
        <p:spPr>
          <a:xfrm>
            <a:off x="2194560" y="2468880"/>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《全民健身计划纲要》颁布，全民健身上升为国家计划</a:t>
            </a:r>
            <a:endParaRPr lang="en-US" sz="650" dirty="0"/>
          </a:p>
        </p:txBody>
      </p:sp>
      <p:sp>
        <p:nvSpPr>
          <p:cNvPr id="30" name="Shape 25"/>
          <p:cNvSpPr/>
          <p:nvPr/>
        </p:nvSpPr>
        <p:spPr>
          <a:xfrm>
            <a:off x="3935578" y="2916022"/>
            <a:ext cx="146304" cy="146304"/>
          </a:xfrm>
          <a:prstGeom prst="ellipse">
            <a:avLst/>
          </a:prstGeom>
          <a:solidFill>
            <a:srgbClr val="1F3F7A"/>
          </a:solidFill>
          <a:ln w="12700">
            <a:solidFill>
              <a:srgbClr val="FFFFFF"/>
            </a:solidFill>
            <a:prstDash val="solid"/>
          </a:ln>
        </p:spPr>
      </p:sp>
      <p:sp>
        <p:nvSpPr>
          <p:cNvPr id="31" name="Text 26"/>
          <p:cNvSpPr txBox="1"/>
          <p:nvPr/>
        </p:nvSpPr>
        <p:spPr>
          <a:xfrm>
            <a:off x="3551530" y="2659990"/>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2014</a:t>
            </a:r>
            <a:endParaRPr lang="en-US" sz="900" dirty="0"/>
          </a:p>
        </p:txBody>
      </p:sp>
      <p:sp>
        <p:nvSpPr>
          <p:cNvPr id="32" name="Shape 27"/>
          <p:cNvSpPr/>
          <p:nvPr/>
        </p:nvSpPr>
        <p:spPr>
          <a:xfrm>
            <a:off x="4008730" y="2989174"/>
            <a:ext cx="0" cy="256032"/>
          </a:xfrm>
          <a:prstGeom prst="line">
            <a:avLst/>
          </a:prstGeom>
          <a:noFill/>
          <a:ln w="12700">
            <a:solidFill>
              <a:srgbClr val="1F3F7A"/>
            </a:solidFill>
            <a:prstDash val="dash"/>
          </a:ln>
        </p:spPr>
      </p:sp>
      <p:sp>
        <p:nvSpPr>
          <p:cNvPr id="33" name="Shape 28"/>
          <p:cNvSpPr/>
          <p:nvPr/>
        </p:nvSpPr>
        <p:spPr>
          <a:xfrm>
            <a:off x="3194914" y="3245206"/>
            <a:ext cx="1627632" cy="1097280"/>
          </a:xfrm>
          <a:prstGeom prst="rect">
            <a:avLst/>
          </a:prstGeom>
          <a:solidFill>
            <a:srgbClr val="EEF2F8"/>
          </a:solidFill>
          <a:ln w="12700">
            <a:solidFill>
              <a:srgbClr val="EEF2F8"/>
            </a:solidFill>
            <a:prstDash val="solid"/>
          </a:ln>
        </p:spPr>
      </p:sp>
      <p:pic>
        <p:nvPicPr>
          <p:cNvPr id="34" name="Image 3" descr="/home/user/lxfs/pptx_build/figs/x_basketball.jpg">    </p:cNvPr>
          <p:cNvPicPr>
            <a:picLocks noChangeAspect="1"/>
          </p:cNvPicPr>
          <p:nvPr/>
        </p:nvPicPr>
        <p:blipFill>
          <a:blip r:embed="rId4"/>
          <a:stretch>
            <a:fillRect/>
          </a:stretch>
        </p:blipFill>
        <p:spPr>
          <a:xfrm>
            <a:off x="3819943" y="3290926"/>
            <a:ext cx="377574" cy="566928"/>
          </a:xfrm>
          <a:prstGeom prst="rect">
            <a:avLst/>
          </a:prstGeom>
        </p:spPr>
      </p:pic>
      <p:sp>
        <p:nvSpPr>
          <p:cNvPr id="35" name="Text 29"/>
          <p:cNvSpPr txBox="1"/>
          <p:nvPr/>
        </p:nvSpPr>
        <p:spPr>
          <a:xfrm>
            <a:off x="3240634" y="3876142"/>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新加坡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ActiveSG计划：模块化球场、全天候遮阳健身区</a:t>
            </a:r>
            <a:endParaRPr lang="en-US" sz="650" dirty="0"/>
          </a:p>
        </p:txBody>
      </p:sp>
      <p:sp>
        <p:nvSpPr>
          <p:cNvPr id="36" name="Shape 30"/>
          <p:cNvSpPr/>
          <p:nvPr/>
        </p:nvSpPr>
        <p:spPr>
          <a:xfrm>
            <a:off x="4981651" y="2713939"/>
            <a:ext cx="146304" cy="146304"/>
          </a:xfrm>
          <a:prstGeom prst="ellipse">
            <a:avLst/>
          </a:prstGeom>
          <a:solidFill>
            <a:srgbClr val="E07B2A"/>
          </a:solidFill>
          <a:ln w="12700">
            <a:solidFill>
              <a:srgbClr val="FFFFFF"/>
            </a:solidFill>
            <a:prstDash val="solid"/>
          </a:ln>
        </p:spPr>
      </p:sp>
      <p:sp>
        <p:nvSpPr>
          <p:cNvPr id="37" name="Text 31"/>
          <p:cNvSpPr txBox="1"/>
          <p:nvPr/>
        </p:nvSpPr>
        <p:spPr>
          <a:xfrm>
            <a:off x="4597603" y="2878531"/>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2016</a:t>
            </a:r>
            <a:endParaRPr lang="en-US" sz="900" dirty="0"/>
          </a:p>
        </p:txBody>
      </p:sp>
      <p:sp>
        <p:nvSpPr>
          <p:cNvPr id="38" name="Shape 32"/>
          <p:cNvSpPr/>
          <p:nvPr/>
        </p:nvSpPr>
        <p:spPr>
          <a:xfrm>
            <a:off x="5054803" y="2531059"/>
            <a:ext cx="0" cy="256032"/>
          </a:xfrm>
          <a:prstGeom prst="line">
            <a:avLst/>
          </a:prstGeom>
          <a:noFill/>
          <a:ln w="12700">
            <a:solidFill>
              <a:srgbClr val="E07B2A"/>
            </a:solidFill>
            <a:prstDash val="dash"/>
          </a:ln>
        </p:spPr>
      </p:sp>
      <p:sp>
        <p:nvSpPr>
          <p:cNvPr id="39" name="Shape 33"/>
          <p:cNvSpPr/>
          <p:nvPr/>
        </p:nvSpPr>
        <p:spPr>
          <a:xfrm>
            <a:off x="4240987" y="1433779"/>
            <a:ext cx="1627632" cy="1097280"/>
          </a:xfrm>
          <a:prstGeom prst="rect">
            <a:avLst/>
          </a:prstGeom>
          <a:solidFill>
            <a:srgbClr val="EEF2F8"/>
          </a:solidFill>
          <a:ln w="12700">
            <a:solidFill>
              <a:srgbClr val="EEF2F8"/>
            </a:solidFill>
            <a:prstDash val="solid"/>
          </a:ln>
        </p:spPr>
      </p:sp>
      <p:pic>
        <p:nvPicPr>
          <p:cNvPr id="40" name="Image 4" descr="/home/user/lxfs/pptx_build/figs/x_tennis.jpg">    </p:cNvPr>
          <p:cNvPicPr>
            <a:picLocks noChangeAspect="1"/>
          </p:cNvPicPr>
          <p:nvPr/>
        </p:nvPicPr>
        <p:blipFill>
          <a:blip r:embed="rId5"/>
          <a:stretch>
            <a:fillRect/>
          </a:stretch>
        </p:blipFill>
        <p:spPr>
          <a:xfrm>
            <a:off x="4866565" y="1479499"/>
            <a:ext cx="376476" cy="566928"/>
          </a:xfrm>
          <a:prstGeom prst="rect">
            <a:avLst/>
          </a:prstGeom>
        </p:spPr>
      </p:pic>
      <p:sp>
        <p:nvSpPr>
          <p:cNvPr id="41" name="Text 34"/>
          <p:cNvSpPr txBox="1"/>
          <p:nvPr/>
        </p:nvSpPr>
        <p:spPr>
          <a:xfrm>
            <a:off x="4286707" y="2064715"/>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《“健康中国2030”规划纲要》；《公园设计规范》GB 51192-2016</a:t>
            </a:r>
            <a:endParaRPr lang="en-US" sz="650" dirty="0"/>
          </a:p>
        </p:txBody>
      </p:sp>
      <p:sp>
        <p:nvSpPr>
          <p:cNvPr id="42" name="Shape 35"/>
          <p:cNvSpPr/>
          <p:nvPr/>
        </p:nvSpPr>
        <p:spPr>
          <a:xfrm>
            <a:off x="6027725" y="2511857"/>
            <a:ext cx="146304" cy="146304"/>
          </a:xfrm>
          <a:prstGeom prst="ellipse">
            <a:avLst/>
          </a:prstGeom>
          <a:solidFill>
            <a:srgbClr val="E07B2A"/>
          </a:solidFill>
          <a:ln w="12700">
            <a:solidFill>
              <a:srgbClr val="FFFFFF"/>
            </a:solidFill>
            <a:prstDash val="solid"/>
          </a:ln>
        </p:spPr>
      </p:sp>
      <p:sp>
        <p:nvSpPr>
          <p:cNvPr id="43" name="Text 36"/>
          <p:cNvSpPr txBox="1"/>
          <p:nvPr/>
        </p:nvSpPr>
        <p:spPr>
          <a:xfrm>
            <a:off x="5643677" y="2255825"/>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2018</a:t>
            </a:r>
            <a:endParaRPr lang="en-US" sz="900" dirty="0"/>
          </a:p>
        </p:txBody>
      </p:sp>
      <p:sp>
        <p:nvSpPr>
          <p:cNvPr id="44" name="Shape 37"/>
          <p:cNvSpPr/>
          <p:nvPr/>
        </p:nvSpPr>
        <p:spPr>
          <a:xfrm>
            <a:off x="6100877" y="2585009"/>
            <a:ext cx="0" cy="256032"/>
          </a:xfrm>
          <a:prstGeom prst="line">
            <a:avLst/>
          </a:prstGeom>
          <a:noFill/>
          <a:ln w="12700">
            <a:solidFill>
              <a:srgbClr val="E07B2A"/>
            </a:solidFill>
            <a:prstDash val="dash"/>
          </a:ln>
        </p:spPr>
      </p:sp>
      <p:sp>
        <p:nvSpPr>
          <p:cNvPr id="45" name="Shape 38"/>
          <p:cNvSpPr/>
          <p:nvPr/>
        </p:nvSpPr>
        <p:spPr>
          <a:xfrm>
            <a:off x="5287061" y="2841041"/>
            <a:ext cx="1627632" cy="1097280"/>
          </a:xfrm>
          <a:prstGeom prst="rect">
            <a:avLst/>
          </a:prstGeom>
          <a:solidFill>
            <a:srgbClr val="EEF2F8"/>
          </a:solidFill>
          <a:ln w="12700">
            <a:solidFill>
              <a:srgbClr val="EEF2F8"/>
            </a:solidFill>
            <a:prstDash val="solid"/>
          </a:ln>
        </p:spPr>
      </p:sp>
      <p:pic>
        <p:nvPicPr>
          <p:cNvPr id="46" name="Image 5" descr="/home/user/lxfs/pptx_build/figs/x_kites.jpg">    </p:cNvPr>
          <p:cNvPicPr>
            <a:picLocks noChangeAspect="1"/>
          </p:cNvPicPr>
          <p:nvPr/>
        </p:nvPicPr>
        <p:blipFill>
          <a:blip r:embed="rId6"/>
          <a:stretch>
            <a:fillRect/>
          </a:stretch>
        </p:blipFill>
        <p:spPr>
          <a:xfrm>
            <a:off x="5651825" y="2886761"/>
            <a:ext cx="898104" cy="566928"/>
          </a:xfrm>
          <a:prstGeom prst="rect">
            <a:avLst/>
          </a:prstGeom>
        </p:spPr>
      </p:pic>
      <p:sp>
        <p:nvSpPr>
          <p:cNvPr id="47" name="Text 39"/>
          <p:cNvSpPr txBox="1"/>
          <p:nvPr/>
        </p:nvSpPr>
        <p:spPr>
          <a:xfrm>
            <a:off x="5332781" y="3471977"/>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《城市居住区规划设计标准》GB 50180-2018：15分钟生活圈</a:t>
            </a:r>
            <a:endParaRPr lang="en-US" sz="650" dirty="0"/>
          </a:p>
        </p:txBody>
      </p:sp>
      <p:sp>
        <p:nvSpPr>
          <p:cNvPr id="48" name="Shape 40"/>
          <p:cNvSpPr/>
          <p:nvPr/>
        </p:nvSpPr>
        <p:spPr>
          <a:xfrm>
            <a:off x="7073798" y="2309774"/>
            <a:ext cx="146304" cy="146304"/>
          </a:xfrm>
          <a:prstGeom prst="ellipse">
            <a:avLst/>
          </a:prstGeom>
          <a:solidFill>
            <a:srgbClr val="E07B2A"/>
          </a:solidFill>
          <a:ln w="12700">
            <a:solidFill>
              <a:srgbClr val="FFFFFF"/>
            </a:solidFill>
            <a:prstDash val="solid"/>
          </a:ln>
        </p:spPr>
      </p:sp>
      <p:sp>
        <p:nvSpPr>
          <p:cNvPr id="49" name="Text 41"/>
          <p:cNvSpPr txBox="1"/>
          <p:nvPr/>
        </p:nvSpPr>
        <p:spPr>
          <a:xfrm>
            <a:off x="6689750" y="2474366"/>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0" name="Shape 42"/>
          <p:cNvSpPr/>
          <p:nvPr/>
        </p:nvSpPr>
        <p:spPr>
          <a:xfrm>
            <a:off x="7146950" y="2126894"/>
            <a:ext cx="0" cy="256032"/>
          </a:xfrm>
          <a:prstGeom prst="line">
            <a:avLst/>
          </a:prstGeom>
          <a:noFill/>
          <a:ln w="12700">
            <a:solidFill>
              <a:srgbClr val="E07B2A"/>
            </a:solidFill>
            <a:prstDash val="dash"/>
          </a:ln>
        </p:spPr>
      </p:sp>
      <p:sp>
        <p:nvSpPr>
          <p:cNvPr id="51" name="Shape 43"/>
          <p:cNvSpPr/>
          <p:nvPr/>
        </p:nvSpPr>
        <p:spPr>
          <a:xfrm>
            <a:off x="6333134" y="1029614"/>
            <a:ext cx="1627632" cy="1097280"/>
          </a:xfrm>
          <a:prstGeom prst="rect">
            <a:avLst/>
          </a:prstGeom>
          <a:solidFill>
            <a:srgbClr val="EEF2F8"/>
          </a:solidFill>
          <a:ln w="12700">
            <a:solidFill>
              <a:srgbClr val="EEF2F8"/>
            </a:solidFill>
            <a:prstDash val="solid"/>
          </a:ln>
        </p:spPr>
      </p:sp>
      <p:pic>
        <p:nvPicPr>
          <p:cNvPr id="52" name="Image 6" descr="/home/user/lxfs/pptx_build/figs/wh_2.jpg">    </p:cNvPr>
          <p:cNvPicPr>
            <a:picLocks noChangeAspect="1"/>
          </p:cNvPicPr>
          <p:nvPr/>
        </p:nvPicPr>
        <p:blipFill>
          <a:blip r:embed="rId7"/>
          <a:stretch>
            <a:fillRect/>
          </a:stretch>
        </p:blipFill>
        <p:spPr>
          <a:xfrm>
            <a:off x="6763873" y="1075334"/>
            <a:ext cx="766155" cy="566928"/>
          </a:xfrm>
          <a:prstGeom prst="rect">
            <a:avLst/>
          </a:prstGeom>
        </p:spPr>
      </p:pic>
      <p:sp>
        <p:nvSpPr>
          <p:cNvPr id="53" name="Text 44"/>
          <p:cNvSpPr txBox="1"/>
          <p:nvPr/>
        </p:nvSpPr>
        <p:spPr>
          <a:xfrm>
            <a:off x="6378854" y="1660550"/>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七部委《关于推进体育公园建设的指导意见》；T/CSUS 18-2021</a:t>
            </a:r>
            <a:endParaRPr lang="en-US" sz="650" dirty="0"/>
          </a:p>
        </p:txBody>
      </p:sp>
      <p:sp>
        <p:nvSpPr>
          <p:cNvPr id="54" name="Shape 45"/>
          <p:cNvSpPr/>
          <p:nvPr/>
        </p:nvSpPr>
        <p:spPr>
          <a:xfrm>
            <a:off x="8119872" y="2107692"/>
            <a:ext cx="146304" cy="146304"/>
          </a:xfrm>
          <a:prstGeom prst="ellipse">
            <a:avLst/>
          </a:prstGeom>
          <a:solidFill>
            <a:srgbClr val="E07B2A"/>
          </a:solidFill>
          <a:ln w="12700">
            <a:solidFill>
              <a:srgbClr val="FFFFFF"/>
            </a:solidFill>
            <a:prstDash val="solid"/>
          </a:ln>
        </p:spPr>
      </p:sp>
      <p:sp>
        <p:nvSpPr>
          <p:cNvPr id="55" name="Text 46"/>
          <p:cNvSpPr txBox="1"/>
          <p:nvPr/>
        </p:nvSpPr>
        <p:spPr>
          <a:xfrm>
            <a:off x="7735824" y="1851660"/>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6" name="Shape 47"/>
          <p:cNvSpPr/>
          <p:nvPr/>
        </p:nvSpPr>
        <p:spPr>
          <a:xfrm>
            <a:off x="8193024" y="2180844"/>
            <a:ext cx="0" cy="256032"/>
          </a:xfrm>
          <a:prstGeom prst="line">
            <a:avLst/>
          </a:prstGeom>
          <a:noFill/>
          <a:ln w="12700">
            <a:solidFill>
              <a:srgbClr val="E07B2A"/>
            </a:solidFill>
            <a:prstDash val="dash"/>
          </a:ln>
        </p:spPr>
      </p:sp>
      <p:sp>
        <p:nvSpPr>
          <p:cNvPr id="57" name="Shape 48"/>
          <p:cNvSpPr/>
          <p:nvPr/>
        </p:nvSpPr>
        <p:spPr>
          <a:xfrm>
            <a:off x="7452360" y="2436876"/>
            <a:ext cx="1371600" cy="1097280"/>
          </a:xfrm>
          <a:prstGeom prst="rect">
            <a:avLst/>
          </a:prstGeom>
          <a:solidFill>
            <a:srgbClr val="EEF2F8"/>
          </a:solidFill>
          <a:ln w="12700">
            <a:solidFill>
              <a:srgbClr val="EEF2F8"/>
            </a:solidFill>
            <a:prstDash val="solid"/>
          </a:ln>
        </p:spPr>
      </p:sp>
      <p:pic>
        <p:nvPicPr>
          <p:cNvPr id="58" name="Image 7" descr="/home/user/lxfs/pptx_build/figs/satellite.jpg">    </p:cNvPr>
          <p:cNvPicPr>
            <a:picLocks noChangeAspect="1"/>
          </p:cNvPicPr>
          <p:nvPr/>
        </p:nvPicPr>
        <p:blipFill>
          <a:blip r:embed="rId8"/>
          <a:stretch>
            <a:fillRect/>
          </a:stretch>
        </p:blipFill>
        <p:spPr>
          <a:xfrm>
            <a:off x="7778587" y="2482596"/>
            <a:ext cx="719146" cy="566928"/>
          </a:xfrm>
          <a:prstGeom prst="rect">
            <a:avLst/>
          </a:prstGeom>
        </p:spPr>
      </p:pic>
      <p:sp>
        <p:nvSpPr>
          <p:cNvPr id="59" name="Text 49"/>
          <p:cNvSpPr txBox="1"/>
          <p:nvPr/>
        </p:nvSpPr>
        <p:spPr>
          <a:xfrm>
            <a:off x="7498080" y="3067812"/>
            <a:ext cx="1280160"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仁寿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《仁寿县国土空间总体规划(2021-2035)》：城北新城公园城市</a:t>
            </a:r>
            <a:endParaRPr lang="en-US" sz="650" dirty="0"/>
          </a:p>
        </p:txBody>
      </p:sp>
      <p:sp>
        <p:nvSpPr>
          <p:cNvPr id="60" name="Text 50"/>
          <p:cNvSpPr txBox="1"/>
          <p:nvPr/>
        </p:nvSpPr>
        <p:spPr>
          <a:xfrm>
            <a:off x="457200" y="4846320"/>
            <a:ext cx="6400800" cy="2286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蓝色：国外；橙色：国内与地方。配图为公开图库示意照片、本文案例照片及场地卫星影像。</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案例参考（一）成都天府公园西区</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12</a:t>
            </a:r>
            <a:endParaRPr lang="en-US" sz="900" dirty="0"/>
          </a:p>
        </p:txBody>
      </p:sp>
      <p:pic>
        <p:nvPicPr>
          <p:cNvPr id="7" name="Image 0" descr="/home/user/lxfs/pptx_build/figs/tf_5.jpg">    </p:cNvPr>
          <p:cNvPicPr>
            <a:picLocks noChangeAspect="1"/>
          </p:cNvPicPr>
          <p:nvPr/>
        </p:nvPicPr>
        <p:blipFill>
          <a:blip r:embed="rId1"/>
          <a:stretch>
            <a:fillRect/>
          </a:stretch>
        </p:blipFill>
        <p:spPr>
          <a:xfrm>
            <a:off x="793269" y="932688"/>
            <a:ext cx="3442661"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建筑鸟瞰图</a:t>
            </a:r>
            <a:endParaRPr lang="en-US" sz="800" dirty="0"/>
          </a:p>
        </p:txBody>
      </p:sp>
      <p:pic>
        <p:nvPicPr>
          <p:cNvPr id="9" name="Image 1" descr="/home/user/lxfs/pptx_build/figs/tf_1.jpg">    </p:cNvPr>
          <p:cNvPicPr>
            <a:picLocks noChangeAspect="1"/>
          </p:cNvPicPr>
          <p:nvPr/>
        </p:nvPicPr>
        <p:blipFill>
          <a:blip r:embed="rId2"/>
          <a:stretch>
            <a:fillRect/>
          </a:stretch>
        </p:blipFill>
        <p:spPr>
          <a:xfrm>
            <a:off x="457200" y="3675888"/>
            <a:ext cx="960120" cy="718974"/>
          </a:xfrm>
          <a:prstGeom prst="rect">
            <a:avLst/>
          </a:prstGeom>
        </p:spPr>
      </p:pic>
      <p:sp>
        <p:nvSpPr>
          <p:cNvPr id="10" name="Text 6"/>
          <p:cNvSpPr txBox="1"/>
          <p:nvPr/>
        </p:nvSpPr>
        <p:spPr>
          <a:xfrm>
            <a:off x="457200" y="4413150"/>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公园河流</a:t>
            </a:r>
            <a:endParaRPr lang="en-US" sz="800" dirty="0"/>
          </a:p>
        </p:txBody>
      </p:sp>
      <p:pic>
        <p:nvPicPr>
          <p:cNvPr id="11" name="Image 2" descr="/home/user/lxfs/pptx_build/figs/tf_2.jpg">    </p:cNvPr>
          <p:cNvPicPr>
            <a:picLocks noChangeAspect="1"/>
          </p:cNvPicPr>
          <p:nvPr/>
        </p:nvPicPr>
        <p:blipFill>
          <a:blip r:embed="rId3"/>
          <a:stretch>
            <a:fillRect/>
          </a:stretch>
        </p:blipFill>
        <p:spPr>
          <a:xfrm>
            <a:off x="1638077" y="3675888"/>
            <a:ext cx="701486" cy="868680"/>
          </a:xfrm>
          <a:prstGeom prst="rect">
            <a:avLst/>
          </a:prstGeom>
        </p:spPr>
      </p:pic>
      <p:sp>
        <p:nvSpPr>
          <p:cNvPr id="12" name="Text 7"/>
          <p:cNvSpPr txBox="1"/>
          <p:nvPr/>
        </p:nvSpPr>
        <p:spPr>
          <a:xfrm>
            <a:off x="150876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河流植物</a:t>
            </a:r>
            <a:endParaRPr lang="en-US" sz="800" dirty="0"/>
          </a:p>
        </p:txBody>
      </p:sp>
      <p:pic>
        <p:nvPicPr>
          <p:cNvPr id="13" name="Image 3" descr="/home/user/lxfs/pptx_build/figs/tf_3.jpg">    </p:cNvPr>
          <p:cNvPicPr>
            <a:picLocks noChangeAspect="1"/>
          </p:cNvPicPr>
          <p:nvPr/>
        </p:nvPicPr>
        <p:blipFill>
          <a:blip r:embed="rId4"/>
          <a:stretch>
            <a:fillRect/>
          </a:stretch>
        </p:blipFill>
        <p:spPr>
          <a:xfrm>
            <a:off x="2695595" y="3675888"/>
            <a:ext cx="689571" cy="868680"/>
          </a:xfrm>
          <a:prstGeom prst="rect">
            <a:avLst/>
          </a:prstGeom>
        </p:spPr>
      </p:pic>
      <p:sp>
        <p:nvSpPr>
          <p:cNvPr id="14" name="Text 8"/>
          <p:cNvSpPr txBox="1"/>
          <p:nvPr/>
        </p:nvSpPr>
        <p:spPr>
          <a:xfrm>
            <a:off x="256032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道路小品</a:t>
            </a:r>
            <a:endParaRPr lang="en-US" sz="800" dirty="0"/>
          </a:p>
        </p:txBody>
      </p:sp>
      <p:pic>
        <p:nvPicPr>
          <p:cNvPr id="15" name="Image 4" descr="/home/user/lxfs/pptx_build/figs/tf_4.jpg">    </p:cNvPr>
          <p:cNvPicPr>
            <a:picLocks noChangeAspect="1"/>
          </p:cNvPicPr>
          <p:nvPr/>
        </p:nvPicPr>
        <p:blipFill>
          <a:blip r:embed="rId5"/>
          <a:stretch>
            <a:fillRect/>
          </a:stretch>
        </p:blipFill>
        <p:spPr>
          <a:xfrm>
            <a:off x="3611880" y="3675888"/>
            <a:ext cx="960120" cy="717356"/>
          </a:xfrm>
          <a:prstGeom prst="rect">
            <a:avLst/>
          </a:prstGeom>
        </p:spPr>
      </p:pic>
      <p:sp>
        <p:nvSpPr>
          <p:cNvPr id="16" name="Text 9"/>
          <p:cNvSpPr txBox="1"/>
          <p:nvPr/>
        </p:nvSpPr>
        <p:spPr>
          <a:xfrm>
            <a:off x="3611880" y="4411532"/>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公园周围交通状况</a:t>
            </a:r>
            <a:endParaRPr lang="en-US" sz="800" dirty="0"/>
          </a:p>
        </p:txBody>
      </p:sp>
      <p:sp>
        <p:nvSpPr>
          <p:cNvPr id="17" name="Text 10"/>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8" name="Text 11"/>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项目位于天府新区高密度住宅组团之间，用地7.2公顷，服务周边20余个居住小区。设计采用“一轴多组团”布局，沿城市主干道设置宽幅生态林带降噪；内部划分老年康养区、儿童分龄游乐区、青少年运动区、自然科普区；大量采用香樟、桢楠、细叶桢楠等四川乡土树种，搭配下凹式雨水花园实现海绵功能。</a:t>
            </a:r>
            <a:endParaRPr lang="en-US" sz="900" dirty="0"/>
          </a:p>
        </p:txBody>
      </p:sp>
      <p:sp>
        <p:nvSpPr>
          <p:cNvPr id="19" name="Shape 12"/>
          <p:cNvSpPr/>
          <p:nvPr/>
        </p:nvSpPr>
        <p:spPr>
          <a:xfrm>
            <a:off x="4800600" y="3017520"/>
            <a:ext cx="822960" cy="274320"/>
          </a:xfrm>
          <a:prstGeom prst="rect">
            <a:avLst/>
          </a:prstGeom>
          <a:solidFill>
            <a:srgbClr val="E07B2A"/>
          </a:solidFill>
          <a:ln w="12700">
            <a:solidFill>
              <a:srgbClr val="E07B2A"/>
            </a:solidFill>
            <a:prstDash val="solid"/>
          </a:ln>
        </p:spPr>
      </p:sp>
      <p:sp>
        <p:nvSpPr>
          <p:cNvPr id="20" name="Text 13"/>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21" name="Text 14"/>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主干道连续多层生态缓冲林带布局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全龄分段运动场地划分模式</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多层乡土植物复层群落配置手法</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案例参考（二）成都天府牧山活力体育公园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13</a:t>
            </a:r>
            <a:endParaRPr lang="en-US" sz="900" dirty="0"/>
          </a:p>
        </p:txBody>
      </p:sp>
      <p:pic>
        <p:nvPicPr>
          <p:cNvPr id="7" name="Image 0" descr="/home/user/lxfs/pptx_build/figs/ms_2.jpg">    </p:cNvPr>
          <p:cNvPicPr>
            <a:picLocks noChangeAspect="1"/>
          </p:cNvPicPr>
          <p:nvPr/>
        </p:nvPicPr>
        <p:blipFill>
          <a:blip r:embed="rId1"/>
          <a:stretch>
            <a:fillRect/>
          </a:stretch>
        </p:blipFill>
        <p:spPr>
          <a:xfrm>
            <a:off x="457200" y="932688"/>
            <a:ext cx="4114800" cy="2315834"/>
          </a:xfrm>
          <a:prstGeom prst="rect">
            <a:avLst/>
          </a:prstGeom>
        </p:spPr>
      </p:pic>
      <p:sp>
        <p:nvSpPr>
          <p:cNvPr id="8" name="Text 5"/>
          <p:cNvSpPr txBox="1"/>
          <p:nvPr/>
        </p:nvSpPr>
        <p:spPr>
          <a:xfrm>
            <a:off x="457200" y="3266810"/>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公园总平面鸟瞰图</a:t>
            </a:r>
            <a:endParaRPr lang="en-US" sz="800" dirty="0"/>
          </a:p>
        </p:txBody>
      </p:sp>
      <p:pic>
        <p:nvPicPr>
          <p:cNvPr id="9" name="Image 1" descr="/home/user/lxfs/pptx_build/figs/ms_1.jpg">    </p:cNvPr>
          <p:cNvPicPr>
            <a:picLocks noChangeAspect="1"/>
          </p:cNvPicPr>
          <p:nvPr/>
        </p:nvPicPr>
        <p:blipFill>
          <a:blip r:embed="rId2"/>
          <a:stretch>
            <a:fillRect/>
          </a:stretch>
        </p:blipFill>
        <p:spPr>
          <a:xfrm>
            <a:off x="457200" y="3675888"/>
            <a:ext cx="1310640" cy="736113"/>
          </a:xfrm>
          <a:prstGeom prst="rect">
            <a:avLst/>
          </a:prstGeom>
        </p:spPr>
      </p:pic>
      <p:sp>
        <p:nvSpPr>
          <p:cNvPr id="10" name="Text 6"/>
          <p:cNvSpPr txBox="1"/>
          <p:nvPr/>
        </p:nvSpPr>
        <p:spPr>
          <a:xfrm>
            <a:off x="457200" y="4430289"/>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球类集中区效果图</a:t>
            </a:r>
            <a:endParaRPr lang="en-US" sz="800" dirty="0"/>
          </a:p>
        </p:txBody>
      </p:sp>
      <p:pic>
        <p:nvPicPr>
          <p:cNvPr id="11" name="Image 2" descr="/home/user/lxfs/pptx_build/figs/ms_3.jpg">    </p:cNvPr>
          <p:cNvPicPr>
            <a:picLocks noChangeAspect="1"/>
          </p:cNvPicPr>
          <p:nvPr/>
        </p:nvPicPr>
        <p:blipFill>
          <a:blip r:embed="rId3"/>
          <a:stretch>
            <a:fillRect/>
          </a:stretch>
        </p:blipFill>
        <p:spPr>
          <a:xfrm>
            <a:off x="1859280" y="3675888"/>
            <a:ext cx="1310640" cy="795016"/>
          </a:xfrm>
          <a:prstGeom prst="rect">
            <a:avLst/>
          </a:prstGeom>
        </p:spPr>
      </p:pic>
      <p:sp>
        <p:nvSpPr>
          <p:cNvPr id="12" name="Text 7"/>
          <p:cNvSpPr txBox="1"/>
          <p:nvPr/>
        </p:nvSpPr>
        <p:spPr>
          <a:xfrm>
            <a:off x="1859280" y="448919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室内运动场地</a:t>
            </a:r>
            <a:endParaRPr lang="en-US" sz="800" dirty="0"/>
          </a:p>
        </p:txBody>
      </p:sp>
      <p:pic>
        <p:nvPicPr>
          <p:cNvPr id="13" name="Image 3" descr="/home/user/lxfs/pptx_build/figs/ms_4.jpg">    </p:cNvPr>
          <p:cNvPicPr>
            <a:picLocks noChangeAspect="1"/>
          </p:cNvPicPr>
          <p:nvPr/>
        </p:nvPicPr>
        <p:blipFill>
          <a:blip r:embed="rId4"/>
          <a:stretch>
            <a:fillRect/>
          </a:stretch>
        </p:blipFill>
        <p:spPr>
          <a:xfrm>
            <a:off x="3261360" y="3675888"/>
            <a:ext cx="1310640" cy="736435"/>
          </a:xfrm>
          <a:prstGeom prst="rect">
            <a:avLst/>
          </a:prstGeom>
        </p:spPr>
      </p:pic>
      <p:sp>
        <p:nvSpPr>
          <p:cNvPr id="14" name="Text 8"/>
          <p:cNvSpPr txBox="1"/>
          <p:nvPr/>
        </p:nvSpPr>
        <p:spPr>
          <a:xfrm>
            <a:off x="3261360" y="4430611"/>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阳光草坪区</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位于成都市新津区花源街道，地处新城成片居住组团核心腹地，占地6.39公顷，为城市规划留白绿地全新营建，区位、平缓场地基底与本课题仁寿8.6公顷地块高度匹配。采用“一轴一环五组团”结构，外围彩色环形健康步道串联轻量化户外运动场地，内部划分青少年潮流运动区、分龄儿童游乐区、老年康养林荫区、共享阳光草坪、乡土海绵花境；北侧紧邻主干道设置多层乡土乔木降噪防护林，四面分设人行出入口，造价适配川南县域建设标准。</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县域留白绿地体育公园整体规划模式，“跃动健身+生态栖居”一体化</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依托日照条件分区布局全龄活动场地</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主干道多层乡土植物降噪隔离林带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轻量化设施适配县城低成本落地</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案例参考（三）苏州相城活力体育公园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14</a:t>
            </a:r>
            <a:endParaRPr lang="en-US" sz="900" dirty="0"/>
          </a:p>
        </p:txBody>
      </p:sp>
      <p:pic>
        <p:nvPicPr>
          <p:cNvPr id="7" name="Image 0" descr="/home/user/lxfs/pptx_build/figs/sz_2.jpg">    </p:cNvPr>
          <p:cNvPicPr>
            <a:picLocks noChangeAspect="1"/>
          </p:cNvPicPr>
          <p:nvPr/>
        </p:nvPicPr>
        <p:blipFill>
          <a:blip r:embed="rId1"/>
          <a:stretch>
            <a:fillRect/>
          </a:stretch>
        </p:blipFill>
        <p:spPr>
          <a:xfrm>
            <a:off x="662940" y="932688"/>
            <a:ext cx="3703320"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公园周围交通情况</a:t>
            </a:r>
            <a:endParaRPr lang="en-US" sz="800" dirty="0"/>
          </a:p>
        </p:txBody>
      </p:sp>
      <p:pic>
        <p:nvPicPr>
          <p:cNvPr id="9" name="Image 1" descr="/home/user/lxfs/pptx_build/figs/sz_1.jpg">    </p:cNvPr>
          <p:cNvPicPr>
            <a:picLocks noChangeAspect="1"/>
          </p:cNvPicPr>
          <p:nvPr/>
        </p:nvPicPr>
        <p:blipFill>
          <a:blip r:embed="rId2"/>
          <a:stretch>
            <a:fillRect/>
          </a:stretch>
        </p:blipFill>
        <p:spPr>
          <a:xfrm>
            <a:off x="701532" y="3675888"/>
            <a:ext cx="821977" cy="868680"/>
          </a:xfrm>
          <a:prstGeom prst="rect">
            <a:avLst/>
          </a:prstGeom>
        </p:spPr>
      </p:pic>
      <p:sp>
        <p:nvSpPr>
          <p:cNvPr id="10" name="Text 6"/>
          <p:cNvSpPr txBox="1"/>
          <p:nvPr/>
        </p:nvSpPr>
        <p:spPr>
          <a:xfrm>
            <a:off x="45720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极限运动区</a:t>
            </a:r>
            <a:endParaRPr lang="en-US" sz="800" dirty="0"/>
          </a:p>
        </p:txBody>
      </p:sp>
      <p:pic>
        <p:nvPicPr>
          <p:cNvPr id="11" name="Image 2" descr="/home/user/lxfs/pptx_build/figs/sz_3.jpg">    </p:cNvPr>
          <p:cNvPicPr>
            <a:picLocks noChangeAspect="1"/>
          </p:cNvPicPr>
          <p:nvPr/>
        </p:nvPicPr>
        <p:blipFill>
          <a:blip r:embed="rId3"/>
          <a:stretch>
            <a:fillRect/>
          </a:stretch>
        </p:blipFill>
        <p:spPr>
          <a:xfrm>
            <a:off x="2189188" y="3675888"/>
            <a:ext cx="650825" cy="868680"/>
          </a:xfrm>
          <a:prstGeom prst="rect">
            <a:avLst/>
          </a:prstGeom>
        </p:spPr>
      </p:pic>
      <p:sp>
        <p:nvSpPr>
          <p:cNvPr id="12" name="Text 7"/>
          <p:cNvSpPr txBox="1"/>
          <p:nvPr/>
        </p:nvSpPr>
        <p:spPr>
          <a:xfrm>
            <a:off x="185928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儿童娱乐区域</a:t>
            </a:r>
            <a:endParaRPr lang="en-US" sz="800" dirty="0"/>
          </a:p>
        </p:txBody>
      </p:sp>
      <p:pic>
        <p:nvPicPr>
          <p:cNvPr id="13" name="Image 3" descr="/home/user/lxfs/pptx_build/figs/sz_4.jpg">    </p:cNvPr>
          <p:cNvPicPr>
            <a:picLocks noChangeAspect="1"/>
          </p:cNvPicPr>
          <p:nvPr/>
        </p:nvPicPr>
        <p:blipFill>
          <a:blip r:embed="rId4"/>
          <a:stretch>
            <a:fillRect/>
          </a:stretch>
        </p:blipFill>
        <p:spPr>
          <a:xfrm>
            <a:off x="3261360" y="3675888"/>
            <a:ext cx="1310640" cy="665266"/>
          </a:xfrm>
          <a:prstGeom prst="rect">
            <a:avLst/>
          </a:prstGeom>
        </p:spPr>
      </p:pic>
      <p:sp>
        <p:nvSpPr>
          <p:cNvPr id="14" name="Text 8"/>
          <p:cNvSpPr txBox="1"/>
          <p:nvPr/>
        </p:nvSpPr>
        <p:spPr>
          <a:xfrm>
            <a:off x="3261360" y="435944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植物小品</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城市新区规划绿地全新建设，总面积13.6公顷，面积接近本设计地块，场地有平缓台地与低洼地块。依托地势打造海绵水景，步道串联运动场地与林下休憩空间，主干道沿线设置连续绿化隔离带，形成“动可健身，静可栖林”的格局。每一处球类、游乐运动组团就近配套林下廊架、休闲平台；海绵调蓄空间与林下栖居景观一体化设计，四季分层乡土乔灌搭配，高度契合“跃动·栖园”设计主题。</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海绵雨水景观与林下休憩空间融合</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每个运动组团就近配套便民栖居节点</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连续式主干道降噪隔离林带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多点分散休憩构筑物，多层次林下栖居场景</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案例参考（四）芜湖长江三桥桥下体育公园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15</a:t>
            </a:r>
            <a:endParaRPr lang="en-US" sz="900" dirty="0"/>
          </a:p>
        </p:txBody>
      </p:sp>
      <p:pic>
        <p:nvPicPr>
          <p:cNvPr id="7" name="Image 0" descr="/home/user/lxfs/pptx_build/figs/wh_2.jpg">    </p:cNvPr>
          <p:cNvPicPr>
            <a:picLocks noChangeAspect="1"/>
          </p:cNvPicPr>
          <p:nvPr/>
        </p:nvPicPr>
        <p:blipFill>
          <a:blip r:embed="rId1"/>
          <a:stretch>
            <a:fillRect/>
          </a:stretch>
        </p:blipFill>
        <p:spPr>
          <a:xfrm>
            <a:off x="846359" y="932688"/>
            <a:ext cx="3336482"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周围交通情况</a:t>
            </a:r>
            <a:endParaRPr lang="en-US" sz="800" dirty="0"/>
          </a:p>
        </p:txBody>
      </p:sp>
      <p:pic>
        <p:nvPicPr>
          <p:cNvPr id="9" name="Image 1" descr="/home/user/lxfs/pptx_build/figs/wh_1.jpg">    </p:cNvPr>
          <p:cNvPicPr>
            <a:picLocks noChangeAspect="1"/>
          </p:cNvPicPr>
          <p:nvPr/>
        </p:nvPicPr>
        <p:blipFill>
          <a:blip r:embed="rId2"/>
          <a:stretch>
            <a:fillRect/>
          </a:stretch>
        </p:blipFill>
        <p:spPr>
          <a:xfrm>
            <a:off x="1864055" y="3675888"/>
            <a:ext cx="1301090" cy="868680"/>
          </a:xfrm>
          <a:prstGeom prst="rect">
            <a:avLst/>
          </a:prstGeom>
        </p:spPr>
      </p:pic>
      <p:sp>
        <p:nvSpPr>
          <p:cNvPr id="10" name="Text 6"/>
          <p:cNvSpPr txBox="1"/>
          <p:nvPr/>
        </p:nvSpPr>
        <p:spPr>
          <a:xfrm>
            <a:off x="457200" y="4562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公园跑道（桥下全天候运动空间）</a:t>
            </a:r>
            <a:endParaRPr lang="en-US" sz="800" dirty="0"/>
          </a:p>
        </p:txBody>
      </p:sp>
      <p:sp>
        <p:nvSpPr>
          <p:cNvPr id="11" name="Text 7"/>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2" name="Text 8"/>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总用地15.5公顷，利用高架桥下闲置灰色空间改造而成，场地天然形成大面积遮阳区域，配套4片篮球场、2片五人制足球场、羽毛球场、门球、轮滑场地与多处老年健身路径、分龄儿童乐园，贯穿彩色透水健身环线，搭配沿线雨水花园，服务周边7个大型社区居民。依托桥体天然遮阴打造全天候运动空间，全场采用彩色透水塑胶铺装，搭配线性生态植草沟构建简易海绵体系；运动场地模块化划分，人群互不干扰。</a:t>
            </a:r>
            <a:endParaRPr lang="en-US" sz="900" dirty="0"/>
          </a:p>
        </p:txBody>
      </p:sp>
      <p:sp>
        <p:nvSpPr>
          <p:cNvPr id="13" name="Shape 9"/>
          <p:cNvSpPr/>
          <p:nvPr/>
        </p:nvSpPr>
        <p:spPr>
          <a:xfrm>
            <a:off x="4800600" y="3017520"/>
            <a:ext cx="822960" cy="274320"/>
          </a:xfrm>
          <a:prstGeom prst="rect">
            <a:avLst/>
          </a:prstGeom>
          <a:solidFill>
            <a:srgbClr val="E07B2A"/>
          </a:solidFill>
          <a:ln w="12700">
            <a:solidFill>
              <a:srgbClr val="E07B2A"/>
            </a:solidFill>
            <a:prstDash val="solid"/>
          </a:ln>
        </p:spPr>
      </p:sp>
      <p:sp>
        <p:nvSpPr>
          <p:cNvPr id="14" name="Text 10"/>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5" name="Text 11"/>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全天候遮阳运动场地设计思路，适配仁寿夏季高温</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模块化球类场地集约布局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透水铺装+植草沟一体化海绵做法</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全年龄段运动设施均衡配置</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Overview of Project Research</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16</a:t>
            </a:r>
            <a:endParaRPr lang="en-US" sz="900" dirty="0"/>
          </a:p>
        </p:txBody>
      </p:sp>
      <p:pic>
        <p:nvPicPr>
          <p:cNvPr id="6" name="Image 0" descr="/home/user/lxfs/pptx_build/figs/satellite.jpg">    </p:cNvPr>
          <p:cNvPicPr>
            <a:picLocks noChangeAspect="1"/>
          </p:cNvPicPr>
          <p:nvPr/>
        </p:nvPicPr>
        <p:blipFill>
          <a:blip r:embed="rId1"/>
          <a:stretch>
            <a:fillRect/>
          </a:stretch>
        </p:blipFill>
        <p:spPr>
          <a:xfrm>
            <a:off x="5501240" y="822960"/>
            <a:ext cx="2667800" cy="2103120"/>
          </a:xfrm>
          <a:prstGeom prst="rect">
            <a:avLst/>
          </a:prstGeom>
        </p:spPr>
      </p:pic>
      <p:pic>
        <p:nvPicPr>
          <p:cNvPr id="7" name="Image 1" descr="/home/user/lxfs/pptx_build/figs/site_2.jpg">    </p:cNvPr>
          <p:cNvPicPr>
            <a:picLocks noChangeAspect="1"/>
          </p:cNvPicPr>
          <p:nvPr/>
        </p:nvPicPr>
        <p:blipFill>
          <a:blip r:embed="rId2"/>
          <a:stretch>
            <a:fillRect/>
          </a:stretch>
        </p:blipFill>
        <p:spPr>
          <a:xfrm>
            <a:off x="4846320" y="3017520"/>
            <a:ext cx="1920240" cy="1098156"/>
          </a:xfrm>
          <a:prstGeom prst="rect">
            <a:avLst/>
          </a:prstGeom>
        </p:spPr>
      </p:pic>
      <p:pic>
        <p:nvPicPr>
          <p:cNvPr id="8" name="Image 2" descr="/home/user/lxfs/pptx_build/figs/site_4.jpg">    </p:cNvPr>
          <p:cNvPicPr>
            <a:picLocks noChangeAspect="1"/>
          </p:cNvPicPr>
          <p:nvPr/>
        </p:nvPicPr>
        <p:blipFill>
          <a:blip r:embed="rId3"/>
          <a:stretch>
            <a:fillRect/>
          </a:stretch>
        </p:blipFill>
        <p:spPr>
          <a:xfrm>
            <a:off x="6903720" y="3017520"/>
            <a:ext cx="1920240" cy="1094659"/>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02</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项目研究概述</a:t>
            </a:r>
            <a:endParaRPr lang="en-US" sz="2200" dirty="0"/>
          </a:p>
        </p:txBody>
      </p:sp>
      <p:sp>
        <p:nvSpPr>
          <p:cNvPr id="11" name="Text 6"/>
          <p:cNvSpPr txBox="1"/>
          <p:nvPr/>
        </p:nvSpPr>
        <p:spPr>
          <a:xfrm>
            <a:off x="54864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p:txBody>
      </p:sp>
      <p:sp>
        <p:nvSpPr>
          <p:cNvPr id="12" name="Text 7"/>
          <p:cNvSpPr txBox="1"/>
          <p:nvPr/>
        </p:nvSpPr>
        <p:spPr>
          <a:xfrm>
            <a:off x="269748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Upper-level Planning</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 上位规划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17</a:t>
            </a:r>
            <a:endParaRPr lang="en-US" sz="900" dirty="0"/>
          </a:p>
        </p:txBody>
      </p:sp>
      <p:pic>
        <p:nvPicPr>
          <p:cNvPr id="7" name="Image 0" descr="/home/user/lxfs/pptx_build/figs/map.jpg">    </p:cNvPr>
          <p:cNvPicPr>
            <a:picLocks noChangeAspect="1"/>
          </p:cNvPicPr>
          <p:nvPr/>
        </p:nvPicPr>
        <p:blipFill>
          <a:blip r:embed="rId1"/>
          <a:stretch>
            <a:fillRect/>
          </a:stretch>
        </p:blipFill>
        <p:spPr>
          <a:xfrm>
            <a:off x="489677" y="932688"/>
            <a:ext cx="2038166" cy="3657600"/>
          </a:xfrm>
          <a:prstGeom prst="rect">
            <a:avLst/>
          </a:prstGeom>
        </p:spPr>
      </p:pic>
      <p:sp>
        <p:nvSpPr>
          <p:cNvPr id="8" name="Text 5"/>
          <p:cNvSpPr txBox="1"/>
          <p:nvPr/>
        </p:nvSpPr>
        <p:spPr>
          <a:xfrm>
            <a:off x="457200" y="4608576"/>
            <a:ext cx="2103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场地及周边现状地图</a:t>
            </a:r>
            <a:endParaRPr lang="en-US" sz="800" dirty="0"/>
          </a:p>
        </p:txBody>
      </p:sp>
      <p:sp>
        <p:nvSpPr>
          <p:cNvPr id="9" name="Text 6"/>
          <p:cNvSpPr txBox="1"/>
          <p:nvPr/>
        </p:nvSpPr>
        <p:spPr>
          <a:xfrm>
            <a:off x="283464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规划要点</a:t>
            </a:r>
            <a:endParaRPr lang="en-US" sz="1100" dirty="0"/>
          </a:p>
        </p:txBody>
      </p:sp>
      <p:sp>
        <p:nvSpPr>
          <p:cNvPr id="10" name="Shape 7"/>
          <p:cNvSpPr/>
          <p:nvPr/>
        </p:nvSpPr>
        <p:spPr>
          <a:xfrm>
            <a:off x="2834640" y="1325880"/>
            <a:ext cx="329184" cy="329184"/>
          </a:xfrm>
          <a:prstGeom prst="ellipse">
            <a:avLst/>
          </a:prstGeom>
          <a:solidFill>
            <a:srgbClr val="1F3F7A"/>
          </a:solidFill>
          <a:ln w="12700">
            <a:solidFill>
              <a:srgbClr val="1F3F7A"/>
            </a:solidFill>
            <a:prstDash val="solid"/>
          </a:ln>
        </p:spPr>
      </p:sp>
      <p:sp>
        <p:nvSpPr>
          <p:cNvPr id="11" name="Text 8"/>
          <p:cNvSpPr txBox="1"/>
          <p:nvPr/>
        </p:nvSpPr>
        <p:spPr>
          <a:xfrm>
            <a:off x="2834640" y="13258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3246120" y="128016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城北新城定位</a:t>
            </a:r>
            <a:endParaRPr lang="en-US" sz="1000" dirty="0"/>
          </a:p>
        </p:txBody>
      </p:sp>
      <p:sp>
        <p:nvSpPr>
          <p:cNvPr id="13" name="Text 10"/>
          <p:cNvSpPr txBox="1"/>
          <p:nvPr/>
        </p:nvSpPr>
        <p:spPr>
          <a:xfrm>
            <a:off x="3200400" y="153619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仁寿向北拓展核心宜居板块，衔接成德眉资同城化片区</a:t>
            </a:r>
            <a:endParaRPr lang="en-US" sz="850" dirty="0"/>
          </a:p>
        </p:txBody>
      </p:sp>
      <p:sp>
        <p:nvSpPr>
          <p:cNvPr id="14" name="Shape 11"/>
          <p:cNvSpPr/>
          <p:nvPr/>
        </p:nvSpPr>
        <p:spPr>
          <a:xfrm>
            <a:off x="2834640" y="2148840"/>
            <a:ext cx="329184" cy="329184"/>
          </a:xfrm>
          <a:prstGeom prst="ellipse">
            <a:avLst/>
          </a:prstGeom>
          <a:solidFill>
            <a:srgbClr val="1F3F7A"/>
          </a:solidFill>
          <a:ln w="12700">
            <a:solidFill>
              <a:srgbClr val="1F3F7A"/>
            </a:solidFill>
            <a:prstDash val="solid"/>
          </a:ln>
        </p:spPr>
      </p:sp>
      <p:sp>
        <p:nvSpPr>
          <p:cNvPr id="15" name="Text 12"/>
          <p:cNvSpPr txBox="1"/>
          <p:nvPr/>
        </p:nvSpPr>
        <p:spPr>
          <a:xfrm>
            <a:off x="2834640" y="2148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3246120" y="210312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建设目标</a:t>
            </a:r>
            <a:endParaRPr lang="en-US" sz="1000" dirty="0"/>
          </a:p>
        </p:txBody>
      </p:sp>
      <p:sp>
        <p:nvSpPr>
          <p:cNvPr id="17" name="Text 14"/>
          <p:cNvSpPr txBox="1"/>
          <p:nvPr/>
        </p:nvSpPr>
        <p:spPr>
          <a:xfrm>
            <a:off x="3200400" y="235915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三生融合辐射周边、公园城市</a:t>
            </a:r>
            <a:endParaRPr lang="en-US" sz="850" dirty="0"/>
          </a:p>
        </p:txBody>
      </p:sp>
      <p:sp>
        <p:nvSpPr>
          <p:cNvPr id="18" name="Shape 15"/>
          <p:cNvSpPr/>
          <p:nvPr/>
        </p:nvSpPr>
        <p:spPr>
          <a:xfrm>
            <a:off x="2834640" y="2971800"/>
            <a:ext cx="329184" cy="329184"/>
          </a:xfrm>
          <a:prstGeom prst="ellipse">
            <a:avLst/>
          </a:prstGeom>
          <a:solidFill>
            <a:srgbClr val="1F3F7A"/>
          </a:solidFill>
          <a:ln w="12700">
            <a:solidFill>
              <a:srgbClr val="1F3F7A"/>
            </a:solidFill>
            <a:prstDash val="solid"/>
          </a:ln>
        </p:spPr>
      </p:sp>
      <p:sp>
        <p:nvSpPr>
          <p:cNvPr id="19" name="Text 16"/>
          <p:cNvSpPr txBox="1"/>
          <p:nvPr/>
        </p:nvSpPr>
        <p:spPr>
          <a:xfrm>
            <a:off x="2834640" y="2971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0" name="Text 17"/>
          <p:cNvSpPr txBox="1"/>
          <p:nvPr/>
        </p:nvSpPr>
        <p:spPr>
          <a:xfrm>
            <a:off x="3246120" y="292608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绿地要求</a:t>
            </a:r>
            <a:endParaRPr lang="en-US" sz="1000" dirty="0"/>
          </a:p>
        </p:txBody>
      </p:sp>
      <p:sp>
        <p:nvSpPr>
          <p:cNvPr id="21" name="Text 18"/>
          <p:cNvSpPr txBox="1"/>
          <p:nvPr/>
        </p:nvSpPr>
        <p:spPr>
          <a:xfrm>
            <a:off x="3200400" y="318211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完善居住区集中绿地布局，补齐城市绿色公共空间短板</a:t>
            </a:r>
            <a:endParaRPr lang="en-US" sz="850" dirty="0"/>
          </a:p>
        </p:txBody>
      </p:sp>
      <p:sp>
        <p:nvSpPr>
          <p:cNvPr id="22" name="Shape 19"/>
          <p:cNvSpPr/>
          <p:nvPr/>
        </p:nvSpPr>
        <p:spPr>
          <a:xfrm>
            <a:off x="2834640" y="3794760"/>
            <a:ext cx="329184" cy="329184"/>
          </a:xfrm>
          <a:prstGeom prst="ellipse">
            <a:avLst/>
          </a:prstGeom>
          <a:solidFill>
            <a:srgbClr val="E07B2A"/>
          </a:solidFill>
          <a:ln w="12700">
            <a:solidFill>
              <a:srgbClr val="E07B2A"/>
            </a:solidFill>
            <a:prstDash val="solid"/>
          </a:ln>
        </p:spPr>
      </p:sp>
      <p:sp>
        <p:nvSpPr>
          <p:cNvPr id="23" name="Text 20"/>
          <p:cNvSpPr txBox="1"/>
          <p:nvPr/>
        </p:nvSpPr>
        <p:spPr>
          <a:xfrm>
            <a:off x="2834640" y="3794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4" name="Text 21"/>
          <p:cNvSpPr txBox="1"/>
          <p:nvPr/>
        </p:nvSpPr>
        <p:spPr>
          <a:xfrm>
            <a:off x="3246120" y="374904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本地块</a:t>
            </a:r>
            <a:endParaRPr lang="en-US" sz="1000" dirty="0"/>
          </a:p>
        </p:txBody>
      </p:sp>
      <p:sp>
        <p:nvSpPr>
          <p:cNvPr id="25" name="Text 22"/>
          <p:cNvSpPr txBox="1"/>
          <p:nvPr/>
        </p:nvSpPr>
        <p:spPr>
          <a:xfrm>
            <a:off x="3200400" y="400507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规划预留集中绿地，承担片区级综合公园功能，服务周边高密度居住区</a:t>
            </a:r>
            <a:endParaRPr lang="en-US" sz="850" dirty="0"/>
          </a:p>
        </p:txBody>
      </p:sp>
      <p:pic>
        <p:nvPicPr>
          <p:cNvPr id="26" name="Image 1" descr="/home/user/lxfs/pptx_build/figs/satellite.jpg">    </p:cNvPr>
          <p:cNvPicPr>
            <a:picLocks noChangeAspect="1"/>
          </p:cNvPicPr>
          <p:nvPr/>
        </p:nvPicPr>
        <p:blipFill>
          <a:blip r:embed="rId2"/>
          <a:stretch>
            <a:fillRect/>
          </a:stretch>
        </p:blipFill>
        <p:spPr>
          <a:xfrm>
            <a:off x="5946164" y="932688"/>
            <a:ext cx="2783792" cy="2194560"/>
          </a:xfrm>
          <a:prstGeom prst="rect">
            <a:avLst/>
          </a:prstGeom>
        </p:spPr>
      </p:pic>
      <p:sp>
        <p:nvSpPr>
          <p:cNvPr id="27" name="Text 23"/>
          <p:cNvSpPr txBox="1"/>
          <p:nvPr/>
        </p:nvSpPr>
        <p:spPr>
          <a:xfrm>
            <a:off x="5852160" y="3145536"/>
            <a:ext cx="2971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场地卫星影像（规划预留集中绿地）</a:t>
            </a:r>
            <a:endParaRPr lang="en-US" sz="800" dirty="0"/>
          </a:p>
        </p:txBody>
      </p:sp>
      <p:sp>
        <p:nvSpPr>
          <p:cNvPr id="28" name="Shape 24"/>
          <p:cNvSpPr/>
          <p:nvPr/>
        </p:nvSpPr>
        <p:spPr>
          <a:xfrm>
            <a:off x="5852160" y="3429000"/>
            <a:ext cx="2971800" cy="1325880"/>
          </a:xfrm>
          <a:prstGeom prst="rect">
            <a:avLst/>
          </a:prstGeom>
          <a:solidFill>
            <a:srgbClr val="EEF2F8"/>
          </a:solidFill>
          <a:ln w="12700">
            <a:solidFill>
              <a:srgbClr val="EEF2F8"/>
            </a:solidFill>
            <a:prstDash val="solid"/>
          </a:ln>
        </p:spPr>
      </p:sp>
      <p:sp>
        <p:nvSpPr>
          <p:cNvPr id="29" name="Text 25"/>
          <p:cNvSpPr txBox="1"/>
          <p:nvPr/>
        </p:nvSpPr>
        <p:spPr>
          <a:xfrm>
            <a:off x="5897880" y="3474720"/>
            <a:ext cx="2880360" cy="1261872"/>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仁寿县国土空间总体规划(2021-2035)》明确城北新城“三生融合辐射周边、公园城市”建设目标，要求完善居住区集中绿地布局，补齐城市绿色公共空间短板。本地块为规划预留的集中绿地，承担片区级综合公园功能。</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Location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2.2 区位分析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18</a:t>
            </a:r>
            <a:endParaRPr lang="en-US" sz="900" dirty="0"/>
          </a:p>
        </p:txBody>
      </p:sp>
      <p:pic>
        <p:nvPicPr>
          <p:cNvPr id="7" name="Image 0" descr="/home/user/lxfs/pptx_build/figs/location.jpg">    </p:cNvPr>
          <p:cNvPicPr>
            <a:picLocks noChangeAspect="1"/>
          </p:cNvPicPr>
          <p:nvPr/>
        </p:nvPicPr>
        <p:blipFill>
          <a:blip r:embed="rId1"/>
          <a:stretch>
            <a:fillRect/>
          </a:stretch>
        </p:blipFill>
        <p:spPr>
          <a:xfrm>
            <a:off x="490384" y="932688"/>
            <a:ext cx="2631112" cy="3657600"/>
          </a:xfrm>
          <a:prstGeom prst="rect">
            <a:avLst/>
          </a:prstGeom>
        </p:spPr>
      </p:pic>
      <p:sp>
        <p:nvSpPr>
          <p:cNvPr id="8" name="Text 5"/>
          <p:cNvSpPr txBox="1"/>
          <p:nvPr/>
        </p:nvSpPr>
        <p:spPr>
          <a:xfrm>
            <a:off x="457200" y="4608576"/>
            <a:ext cx="2697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区位分析图（中国—四川—眉山—仁寿）</a:t>
            </a:r>
            <a:endParaRPr lang="en-US" sz="800" dirty="0"/>
          </a:p>
        </p:txBody>
      </p:sp>
      <p:sp>
        <p:nvSpPr>
          <p:cNvPr id="9" name="Text 6"/>
          <p:cNvSpPr txBox="1"/>
          <p:nvPr/>
        </p:nvSpPr>
        <p:spPr>
          <a:xfrm>
            <a:off x="34290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场地概括</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429000" y="1280160"/>
          <a:ext cx="5394960" cy="914400"/>
        </p:xfrm>
        <a:graphic>
          <a:graphicData uri="http://schemas.openxmlformats.org/drawingml/2006/table">
            <a:tbl>
              <a:tblPr/>
              <a:tblGrid>
                <a:gridCol w="1188720"/>
                <a:gridCol w="4206240"/>
              </a:tblGrid>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场地位置</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眉山市仁寿县城北新城核心居住区</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场地面积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约8.6公顷</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普宁大道（城市主干道，车流量大）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里仁路（城市支路）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东侧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黑龙滩路（次干道）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西侧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青冈路 / 陵州大道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用地性质</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政府规划预留集中绿地</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bl>
          </a:graphicData>
        </a:graphic>
      </p:graphicFrame>
      <p:sp>
        <p:nvSpPr>
          <p:cNvPr id="11" name="Text 7"/>
          <p:cNvSpPr txBox="1"/>
          <p:nvPr/>
        </p:nvSpPr>
        <p:spPr>
          <a:xfrm>
            <a:off x="3429000" y="4069080"/>
            <a:ext cx="53949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场地四至边界清晰：北侧为城市主干道普宁大道，车流量大，存在噪声、粉尘干扰；南侧里仁路、东侧黑龙滩路、西侧道路均为城市次级道路，人行通达性良好。</a:t>
            </a:r>
            <a:endParaRPr lang="en-US" sz="850" dirty="0"/>
          </a:p>
        </p:txBody>
      </p:sp>
      <p:sp>
        <p:nvSpPr>
          <p:cNvPr id="12" name="Text 8"/>
          <p:cNvSpPr txBox="1"/>
          <p:nvPr/>
        </p:nvSpPr>
        <p:spPr>
          <a:xfrm>
            <a:off x="3429000" y="4553712"/>
            <a:ext cx="539496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注：开题报告中西侧道路名称出现“青冈路”与“陵州大道”两种表述，需统一。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气候分析——气温与降水</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19</a:t>
            </a:r>
            <a:endParaRPr lang="en-US" sz="900" dirty="0"/>
          </a:p>
        </p:txBody>
      </p:sp>
      <p:pic>
        <p:nvPicPr>
          <p:cNvPr id="7" name="Image 0" descr="/home/user/lxfs/pptx_build/figs/clim_temp.jpg">    </p:cNvPr>
          <p:cNvPicPr>
            <a:picLocks noChangeAspect="1"/>
          </p:cNvPicPr>
          <p:nvPr/>
        </p:nvPicPr>
        <p:blipFill>
          <a:blip r:embed="rId1"/>
          <a:stretch>
            <a:fillRect/>
          </a:stretch>
        </p:blipFill>
        <p:spPr>
          <a:xfrm>
            <a:off x="457200" y="932688"/>
            <a:ext cx="4160520" cy="2121674"/>
          </a:xfrm>
          <a:prstGeom prst="rect">
            <a:avLst/>
          </a:prstGeom>
        </p:spPr>
      </p:pic>
      <p:sp>
        <p:nvSpPr>
          <p:cNvPr id="8" name="Text 5"/>
          <p:cNvSpPr txBox="1"/>
          <p:nvPr/>
        </p:nvSpPr>
        <p:spPr>
          <a:xfrm>
            <a:off x="457200" y="3072650"/>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仁寿县气温分析（开题报告）</a:t>
            </a:r>
            <a:endParaRPr lang="en-US" sz="800" dirty="0"/>
          </a:p>
        </p:txBody>
      </p:sp>
      <p:pic>
        <p:nvPicPr>
          <p:cNvPr id="9" name="Image 1" descr="/home/user/lxfs/pptx_build/figs/clim_rain.jpg">    </p:cNvPr>
          <p:cNvPicPr>
            <a:picLocks noChangeAspect="1"/>
          </p:cNvPicPr>
          <p:nvPr/>
        </p:nvPicPr>
        <p:blipFill>
          <a:blip r:embed="rId2"/>
          <a:stretch>
            <a:fillRect/>
          </a:stretch>
        </p:blipFill>
        <p:spPr>
          <a:xfrm>
            <a:off x="4934228" y="932688"/>
            <a:ext cx="3618945" cy="2286000"/>
          </a:xfrm>
          <a:prstGeom prst="rect">
            <a:avLst/>
          </a:prstGeom>
        </p:spPr>
      </p:pic>
      <p:sp>
        <p:nvSpPr>
          <p:cNvPr id="10" name="Text 6"/>
          <p:cNvSpPr txBox="1"/>
          <p:nvPr/>
        </p:nvSpPr>
        <p:spPr>
          <a:xfrm>
            <a:off x="4663440" y="3236976"/>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仁寿县降水率分析（开题报告）</a:t>
            </a:r>
            <a:endParaRPr lang="en-US" sz="800" dirty="0"/>
          </a:p>
        </p:txBody>
      </p:sp>
      <p:sp>
        <p:nvSpPr>
          <p:cNvPr id="11" name="Text 7"/>
          <p:cNvSpPr txBox="1"/>
          <p:nvPr/>
        </p:nvSpPr>
        <p:spPr>
          <a:xfrm>
            <a:off x="45720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年均温 17.8℃</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1月 7.0℃ / 7月 26.8℃</a:t>
            </a:r>
            <a:endParaRPr lang="en-US" sz="1200" dirty="0"/>
          </a:p>
        </p:txBody>
      </p:sp>
      <p:sp>
        <p:nvSpPr>
          <p:cNvPr id="12" name="Text 8"/>
          <p:cNvSpPr txBox="1"/>
          <p:nvPr/>
        </p:nvSpPr>
        <p:spPr>
          <a:xfrm>
            <a:off x="2560320" y="3310128"/>
            <a:ext cx="2103120" cy="502920"/>
          </a:xfrm>
          <a:prstGeom prst="rect">
            <a:avLst/>
          </a:prstGeom>
          <a:noFill/>
          <a:ln/>
        </p:spPr>
        <p:txBody>
          <a:bodyPr wrap="square" lIns="0" tIns="0" rIns="0" bIns="0" rtlCol="0" anchor="ctr"/>
          <a:lstStyle/>
          <a:p>
            <a:pPr algn="ctr" indent="0" marL="0">
              <a:buNone/>
            </a:pPr>
            <a:r>
              <a:rPr lang="en-US" sz="1200" b="1" dirty="0">
                <a:solidFill>
                  <a:srgbClr val="1F3F7A"/>
                </a:solidFill>
                <a:latin typeface="Microsoft YaHei" pitchFamily="34" charset="0"/>
                <a:ea typeface="Microsoft YaHei" pitchFamily="34" charset="-122"/>
                <a:cs typeface="Microsoft YaHei" pitchFamily="34" charset="-120"/>
              </a:rPr>
              <a:t>年降水 881.8mm</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6—9月占70%以上，8月最多</a:t>
            </a:r>
            <a:endParaRPr lang="en-US" sz="1200" dirty="0"/>
          </a:p>
        </p:txBody>
      </p:sp>
      <p:sp>
        <p:nvSpPr>
          <p:cNvPr id="13" name="Text 9"/>
          <p:cNvSpPr txBox="1"/>
          <p:nvPr/>
        </p:nvSpPr>
        <p:spPr>
          <a:xfrm>
            <a:off x="4754880" y="3310128"/>
            <a:ext cx="2011680" cy="502920"/>
          </a:xfrm>
          <a:prstGeom prst="rect">
            <a:avLst/>
          </a:prstGeom>
          <a:noFill/>
          <a:ln/>
        </p:spPr>
        <p:txBody>
          <a:bodyPr wrap="square" lIns="0" tIns="0" rIns="0" bIns="0" rtlCol="0" anchor="ctr"/>
          <a:lstStyle/>
          <a:p>
            <a:pPr algn="ctr" indent="0" marL="0">
              <a:buNone/>
            </a:pPr>
            <a:r>
              <a:rPr lang="en-US" sz="1200" b="1" dirty="0">
                <a:solidFill>
                  <a:srgbClr val="4E8A3E"/>
                </a:solidFill>
                <a:latin typeface="Microsoft YaHei" pitchFamily="34" charset="0"/>
                <a:ea typeface="Microsoft YaHei" pitchFamily="34" charset="-122"/>
                <a:cs typeface="Microsoft YaHei" pitchFamily="34" charset="-120"/>
              </a:rPr>
              <a:t>雨热同季</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夏季高温多雨，冬季温和少霜</a:t>
            </a:r>
            <a:endParaRPr lang="en-US" sz="1200" dirty="0"/>
          </a:p>
        </p:txBody>
      </p:sp>
      <p:sp>
        <p:nvSpPr>
          <p:cNvPr id="14" name="Text 10"/>
          <p:cNvSpPr txBox="1"/>
          <p:nvPr/>
        </p:nvSpPr>
        <p:spPr>
          <a:xfrm>
            <a:off x="681228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亚热带湿润季风</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四季分明，雨量充沛</a:t>
            </a:r>
            <a:endParaRPr lang="en-US" sz="1200" dirty="0"/>
          </a:p>
        </p:txBody>
      </p:sp>
      <p:sp>
        <p:nvSpPr>
          <p:cNvPr id="15" name="Shape 11"/>
          <p:cNvSpPr/>
          <p:nvPr/>
        </p:nvSpPr>
        <p:spPr>
          <a:xfrm>
            <a:off x="457200" y="3840480"/>
            <a:ext cx="8366760" cy="777240"/>
          </a:xfrm>
          <a:prstGeom prst="rect">
            <a:avLst/>
          </a:prstGeom>
          <a:solidFill>
            <a:srgbClr val="EEF2F8"/>
          </a:solidFill>
          <a:ln w="12700">
            <a:solidFill>
              <a:srgbClr val="EEF2F8"/>
            </a:solidFill>
            <a:prstDash val="solid"/>
          </a:ln>
        </p:spPr>
      </p:sp>
      <p:sp>
        <p:nvSpPr>
          <p:cNvPr id="16" name="Text 12"/>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亚热带湿润季风气候，四季分明，雨热同季。年均温17.8℃，1月最冷（7.0℃），7月最热（26.8℃）；年降水881.8mm，集中于6—9月（占70%以上），8月最多。设计需重点应对夏季高温暴晒（乔木林荫、遮阳构筑）与夏季集中降雨（海绵调蓄、场地排水）。</a:t>
            </a:r>
            <a:endParaRPr lang="en-US" sz="900" dirty="0"/>
          </a:p>
        </p:txBody>
      </p:sp>
      <p:sp>
        <p:nvSpPr>
          <p:cNvPr id="17" name="Text 13"/>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数据来源：中国气象局1991—2020年气候标准值（仁寿站）。开题报告写为年均温17.2℃，与此处17.8℃口径不同，建议统一。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气候分析——日照、湿度与雨日</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20</a:t>
            </a:r>
            <a:endParaRPr lang="en-US" sz="900" dirty="0"/>
          </a:p>
        </p:txBody>
      </p:sp>
      <p:graphicFrame>
        <p:nvGraphicFramePr>
          <p:cNvPr id="7" name="Chart 0" descr=""/>
          <p:cNvGraphicFramePr/>
          <p:nvPr/>
        </p:nvGraphicFramePr>
        <p:xfrm>
          <a:off x="411480" y="914400"/>
          <a:ext cx="416052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4663440" y="914400"/>
          <a:ext cx="4160520" cy="283464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457200" y="3840480"/>
            <a:ext cx="8366760" cy="777240"/>
          </a:xfrm>
          <a:prstGeom prst="rect">
            <a:avLst/>
          </a:prstGeom>
          <a:solidFill>
            <a:srgbClr val="EEF2F8"/>
          </a:solidFill>
          <a:ln w="12700">
            <a:solidFill>
              <a:srgbClr val="EEF2F8"/>
            </a:solidFill>
            <a:prstDash val="solid"/>
          </a:ln>
        </p:spPr>
      </p:sp>
      <p:sp>
        <p:nvSpPr>
          <p:cNvPr id="10" name="Text 6"/>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年日照仅1047.6小时（日照百分率23%），冬季多雾寡照；全年湿度70%—81%，秋季最高。全年降水日137天，4—10月每月13天以上。启示：夏季需遮阳，但全年整体阴湿，场地应以开敞向阳草坪和运动场地为主体，配合可透光的疏林，避免过度郁闭；铺装选用透水、防滑材料。</a:t>
            </a:r>
            <a:endParaRPr lang="en-US" sz="900" dirty="0"/>
          </a:p>
        </p:txBody>
      </p:sp>
      <p:sp>
        <p:nvSpPr>
          <p:cNvPr id="11" name="Text 7"/>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Plant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2.4 植物分析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21</a:t>
            </a:r>
            <a:endParaRPr lang="en-US" sz="900" dirty="0"/>
          </a:p>
        </p:txBody>
      </p:sp>
      <p:pic>
        <p:nvPicPr>
          <p:cNvPr id="7" name="Image 0" descr="/home/user/lxfs/pptx_build/figs/plants.jpg">    </p:cNvPr>
          <p:cNvPicPr>
            <a:picLocks noChangeAspect="1"/>
          </p:cNvPicPr>
          <p:nvPr/>
        </p:nvPicPr>
        <p:blipFill>
          <a:blip r:embed="rId1"/>
          <a:stretch>
            <a:fillRect/>
          </a:stretch>
        </p:blipFill>
        <p:spPr>
          <a:xfrm>
            <a:off x="459731" y="932688"/>
            <a:ext cx="5527057" cy="3035808"/>
          </a:xfrm>
          <a:prstGeom prst="rect">
            <a:avLst/>
          </a:prstGeom>
        </p:spPr>
      </p:pic>
      <p:sp>
        <p:nvSpPr>
          <p:cNvPr id="8" name="Text 5"/>
          <p:cNvSpPr txBox="1"/>
          <p:nvPr/>
        </p:nvSpPr>
        <p:spPr>
          <a:xfrm>
            <a:off x="457200" y="3986784"/>
            <a:ext cx="5532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仁寿县植物配置分析图</a:t>
            </a:r>
            <a:endParaRPr lang="en-US" sz="800" dirty="0"/>
          </a:p>
        </p:txBody>
      </p:sp>
      <p:sp>
        <p:nvSpPr>
          <p:cNvPr id="9" name="Shape 6"/>
          <p:cNvSpPr/>
          <p:nvPr/>
        </p:nvSpPr>
        <p:spPr>
          <a:xfrm>
            <a:off x="6217920" y="932688"/>
            <a:ext cx="868680" cy="292608"/>
          </a:xfrm>
          <a:prstGeom prst="rect">
            <a:avLst/>
          </a:prstGeom>
          <a:solidFill>
            <a:srgbClr val="4E8A3E"/>
          </a:solidFill>
          <a:ln w="12700">
            <a:solidFill>
              <a:srgbClr val="4E8A3E"/>
            </a:solidFill>
            <a:prstDash val="solid"/>
          </a:ln>
        </p:spPr>
      </p:sp>
      <p:sp>
        <p:nvSpPr>
          <p:cNvPr id="10" name="Text 7"/>
          <p:cNvSpPr txBox="1"/>
          <p:nvPr/>
        </p:nvSpPr>
        <p:spPr>
          <a:xfrm>
            <a:off x="6217920" y="93268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优势乔木</a:t>
            </a:r>
            <a:endParaRPr lang="en-US" sz="950" dirty="0"/>
          </a:p>
        </p:txBody>
      </p:sp>
      <p:sp>
        <p:nvSpPr>
          <p:cNvPr id="11" name="Text 8"/>
          <p:cNvSpPr txBox="1"/>
          <p:nvPr/>
        </p:nvSpPr>
        <p:spPr>
          <a:xfrm>
            <a:off x="6172200" y="124358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桢楠、香樟、黄葛树、二球悬铃木、桂花、小叶榕</a:t>
            </a:r>
            <a:endParaRPr lang="en-US" sz="900" dirty="0"/>
          </a:p>
        </p:txBody>
      </p:sp>
      <p:sp>
        <p:nvSpPr>
          <p:cNvPr id="12" name="Shape 9"/>
          <p:cNvSpPr/>
          <p:nvPr/>
        </p:nvSpPr>
        <p:spPr>
          <a:xfrm>
            <a:off x="6217920" y="1801368"/>
            <a:ext cx="868680" cy="292608"/>
          </a:xfrm>
          <a:prstGeom prst="rect">
            <a:avLst/>
          </a:prstGeom>
          <a:solidFill>
            <a:srgbClr val="E07B2A"/>
          </a:solidFill>
          <a:ln w="12700">
            <a:solidFill>
              <a:srgbClr val="E07B2A"/>
            </a:solidFill>
            <a:prstDash val="solid"/>
          </a:ln>
        </p:spPr>
      </p:sp>
      <p:sp>
        <p:nvSpPr>
          <p:cNvPr id="13" name="Text 10"/>
          <p:cNvSpPr txBox="1"/>
          <p:nvPr/>
        </p:nvSpPr>
        <p:spPr>
          <a:xfrm>
            <a:off x="6217920" y="180136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花灌木</a:t>
            </a:r>
            <a:endParaRPr lang="en-US" sz="950" dirty="0"/>
          </a:p>
        </p:txBody>
      </p:sp>
      <p:sp>
        <p:nvSpPr>
          <p:cNvPr id="14" name="Text 11"/>
          <p:cNvSpPr txBox="1"/>
          <p:nvPr/>
        </p:nvSpPr>
        <p:spPr>
          <a:xfrm>
            <a:off x="6172200" y="211226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紫薇、木芙蓉、蜡梅、红花檵木</a:t>
            </a:r>
            <a:endParaRPr lang="en-US" sz="900" dirty="0"/>
          </a:p>
        </p:txBody>
      </p:sp>
      <p:sp>
        <p:nvSpPr>
          <p:cNvPr id="15" name="Shape 12"/>
          <p:cNvSpPr/>
          <p:nvPr/>
        </p:nvSpPr>
        <p:spPr>
          <a:xfrm>
            <a:off x="6217920" y="2670048"/>
            <a:ext cx="868680" cy="292608"/>
          </a:xfrm>
          <a:prstGeom prst="rect">
            <a:avLst/>
          </a:prstGeom>
          <a:solidFill>
            <a:srgbClr val="1F3F7A"/>
          </a:solidFill>
          <a:ln w="12700">
            <a:solidFill>
              <a:srgbClr val="1F3F7A"/>
            </a:solidFill>
            <a:prstDash val="solid"/>
          </a:ln>
        </p:spPr>
      </p:sp>
      <p:sp>
        <p:nvSpPr>
          <p:cNvPr id="16" name="Text 13"/>
          <p:cNvSpPr txBox="1"/>
          <p:nvPr/>
        </p:nvSpPr>
        <p:spPr>
          <a:xfrm>
            <a:off x="6217920" y="267004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地被</a:t>
            </a:r>
            <a:endParaRPr lang="en-US" sz="950" dirty="0"/>
          </a:p>
        </p:txBody>
      </p:sp>
      <p:sp>
        <p:nvSpPr>
          <p:cNvPr id="17" name="Text 14"/>
          <p:cNvSpPr txBox="1"/>
          <p:nvPr/>
        </p:nvSpPr>
        <p:spPr>
          <a:xfrm>
            <a:off x="6172200" y="298094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麦冬、沿阶草、野花组合</a:t>
            </a:r>
            <a:endParaRPr lang="en-US" sz="900" dirty="0"/>
          </a:p>
        </p:txBody>
      </p:sp>
      <p:sp>
        <p:nvSpPr>
          <p:cNvPr id="18" name="Shape 15"/>
          <p:cNvSpPr/>
          <p:nvPr/>
        </p:nvSpPr>
        <p:spPr>
          <a:xfrm>
            <a:off x="6217920" y="3520440"/>
            <a:ext cx="2606040" cy="1188720"/>
          </a:xfrm>
          <a:prstGeom prst="rect">
            <a:avLst/>
          </a:prstGeom>
          <a:solidFill>
            <a:srgbClr val="EEF2F8"/>
          </a:solidFill>
          <a:ln w="12700">
            <a:solidFill>
              <a:srgbClr val="EEF2F8"/>
            </a:solidFill>
            <a:prstDash val="solid"/>
          </a:ln>
        </p:spPr>
      </p:sp>
      <p:sp>
        <p:nvSpPr>
          <p:cNvPr id="19" name="Text 16"/>
          <p:cNvSpPr txBox="1"/>
          <p:nvPr/>
        </p:nvSpPr>
        <p:spPr>
          <a:xfrm>
            <a:off x="6309360" y="3547872"/>
            <a:ext cx="2468880" cy="237744"/>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气候适生性</a:t>
            </a:r>
            <a:endParaRPr lang="en-US" sz="950" dirty="0"/>
          </a:p>
        </p:txBody>
      </p:sp>
      <p:sp>
        <p:nvSpPr>
          <p:cNvPr id="20" name="Text 17"/>
          <p:cNvSpPr txBox="1"/>
          <p:nvPr/>
        </p:nvSpPr>
        <p:spPr>
          <a:xfrm>
            <a:off x="6263640" y="3785616"/>
            <a:ext cx="2514600" cy="9144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亚热带湿润季风气候，冬季温和少霜，适宜桢楠、香樟、小叶榕、紫薇、木芙蓉等川南乡土常绿与观花植物生长，均耐粗放养护，为本项目植物配置核心选材。</a:t>
            </a:r>
            <a:endParaRPr lang="en-US" sz="800" dirty="0"/>
          </a:p>
        </p:txBody>
      </p:sp>
      <p:sp>
        <p:nvSpPr>
          <p:cNvPr id="21" name="Shape 18"/>
          <p:cNvSpPr/>
          <p:nvPr/>
        </p:nvSpPr>
        <p:spPr>
          <a:xfrm>
            <a:off x="457200" y="4224528"/>
            <a:ext cx="5532120" cy="530352"/>
          </a:xfrm>
          <a:prstGeom prst="rect">
            <a:avLst/>
          </a:prstGeom>
          <a:solidFill>
            <a:srgbClr val="EEF2F8"/>
          </a:solidFill>
          <a:ln w="12700">
            <a:solidFill>
              <a:srgbClr val="EEF2F8"/>
            </a:solidFill>
            <a:prstDash val="solid"/>
          </a:ln>
        </p:spPr>
      </p:sp>
      <p:sp>
        <p:nvSpPr>
          <p:cNvPr id="22" name="Text 19"/>
          <p:cNvSpPr txBox="1"/>
          <p:nvPr/>
        </p:nvSpPr>
        <p:spPr>
          <a:xfrm>
            <a:off x="530352" y="4242816"/>
            <a:ext cx="53949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配置策略：北侧沿普宁大道以桢楠、香樟、黄葛树构建多层降噪防护林带；运动场地周边以高大乔木形成连片林荫休憩；低洼区结合雨水花园配置耐湿地被；四季分层乡土乔灌搭配，实现全年可游。</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and Cultural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2.5 历史文化分析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22</a:t>
            </a:r>
            <a:endParaRPr lang="en-US" sz="900" dirty="0"/>
          </a:p>
        </p:txBody>
      </p:sp>
      <p:pic>
        <p:nvPicPr>
          <p:cNvPr id="7" name="Image 0" descr="/home/user/lxfs/pptx_build/figs/culture.jpg">    </p:cNvPr>
          <p:cNvPicPr>
            <a:picLocks noChangeAspect="1"/>
          </p:cNvPicPr>
          <p:nvPr/>
        </p:nvPicPr>
        <p:blipFill>
          <a:blip r:embed="rId1"/>
          <a:stretch>
            <a:fillRect/>
          </a:stretch>
        </p:blipFill>
        <p:spPr>
          <a:xfrm>
            <a:off x="457200" y="932688"/>
            <a:ext cx="4206240" cy="3151815"/>
          </a:xfrm>
          <a:prstGeom prst="rect">
            <a:avLst/>
          </a:prstGeom>
        </p:spPr>
      </p:pic>
      <p:sp>
        <p:nvSpPr>
          <p:cNvPr id="8" name="Text 5"/>
          <p:cNvSpPr txBox="1"/>
          <p:nvPr/>
        </p:nvSpPr>
        <p:spPr>
          <a:xfrm>
            <a:off x="457200" y="4102791"/>
            <a:ext cx="42062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仁寿历史文化分析图</a:t>
            </a:r>
            <a:endParaRPr lang="en-US" sz="800" dirty="0"/>
          </a:p>
        </p:txBody>
      </p:sp>
      <p:sp>
        <p:nvSpPr>
          <p:cNvPr id="9" name="Shape 6"/>
          <p:cNvSpPr/>
          <p:nvPr/>
        </p:nvSpPr>
        <p:spPr>
          <a:xfrm>
            <a:off x="4892040" y="932688"/>
            <a:ext cx="3931920" cy="987552"/>
          </a:xfrm>
          <a:prstGeom prst="rect">
            <a:avLst/>
          </a:prstGeom>
          <a:solidFill>
            <a:srgbClr val="EEF2F8"/>
          </a:solidFill>
          <a:ln w="12700">
            <a:solidFill>
              <a:srgbClr val="EEF2F8"/>
            </a:solidFill>
            <a:prstDash val="solid"/>
          </a:ln>
        </p:spPr>
      </p:sp>
      <p:sp>
        <p:nvSpPr>
          <p:cNvPr id="10" name="Shape 7"/>
          <p:cNvSpPr/>
          <p:nvPr/>
        </p:nvSpPr>
        <p:spPr>
          <a:xfrm>
            <a:off x="4892040" y="932688"/>
            <a:ext cx="73152" cy="987552"/>
          </a:xfrm>
          <a:prstGeom prst="rect">
            <a:avLst/>
          </a:prstGeom>
          <a:solidFill>
            <a:srgbClr val="1F3F7A"/>
          </a:solidFill>
          <a:ln w="12700">
            <a:solidFill>
              <a:srgbClr val="1F3F7A"/>
            </a:solidFill>
            <a:prstDash val="solid"/>
          </a:ln>
        </p:spPr>
      </p:sp>
      <p:sp>
        <p:nvSpPr>
          <p:cNvPr id="11" name="Text 8"/>
          <p:cNvSpPr txBox="1"/>
          <p:nvPr/>
        </p:nvSpPr>
        <p:spPr>
          <a:xfrm>
            <a:off x="5074920" y="978408"/>
            <a:ext cx="36576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陵州人文历史文化</a:t>
            </a:r>
            <a:endParaRPr lang="en-US" sz="1000" dirty="0"/>
          </a:p>
        </p:txBody>
      </p:sp>
      <p:sp>
        <p:nvSpPr>
          <p:cNvPr id="12" name="Text 9"/>
          <p:cNvSpPr txBox="1"/>
          <p:nvPr/>
        </p:nvSpPr>
        <p:spPr>
          <a:xfrm>
            <a:off x="5029200" y="1234440"/>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自隋代置陵州，唐宋文风兴盛，留存古陵城街巷、文庙、书院历史脉络，崇文重教是本土精神内核。</a:t>
            </a:r>
            <a:endParaRPr lang="en-US" sz="850" dirty="0"/>
          </a:p>
        </p:txBody>
      </p:sp>
      <p:sp>
        <p:nvSpPr>
          <p:cNvPr id="13" name="Shape 10"/>
          <p:cNvSpPr/>
          <p:nvPr/>
        </p:nvSpPr>
        <p:spPr>
          <a:xfrm>
            <a:off x="4892040" y="2011680"/>
            <a:ext cx="3931920" cy="987552"/>
          </a:xfrm>
          <a:prstGeom prst="rect">
            <a:avLst/>
          </a:prstGeom>
          <a:solidFill>
            <a:srgbClr val="EEF2F8"/>
          </a:solidFill>
          <a:ln w="12700">
            <a:solidFill>
              <a:srgbClr val="EEF2F8"/>
            </a:solidFill>
            <a:prstDash val="solid"/>
          </a:ln>
        </p:spPr>
      </p:sp>
      <p:sp>
        <p:nvSpPr>
          <p:cNvPr id="14" name="Shape 11"/>
          <p:cNvSpPr/>
          <p:nvPr/>
        </p:nvSpPr>
        <p:spPr>
          <a:xfrm>
            <a:off x="4892040" y="2011680"/>
            <a:ext cx="73152" cy="987552"/>
          </a:xfrm>
          <a:prstGeom prst="rect">
            <a:avLst/>
          </a:prstGeom>
          <a:solidFill>
            <a:srgbClr val="E07B2A"/>
          </a:solidFill>
          <a:ln w="12700">
            <a:solidFill>
              <a:srgbClr val="E07B2A"/>
            </a:solidFill>
            <a:prstDash val="solid"/>
          </a:ln>
        </p:spPr>
      </p:sp>
      <p:sp>
        <p:nvSpPr>
          <p:cNvPr id="15" name="Text 12"/>
          <p:cNvSpPr txBox="1"/>
          <p:nvPr/>
        </p:nvSpPr>
        <p:spPr>
          <a:xfrm>
            <a:off x="5074920" y="2057400"/>
            <a:ext cx="3657600" cy="256032"/>
          </a:xfrm>
          <a:prstGeom prst="rect">
            <a:avLst/>
          </a:prstGeom>
          <a:noFill/>
          <a:ln/>
        </p:spPr>
        <p:txBody>
          <a:bodyPr wrap="square" lIns="0" tIns="0" rIns="0" bIns="0" rtlCol="0" anchor="ctr"/>
          <a:lstStyle/>
          <a:p>
            <a:pPr indent="0" marL="0">
              <a:buNone/>
            </a:pPr>
            <a:r>
              <a:rPr lang="en-US" sz="1000" b="1" dirty="0">
                <a:solidFill>
                  <a:srgbClr val="E07B2A"/>
                </a:solidFill>
                <a:latin typeface="Microsoft YaHei" pitchFamily="34" charset="0"/>
                <a:ea typeface="Microsoft YaHei" pitchFamily="34" charset="-122"/>
                <a:cs typeface="Microsoft YaHei" pitchFamily="34" charset="-120"/>
              </a:rPr>
              <a:t>黑龙滩水利建设文化</a:t>
            </a:r>
            <a:endParaRPr lang="en-US" sz="1000" dirty="0"/>
          </a:p>
        </p:txBody>
      </p:sp>
      <p:sp>
        <p:nvSpPr>
          <p:cNvPr id="16" name="Text 13"/>
          <p:cNvSpPr txBox="1"/>
          <p:nvPr/>
        </p:nvSpPr>
        <p:spPr>
          <a:xfrm>
            <a:off x="5029200" y="2313432"/>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20世纪70年代十万群众开山筑库建成西南大型人工湖黑龙滩，孕育艰苦奋斗、治水兴农的时代记忆。</a:t>
            </a:r>
            <a:endParaRPr lang="en-US" sz="850" dirty="0"/>
          </a:p>
        </p:txBody>
      </p:sp>
      <p:sp>
        <p:nvSpPr>
          <p:cNvPr id="17" name="Shape 14"/>
          <p:cNvSpPr/>
          <p:nvPr/>
        </p:nvSpPr>
        <p:spPr>
          <a:xfrm>
            <a:off x="4892040" y="3090672"/>
            <a:ext cx="3931920" cy="987552"/>
          </a:xfrm>
          <a:prstGeom prst="rect">
            <a:avLst/>
          </a:prstGeom>
          <a:solidFill>
            <a:srgbClr val="EEF2F8"/>
          </a:solidFill>
          <a:ln w="12700">
            <a:solidFill>
              <a:srgbClr val="EEF2F8"/>
            </a:solidFill>
            <a:prstDash val="solid"/>
          </a:ln>
        </p:spPr>
      </p:sp>
      <p:sp>
        <p:nvSpPr>
          <p:cNvPr id="18" name="Shape 15"/>
          <p:cNvSpPr/>
          <p:nvPr/>
        </p:nvSpPr>
        <p:spPr>
          <a:xfrm>
            <a:off x="4892040" y="3090672"/>
            <a:ext cx="73152" cy="987552"/>
          </a:xfrm>
          <a:prstGeom prst="rect">
            <a:avLst/>
          </a:prstGeom>
          <a:solidFill>
            <a:srgbClr val="4E8A3E"/>
          </a:solidFill>
          <a:ln w="12700">
            <a:solidFill>
              <a:srgbClr val="4E8A3E"/>
            </a:solidFill>
            <a:prstDash val="solid"/>
          </a:ln>
        </p:spPr>
      </p:sp>
      <p:sp>
        <p:nvSpPr>
          <p:cNvPr id="19" name="Text 16"/>
          <p:cNvSpPr txBox="1"/>
          <p:nvPr/>
        </p:nvSpPr>
        <p:spPr>
          <a:xfrm>
            <a:off x="5074920" y="3136392"/>
            <a:ext cx="3657600" cy="256032"/>
          </a:xfrm>
          <a:prstGeom prst="rect">
            <a:avLst/>
          </a:prstGeom>
          <a:noFill/>
          <a:ln/>
        </p:spPr>
        <p:txBody>
          <a:bodyPr wrap="square" lIns="0" tIns="0" rIns="0" bIns="0" rtlCol="0" anchor="ctr"/>
          <a:lstStyle/>
          <a:p>
            <a:pPr indent="0" marL="0">
              <a:buNone/>
            </a:pPr>
            <a:r>
              <a:rPr lang="en-US" sz="1000" b="1" dirty="0">
                <a:solidFill>
                  <a:srgbClr val="4E8A3E"/>
                </a:solidFill>
                <a:latin typeface="Microsoft YaHei" pitchFamily="34" charset="0"/>
                <a:ea typeface="Microsoft YaHei" pitchFamily="34" charset="-122"/>
                <a:cs typeface="Microsoft YaHei" pitchFamily="34" charset="-120"/>
              </a:rPr>
              <a:t>川南浅丘农耕民俗文化</a:t>
            </a:r>
            <a:endParaRPr lang="en-US" sz="1000" dirty="0"/>
          </a:p>
        </p:txBody>
      </p:sp>
      <p:sp>
        <p:nvSpPr>
          <p:cNvPr id="20" name="Text 17"/>
          <p:cNvSpPr txBox="1"/>
          <p:nvPr/>
        </p:nvSpPr>
        <p:spPr>
          <a:xfrm>
            <a:off x="5029200" y="3392424"/>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水田农耕、果林种植、民俗节庆构成居民生活底色，田园乡土气息浓厚。</a:t>
            </a:r>
            <a:endParaRPr lang="en-US" sz="850" dirty="0"/>
          </a:p>
        </p:txBody>
      </p:sp>
      <p:sp>
        <p:nvSpPr>
          <p:cNvPr id="21" name="Text 18"/>
          <p:cNvSpPr txBox="1"/>
          <p:nvPr/>
        </p:nvSpPr>
        <p:spPr>
          <a:xfrm>
            <a:off x="457200" y="4315968"/>
            <a:ext cx="83667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片区文化基底：城北新城以新建商品房为主，缺少历史建筑与文化景观载体；周边居民多为老城搬迁居民和本地农村进城住户，对黑龙滩水利记忆、陵州文脉、农耕田园有深厚情感共鸣。场地作为片区唯一大型集中绿地，通过轻量化景观载体植入文化符号，弥补新城文化空间缺失。</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Road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2.6 周边道路分析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23</a:t>
            </a:r>
            <a:endParaRPr lang="en-US" sz="900" dirty="0"/>
          </a:p>
        </p:txBody>
      </p:sp>
      <p:pic>
        <p:nvPicPr>
          <p:cNvPr id="7" name="Image 0" descr="/home/user/lxfs/pptx_build/figs/roads.jpg">    </p:cNvPr>
          <p:cNvPicPr>
            <a:picLocks noChangeAspect="1"/>
          </p:cNvPicPr>
          <p:nvPr/>
        </p:nvPicPr>
        <p:blipFill>
          <a:blip r:embed="rId1"/>
          <a:stretch>
            <a:fillRect/>
          </a:stretch>
        </p:blipFill>
        <p:spPr>
          <a:xfrm>
            <a:off x="555662" y="932688"/>
            <a:ext cx="3643556" cy="1783080"/>
          </a:xfrm>
          <a:prstGeom prst="rect">
            <a:avLst/>
          </a:prstGeom>
        </p:spPr>
      </p:pic>
      <p:sp>
        <p:nvSpPr>
          <p:cNvPr id="8" name="Text 5"/>
          <p:cNvSpPr txBox="1"/>
          <p:nvPr/>
        </p:nvSpPr>
        <p:spPr>
          <a:xfrm>
            <a:off x="457200" y="2734056"/>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场地周边道路分析图</a:t>
            </a:r>
            <a:endParaRPr lang="en-US" sz="800" dirty="0"/>
          </a:p>
        </p:txBody>
      </p:sp>
      <p:pic>
        <p:nvPicPr>
          <p:cNvPr id="9" name="Image 1" descr="/home/user/lxfs/pptx_build/figs/roadcond.jpg">    </p:cNvPr>
          <p:cNvPicPr>
            <a:picLocks noChangeAspect="1"/>
          </p:cNvPicPr>
          <p:nvPr/>
        </p:nvPicPr>
        <p:blipFill>
          <a:blip r:embed="rId2"/>
          <a:stretch>
            <a:fillRect/>
          </a:stretch>
        </p:blipFill>
        <p:spPr>
          <a:xfrm>
            <a:off x="539926" y="2971800"/>
            <a:ext cx="3675028" cy="1783080"/>
          </a:xfrm>
          <a:prstGeom prst="rect">
            <a:avLst/>
          </a:prstGeom>
        </p:spPr>
      </p:pic>
      <p:sp>
        <p:nvSpPr>
          <p:cNvPr id="10" name="Text 6"/>
          <p:cNvSpPr txBox="1"/>
          <p:nvPr/>
        </p:nvSpPr>
        <p:spPr>
          <a:xfrm>
            <a:off x="457200" y="4773168"/>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场地周边路况分析图</a:t>
            </a:r>
            <a:endParaRPr lang="en-US" sz="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26280" y="932688"/>
          <a:ext cx="4297680" cy="914400"/>
        </p:xfrm>
        <a:graphic>
          <a:graphicData uri="http://schemas.openxmlformats.org/drawingml/2006/table">
            <a:tbl>
              <a:tblPr/>
              <a:tblGrid>
                <a:gridCol w="502920"/>
                <a:gridCol w="1234440"/>
                <a:gridCol w="914400"/>
                <a:gridCol w="1645920"/>
              </a:tblGrid>
              <a:tr h="384048">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方位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道路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等级</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影响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普宁大道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城市主干道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车流大，噪声粉尘干扰，需防护林带</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西</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陵州大道 / 青冈路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车行出入优先</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东</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黑龙滩路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人行通达性好</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里仁路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城市支路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慢行辅助出入口</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12" name="Shape 7"/>
          <p:cNvSpPr/>
          <p:nvPr/>
        </p:nvSpPr>
        <p:spPr>
          <a:xfrm>
            <a:off x="4526280" y="3063240"/>
            <a:ext cx="4297680" cy="1691640"/>
          </a:xfrm>
          <a:prstGeom prst="rect">
            <a:avLst/>
          </a:prstGeom>
          <a:solidFill>
            <a:srgbClr val="EEF2F8"/>
          </a:solidFill>
          <a:ln w="12700">
            <a:solidFill>
              <a:srgbClr val="EEF2F8"/>
            </a:solidFill>
            <a:prstDash val="solid"/>
          </a:ln>
        </p:spPr>
      </p:sp>
      <p:sp>
        <p:nvSpPr>
          <p:cNvPr id="13" name="Text 8"/>
          <p:cNvSpPr txBox="1"/>
          <p:nvPr/>
        </p:nvSpPr>
        <p:spPr>
          <a:xfrm>
            <a:off x="4617720" y="3127248"/>
            <a:ext cx="4114800" cy="1554480"/>
          </a:xfrm>
          <a:prstGeom prst="rect">
            <a:avLst/>
          </a:prstGeom>
          <a:noFill/>
          <a:ln/>
        </p:spPr>
        <p:txBody>
          <a:bodyPr wrap="square" lIns="25400" tIns="25400" rIns="25400" bIns="25400" rtlCol="0" anchor="t"/>
          <a:lstStyle/>
          <a:p>
            <a:pPr indent="0" marL="0">
              <a:lnSpc>
                <a:spcPct val="130000"/>
              </a:lnSpc>
              <a:buNone/>
            </a:pPr>
            <a:r>
              <a:rPr lang="en-US" sz="900" dirty="0">
                <a:solidFill>
                  <a:srgbClr val="444444"/>
                </a:solidFill>
                <a:latin typeface="Microsoft YaHei" pitchFamily="34" charset="0"/>
                <a:ea typeface="Microsoft YaHei" pitchFamily="34" charset="-122"/>
                <a:cs typeface="Microsoft YaHei" pitchFamily="34" charset="-120"/>
              </a:rPr>
              <a:t>路网层级完善，涵盖主干道、次干道、支路，四面临路。临近天府仁寿大道，属城区发展重点板块，道路路面宽敞，沿线绿化配套完善。平峰时段通行顺畅，节假日休闲客流上升，依托方格路网可有效疏解。</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Traffic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2.7 周边交通分析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24</a:t>
            </a:r>
            <a:endParaRPr lang="en-US" sz="900" dirty="0"/>
          </a:p>
        </p:txBody>
      </p:sp>
      <p:pic>
        <p:nvPicPr>
          <p:cNvPr id="7" name="Image 0" descr="/home/user/lxfs/pptx_build/figs/traffic.jpg">    </p:cNvPr>
          <p:cNvPicPr>
            <a:picLocks noChangeAspect="1"/>
          </p:cNvPicPr>
          <p:nvPr/>
        </p:nvPicPr>
        <p:blipFill>
          <a:blip r:embed="rId1"/>
          <a:stretch>
            <a:fillRect/>
          </a:stretch>
        </p:blipFill>
        <p:spPr>
          <a:xfrm>
            <a:off x="461465" y="932688"/>
            <a:ext cx="5203550" cy="2606040"/>
          </a:xfrm>
          <a:prstGeom prst="rect">
            <a:avLst/>
          </a:prstGeom>
        </p:spPr>
      </p:pic>
      <p:sp>
        <p:nvSpPr>
          <p:cNvPr id="8" name="Text 5"/>
          <p:cNvSpPr txBox="1"/>
          <p:nvPr/>
        </p:nvSpPr>
        <p:spPr>
          <a:xfrm>
            <a:off x="457200" y="3557016"/>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场地周边交通分析图</a:t>
            </a:r>
            <a:endParaRPr lang="en-US" sz="800" dirty="0"/>
          </a:p>
        </p:txBody>
      </p:sp>
      <p:sp>
        <p:nvSpPr>
          <p:cNvPr id="9" name="Shape 6"/>
          <p:cNvSpPr/>
          <p:nvPr/>
        </p:nvSpPr>
        <p:spPr>
          <a:xfrm>
            <a:off x="5897880" y="932688"/>
            <a:ext cx="2926080" cy="1170432"/>
          </a:xfrm>
          <a:prstGeom prst="rect">
            <a:avLst/>
          </a:prstGeom>
          <a:solidFill>
            <a:srgbClr val="EEF2F8"/>
          </a:solidFill>
          <a:ln w="12700">
            <a:solidFill>
              <a:srgbClr val="EEF2F8"/>
            </a:solidFill>
            <a:prstDash val="solid"/>
          </a:ln>
        </p:spPr>
      </p:sp>
      <p:sp>
        <p:nvSpPr>
          <p:cNvPr id="10" name="Shape 7"/>
          <p:cNvSpPr/>
          <p:nvPr/>
        </p:nvSpPr>
        <p:spPr>
          <a:xfrm>
            <a:off x="5989320" y="1024128"/>
            <a:ext cx="914400" cy="274320"/>
          </a:xfrm>
          <a:prstGeom prst="rect">
            <a:avLst/>
          </a:prstGeom>
          <a:solidFill>
            <a:srgbClr val="1F3F7A"/>
          </a:solidFill>
          <a:ln w="12700">
            <a:solidFill>
              <a:srgbClr val="1F3F7A"/>
            </a:solidFill>
            <a:prstDash val="solid"/>
          </a:ln>
        </p:spPr>
      </p:sp>
      <p:sp>
        <p:nvSpPr>
          <p:cNvPr id="11" name="Text 8"/>
          <p:cNvSpPr txBox="1"/>
          <p:nvPr/>
        </p:nvSpPr>
        <p:spPr>
          <a:xfrm>
            <a:off x="5989320" y="102412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公共交通</a:t>
            </a:r>
            <a:endParaRPr lang="en-US" sz="900" dirty="0"/>
          </a:p>
        </p:txBody>
      </p:sp>
      <p:sp>
        <p:nvSpPr>
          <p:cNvPr id="12" name="Text 9"/>
          <p:cNvSpPr txBox="1"/>
          <p:nvPr/>
        </p:nvSpPr>
        <p:spPr>
          <a:xfrm>
            <a:off x="5943600" y="131673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场地周围分布多处公交停靠点，覆盖多条城区公交线路，具备基础公共交通条件，但近距离公交接驳仍有提升空间。</a:t>
            </a:r>
            <a:endParaRPr lang="en-US" sz="850" dirty="0"/>
          </a:p>
        </p:txBody>
      </p:sp>
      <p:sp>
        <p:nvSpPr>
          <p:cNvPr id="13" name="Shape 10"/>
          <p:cNvSpPr/>
          <p:nvPr/>
        </p:nvSpPr>
        <p:spPr>
          <a:xfrm>
            <a:off x="5897880" y="2212848"/>
            <a:ext cx="2926080" cy="1170432"/>
          </a:xfrm>
          <a:prstGeom prst="rect">
            <a:avLst/>
          </a:prstGeom>
          <a:solidFill>
            <a:srgbClr val="EEF2F8"/>
          </a:solidFill>
          <a:ln w="12700">
            <a:solidFill>
              <a:srgbClr val="EEF2F8"/>
            </a:solidFill>
            <a:prstDash val="solid"/>
          </a:ln>
        </p:spPr>
      </p:sp>
      <p:sp>
        <p:nvSpPr>
          <p:cNvPr id="14" name="Shape 11"/>
          <p:cNvSpPr/>
          <p:nvPr/>
        </p:nvSpPr>
        <p:spPr>
          <a:xfrm>
            <a:off x="5989320" y="2304288"/>
            <a:ext cx="914400" cy="274320"/>
          </a:xfrm>
          <a:prstGeom prst="rect">
            <a:avLst/>
          </a:prstGeom>
          <a:solidFill>
            <a:srgbClr val="E07B2A"/>
          </a:solidFill>
          <a:ln w="12700">
            <a:solidFill>
              <a:srgbClr val="E07B2A"/>
            </a:solidFill>
            <a:prstDash val="solid"/>
          </a:ln>
        </p:spPr>
      </p:sp>
      <p:sp>
        <p:nvSpPr>
          <p:cNvPr id="15" name="Text 12"/>
          <p:cNvSpPr txBox="1"/>
          <p:nvPr/>
        </p:nvSpPr>
        <p:spPr>
          <a:xfrm>
            <a:off x="5989320" y="230428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机动车交通</a:t>
            </a:r>
            <a:endParaRPr lang="en-US" sz="900" dirty="0"/>
          </a:p>
        </p:txBody>
      </p:sp>
      <p:sp>
        <p:nvSpPr>
          <p:cNvPr id="16" name="Text 13"/>
          <p:cNvSpPr txBox="1"/>
          <p:nvPr/>
        </p:nvSpPr>
        <p:spPr>
          <a:xfrm>
            <a:off x="5943600" y="259689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地块被主次干道合围，车行条件良好。车行出入优先考虑西侧、北侧道路开口。</a:t>
            </a:r>
            <a:endParaRPr lang="en-US" sz="850" dirty="0"/>
          </a:p>
        </p:txBody>
      </p:sp>
      <p:sp>
        <p:nvSpPr>
          <p:cNvPr id="17" name="Shape 14"/>
          <p:cNvSpPr/>
          <p:nvPr/>
        </p:nvSpPr>
        <p:spPr>
          <a:xfrm>
            <a:off x="5897880" y="3493008"/>
            <a:ext cx="2926080" cy="1170432"/>
          </a:xfrm>
          <a:prstGeom prst="rect">
            <a:avLst/>
          </a:prstGeom>
          <a:solidFill>
            <a:srgbClr val="EEF2F8"/>
          </a:solidFill>
          <a:ln w="12700">
            <a:solidFill>
              <a:srgbClr val="EEF2F8"/>
            </a:solidFill>
            <a:prstDash val="solid"/>
          </a:ln>
        </p:spPr>
      </p:sp>
      <p:sp>
        <p:nvSpPr>
          <p:cNvPr id="18" name="Shape 15"/>
          <p:cNvSpPr/>
          <p:nvPr/>
        </p:nvSpPr>
        <p:spPr>
          <a:xfrm>
            <a:off x="5989320" y="3584448"/>
            <a:ext cx="914400" cy="274320"/>
          </a:xfrm>
          <a:prstGeom prst="rect">
            <a:avLst/>
          </a:prstGeom>
          <a:solidFill>
            <a:srgbClr val="4E8A3E"/>
          </a:solidFill>
          <a:ln w="12700">
            <a:solidFill>
              <a:srgbClr val="4E8A3E"/>
            </a:solidFill>
            <a:prstDash val="solid"/>
          </a:ln>
        </p:spPr>
      </p:sp>
      <p:sp>
        <p:nvSpPr>
          <p:cNvPr id="19" name="Text 16"/>
          <p:cNvSpPr txBox="1"/>
          <p:nvPr/>
        </p:nvSpPr>
        <p:spPr>
          <a:xfrm>
            <a:off x="5989320" y="358444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慢行交通</a:t>
            </a:r>
            <a:endParaRPr lang="en-US" sz="900" dirty="0"/>
          </a:p>
        </p:txBody>
      </p:sp>
      <p:sp>
        <p:nvSpPr>
          <p:cNvPr id="20" name="Text 17"/>
          <p:cNvSpPr txBox="1"/>
          <p:nvPr/>
        </p:nvSpPr>
        <p:spPr>
          <a:xfrm>
            <a:off x="5943600" y="387705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南侧里仁路为城市支路，作为慢行辅助出入口；四面设人行入口，居民下楼直达。</a:t>
            </a:r>
            <a:endParaRPr lang="en-US" sz="850" dirty="0"/>
          </a:p>
        </p:txBody>
      </p:sp>
      <p:pic>
        <p:nvPicPr>
          <p:cNvPr id="21" name="Image 1" descr="/home/user/lxfs/pptx_build/figs/site_2.jpg">    </p:cNvPr>
          <p:cNvPicPr>
            <a:picLocks noChangeAspect="1"/>
          </p:cNvPicPr>
          <p:nvPr/>
        </p:nvPicPr>
        <p:blipFill>
          <a:blip r:embed="rId2"/>
          <a:stretch>
            <a:fillRect/>
          </a:stretch>
        </p:blipFill>
        <p:spPr>
          <a:xfrm>
            <a:off x="897925" y="3767328"/>
            <a:ext cx="1678869" cy="960120"/>
          </a:xfrm>
          <a:prstGeom prst="rect">
            <a:avLst/>
          </a:prstGeom>
        </p:spPr>
      </p:pic>
      <p:pic>
        <p:nvPicPr>
          <p:cNvPr id="22" name="Image 2" descr="/home/user/lxfs/pptx_build/figs/site_3.jpg">    </p:cNvPr>
          <p:cNvPicPr>
            <a:picLocks noChangeAspect="1"/>
          </p:cNvPicPr>
          <p:nvPr/>
        </p:nvPicPr>
        <p:blipFill>
          <a:blip r:embed="rId3"/>
          <a:stretch>
            <a:fillRect/>
          </a:stretch>
        </p:blipFill>
        <p:spPr>
          <a:xfrm>
            <a:off x="3549685" y="3767328"/>
            <a:ext cx="1678869" cy="960120"/>
          </a:xfrm>
          <a:prstGeom prst="rect">
            <a:avLst/>
          </a:prstGeom>
        </p:spPr>
      </p:pic>
      <p:sp>
        <p:nvSpPr>
          <p:cNvPr id="23" name="Text 18"/>
          <p:cNvSpPr txBox="1"/>
          <p:nvPr/>
        </p:nvSpPr>
        <p:spPr>
          <a:xfrm>
            <a:off x="457200" y="4736592"/>
            <a:ext cx="521208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场地周边道路现状照片</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Pedestrian Flow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2.8 周边人行流线分析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25</a:t>
            </a:r>
            <a:endParaRPr lang="en-US" sz="900" dirty="0"/>
          </a:p>
        </p:txBody>
      </p:sp>
      <p:pic>
        <p:nvPicPr>
          <p:cNvPr id="7" name="Image 0" descr="/home/user/lxfs/pptx_build/figs/flow.jpg">    </p:cNvPr>
          <p:cNvPicPr>
            <a:picLocks noChangeAspect="1"/>
          </p:cNvPicPr>
          <p:nvPr/>
        </p:nvPicPr>
        <p:blipFill>
          <a:blip r:embed="rId1"/>
          <a:stretch>
            <a:fillRect/>
          </a:stretch>
        </p:blipFill>
        <p:spPr>
          <a:xfrm>
            <a:off x="457200" y="932688"/>
            <a:ext cx="5212080" cy="2576522"/>
          </a:xfrm>
          <a:prstGeom prst="rect">
            <a:avLst/>
          </a:prstGeom>
        </p:spPr>
      </p:pic>
      <p:sp>
        <p:nvSpPr>
          <p:cNvPr id="8" name="Text 5"/>
          <p:cNvSpPr txBox="1"/>
          <p:nvPr/>
        </p:nvSpPr>
        <p:spPr>
          <a:xfrm>
            <a:off x="457200" y="3527498"/>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周边人行流线分析图（蓝：居民聚集点；红：进入聚集点）</a:t>
            </a:r>
            <a:endParaRPr lang="en-US" sz="800" dirty="0"/>
          </a:p>
        </p:txBody>
      </p:sp>
      <p:sp>
        <p:nvSpPr>
          <p:cNvPr id="9" name="Text 6"/>
          <p:cNvSpPr txBox="1"/>
          <p:nvPr/>
        </p:nvSpPr>
        <p:spPr>
          <a:xfrm>
            <a:off x="5897880" y="932688"/>
            <a:ext cx="2926080" cy="214884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场地被居住区环绕，紧邻星光幼儿园、文镇小学、文镇幼儿园、仁寿实验中学，人流量大</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主要人流来源：东西两侧小区（最强）、南北两侧小区、四所学校（上下学潮汐）、北侧商务配套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上学时段学生穿越场地形成通道型流线；晨晚居民从四向就近进入</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设计启示：四向人行入口与小区、学校出入口对应；主流线连续无障碍；通道流线与活动场地分离</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人群构成与行为特征见2.12、2.13</a:t>
            </a:r>
            <a:endParaRPr lang="en-US" sz="850" dirty="0"/>
          </a:p>
        </p:txBody>
      </p:sp>
      <p:pic>
        <p:nvPicPr>
          <p:cNvPr id="10" name="Image 1" descr="/home/user/lxfs/pptx_build/figs/x_ped1.jpg">    </p:cNvPr>
          <p:cNvPicPr>
            <a:picLocks noChangeAspect="1"/>
          </p:cNvPicPr>
          <p:nvPr/>
        </p:nvPicPr>
        <p:blipFill>
          <a:blip r:embed="rId2"/>
          <a:stretch>
            <a:fillRect/>
          </a:stretch>
        </p:blipFill>
        <p:spPr>
          <a:xfrm>
            <a:off x="6385560" y="3108960"/>
            <a:ext cx="1950720" cy="1463040"/>
          </a:xfrm>
          <a:prstGeom prst="rect">
            <a:avLst/>
          </a:prstGeom>
        </p:spPr>
      </p:pic>
      <p:sp>
        <p:nvSpPr>
          <p:cNvPr id="11" name="Text 7"/>
          <p:cNvSpPr txBox="1"/>
          <p:nvPr/>
        </p:nvSpPr>
        <p:spPr>
          <a:xfrm>
            <a:off x="5897880" y="4590288"/>
            <a:ext cx="2926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居民步行流线示意（公开视频帧）</a:t>
            </a:r>
            <a:endParaRPr lang="en-US" sz="800" dirty="0"/>
          </a:p>
        </p:txBody>
      </p:sp>
      <p:sp>
        <p:nvSpPr>
          <p:cNvPr id="12" name="Shape 8"/>
          <p:cNvSpPr/>
          <p:nvPr/>
        </p:nvSpPr>
        <p:spPr>
          <a:xfrm>
            <a:off x="457200" y="3840480"/>
            <a:ext cx="5212080" cy="868680"/>
          </a:xfrm>
          <a:prstGeom prst="rect">
            <a:avLst/>
          </a:prstGeom>
          <a:solidFill>
            <a:srgbClr val="EEF2F8"/>
          </a:solidFill>
          <a:ln w="12700">
            <a:solidFill>
              <a:srgbClr val="EEF2F8"/>
            </a:solidFill>
            <a:prstDash val="solid"/>
          </a:ln>
        </p:spPr>
      </p:sp>
      <p:sp>
        <p:nvSpPr>
          <p:cNvPr id="13" name="Text 9"/>
          <p:cNvSpPr txBox="1"/>
          <p:nvPr/>
        </p:nvSpPr>
        <p:spPr>
          <a:xfrm>
            <a:off x="530352" y="3867912"/>
            <a:ext cx="5074920" cy="8229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周边居住区常住居民中老年群体占比较高，包含家庭亲子群体、文镇小学师生群体；本地居民以周边小区家庭住户为主。青少年主要开展户外游玩、体育运动；中老年人偏向散步、休闲社交；外来游客多短途停留，偏好生态休闲活动。</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Land Use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2.9 周边用地分析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26</a:t>
            </a:r>
            <a:endParaRPr lang="en-US" sz="900" dirty="0"/>
          </a:p>
        </p:txBody>
      </p:sp>
      <p:pic>
        <p:nvPicPr>
          <p:cNvPr id="7" name="Image 0" descr="/home/user/lxfs/pptx_build/figs/landuse.jpg">    </p:cNvPr>
          <p:cNvPicPr>
            <a:picLocks noChangeAspect="1"/>
          </p:cNvPicPr>
          <p:nvPr/>
        </p:nvPicPr>
        <p:blipFill>
          <a:blip r:embed="rId1"/>
          <a:stretch>
            <a:fillRect/>
          </a:stretch>
        </p:blipFill>
        <p:spPr>
          <a:xfrm>
            <a:off x="457200" y="932688"/>
            <a:ext cx="4846320" cy="2874480"/>
          </a:xfrm>
          <a:prstGeom prst="rect">
            <a:avLst/>
          </a:prstGeom>
        </p:spPr>
      </p:pic>
      <p:sp>
        <p:nvSpPr>
          <p:cNvPr id="8" name="Text 5"/>
          <p:cNvSpPr txBox="1"/>
          <p:nvPr/>
        </p:nvSpPr>
        <p:spPr>
          <a:xfrm>
            <a:off x="457200" y="3825456"/>
            <a:ext cx="48463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场地周边用地性质分析图</a:t>
            </a:r>
            <a:endParaRPr lang="en-US" sz="800" dirty="0"/>
          </a:p>
        </p:txBody>
      </p:sp>
      <p:sp>
        <p:nvSpPr>
          <p:cNvPr id="9" name="Shape 6"/>
          <p:cNvSpPr/>
          <p:nvPr/>
        </p:nvSpPr>
        <p:spPr>
          <a:xfrm>
            <a:off x="5577840" y="1005840"/>
            <a:ext cx="274320" cy="201168"/>
          </a:xfrm>
          <a:prstGeom prst="rect">
            <a:avLst/>
          </a:prstGeom>
          <a:solidFill>
            <a:srgbClr val="F2D24B"/>
          </a:solidFill>
          <a:ln w="12700">
            <a:solidFill>
              <a:srgbClr val="F2D24B"/>
            </a:solidFill>
            <a:prstDash val="solid"/>
          </a:ln>
        </p:spPr>
      </p:sp>
      <p:sp>
        <p:nvSpPr>
          <p:cNvPr id="10" name="Text 7"/>
          <p:cNvSpPr txBox="1"/>
          <p:nvPr/>
        </p:nvSpPr>
        <p:spPr>
          <a:xfrm>
            <a:off x="5943600" y="96012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住宅用地</a:t>
            </a:r>
            <a:endParaRPr lang="en-US" sz="950" dirty="0"/>
          </a:p>
        </p:txBody>
      </p:sp>
      <p:sp>
        <p:nvSpPr>
          <p:cNvPr id="11" name="Shape 8"/>
          <p:cNvSpPr/>
          <p:nvPr/>
        </p:nvSpPr>
        <p:spPr>
          <a:xfrm>
            <a:off x="5577840" y="1371600"/>
            <a:ext cx="274320" cy="201168"/>
          </a:xfrm>
          <a:prstGeom prst="rect">
            <a:avLst/>
          </a:prstGeom>
          <a:solidFill>
            <a:srgbClr val="E58EC0"/>
          </a:solidFill>
          <a:ln w="12700">
            <a:solidFill>
              <a:srgbClr val="E58EC0"/>
            </a:solidFill>
            <a:prstDash val="solid"/>
          </a:ln>
        </p:spPr>
      </p:sp>
      <p:sp>
        <p:nvSpPr>
          <p:cNvPr id="12" name="Text 9"/>
          <p:cNvSpPr txBox="1"/>
          <p:nvPr/>
        </p:nvSpPr>
        <p:spPr>
          <a:xfrm>
            <a:off x="5943600" y="132588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教育用地</a:t>
            </a:r>
            <a:endParaRPr lang="en-US" sz="950" dirty="0"/>
          </a:p>
        </p:txBody>
      </p:sp>
      <p:sp>
        <p:nvSpPr>
          <p:cNvPr id="13" name="Shape 10"/>
          <p:cNvSpPr/>
          <p:nvPr/>
        </p:nvSpPr>
        <p:spPr>
          <a:xfrm>
            <a:off x="5577840" y="1737360"/>
            <a:ext cx="274320" cy="201168"/>
          </a:xfrm>
          <a:prstGeom prst="rect">
            <a:avLst/>
          </a:prstGeom>
          <a:solidFill>
            <a:srgbClr val="E8542E"/>
          </a:solidFill>
          <a:ln w="12700">
            <a:solidFill>
              <a:srgbClr val="E8542E"/>
            </a:solidFill>
            <a:prstDash val="solid"/>
          </a:ln>
        </p:spPr>
      </p:sp>
      <p:sp>
        <p:nvSpPr>
          <p:cNvPr id="14" name="Text 11"/>
          <p:cNvSpPr txBox="1"/>
          <p:nvPr/>
        </p:nvSpPr>
        <p:spPr>
          <a:xfrm>
            <a:off x="5943600" y="169164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商业用地</a:t>
            </a:r>
            <a:endParaRPr lang="en-US" sz="950" dirty="0"/>
          </a:p>
        </p:txBody>
      </p:sp>
      <p:sp>
        <p:nvSpPr>
          <p:cNvPr id="15" name="Shape 12"/>
          <p:cNvSpPr/>
          <p:nvPr/>
        </p:nvSpPr>
        <p:spPr>
          <a:xfrm>
            <a:off x="5577840" y="2103120"/>
            <a:ext cx="274320" cy="201168"/>
          </a:xfrm>
          <a:prstGeom prst="rect">
            <a:avLst/>
          </a:prstGeom>
          <a:solidFill>
            <a:srgbClr val="5DBA4A"/>
          </a:solidFill>
          <a:ln w="12700">
            <a:solidFill>
              <a:srgbClr val="5DBA4A"/>
            </a:solidFill>
            <a:prstDash val="solid"/>
          </a:ln>
        </p:spPr>
      </p:sp>
      <p:sp>
        <p:nvSpPr>
          <p:cNvPr id="16" name="Text 13"/>
          <p:cNvSpPr txBox="1"/>
          <p:nvPr/>
        </p:nvSpPr>
        <p:spPr>
          <a:xfrm>
            <a:off x="5943600" y="205740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公园用地</a:t>
            </a:r>
            <a:endParaRPr lang="en-US" sz="950" dirty="0"/>
          </a:p>
        </p:txBody>
      </p:sp>
      <p:sp>
        <p:nvSpPr>
          <p:cNvPr id="17" name="Shape 14"/>
          <p:cNvSpPr/>
          <p:nvPr/>
        </p:nvSpPr>
        <p:spPr>
          <a:xfrm>
            <a:off x="5577840" y="2468880"/>
            <a:ext cx="274320" cy="201168"/>
          </a:xfrm>
          <a:prstGeom prst="rect">
            <a:avLst/>
          </a:prstGeom>
          <a:solidFill>
            <a:srgbClr val="8EC6F0"/>
          </a:solidFill>
          <a:ln w="12700">
            <a:solidFill>
              <a:srgbClr val="8EC6F0"/>
            </a:solidFill>
            <a:prstDash val="solid"/>
          </a:ln>
        </p:spPr>
      </p:sp>
      <p:sp>
        <p:nvSpPr>
          <p:cNvPr id="18" name="Text 15"/>
          <p:cNvSpPr txBox="1"/>
          <p:nvPr/>
        </p:nvSpPr>
        <p:spPr>
          <a:xfrm>
            <a:off x="5943600" y="242316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医疗/服务</a:t>
            </a:r>
            <a:endParaRPr lang="en-US" sz="950" dirty="0"/>
          </a:p>
        </p:txBody>
      </p:sp>
      <p:pic>
        <p:nvPicPr>
          <p:cNvPr id="19" name="Image 1" descr="/home/user/lxfs/pptx_build/figs/map.jpg">    </p:cNvPr>
          <p:cNvPicPr>
            <a:picLocks noChangeAspect="1"/>
          </p:cNvPicPr>
          <p:nvPr/>
        </p:nvPicPr>
        <p:blipFill>
          <a:blip r:embed="rId2"/>
          <a:stretch>
            <a:fillRect/>
          </a:stretch>
        </p:blipFill>
        <p:spPr>
          <a:xfrm>
            <a:off x="7330745" y="960120"/>
            <a:ext cx="1477670" cy="2651760"/>
          </a:xfrm>
          <a:prstGeom prst="rect">
            <a:avLst/>
          </a:prstGeom>
        </p:spPr>
      </p:pic>
      <p:sp>
        <p:nvSpPr>
          <p:cNvPr id="20" name="Text 16"/>
          <p:cNvSpPr txBox="1"/>
          <p:nvPr/>
        </p:nvSpPr>
        <p:spPr>
          <a:xfrm>
            <a:off x="7315200" y="3630168"/>
            <a:ext cx="15087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现状地图</a:t>
            </a:r>
            <a:endParaRPr lang="en-US" sz="800" dirty="0"/>
          </a:p>
        </p:txBody>
      </p:sp>
      <p:sp>
        <p:nvSpPr>
          <p:cNvPr id="21" name="Shape 17"/>
          <p:cNvSpPr/>
          <p:nvPr/>
        </p:nvSpPr>
        <p:spPr>
          <a:xfrm>
            <a:off x="5577840" y="3886200"/>
            <a:ext cx="3246120" cy="868680"/>
          </a:xfrm>
          <a:prstGeom prst="rect">
            <a:avLst/>
          </a:prstGeom>
          <a:solidFill>
            <a:srgbClr val="EEF2F8"/>
          </a:solidFill>
          <a:ln w="12700">
            <a:solidFill>
              <a:srgbClr val="EEF2F8"/>
            </a:solidFill>
            <a:prstDash val="solid"/>
          </a:ln>
        </p:spPr>
      </p:sp>
      <p:sp>
        <p:nvSpPr>
          <p:cNvPr id="22" name="Text 18"/>
          <p:cNvSpPr txBox="1"/>
          <p:nvPr/>
        </p:nvSpPr>
        <p:spPr>
          <a:xfrm>
            <a:off x="5623560" y="3904488"/>
            <a:ext cx="3154680" cy="82296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场地四周以二类居住用地为主，周边配套社区幼儿园、小学、沿街商业、小型社区卫生服务站；北侧普宁大道对面为城市商务配套用地。整体人居环境纯粹，公园服务人群以常住居民为主。</a:t>
            </a:r>
            <a:endParaRPr lang="en-US" sz="800" dirty="0"/>
          </a:p>
        </p:txBody>
      </p:sp>
      <p:sp>
        <p:nvSpPr>
          <p:cNvPr id="23" name="Text 19"/>
          <p:cNvSpPr txBox="1"/>
          <p:nvPr/>
        </p:nvSpPr>
        <p:spPr>
          <a:xfrm>
            <a:off x="457200" y="4114800"/>
            <a:ext cx="4846320" cy="274320"/>
          </a:xfrm>
          <a:prstGeom prst="rect">
            <a:avLst/>
          </a:prstGeom>
          <a:noFill/>
          <a:ln/>
        </p:spPr>
        <p:txBody>
          <a:bodyPr wrap="square" lIns="25400" tIns="25400" rIns="25400" bIns="25400" rtlCol="0" anchor="t"/>
          <a:lstStyle/>
          <a:p>
            <a:pPr indent="0" marL="0">
              <a:lnSpc>
                <a:spcPct val="115000"/>
              </a:lnSpc>
              <a:buNone/>
            </a:pPr>
            <a:r>
              <a:rPr lang="en-US" sz="850" b="1" dirty="0">
                <a:solidFill>
                  <a:srgbClr val="1F3F7A"/>
                </a:solidFill>
                <a:latin typeface="Microsoft YaHei" pitchFamily="34" charset="0"/>
                <a:ea typeface="Microsoft YaHei" pitchFamily="34" charset="-122"/>
                <a:cs typeface="Microsoft YaHei" pitchFamily="34" charset="-120"/>
              </a:rPr>
              <a:t>周边学校：星光幼儿园、文镇小学、文镇幼儿园、仁寿实验中学</a:t>
            </a:r>
            <a:endParaRPr lang="en-US" sz="850" dirty="0"/>
          </a:p>
        </p:txBody>
      </p:sp>
      <p:sp>
        <p:nvSpPr>
          <p:cNvPr id="24" name="Text 20"/>
          <p:cNvSpPr txBox="1"/>
          <p:nvPr/>
        </p:nvSpPr>
        <p:spPr>
          <a:xfrm>
            <a:off x="5577840" y="2880360"/>
            <a:ext cx="173736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图例颜色为示意，以分析图中标注为准。</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Landscape and Landform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2.10 地形地貌分析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27</a:t>
            </a:r>
            <a:endParaRPr lang="en-US" sz="900" dirty="0"/>
          </a:p>
        </p:txBody>
      </p:sp>
      <p:pic>
        <p:nvPicPr>
          <p:cNvPr id="7" name="Image 0" descr="/home/user/lxfs/pptx_build/figs/satellite.jpg">    </p:cNvPr>
          <p:cNvPicPr>
            <a:picLocks noChangeAspect="1"/>
          </p:cNvPicPr>
          <p:nvPr/>
        </p:nvPicPr>
        <p:blipFill>
          <a:blip r:embed="rId1"/>
          <a:stretch>
            <a:fillRect/>
          </a:stretch>
        </p:blipFill>
        <p:spPr>
          <a:xfrm>
            <a:off x="457200" y="932688"/>
            <a:ext cx="4023360" cy="3171755"/>
          </a:xfrm>
          <a:prstGeom prst="rect">
            <a:avLst/>
          </a:prstGeom>
        </p:spPr>
      </p:pic>
      <p:sp>
        <p:nvSpPr>
          <p:cNvPr id="8" name="Text 5"/>
          <p:cNvSpPr txBox="1"/>
          <p:nvPr/>
        </p:nvSpPr>
        <p:spPr>
          <a:xfrm>
            <a:off x="457200" y="4122731"/>
            <a:ext cx="4023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场地卫星影像（红线范围内为设计地块）</a:t>
            </a:r>
            <a:endParaRPr lang="en-US" sz="800" dirty="0"/>
          </a:p>
        </p:txBody>
      </p:sp>
      <p:pic>
        <p:nvPicPr>
          <p:cNvPr id="9" name="Image 1" descr="/home/user/lxfs/pptx_build/figs/site_4.jpg">    </p:cNvPr>
          <p:cNvPicPr>
            <a:picLocks noChangeAspect="1"/>
          </p:cNvPicPr>
          <p:nvPr/>
        </p:nvPicPr>
        <p:blipFill>
          <a:blip r:embed="rId2"/>
          <a:stretch>
            <a:fillRect/>
          </a:stretch>
        </p:blipFill>
        <p:spPr>
          <a:xfrm>
            <a:off x="4709160" y="932688"/>
            <a:ext cx="2011680" cy="1146786"/>
          </a:xfrm>
          <a:prstGeom prst="rect">
            <a:avLst/>
          </a:prstGeom>
        </p:spPr>
      </p:pic>
      <p:pic>
        <p:nvPicPr>
          <p:cNvPr id="10" name="Image 2" descr="/home/user/lxfs/pptx_build/figs/site_1.jpg">    </p:cNvPr>
          <p:cNvPicPr>
            <a:picLocks noChangeAspect="1"/>
          </p:cNvPicPr>
          <p:nvPr/>
        </p:nvPicPr>
        <p:blipFill>
          <a:blip r:embed="rId3"/>
          <a:stretch>
            <a:fillRect/>
          </a:stretch>
        </p:blipFill>
        <p:spPr>
          <a:xfrm>
            <a:off x="6812280" y="932688"/>
            <a:ext cx="2011680" cy="1141242"/>
          </a:xfrm>
          <a:prstGeom prst="rect">
            <a:avLst/>
          </a:prstGeom>
        </p:spPr>
      </p:pic>
      <p:sp>
        <p:nvSpPr>
          <p:cNvPr id="11" name="Text 6"/>
          <p:cNvSpPr txBox="1"/>
          <p:nvPr/>
        </p:nvSpPr>
        <p:spPr>
          <a:xfrm>
            <a:off x="4709160" y="2103120"/>
            <a:ext cx="411480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场地现状地形照片（局部小土坡、裸土空地）</a:t>
            </a:r>
            <a:endParaRPr lang="en-US" sz="800" dirty="0"/>
          </a:p>
        </p:txBody>
      </p:sp>
      <p:sp>
        <p:nvSpPr>
          <p:cNvPr id="12" name="Shape 7"/>
          <p:cNvSpPr/>
          <p:nvPr/>
        </p:nvSpPr>
        <p:spPr>
          <a:xfrm>
            <a:off x="4709160" y="2423160"/>
            <a:ext cx="2011680" cy="2286000"/>
          </a:xfrm>
          <a:prstGeom prst="rect">
            <a:avLst/>
          </a:prstGeom>
          <a:solidFill>
            <a:srgbClr val="EEF2F8"/>
          </a:solidFill>
          <a:ln w="12700">
            <a:solidFill>
              <a:srgbClr val="EEF2F8"/>
            </a:solidFill>
            <a:prstDash val="solid"/>
          </a:ln>
        </p:spPr>
      </p:sp>
      <p:sp>
        <p:nvSpPr>
          <p:cNvPr id="13" name="Text 8"/>
          <p:cNvSpPr txBox="1"/>
          <p:nvPr/>
        </p:nvSpPr>
        <p:spPr>
          <a:xfrm>
            <a:off x="480060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区域地貌</a:t>
            </a:r>
            <a:endParaRPr lang="en-US" sz="1000" dirty="0"/>
          </a:p>
        </p:txBody>
      </p:sp>
      <p:sp>
        <p:nvSpPr>
          <p:cNvPr id="14" name="Text 9"/>
          <p:cNvSpPr txBox="1"/>
          <p:nvPr/>
        </p:nvSpPr>
        <p:spPr>
          <a:xfrm>
            <a:off x="475488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仁寿地处四川盆地中部，以浅丘、丘陵为主，地势总体平坦。地质稳定，土壤以紫色土为主。</a:t>
            </a:r>
            <a:endParaRPr lang="en-US" sz="850" dirty="0"/>
          </a:p>
        </p:txBody>
      </p:sp>
      <p:sp>
        <p:nvSpPr>
          <p:cNvPr id="15" name="Shape 10"/>
          <p:cNvSpPr/>
          <p:nvPr/>
        </p:nvSpPr>
        <p:spPr>
          <a:xfrm>
            <a:off x="6812280" y="2423160"/>
            <a:ext cx="2011680" cy="2286000"/>
          </a:xfrm>
          <a:prstGeom prst="rect">
            <a:avLst/>
          </a:prstGeom>
          <a:solidFill>
            <a:srgbClr val="EEF2F8"/>
          </a:solidFill>
          <a:ln w="12700">
            <a:solidFill>
              <a:srgbClr val="EEF2F8"/>
            </a:solidFill>
            <a:prstDash val="solid"/>
          </a:ln>
        </p:spPr>
      </p:sp>
      <p:sp>
        <p:nvSpPr>
          <p:cNvPr id="16" name="Text 11"/>
          <p:cNvSpPr txBox="1"/>
          <p:nvPr/>
        </p:nvSpPr>
        <p:spPr>
          <a:xfrm>
            <a:off x="690372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场地地形</a:t>
            </a:r>
            <a:endParaRPr lang="en-US" sz="1000" dirty="0"/>
          </a:p>
        </p:txBody>
      </p:sp>
      <p:sp>
        <p:nvSpPr>
          <p:cNvPr id="17" name="Text 12"/>
          <p:cNvSpPr txBox="1"/>
          <p:nvPr/>
        </p:nvSpPr>
        <p:spPr>
          <a:xfrm>
            <a:off x="685800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整体平缓，无高差突变；局部有小土坡起伏，无废弃构筑物、无土壤污染。适合土方场内平衡，利用微高差布置线性雨水花园。</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Current Condition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2.11 场地现状分析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28</a:t>
            </a:r>
            <a:endParaRPr lang="en-US" sz="900" dirty="0"/>
          </a:p>
        </p:txBody>
      </p:sp>
      <p:pic>
        <p:nvPicPr>
          <p:cNvPr id="7" name="Image 0" descr="/home/user/lxfs/pptx_build/figs/siteplan.jpg">    </p:cNvPr>
          <p:cNvPicPr>
            <a:picLocks noChangeAspect="1"/>
          </p:cNvPicPr>
          <p:nvPr/>
        </p:nvPicPr>
        <p:blipFill>
          <a:blip r:embed="rId1"/>
          <a:stretch>
            <a:fillRect/>
          </a:stretch>
        </p:blipFill>
        <p:spPr>
          <a:xfrm>
            <a:off x="458645" y="932688"/>
            <a:ext cx="2054510" cy="3611880"/>
          </a:xfrm>
          <a:prstGeom prst="rect">
            <a:avLst/>
          </a:prstGeom>
        </p:spPr>
      </p:pic>
      <p:sp>
        <p:nvSpPr>
          <p:cNvPr id="8" name="Text 5"/>
          <p:cNvSpPr txBox="1"/>
          <p:nvPr/>
        </p:nvSpPr>
        <p:spPr>
          <a:xfrm>
            <a:off x="457200" y="4562856"/>
            <a:ext cx="20574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场地现状平面图</a:t>
            </a:r>
            <a:endParaRPr lang="en-US" sz="800" dirty="0"/>
          </a:p>
        </p:txBody>
      </p:sp>
      <p:pic>
        <p:nvPicPr>
          <p:cNvPr id="9" name="Image 1" descr="/home/user/lxfs/pptx_build/figs/site_1.jpg">    </p:cNvPr>
          <p:cNvPicPr>
            <a:picLocks noChangeAspect="1"/>
          </p:cNvPicPr>
          <p:nvPr/>
        </p:nvPicPr>
        <p:blipFill>
          <a:blip r:embed="rId2"/>
          <a:stretch>
            <a:fillRect/>
          </a:stretch>
        </p:blipFill>
        <p:spPr>
          <a:xfrm>
            <a:off x="2697480" y="932688"/>
            <a:ext cx="1828800" cy="1037492"/>
          </a:xfrm>
          <a:prstGeom prst="rect">
            <a:avLst/>
          </a:prstGeom>
        </p:spPr>
      </p:pic>
      <p:sp>
        <p:nvSpPr>
          <p:cNvPr id="10" name="Shape 6"/>
          <p:cNvSpPr/>
          <p:nvPr/>
        </p:nvSpPr>
        <p:spPr>
          <a:xfrm>
            <a:off x="2697480" y="932688"/>
            <a:ext cx="786384" cy="237744"/>
          </a:xfrm>
          <a:prstGeom prst="rect">
            <a:avLst/>
          </a:prstGeom>
          <a:solidFill>
            <a:srgbClr val="E07B2A">
              <a:alpha val="90000"/>
            </a:srgbClr>
          </a:solidFill>
          <a:ln w="12700">
            <a:solidFill>
              <a:srgbClr val="E07B2A"/>
            </a:solidFill>
            <a:prstDash val="solid"/>
          </a:ln>
        </p:spPr>
      </p:sp>
      <p:sp>
        <p:nvSpPr>
          <p:cNvPr id="11" name="Text 7"/>
          <p:cNvSpPr txBox="1"/>
          <p:nvPr/>
        </p:nvSpPr>
        <p:spPr>
          <a:xfrm>
            <a:off x="2697480" y="932688"/>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裸土空地</a:t>
            </a:r>
            <a:endParaRPr lang="en-US" sz="800" dirty="0"/>
          </a:p>
        </p:txBody>
      </p:sp>
      <p:pic>
        <p:nvPicPr>
          <p:cNvPr id="12" name="Image 2" descr="/home/user/lxfs/pptx_build/figs/site_2.jpg">    </p:cNvPr>
          <p:cNvPicPr>
            <a:picLocks noChangeAspect="1"/>
          </p:cNvPicPr>
          <p:nvPr/>
        </p:nvPicPr>
        <p:blipFill>
          <a:blip r:embed="rId3"/>
          <a:stretch>
            <a:fillRect/>
          </a:stretch>
        </p:blipFill>
        <p:spPr>
          <a:xfrm>
            <a:off x="4617720" y="932688"/>
            <a:ext cx="1828800" cy="1045863"/>
          </a:xfrm>
          <a:prstGeom prst="rect">
            <a:avLst/>
          </a:prstGeom>
        </p:spPr>
      </p:pic>
      <p:sp>
        <p:nvSpPr>
          <p:cNvPr id="13" name="Shape 8"/>
          <p:cNvSpPr/>
          <p:nvPr/>
        </p:nvSpPr>
        <p:spPr>
          <a:xfrm>
            <a:off x="4617720" y="932688"/>
            <a:ext cx="786384" cy="237744"/>
          </a:xfrm>
          <a:prstGeom prst="rect">
            <a:avLst/>
          </a:prstGeom>
          <a:solidFill>
            <a:srgbClr val="1F3F7A">
              <a:alpha val="90000"/>
            </a:srgbClr>
          </a:solidFill>
          <a:ln w="12700">
            <a:solidFill>
              <a:srgbClr val="1F3F7A"/>
            </a:solidFill>
            <a:prstDash val="solid"/>
          </a:ln>
        </p:spPr>
      </p:sp>
      <p:sp>
        <p:nvSpPr>
          <p:cNvPr id="14" name="Text 9"/>
          <p:cNvSpPr txBox="1"/>
          <p:nvPr/>
        </p:nvSpPr>
        <p:spPr>
          <a:xfrm>
            <a:off x="4617720" y="932688"/>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周边住宅</a:t>
            </a:r>
            <a:endParaRPr lang="en-US" sz="800" dirty="0"/>
          </a:p>
        </p:txBody>
      </p:sp>
      <p:pic>
        <p:nvPicPr>
          <p:cNvPr id="15" name="Image 3" descr="/home/user/lxfs/pptx_build/figs/site_3.jpg">    </p:cNvPr>
          <p:cNvPicPr>
            <a:picLocks noChangeAspect="1"/>
          </p:cNvPicPr>
          <p:nvPr/>
        </p:nvPicPr>
        <p:blipFill>
          <a:blip r:embed="rId4"/>
          <a:stretch>
            <a:fillRect/>
          </a:stretch>
        </p:blipFill>
        <p:spPr>
          <a:xfrm>
            <a:off x="2697480" y="2057400"/>
            <a:ext cx="1828800" cy="1045863"/>
          </a:xfrm>
          <a:prstGeom prst="rect">
            <a:avLst/>
          </a:prstGeom>
        </p:spPr>
      </p:pic>
      <p:sp>
        <p:nvSpPr>
          <p:cNvPr id="16" name="Shape 10"/>
          <p:cNvSpPr/>
          <p:nvPr/>
        </p:nvSpPr>
        <p:spPr>
          <a:xfrm>
            <a:off x="2697480" y="2057400"/>
            <a:ext cx="786384" cy="237744"/>
          </a:xfrm>
          <a:prstGeom prst="rect">
            <a:avLst/>
          </a:prstGeom>
          <a:solidFill>
            <a:srgbClr val="4E8A3E">
              <a:alpha val="90000"/>
            </a:srgbClr>
          </a:solidFill>
          <a:ln w="12700">
            <a:solidFill>
              <a:srgbClr val="4E8A3E"/>
            </a:solidFill>
            <a:prstDash val="solid"/>
          </a:ln>
        </p:spPr>
      </p:sp>
      <p:sp>
        <p:nvSpPr>
          <p:cNvPr id="17" name="Text 11"/>
          <p:cNvSpPr txBox="1"/>
          <p:nvPr/>
        </p:nvSpPr>
        <p:spPr>
          <a:xfrm>
            <a:off x="2697480" y="2057400"/>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原生林地</a:t>
            </a:r>
            <a:endParaRPr lang="en-US" sz="800" dirty="0"/>
          </a:p>
        </p:txBody>
      </p:sp>
      <p:pic>
        <p:nvPicPr>
          <p:cNvPr id="18" name="Image 4" descr="/home/user/lxfs/pptx_build/figs/site_4.jpg">    </p:cNvPr>
          <p:cNvPicPr>
            <a:picLocks noChangeAspect="1"/>
          </p:cNvPicPr>
          <p:nvPr/>
        </p:nvPicPr>
        <p:blipFill>
          <a:blip r:embed="rId5"/>
          <a:stretch>
            <a:fillRect/>
          </a:stretch>
        </p:blipFill>
        <p:spPr>
          <a:xfrm>
            <a:off x="4617720" y="2057400"/>
            <a:ext cx="1828800" cy="1042532"/>
          </a:xfrm>
          <a:prstGeom prst="rect">
            <a:avLst/>
          </a:prstGeom>
        </p:spPr>
      </p:pic>
      <p:sp>
        <p:nvSpPr>
          <p:cNvPr id="19" name="Shape 12"/>
          <p:cNvSpPr/>
          <p:nvPr/>
        </p:nvSpPr>
        <p:spPr>
          <a:xfrm>
            <a:off x="4617720" y="2057400"/>
            <a:ext cx="786384" cy="237744"/>
          </a:xfrm>
          <a:prstGeom prst="rect">
            <a:avLst/>
          </a:prstGeom>
          <a:solidFill>
            <a:srgbClr val="E07B2A">
              <a:alpha val="90000"/>
            </a:srgbClr>
          </a:solidFill>
          <a:ln w="12700">
            <a:solidFill>
              <a:srgbClr val="E07B2A"/>
            </a:solidFill>
            <a:prstDash val="solid"/>
          </a:ln>
        </p:spPr>
      </p:sp>
      <p:sp>
        <p:nvSpPr>
          <p:cNvPr id="20" name="Text 13"/>
          <p:cNvSpPr txBox="1"/>
          <p:nvPr/>
        </p:nvSpPr>
        <p:spPr>
          <a:xfrm>
            <a:off x="4617720" y="2057400"/>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局部土坡</a:t>
            </a:r>
            <a:endParaRPr lang="en-US" sz="800" dirty="0"/>
          </a:p>
        </p:txBody>
      </p:sp>
      <p:sp>
        <p:nvSpPr>
          <p:cNvPr id="21" name="Text 14"/>
          <p:cNvSpPr txBox="1"/>
          <p:nvPr/>
        </p:nvSpPr>
        <p:spPr>
          <a:xfrm>
            <a:off x="2697480" y="3127248"/>
            <a:ext cx="374904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场地现状照片（裸土空地、原生林地与周边住宅）</a:t>
            </a:r>
            <a:endParaRPr lang="en-US" sz="750" dirty="0"/>
          </a:p>
        </p:txBody>
      </p:sp>
      <p:pic>
        <p:nvPicPr>
          <p:cNvPr id="22" name="Image 5" descr="/home/user/lxfs/pptx_build/figs/satellite.jpg">    </p:cNvPr>
          <p:cNvPicPr>
            <a:picLocks noChangeAspect="1"/>
          </p:cNvPicPr>
          <p:nvPr/>
        </p:nvPicPr>
        <p:blipFill>
          <a:blip r:embed="rId6"/>
          <a:stretch>
            <a:fillRect/>
          </a:stretch>
        </p:blipFill>
        <p:spPr>
          <a:xfrm>
            <a:off x="3789059" y="3364992"/>
            <a:ext cx="1565883" cy="1234440"/>
          </a:xfrm>
          <a:prstGeom prst="rect">
            <a:avLst/>
          </a:prstGeom>
        </p:spPr>
      </p:pic>
      <p:sp>
        <p:nvSpPr>
          <p:cNvPr id="23" name="Text 15"/>
          <p:cNvSpPr txBox="1"/>
          <p:nvPr/>
        </p:nvSpPr>
        <p:spPr>
          <a:xfrm>
            <a:off x="2697480" y="4617720"/>
            <a:ext cx="37490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a:t>
            </a:r>
            <a:endParaRPr lang="en-US" sz="800" dirty="0"/>
          </a:p>
        </p:txBody>
      </p:sp>
      <p:sp>
        <p:nvSpPr>
          <p:cNvPr id="24" name="Shape 16"/>
          <p:cNvSpPr/>
          <p:nvPr/>
        </p:nvSpPr>
        <p:spPr>
          <a:xfrm>
            <a:off x="6629400" y="932688"/>
            <a:ext cx="2194560" cy="1188720"/>
          </a:xfrm>
          <a:prstGeom prst="rect">
            <a:avLst/>
          </a:prstGeom>
          <a:solidFill>
            <a:srgbClr val="EEF2F8"/>
          </a:solidFill>
          <a:ln w="12700">
            <a:solidFill>
              <a:srgbClr val="EEF2F8"/>
            </a:solidFill>
            <a:prstDash val="solid"/>
          </a:ln>
        </p:spPr>
      </p:sp>
      <p:sp>
        <p:nvSpPr>
          <p:cNvPr id="25" name="Shape 17"/>
          <p:cNvSpPr/>
          <p:nvPr/>
        </p:nvSpPr>
        <p:spPr>
          <a:xfrm>
            <a:off x="6702552" y="1005840"/>
            <a:ext cx="914400" cy="256032"/>
          </a:xfrm>
          <a:prstGeom prst="rect">
            <a:avLst/>
          </a:prstGeom>
          <a:solidFill>
            <a:srgbClr val="4E8A3E"/>
          </a:solidFill>
          <a:ln w="12700">
            <a:solidFill>
              <a:srgbClr val="4E8A3E"/>
            </a:solidFill>
            <a:prstDash val="solid"/>
          </a:ln>
        </p:spPr>
      </p:sp>
      <p:sp>
        <p:nvSpPr>
          <p:cNvPr id="26" name="Text 18"/>
          <p:cNvSpPr txBox="1"/>
          <p:nvPr/>
        </p:nvSpPr>
        <p:spPr>
          <a:xfrm>
            <a:off x="6702552" y="1005840"/>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原生林地</a:t>
            </a:r>
            <a:endParaRPr lang="en-US" sz="900" dirty="0"/>
          </a:p>
        </p:txBody>
      </p:sp>
      <p:sp>
        <p:nvSpPr>
          <p:cNvPr id="27" name="Text 19"/>
          <p:cNvSpPr txBox="1"/>
          <p:nvPr/>
        </p:nvSpPr>
        <p:spPr>
          <a:xfrm>
            <a:off x="6656832" y="1280160"/>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东北部、中部成片原生乡土乔木群落，长势较好，是核心自然资源，可作为公园生态基底保留利用，减少绿化造价。</a:t>
            </a:r>
            <a:endParaRPr lang="en-US" sz="750" dirty="0"/>
          </a:p>
        </p:txBody>
      </p:sp>
      <p:sp>
        <p:nvSpPr>
          <p:cNvPr id="28" name="Shape 20"/>
          <p:cNvSpPr/>
          <p:nvPr/>
        </p:nvSpPr>
        <p:spPr>
          <a:xfrm>
            <a:off x="6629400" y="2194560"/>
            <a:ext cx="2194560" cy="1188720"/>
          </a:xfrm>
          <a:prstGeom prst="rect">
            <a:avLst/>
          </a:prstGeom>
          <a:solidFill>
            <a:srgbClr val="EEF2F8"/>
          </a:solidFill>
          <a:ln w="12700">
            <a:solidFill>
              <a:srgbClr val="EEF2F8"/>
            </a:solidFill>
            <a:prstDash val="solid"/>
          </a:ln>
        </p:spPr>
      </p:sp>
      <p:sp>
        <p:nvSpPr>
          <p:cNvPr id="29" name="Shape 21"/>
          <p:cNvSpPr/>
          <p:nvPr/>
        </p:nvSpPr>
        <p:spPr>
          <a:xfrm>
            <a:off x="6702552" y="2267712"/>
            <a:ext cx="914400" cy="256032"/>
          </a:xfrm>
          <a:prstGeom prst="rect">
            <a:avLst/>
          </a:prstGeom>
          <a:solidFill>
            <a:srgbClr val="E07B2A"/>
          </a:solidFill>
          <a:ln w="12700">
            <a:solidFill>
              <a:srgbClr val="E07B2A"/>
            </a:solidFill>
            <a:prstDash val="solid"/>
          </a:ln>
        </p:spPr>
      </p:sp>
      <p:sp>
        <p:nvSpPr>
          <p:cNvPr id="30" name="Text 22"/>
          <p:cNvSpPr txBox="1"/>
          <p:nvPr/>
        </p:nvSpPr>
        <p:spPr>
          <a:xfrm>
            <a:off x="6702552" y="2267712"/>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裸土空地</a:t>
            </a:r>
            <a:endParaRPr lang="en-US" sz="900" dirty="0"/>
          </a:p>
        </p:txBody>
      </p:sp>
      <p:sp>
        <p:nvSpPr>
          <p:cNvPr id="31" name="Text 23"/>
          <p:cNvSpPr txBox="1"/>
          <p:nvPr/>
        </p:nvSpPr>
        <p:spPr>
          <a:xfrm>
            <a:off x="6656832" y="2542032"/>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其余大片区域为裸露待开发土地，平整程度一般，局部小土坡，杂草零散；土壤条件一般，需改良后再营造植物景观。</a:t>
            </a:r>
            <a:endParaRPr lang="en-US" sz="750" dirty="0"/>
          </a:p>
        </p:txBody>
      </p:sp>
      <p:sp>
        <p:nvSpPr>
          <p:cNvPr id="32" name="Shape 24"/>
          <p:cNvSpPr/>
          <p:nvPr/>
        </p:nvSpPr>
        <p:spPr>
          <a:xfrm>
            <a:off x="6629400" y="3456432"/>
            <a:ext cx="2194560" cy="1188720"/>
          </a:xfrm>
          <a:prstGeom prst="rect">
            <a:avLst/>
          </a:prstGeom>
          <a:solidFill>
            <a:srgbClr val="EEF2F8"/>
          </a:solidFill>
          <a:ln w="12700">
            <a:solidFill>
              <a:srgbClr val="EEF2F8"/>
            </a:solidFill>
            <a:prstDash val="solid"/>
          </a:ln>
        </p:spPr>
      </p:sp>
      <p:sp>
        <p:nvSpPr>
          <p:cNvPr id="33" name="Shape 25"/>
          <p:cNvSpPr/>
          <p:nvPr/>
        </p:nvSpPr>
        <p:spPr>
          <a:xfrm>
            <a:off x="6702552" y="3529584"/>
            <a:ext cx="914400" cy="256032"/>
          </a:xfrm>
          <a:prstGeom prst="rect">
            <a:avLst/>
          </a:prstGeom>
          <a:solidFill>
            <a:srgbClr val="1F3F7A"/>
          </a:solidFill>
          <a:ln w="12700">
            <a:solidFill>
              <a:srgbClr val="1F3F7A"/>
            </a:solidFill>
            <a:prstDash val="solid"/>
          </a:ln>
        </p:spPr>
      </p:sp>
      <p:sp>
        <p:nvSpPr>
          <p:cNvPr id="34" name="Text 26"/>
          <p:cNvSpPr txBox="1"/>
          <p:nvPr/>
        </p:nvSpPr>
        <p:spPr>
          <a:xfrm>
            <a:off x="6702552" y="3529584"/>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水体与构筑</a:t>
            </a:r>
            <a:endParaRPr lang="en-US" sz="900" dirty="0"/>
          </a:p>
        </p:txBody>
      </p:sp>
      <p:sp>
        <p:nvSpPr>
          <p:cNvPr id="35" name="Text 27"/>
          <p:cNvSpPr txBox="1"/>
          <p:nvPr/>
        </p:nvSpPr>
        <p:spPr>
          <a:xfrm>
            <a:off x="6656832" y="3803904"/>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场地无水体，属旱地型地块，需人工营造海绵水景；无大型建筑遗存，拆迁工程量小，适合公园开发建设。</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Population Structure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2.12 人群结构分析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29</a:t>
            </a:r>
            <a:endParaRPr lang="en-US" sz="900" dirty="0"/>
          </a:p>
        </p:txBody>
      </p:sp>
      <p:pic>
        <p:nvPicPr>
          <p:cNvPr id="7" name="Image 0" descr="/home/user/lxfs/pptx_build/figs/x_cn_street.jpg">    </p:cNvPr>
          <p:cNvPicPr>
            <a:picLocks noChangeAspect="1"/>
          </p:cNvPicPr>
          <p:nvPr/>
        </p:nvPicPr>
        <p:blipFill>
          <a:blip r:embed="rId1"/>
          <a:stretch>
            <a:fillRect/>
          </a:stretch>
        </p:blipFill>
        <p:spPr>
          <a:xfrm>
            <a:off x="457200" y="932688"/>
            <a:ext cx="1600200" cy="1065733"/>
          </a:xfrm>
          <a:prstGeom prst="rect">
            <a:avLst/>
          </a:prstGeom>
        </p:spPr>
      </p:pic>
      <p:sp>
        <p:nvSpPr>
          <p:cNvPr id="8" name="Shape 5"/>
          <p:cNvSpPr/>
          <p:nvPr/>
        </p:nvSpPr>
        <p:spPr>
          <a:xfrm>
            <a:off x="457200" y="1431493"/>
            <a:ext cx="1600200" cy="566928"/>
          </a:xfrm>
          <a:prstGeom prst="rect">
            <a:avLst/>
          </a:prstGeom>
          <a:solidFill>
            <a:srgbClr val="1F3F7A">
              <a:alpha val="75000"/>
            </a:srgbClr>
          </a:solidFill>
          <a:ln w="12700">
            <a:solidFill>
              <a:srgbClr val="1F3F7A"/>
            </a:solidFill>
            <a:prstDash val="solid"/>
          </a:ln>
        </p:spPr>
      </p:sp>
      <p:sp>
        <p:nvSpPr>
          <p:cNvPr id="9" name="Text 6"/>
          <p:cNvSpPr txBox="1"/>
          <p:nvPr/>
        </p:nvSpPr>
        <p:spPr>
          <a:xfrm>
            <a:off x="512064" y="1431493"/>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散步、晨练、休憩闲谈、社交 / 康养步道、器械、林荫座椅</a:t>
            </a:r>
            <a:endParaRPr lang="en-US" sz="650" dirty="0"/>
          </a:p>
        </p:txBody>
      </p:sp>
      <p:sp>
        <p:nvSpPr>
          <p:cNvPr id="10" name="Text 7"/>
          <p:cNvSpPr txBox="1"/>
          <p:nvPr/>
        </p:nvSpPr>
        <p:spPr>
          <a:xfrm>
            <a:off x="45720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老年人</a:t>
            </a:r>
            <a:endParaRPr lang="en-US" sz="1000" dirty="0"/>
          </a:p>
        </p:txBody>
      </p:sp>
      <p:pic>
        <p:nvPicPr>
          <p:cNvPr id="11" name="Image 1" descr="/home/user/lxfs/pptx_build/figs/x_family.jpg">    </p:cNvPr>
          <p:cNvPicPr>
            <a:picLocks noChangeAspect="1"/>
          </p:cNvPicPr>
          <p:nvPr/>
        </p:nvPicPr>
        <p:blipFill>
          <a:blip r:embed="rId2"/>
          <a:stretch>
            <a:fillRect/>
          </a:stretch>
        </p:blipFill>
        <p:spPr>
          <a:xfrm>
            <a:off x="2148840" y="932688"/>
            <a:ext cx="1600200" cy="1232154"/>
          </a:xfrm>
          <a:prstGeom prst="rect">
            <a:avLst/>
          </a:prstGeom>
        </p:spPr>
      </p:pic>
      <p:sp>
        <p:nvSpPr>
          <p:cNvPr id="12" name="Shape 8"/>
          <p:cNvSpPr/>
          <p:nvPr/>
        </p:nvSpPr>
        <p:spPr>
          <a:xfrm>
            <a:off x="2148840" y="1597914"/>
            <a:ext cx="1600200" cy="566928"/>
          </a:xfrm>
          <a:prstGeom prst="rect">
            <a:avLst/>
          </a:prstGeom>
          <a:solidFill>
            <a:srgbClr val="E07B2A">
              <a:alpha val="75000"/>
            </a:srgbClr>
          </a:solidFill>
          <a:ln w="12700">
            <a:solidFill>
              <a:srgbClr val="E07B2A"/>
            </a:solidFill>
            <a:prstDash val="solid"/>
          </a:ln>
        </p:spPr>
      </p:sp>
      <p:sp>
        <p:nvSpPr>
          <p:cNvPr id="13" name="Text 9"/>
          <p:cNvSpPr txBox="1"/>
          <p:nvPr/>
        </p:nvSpPr>
        <p:spPr>
          <a:xfrm>
            <a:off x="2203704" y="1597914"/>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儿童攀爬游乐、家长陪护 / 分龄儿童游乐区、看护休憩</a:t>
            </a:r>
            <a:endParaRPr lang="en-US" sz="650" dirty="0"/>
          </a:p>
        </p:txBody>
      </p:sp>
      <p:sp>
        <p:nvSpPr>
          <p:cNvPr id="14" name="Text 10"/>
          <p:cNvSpPr txBox="1"/>
          <p:nvPr/>
        </p:nvSpPr>
        <p:spPr>
          <a:xfrm>
            <a:off x="214884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家庭亲子</a:t>
            </a:r>
            <a:endParaRPr lang="en-US" sz="1000" dirty="0"/>
          </a:p>
        </p:txBody>
      </p:sp>
      <p:pic>
        <p:nvPicPr>
          <p:cNvPr id="15" name="Image 2" descr="/home/user/lxfs/pptx_build/figs/x_skatepark.jpg">    </p:cNvPr>
          <p:cNvPicPr>
            <a:picLocks noChangeAspect="1"/>
          </p:cNvPicPr>
          <p:nvPr/>
        </p:nvPicPr>
        <p:blipFill>
          <a:blip r:embed="rId3"/>
          <a:stretch>
            <a:fillRect/>
          </a:stretch>
        </p:blipFill>
        <p:spPr>
          <a:xfrm>
            <a:off x="3840480" y="932688"/>
            <a:ext cx="1600200" cy="1200150"/>
          </a:xfrm>
          <a:prstGeom prst="rect">
            <a:avLst/>
          </a:prstGeom>
        </p:spPr>
      </p:pic>
      <p:sp>
        <p:nvSpPr>
          <p:cNvPr id="16" name="Shape 11"/>
          <p:cNvSpPr/>
          <p:nvPr/>
        </p:nvSpPr>
        <p:spPr>
          <a:xfrm>
            <a:off x="3840480" y="1565910"/>
            <a:ext cx="1600200" cy="566928"/>
          </a:xfrm>
          <a:prstGeom prst="rect">
            <a:avLst/>
          </a:prstGeom>
          <a:solidFill>
            <a:srgbClr val="4E8A3E">
              <a:alpha val="75000"/>
            </a:srgbClr>
          </a:solidFill>
          <a:ln w="12700">
            <a:solidFill>
              <a:srgbClr val="4E8A3E"/>
            </a:solidFill>
            <a:prstDash val="solid"/>
          </a:ln>
        </p:spPr>
      </p:sp>
      <p:sp>
        <p:nvSpPr>
          <p:cNvPr id="17" name="Text 12"/>
          <p:cNvSpPr txBox="1"/>
          <p:nvPr/>
        </p:nvSpPr>
        <p:spPr>
          <a:xfrm>
            <a:off x="3895344" y="1565910"/>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跑步、球类、骑行 / 球类场地、环形跑道</a:t>
            </a:r>
            <a:endParaRPr lang="en-US" sz="650" dirty="0"/>
          </a:p>
        </p:txBody>
      </p:sp>
      <p:sp>
        <p:nvSpPr>
          <p:cNvPr id="18" name="Text 13"/>
          <p:cNvSpPr txBox="1"/>
          <p:nvPr/>
        </p:nvSpPr>
        <p:spPr>
          <a:xfrm>
            <a:off x="384048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青少年/学生</a:t>
            </a:r>
            <a:endParaRPr lang="en-US" sz="1000" dirty="0"/>
          </a:p>
        </p:txBody>
      </p:sp>
      <p:pic>
        <p:nvPicPr>
          <p:cNvPr id="19" name="Image 3" descr="/home/user/lxfs/pptx_build/figs/x_exercise.jpg">    </p:cNvPr>
          <p:cNvPicPr>
            <a:picLocks noChangeAspect="1"/>
          </p:cNvPicPr>
          <p:nvPr/>
        </p:nvPicPr>
        <p:blipFill>
          <a:blip r:embed="rId4"/>
          <a:stretch>
            <a:fillRect/>
          </a:stretch>
        </p:blipFill>
        <p:spPr>
          <a:xfrm>
            <a:off x="5532120" y="932688"/>
            <a:ext cx="1600200" cy="1068934"/>
          </a:xfrm>
          <a:prstGeom prst="rect">
            <a:avLst/>
          </a:prstGeom>
        </p:spPr>
      </p:pic>
      <p:sp>
        <p:nvSpPr>
          <p:cNvPr id="20" name="Shape 14"/>
          <p:cNvSpPr/>
          <p:nvPr/>
        </p:nvSpPr>
        <p:spPr>
          <a:xfrm>
            <a:off x="5532120" y="1434694"/>
            <a:ext cx="1600200" cy="566928"/>
          </a:xfrm>
          <a:prstGeom prst="rect">
            <a:avLst/>
          </a:prstGeom>
          <a:solidFill>
            <a:srgbClr val="5B7DB1">
              <a:alpha val="75000"/>
            </a:srgbClr>
          </a:solidFill>
          <a:ln w="12700">
            <a:solidFill>
              <a:srgbClr val="5B7DB1"/>
            </a:solidFill>
            <a:prstDash val="solid"/>
          </a:ln>
        </p:spPr>
      </p:sp>
      <p:sp>
        <p:nvSpPr>
          <p:cNvPr id="21" name="Text 15"/>
          <p:cNvSpPr txBox="1"/>
          <p:nvPr/>
        </p:nvSpPr>
        <p:spPr>
          <a:xfrm>
            <a:off x="5586984" y="1434694"/>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跑步、健身 / 健身器械区、夜间照明</a:t>
            </a:r>
            <a:endParaRPr lang="en-US" sz="650" dirty="0"/>
          </a:p>
        </p:txBody>
      </p:sp>
      <p:sp>
        <p:nvSpPr>
          <p:cNvPr id="22" name="Text 16"/>
          <p:cNvSpPr txBox="1"/>
          <p:nvPr/>
        </p:nvSpPr>
        <p:spPr>
          <a:xfrm>
            <a:off x="553212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中青年</a:t>
            </a:r>
            <a:endParaRPr lang="en-US" sz="1000" dirty="0"/>
          </a:p>
        </p:txBody>
      </p:sp>
      <p:pic>
        <p:nvPicPr>
          <p:cNvPr id="23" name="Image 4" descr="/home/user/lxfs/pptx_build/figs/x_beachkites.jpg">    </p:cNvPr>
          <p:cNvPicPr>
            <a:picLocks noChangeAspect="1"/>
          </p:cNvPicPr>
          <p:nvPr/>
        </p:nvPicPr>
        <p:blipFill>
          <a:blip r:embed="rId5"/>
          <a:stretch>
            <a:fillRect/>
          </a:stretch>
        </p:blipFill>
        <p:spPr>
          <a:xfrm>
            <a:off x="7223760" y="932688"/>
            <a:ext cx="1600200" cy="1200150"/>
          </a:xfrm>
          <a:prstGeom prst="rect">
            <a:avLst/>
          </a:prstGeom>
        </p:spPr>
      </p:pic>
      <p:sp>
        <p:nvSpPr>
          <p:cNvPr id="24" name="Shape 17"/>
          <p:cNvSpPr/>
          <p:nvPr/>
        </p:nvSpPr>
        <p:spPr>
          <a:xfrm>
            <a:off x="7223760" y="1565910"/>
            <a:ext cx="1600200" cy="566928"/>
          </a:xfrm>
          <a:prstGeom prst="rect">
            <a:avLst/>
          </a:prstGeom>
          <a:solidFill>
            <a:srgbClr val="8A8F9C">
              <a:alpha val="75000"/>
            </a:srgbClr>
          </a:solidFill>
          <a:ln w="12700">
            <a:solidFill>
              <a:srgbClr val="8A8F9C"/>
            </a:solidFill>
            <a:prstDash val="solid"/>
          </a:ln>
        </p:spPr>
      </p:sp>
      <p:sp>
        <p:nvSpPr>
          <p:cNvPr id="25" name="Text 18"/>
          <p:cNvSpPr txBox="1"/>
          <p:nvPr/>
        </p:nvSpPr>
        <p:spPr>
          <a:xfrm>
            <a:off x="7278624" y="1565910"/>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短途停留、生态休闲 / 阳光草坪、景观节点</a:t>
            </a:r>
            <a:endParaRPr lang="en-US" sz="650" dirty="0"/>
          </a:p>
        </p:txBody>
      </p:sp>
      <p:sp>
        <p:nvSpPr>
          <p:cNvPr id="26" name="Text 19"/>
          <p:cNvSpPr txBox="1"/>
          <p:nvPr/>
        </p:nvSpPr>
        <p:spPr>
          <a:xfrm>
            <a:off x="722376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外来游客</a:t>
            </a:r>
            <a:endParaRPr lang="en-US" sz="1000" dirty="0"/>
          </a:p>
        </p:txBody>
      </p:sp>
      <p:pic>
        <p:nvPicPr>
          <p:cNvPr id="27" name="Image 5" descr="/home/user/lxfs/pptx_build/figs/pie_src.jpg">    </p:cNvPr>
          <p:cNvPicPr>
            <a:picLocks noChangeAspect="1"/>
          </p:cNvPicPr>
          <p:nvPr/>
        </p:nvPicPr>
        <p:blipFill>
          <a:blip r:embed="rId6"/>
          <a:stretch>
            <a:fillRect/>
          </a:stretch>
        </p:blipFill>
        <p:spPr>
          <a:xfrm>
            <a:off x="457200" y="2743200"/>
            <a:ext cx="1737360" cy="1737360"/>
          </a:xfrm>
          <a:prstGeom prst="rect">
            <a:avLst/>
          </a:prstGeom>
        </p:spPr>
      </p:pic>
      <p:sp>
        <p:nvSpPr>
          <p:cNvPr id="28" name="Text 20"/>
          <p:cNvSpPr txBox="1"/>
          <p:nvPr/>
        </p:nvSpPr>
        <p:spPr>
          <a:xfrm>
            <a:off x="457200" y="4498848"/>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使用人群来源构成</a:t>
            </a:r>
            <a:endParaRPr lang="en-US" sz="800" dirty="0"/>
          </a:p>
        </p:txBody>
      </p:sp>
      <p:pic>
        <p:nvPicPr>
          <p:cNvPr id="29" name="Image 6" descr="/home/user/lxfs/pptx_build/figs/pie_age.jpg">    </p:cNvPr>
          <p:cNvPicPr>
            <a:picLocks noChangeAspect="1"/>
          </p:cNvPicPr>
          <p:nvPr/>
        </p:nvPicPr>
        <p:blipFill>
          <a:blip r:embed="rId7"/>
          <a:stretch>
            <a:fillRect/>
          </a:stretch>
        </p:blipFill>
        <p:spPr>
          <a:xfrm>
            <a:off x="2286000" y="2743200"/>
            <a:ext cx="1737360" cy="1527349"/>
          </a:xfrm>
          <a:prstGeom prst="rect">
            <a:avLst/>
          </a:prstGeom>
        </p:spPr>
      </p:pic>
      <p:sp>
        <p:nvSpPr>
          <p:cNvPr id="30" name="Text 21"/>
          <p:cNvSpPr txBox="1"/>
          <p:nvPr/>
        </p:nvSpPr>
        <p:spPr>
          <a:xfrm>
            <a:off x="2286000" y="4288837"/>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使用人群年龄构成</a:t>
            </a:r>
            <a:endParaRPr lang="en-US" sz="800" dirty="0"/>
          </a:p>
        </p:txBody>
      </p:sp>
      <p:pic>
        <p:nvPicPr>
          <p:cNvPr id="31" name="Image 7" descr="/home/user/lxfs/pptx_build/figs/pie_sex.jpg">    </p:cNvPr>
          <p:cNvPicPr>
            <a:picLocks noChangeAspect="1"/>
          </p:cNvPicPr>
          <p:nvPr/>
        </p:nvPicPr>
        <p:blipFill>
          <a:blip r:embed="rId8"/>
          <a:stretch>
            <a:fillRect/>
          </a:stretch>
        </p:blipFill>
        <p:spPr>
          <a:xfrm>
            <a:off x="4114800" y="2743200"/>
            <a:ext cx="1737360" cy="1737360"/>
          </a:xfrm>
          <a:prstGeom prst="rect">
            <a:avLst/>
          </a:prstGeom>
        </p:spPr>
      </p:pic>
      <p:sp>
        <p:nvSpPr>
          <p:cNvPr id="32" name="Text 22"/>
          <p:cNvSpPr txBox="1"/>
          <p:nvPr/>
        </p:nvSpPr>
        <p:spPr>
          <a:xfrm>
            <a:off x="4114800" y="4498848"/>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使用人群性别构成</a:t>
            </a:r>
            <a:endParaRPr lang="en-US" sz="800" dirty="0"/>
          </a:p>
        </p:txBody>
      </p:sp>
      <p:sp>
        <p:nvSpPr>
          <p:cNvPr id="33" name="Shape 23"/>
          <p:cNvSpPr/>
          <p:nvPr/>
        </p:nvSpPr>
        <p:spPr>
          <a:xfrm>
            <a:off x="6035040" y="2743200"/>
            <a:ext cx="2788920" cy="1965960"/>
          </a:xfrm>
          <a:prstGeom prst="rect">
            <a:avLst/>
          </a:prstGeom>
          <a:solidFill>
            <a:srgbClr val="EEF2F8"/>
          </a:solidFill>
          <a:ln w="12700">
            <a:solidFill>
              <a:srgbClr val="EEF2F8"/>
            </a:solidFill>
            <a:prstDash val="solid"/>
          </a:ln>
        </p:spPr>
      </p:sp>
      <p:sp>
        <p:nvSpPr>
          <p:cNvPr id="34" name="Text 24"/>
          <p:cNvSpPr txBox="1"/>
          <p:nvPr/>
        </p:nvSpPr>
        <p:spPr>
          <a:xfrm>
            <a:off x="6126480" y="2770632"/>
            <a:ext cx="2560320" cy="274320"/>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人群结构特征</a:t>
            </a:r>
            <a:endParaRPr lang="en-US" sz="1000" dirty="0"/>
          </a:p>
        </p:txBody>
      </p:sp>
      <p:sp>
        <p:nvSpPr>
          <p:cNvPr id="35" name="Text 25"/>
          <p:cNvSpPr txBox="1"/>
          <p:nvPr/>
        </p:nvSpPr>
        <p:spPr>
          <a:xfrm>
            <a:off x="6080760" y="3044952"/>
            <a:ext cx="2697480" cy="13716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仁寿县60岁及以上人口占26.56%，明显高于全国（18.70%）与四川（21.71%）。片区周边居民中老年占比高，并含家庭亲子群体与文镇小学等学校师生。年龄结构呈中老年、青少年占比偏高、青壮年通勤人群为辅的特征；性别构成男50.62%、女49.38%。</a:t>
            </a:r>
            <a:endParaRPr lang="en-US" sz="800" dirty="0"/>
          </a:p>
        </p:txBody>
      </p:sp>
      <p:sp>
        <p:nvSpPr>
          <p:cNvPr id="36" name="Text 26"/>
          <p:cNvSpPr txBox="1"/>
          <p:nvPr/>
        </p:nvSpPr>
        <p:spPr>
          <a:xfrm>
            <a:off x="6080760" y="4389120"/>
            <a:ext cx="2697480" cy="320040"/>
          </a:xfrm>
          <a:prstGeom prst="rect">
            <a:avLst/>
          </a:prstGeom>
          <a:noFill/>
          <a:ln/>
        </p:spPr>
        <p:txBody>
          <a:bodyPr wrap="square" lIns="25400" tIns="25400" rIns="25400" bIns="25400" rtlCol="0" anchor="t"/>
          <a:lstStyle/>
          <a:p>
            <a:pPr indent="0" marL="0">
              <a:lnSpc>
                <a:spcPct val="115000"/>
              </a:lnSpc>
              <a:buNone/>
            </a:pPr>
            <a:r>
              <a:rPr lang="en-US" sz="650" dirty="0">
                <a:solidFill>
                  <a:srgbClr val="777777"/>
                </a:solidFill>
                <a:latin typeface="Microsoft YaHei" pitchFamily="34" charset="0"/>
                <a:ea typeface="Microsoft YaHei" pitchFamily="34" charset="-122"/>
                <a:cs typeface="Microsoft YaHei" pitchFamily="34" charset="-120"/>
              </a:rPr>
              <a:t>数据来源：《仁寿县第七次全国人口普查公报（第三号）》；饼图为开题报告调研预测数据。</a:t>
            </a:r>
            <a:endParaRPr lang="en-US" sz="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30</a:t>
            </a:r>
            <a:endParaRPr lang="en-US" sz="900" dirty="0"/>
          </a:p>
        </p:txBody>
      </p:sp>
      <p:sp>
        <p:nvSpPr>
          <p:cNvPr id="7" name="Text 5"/>
          <p:cNvSpPr txBox="1"/>
          <p:nvPr/>
        </p:nvSpPr>
        <p:spPr>
          <a:xfrm>
            <a:off x="457200" y="1051560"/>
            <a:ext cx="2011680" cy="2743200"/>
          </a:xfrm>
          <a:prstGeom prst="rect">
            <a:avLst/>
          </a:prstGeom>
          <a:noFill/>
          <a:ln/>
        </p:spPr>
        <p:txBody>
          <a:bodyPr wrap="square" lIns="25400" tIns="25400" rIns="25400" bIns="25400" rtlCol="0" anchor="t"/>
          <a:lstStyle/>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室外除了“树”，好像并没有什么期待。场地功能单一，功能设置没有吸引力，景观没有特征容易视觉疲劳。</a:t>
            </a:r>
            <a:endParaRPr lang="en-US" sz="850" dirty="0"/>
          </a:p>
          <a:p>
            <a:pPr indent="0" marL="0">
              <a:lnSpc>
                <a:spcPct val="130000"/>
              </a:lnSpc>
              <a:buNone/>
            </a:pPr>
            <a:endParaRPr lang="en-US" sz="850" dirty="0"/>
          </a:p>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周边居民以中老年、家庭亲子与学生为主：出行、日晒、休憩、体锻是基本需求；情感、兴趣、社交、理疗是进阶需求。真正的需求在空间中得以实现，是主宰力的完美表现。</a:t>
            </a:r>
            <a:endParaRPr lang="en-US" sz="850" dirty="0"/>
          </a:p>
        </p:txBody>
      </p:sp>
      <p:sp>
        <p:nvSpPr>
          <p:cNvPr id="8" name="Text 6"/>
          <p:cNvSpPr txBox="1"/>
          <p:nvPr/>
        </p:nvSpPr>
        <p:spPr>
          <a:xfrm>
            <a:off x="2377440" y="96012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基本需求</a:t>
            </a:r>
            <a:endParaRPr lang="en-US" sz="900" dirty="0"/>
          </a:p>
        </p:txBody>
      </p:sp>
      <p:sp>
        <p:nvSpPr>
          <p:cNvPr id="9" name="Text 7"/>
          <p:cNvSpPr txBox="1"/>
          <p:nvPr/>
        </p:nvSpPr>
        <p:spPr>
          <a:xfrm>
            <a:off x="2377440" y="352044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进阶需求</a:t>
            </a:r>
            <a:endParaRPr lang="en-US" sz="900" dirty="0"/>
          </a:p>
        </p:txBody>
      </p:sp>
      <p:sp>
        <p:nvSpPr>
          <p:cNvPr id="10" name="Shape 8"/>
          <p:cNvSpPr/>
          <p:nvPr/>
        </p:nvSpPr>
        <p:spPr>
          <a:xfrm>
            <a:off x="3264408" y="1051560"/>
            <a:ext cx="64008" cy="338328"/>
          </a:xfrm>
          <a:prstGeom prst="rect">
            <a:avLst/>
          </a:prstGeom>
          <a:solidFill>
            <a:srgbClr val="E07B2A"/>
          </a:solidFill>
          <a:ln w="12700">
            <a:solidFill>
              <a:srgbClr val="E07B2A"/>
            </a:solidFill>
            <a:prstDash val="solid"/>
          </a:ln>
        </p:spPr>
      </p:sp>
      <p:sp>
        <p:nvSpPr>
          <p:cNvPr id="11" name="Shape 9"/>
          <p:cNvSpPr/>
          <p:nvPr/>
        </p:nvSpPr>
        <p:spPr>
          <a:xfrm>
            <a:off x="3264408" y="1389888"/>
            <a:ext cx="64008" cy="338328"/>
          </a:xfrm>
          <a:prstGeom prst="rect">
            <a:avLst/>
          </a:prstGeom>
          <a:solidFill>
            <a:srgbClr val="E58A45"/>
          </a:solidFill>
          <a:ln w="12700">
            <a:solidFill>
              <a:srgbClr val="E58A45"/>
            </a:solidFill>
            <a:prstDash val="solid"/>
          </a:ln>
        </p:spPr>
      </p:sp>
      <p:sp>
        <p:nvSpPr>
          <p:cNvPr id="12" name="Shape 10"/>
          <p:cNvSpPr/>
          <p:nvPr/>
        </p:nvSpPr>
        <p:spPr>
          <a:xfrm>
            <a:off x="3264408" y="1728216"/>
            <a:ext cx="64008" cy="338328"/>
          </a:xfrm>
          <a:prstGeom prst="rect">
            <a:avLst/>
          </a:prstGeom>
          <a:solidFill>
            <a:srgbClr val="EA9A60"/>
          </a:solidFill>
          <a:ln w="12700">
            <a:solidFill>
              <a:srgbClr val="EA9A60"/>
            </a:solidFill>
            <a:prstDash val="solid"/>
          </a:ln>
        </p:spPr>
      </p:sp>
      <p:sp>
        <p:nvSpPr>
          <p:cNvPr id="13" name="Shape 11"/>
          <p:cNvSpPr/>
          <p:nvPr/>
        </p:nvSpPr>
        <p:spPr>
          <a:xfrm>
            <a:off x="3264408" y="2066544"/>
            <a:ext cx="64008" cy="338328"/>
          </a:xfrm>
          <a:prstGeom prst="rect">
            <a:avLst/>
          </a:prstGeom>
          <a:solidFill>
            <a:srgbClr val="EEA97A"/>
          </a:solidFill>
          <a:ln w="12700">
            <a:solidFill>
              <a:srgbClr val="EEA97A"/>
            </a:solidFill>
            <a:prstDash val="solid"/>
          </a:ln>
        </p:spPr>
      </p:sp>
      <p:sp>
        <p:nvSpPr>
          <p:cNvPr id="14" name="Shape 12"/>
          <p:cNvSpPr/>
          <p:nvPr/>
        </p:nvSpPr>
        <p:spPr>
          <a:xfrm>
            <a:off x="3264408" y="2404872"/>
            <a:ext cx="64008" cy="338328"/>
          </a:xfrm>
          <a:prstGeom prst="rect">
            <a:avLst/>
          </a:prstGeom>
          <a:solidFill>
            <a:srgbClr val="F2B995"/>
          </a:solidFill>
          <a:ln w="12700">
            <a:solidFill>
              <a:srgbClr val="F2B995"/>
            </a:solidFill>
            <a:prstDash val="solid"/>
          </a:ln>
        </p:spPr>
      </p:sp>
      <p:sp>
        <p:nvSpPr>
          <p:cNvPr id="15" name="Shape 13"/>
          <p:cNvSpPr/>
          <p:nvPr/>
        </p:nvSpPr>
        <p:spPr>
          <a:xfrm>
            <a:off x="3264408" y="2743200"/>
            <a:ext cx="64008" cy="338328"/>
          </a:xfrm>
          <a:prstGeom prst="rect">
            <a:avLst/>
          </a:prstGeom>
          <a:solidFill>
            <a:srgbClr val="F6C9B0"/>
          </a:solidFill>
          <a:ln w="12700">
            <a:solidFill>
              <a:srgbClr val="F6C9B0"/>
            </a:solidFill>
            <a:prstDash val="solid"/>
          </a:ln>
        </p:spPr>
      </p:sp>
      <p:sp>
        <p:nvSpPr>
          <p:cNvPr id="16" name="Shape 14"/>
          <p:cNvSpPr/>
          <p:nvPr/>
        </p:nvSpPr>
        <p:spPr>
          <a:xfrm>
            <a:off x="3264408" y="3081528"/>
            <a:ext cx="64008" cy="338328"/>
          </a:xfrm>
          <a:prstGeom prst="rect">
            <a:avLst/>
          </a:prstGeom>
          <a:solidFill>
            <a:srgbClr val="F9D9CA"/>
          </a:solidFill>
          <a:ln w="12700">
            <a:solidFill>
              <a:srgbClr val="F9D9CA"/>
            </a:solidFill>
            <a:prstDash val="solid"/>
          </a:ln>
        </p:spPr>
      </p:sp>
      <p:sp>
        <p:nvSpPr>
          <p:cNvPr id="17" name="Shape 15"/>
          <p:cNvSpPr/>
          <p:nvPr/>
        </p:nvSpPr>
        <p:spPr>
          <a:xfrm>
            <a:off x="3264408" y="3419856"/>
            <a:ext cx="64008" cy="338328"/>
          </a:xfrm>
          <a:prstGeom prst="rect">
            <a:avLst/>
          </a:prstGeom>
          <a:solidFill>
            <a:srgbClr val="FCE9E3"/>
          </a:solidFill>
          <a:ln w="12700">
            <a:solidFill>
              <a:srgbClr val="FCE9E3"/>
            </a:solidFill>
            <a:prstDash val="solid"/>
          </a:ln>
        </p:spPr>
      </p:sp>
      <p:sp>
        <p:nvSpPr>
          <p:cNvPr id="18" name="Text 16"/>
          <p:cNvSpPr txBox="1"/>
          <p:nvPr/>
        </p:nvSpPr>
        <p:spPr>
          <a:xfrm>
            <a:off x="3383280" y="102412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出行</a:t>
            </a:r>
            <a:endParaRPr lang="en-US" sz="850" dirty="0"/>
          </a:p>
        </p:txBody>
      </p:sp>
      <p:sp>
        <p:nvSpPr>
          <p:cNvPr id="19" name="Text 17"/>
          <p:cNvSpPr txBox="1"/>
          <p:nvPr/>
        </p:nvSpPr>
        <p:spPr>
          <a:xfrm>
            <a:off x="3383280" y="136245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日晒</a:t>
            </a:r>
            <a:endParaRPr lang="en-US" sz="850" dirty="0"/>
          </a:p>
        </p:txBody>
      </p:sp>
      <p:sp>
        <p:nvSpPr>
          <p:cNvPr id="20" name="Text 18"/>
          <p:cNvSpPr txBox="1"/>
          <p:nvPr/>
        </p:nvSpPr>
        <p:spPr>
          <a:xfrm>
            <a:off x="3383280" y="170078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休憩</a:t>
            </a:r>
            <a:endParaRPr lang="en-US" sz="850" dirty="0"/>
          </a:p>
        </p:txBody>
      </p:sp>
      <p:sp>
        <p:nvSpPr>
          <p:cNvPr id="21" name="Text 19"/>
          <p:cNvSpPr txBox="1"/>
          <p:nvPr/>
        </p:nvSpPr>
        <p:spPr>
          <a:xfrm>
            <a:off x="3383280" y="2039112"/>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体锻</a:t>
            </a:r>
            <a:endParaRPr lang="en-US" sz="850" dirty="0"/>
          </a:p>
        </p:txBody>
      </p:sp>
      <p:sp>
        <p:nvSpPr>
          <p:cNvPr id="22" name="Text 20"/>
          <p:cNvSpPr txBox="1"/>
          <p:nvPr/>
        </p:nvSpPr>
        <p:spPr>
          <a:xfrm>
            <a:off x="3383280" y="2377440"/>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情感</a:t>
            </a:r>
            <a:endParaRPr lang="en-US" sz="850" dirty="0"/>
          </a:p>
        </p:txBody>
      </p:sp>
      <p:sp>
        <p:nvSpPr>
          <p:cNvPr id="23" name="Text 21"/>
          <p:cNvSpPr txBox="1"/>
          <p:nvPr/>
        </p:nvSpPr>
        <p:spPr>
          <a:xfrm>
            <a:off x="3383280" y="271576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兴趣</a:t>
            </a:r>
            <a:endParaRPr lang="en-US" sz="850" dirty="0"/>
          </a:p>
        </p:txBody>
      </p:sp>
      <p:sp>
        <p:nvSpPr>
          <p:cNvPr id="24" name="Text 22"/>
          <p:cNvSpPr txBox="1"/>
          <p:nvPr/>
        </p:nvSpPr>
        <p:spPr>
          <a:xfrm>
            <a:off x="3383280" y="305409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社交</a:t>
            </a:r>
            <a:endParaRPr lang="en-US" sz="850" dirty="0"/>
          </a:p>
        </p:txBody>
      </p:sp>
      <p:sp>
        <p:nvSpPr>
          <p:cNvPr id="25" name="Text 23"/>
          <p:cNvSpPr txBox="1"/>
          <p:nvPr/>
        </p:nvSpPr>
        <p:spPr>
          <a:xfrm>
            <a:off x="3383280" y="339242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理疗</a:t>
            </a:r>
            <a:endParaRPr lang="en-US" sz="850" dirty="0"/>
          </a:p>
        </p:txBody>
      </p:sp>
      <p:pic>
        <p:nvPicPr>
          <p:cNvPr id="26" name="Image 0" descr="/home/user/lxfs/pptx_build/figs/x_rickshaw.jpg">    </p:cNvPr>
          <p:cNvPicPr>
            <a:picLocks noChangeAspect="1"/>
          </p:cNvPicPr>
          <p:nvPr/>
        </p:nvPicPr>
        <p:blipFill>
          <a:blip r:embed="rId1"/>
          <a:stretch>
            <a:fillRect/>
          </a:stretch>
        </p:blipFill>
        <p:spPr>
          <a:xfrm>
            <a:off x="3931920" y="960120"/>
            <a:ext cx="1554480" cy="835742"/>
          </a:xfrm>
          <a:prstGeom prst="rect">
            <a:avLst/>
          </a:prstGeom>
        </p:spPr>
      </p:pic>
      <p:pic>
        <p:nvPicPr>
          <p:cNvPr id="27" name="Image 1" descr="/home/user/lxfs/pptx_build/figs/x_bench2.jpg">    </p:cNvPr>
          <p:cNvPicPr>
            <a:picLocks noChangeAspect="1"/>
          </p:cNvPicPr>
          <p:nvPr/>
        </p:nvPicPr>
        <p:blipFill>
          <a:blip r:embed="rId2"/>
          <a:stretch>
            <a:fillRect/>
          </a:stretch>
        </p:blipFill>
        <p:spPr>
          <a:xfrm>
            <a:off x="5512348" y="960120"/>
            <a:ext cx="1168048" cy="896112"/>
          </a:xfrm>
          <a:prstGeom prst="rect">
            <a:avLst/>
          </a:prstGeom>
        </p:spPr>
      </p:pic>
      <p:pic>
        <p:nvPicPr>
          <p:cNvPr id="28" name="Image 2" descr="/home/user/lxfs/pptx_build/figs/x_kites.jpg">    </p:cNvPr>
          <p:cNvPicPr>
            <a:picLocks noChangeAspect="1"/>
          </p:cNvPicPr>
          <p:nvPr/>
        </p:nvPicPr>
        <p:blipFill>
          <a:blip r:embed="rId3"/>
          <a:stretch>
            <a:fillRect/>
          </a:stretch>
        </p:blipFill>
        <p:spPr>
          <a:xfrm>
            <a:off x="6706344" y="960120"/>
            <a:ext cx="1419583" cy="896112"/>
          </a:xfrm>
          <a:prstGeom prst="rect">
            <a:avLst/>
          </a:prstGeom>
        </p:spPr>
      </p:pic>
      <p:pic>
        <p:nvPicPr>
          <p:cNvPr id="29" name="Image 3" descr="/home/user/lxfs/pptx_build/figs/x_umbrella.jpg">    </p:cNvPr>
          <p:cNvPicPr>
            <a:picLocks noChangeAspect="1"/>
          </p:cNvPicPr>
          <p:nvPr/>
        </p:nvPicPr>
        <p:blipFill>
          <a:blip r:embed="rId4"/>
          <a:stretch>
            <a:fillRect/>
          </a:stretch>
        </p:blipFill>
        <p:spPr>
          <a:xfrm>
            <a:off x="8151876" y="960120"/>
            <a:ext cx="672084" cy="896112"/>
          </a:xfrm>
          <a:prstGeom prst="rect">
            <a:avLst/>
          </a:prstGeom>
        </p:spPr>
      </p:pic>
      <p:pic>
        <p:nvPicPr>
          <p:cNvPr id="30" name="Image 4" descr="/home/user/lxfs/pptx_build/figs/x_bench.jpg">    </p:cNvPr>
          <p:cNvPicPr>
            <a:picLocks noChangeAspect="1"/>
          </p:cNvPicPr>
          <p:nvPr/>
        </p:nvPicPr>
        <p:blipFill>
          <a:blip r:embed="rId5"/>
          <a:stretch>
            <a:fillRect/>
          </a:stretch>
        </p:blipFill>
        <p:spPr>
          <a:xfrm>
            <a:off x="3931920" y="1920240"/>
            <a:ext cx="1341485" cy="896112"/>
          </a:xfrm>
          <a:prstGeom prst="rect">
            <a:avLst/>
          </a:prstGeom>
        </p:spPr>
      </p:pic>
      <p:pic>
        <p:nvPicPr>
          <p:cNvPr id="31" name="Image 5" descr="/home/user/lxfs/pptx_build/figs/x_bar.jpg">    </p:cNvPr>
          <p:cNvPicPr>
            <a:picLocks noChangeAspect="1"/>
          </p:cNvPicPr>
          <p:nvPr/>
        </p:nvPicPr>
        <p:blipFill>
          <a:blip r:embed="rId6"/>
          <a:stretch>
            <a:fillRect/>
          </a:stretch>
        </p:blipFill>
        <p:spPr>
          <a:xfrm>
            <a:off x="5643271" y="1920240"/>
            <a:ext cx="1341485" cy="896112"/>
          </a:xfrm>
          <a:prstGeom prst="rect">
            <a:avLst/>
          </a:prstGeom>
        </p:spPr>
      </p:pic>
      <p:pic>
        <p:nvPicPr>
          <p:cNvPr id="32" name="Image 6" descr="/home/user/lxfs/pptx_build/figs/x_tennis2.jpg">    </p:cNvPr>
          <p:cNvPicPr>
            <a:picLocks noChangeAspect="1"/>
          </p:cNvPicPr>
          <p:nvPr/>
        </p:nvPicPr>
        <p:blipFill>
          <a:blip r:embed="rId7"/>
          <a:stretch>
            <a:fillRect/>
          </a:stretch>
        </p:blipFill>
        <p:spPr>
          <a:xfrm>
            <a:off x="7354621" y="1920240"/>
            <a:ext cx="502663" cy="896112"/>
          </a:xfrm>
          <a:prstGeom prst="rect">
            <a:avLst/>
          </a:prstGeom>
        </p:spPr>
      </p:pic>
      <p:pic>
        <p:nvPicPr>
          <p:cNvPr id="33" name="Image 7" descr="/home/user/lxfs/pptx_build/figs/x_basketball.jpg">    </p:cNvPr>
          <p:cNvPicPr>
            <a:picLocks noChangeAspect="1"/>
          </p:cNvPicPr>
          <p:nvPr/>
        </p:nvPicPr>
        <p:blipFill>
          <a:blip r:embed="rId8"/>
          <a:stretch>
            <a:fillRect/>
          </a:stretch>
        </p:blipFill>
        <p:spPr>
          <a:xfrm>
            <a:off x="8227149" y="1920240"/>
            <a:ext cx="596811" cy="896112"/>
          </a:xfrm>
          <a:prstGeom prst="rect">
            <a:avLst/>
          </a:prstGeom>
        </p:spPr>
      </p:pic>
      <p:pic>
        <p:nvPicPr>
          <p:cNvPr id="34" name="Image 8" descr="/home/user/lxfs/pptx_build/figs/x_elders_cake.jpg">    </p:cNvPr>
          <p:cNvPicPr>
            <a:picLocks noChangeAspect="1"/>
          </p:cNvPicPr>
          <p:nvPr/>
        </p:nvPicPr>
        <p:blipFill>
          <a:blip r:embed="rId9"/>
          <a:stretch>
            <a:fillRect/>
          </a:stretch>
        </p:blipFill>
        <p:spPr>
          <a:xfrm>
            <a:off x="3931920" y="2880360"/>
            <a:ext cx="1349439" cy="896112"/>
          </a:xfrm>
          <a:prstGeom prst="rect">
            <a:avLst/>
          </a:prstGeom>
        </p:spPr>
      </p:pic>
      <p:pic>
        <p:nvPicPr>
          <p:cNvPr id="35" name="Image 9" descr="/home/user/lxfs/pptx_build/figs/x_daisy.jpg">    </p:cNvPr>
          <p:cNvPicPr>
            <a:picLocks noChangeAspect="1"/>
          </p:cNvPicPr>
          <p:nvPr/>
        </p:nvPicPr>
        <p:blipFill>
          <a:blip r:embed="rId10"/>
          <a:stretch>
            <a:fillRect/>
          </a:stretch>
        </p:blipFill>
        <p:spPr>
          <a:xfrm>
            <a:off x="5097290" y="2880360"/>
            <a:ext cx="1194816" cy="896112"/>
          </a:xfrm>
          <a:prstGeom prst="rect">
            <a:avLst/>
          </a:prstGeom>
        </p:spPr>
      </p:pic>
      <p:pic>
        <p:nvPicPr>
          <p:cNvPr id="36" name="Image 10" descr="/home/user/lxfs/pptx_build/figs/x_cn_street.jpg">    </p:cNvPr>
          <p:cNvPicPr>
            <a:picLocks noChangeAspect="1"/>
          </p:cNvPicPr>
          <p:nvPr/>
        </p:nvPicPr>
        <p:blipFill>
          <a:blip r:embed="rId11"/>
          <a:stretch>
            <a:fillRect/>
          </a:stretch>
        </p:blipFill>
        <p:spPr>
          <a:xfrm>
            <a:off x="6108036" y="2880360"/>
            <a:ext cx="1345514" cy="896112"/>
          </a:xfrm>
          <a:prstGeom prst="rect">
            <a:avLst/>
          </a:prstGeom>
        </p:spPr>
      </p:pic>
      <p:pic>
        <p:nvPicPr>
          <p:cNvPr id="37" name="Image 11" descr="/home/user/lxfs/pptx_build/figs/x_wheelchair.jpg">    </p:cNvPr>
          <p:cNvPicPr>
            <a:picLocks noChangeAspect="1"/>
          </p:cNvPicPr>
          <p:nvPr/>
        </p:nvPicPr>
        <p:blipFill>
          <a:blip r:embed="rId12"/>
          <a:stretch>
            <a:fillRect/>
          </a:stretch>
        </p:blipFill>
        <p:spPr>
          <a:xfrm>
            <a:off x="7269480" y="2880360"/>
            <a:ext cx="1554480" cy="874395"/>
          </a:xfrm>
          <a:prstGeom prst="rect">
            <a:avLst/>
          </a:prstGeom>
        </p:spPr>
      </p:pic>
      <p:sp>
        <p:nvSpPr>
          <p:cNvPr id="38" name="Shape 24"/>
          <p:cNvSpPr/>
          <p:nvPr/>
        </p:nvSpPr>
        <p:spPr>
          <a:xfrm>
            <a:off x="457200" y="3886200"/>
            <a:ext cx="8366760" cy="896112"/>
          </a:xfrm>
          <a:prstGeom prst="rect">
            <a:avLst/>
          </a:prstGeom>
          <a:solidFill>
            <a:srgbClr val="3A3A3A"/>
          </a:solidFill>
          <a:ln w="12700">
            <a:solidFill>
              <a:srgbClr val="3A3A3A"/>
            </a:solidFill>
            <a:prstDash val="solid"/>
          </a:ln>
        </p:spPr>
      </p:sp>
      <p:sp>
        <p:nvSpPr>
          <p:cNvPr id="39" name="Text 25"/>
          <p:cNvSpPr txBox="1"/>
          <p:nvPr/>
        </p:nvSpPr>
        <p:spPr>
          <a:xfrm>
            <a:off x="548640" y="3913632"/>
            <a:ext cx="2743200" cy="274320"/>
          </a:xfrm>
          <a:prstGeom prst="rect">
            <a:avLst/>
          </a:prstGeom>
          <a:noFill/>
          <a:ln/>
        </p:spPr>
        <p:txBody>
          <a:bodyPr wrap="square" lIns="0" tIns="0" rIns="0" bIns="0" rtlCol="0" anchor="ctr"/>
          <a:lstStyle/>
          <a:p>
            <a:pPr indent="0" marL="0">
              <a:buNone/>
            </a:pPr>
            <a:r>
              <a:rPr lang="en-US" sz="1050" b="1" dirty="0">
                <a:solidFill>
                  <a:srgbClr val="FFFFFF"/>
                </a:solidFill>
                <a:latin typeface="Microsoft YaHei" pitchFamily="34" charset="0"/>
                <a:ea typeface="Microsoft YaHei" pitchFamily="34" charset="-122"/>
                <a:cs typeface="Microsoft YaHei" pitchFamily="34" charset="-120"/>
              </a:rPr>
              <a:t>居民日常户外活动的时段分布</a:t>
            </a:r>
            <a:endParaRPr lang="en-US" sz="1050" dirty="0"/>
          </a:p>
        </p:txBody>
      </p:sp>
      <p:sp>
        <p:nvSpPr>
          <p:cNvPr id="40" name="Shape 26"/>
          <p:cNvSpPr/>
          <p:nvPr/>
        </p:nvSpPr>
        <p:spPr>
          <a:xfrm>
            <a:off x="4069080" y="3886200"/>
            <a:ext cx="0" cy="109728"/>
          </a:xfrm>
          <a:prstGeom prst="line">
            <a:avLst/>
          </a:prstGeom>
          <a:noFill/>
          <a:ln w="12700">
            <a:solidFill>
              <a:srgbClr val="FFFFFF"/>
            </a:solidFill>
            <a:prstDash val="solid"/>
          </a:ln>
        </p:spPr>
      </p:sp>
      <p:sp>
        <p:nvSpPr>
          <p:cNvPr id="41" name="Text 27"/>
          <p:cNvSpPr txBox="1"/>
          <p:nvPr/>
        </p:nvSpPr>
        <p:spPr>
          <a:xfrm>
            <a:off x="3429000"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6:00—9:00</a:t>
            </a:r>
            <a:endParaRPr lang="en-US" sz="900" dirty="0"/>
          </a:p>
        </p:txBody>
      </p:sp>
      <p:sp>
        <p:nvSpPr>
          <p:cNvPr id="42" name="Shape 28"/>
          <p:cNvSpPr/>
          <p:nvPr/>
        </p:nvSpPr>
        <p:spPr>
          <a:xfrm>
            <a:off x="5413248" y="3886200"/>
            <a:ext cx="0" cy="109728"/>
          </a:xfrm>
          <a:prstGeom prst="line">
            <a:avLst/>
          </a:prstGeom>
          <a:noFill/>
          <a:ln w="12700">
            <a:solidFill>
              <a:srgbClr val="FFFFFF"/>
            </a:solidFill>
            <a:prstDash val="solid"/>
          </a:ln>
        </p:spPr>
      </p:sp>
      <p:sp>
        <p:nvSpPr>
          <p:cNvPr id="43" name="Text 29"/>
          <p:cNvSpPr txBox="1"/>
          <p:nvPr/>
        </p:nvSpPr>
        <p:spPr>
          <a:xfrm>
            <a:off x="4773168"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9:00—12:00</a:t>
            </a:r>
            <a:endParaRPr lang="en-US" sz="900" dirty="0"/>
          </a:p>
        </p:txBody>
      </p:sp>
      <p:sp>
        <p:nvSpPr>
          <p:cNvPr id="44" name="Shape 30"/>
          <p:cNvSpPr/>
          <p:nvPr/>
        </p:nvSpPr>
        <p:spPr>
          <a:xfrm>
            <a:off x="6757416" y="3886200"/>
            <a:ext cx="0" cy="109728"/>
          </a:xfrm>
          <a:prstGeom prst="line">
            <a:avLst/>
          </a:prstGeom>
          <a:noFill/>
          <a:ln w="12700">
            <a:solidFill>
              <a:srgbClr val="FFFFFF"/>
            </a:solidFill>
            <a:prstDash val="solid"/>
          </a:ln>
        </p:spPr>
      </p:sp>
      <p:sp>
        <p:nvSpPr>
          <p:cNvPr id="45" name="Text 31"/>
          <p:cNvSpPr txBox="1"/>
          <p:nvPr/>
        </p:nvSpPr>
        <p:spPr>
          <a:xfrm>
            <a:off x="6117336"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14:00—17:00</a:t>
            </a:r>
            <a:endParaRPr lang="en-US" sz="900" dirty="0"/>
          </a:p>
        </p:txBody>
      </p:sp>
      <p:sp>
        <p:nvSpPr>
          <p:cNvPr id="46" name="Shape 32"/>
          <p:cNvSpPr/>
          <p:nvPr/>
        </p:nvSpPr>
        <p:spPr>
          <a:xfrm>
            <a:off x="8101584" y="3886200"/>
            <a:ext cx="0" cy="109728"/>
          </a:xfrm>
          <a:prstGeom prst="line">
            <a:avLst/>
          </a:prstGeom>
          <a:noFill/>
          <a:ln w="12700">
            <a:solidFill>
              <a:srgbClr val="FFFFFF"/>
            </a:solidFill>
            <a:prstDash val="solid"/>
          </a:ln>
        </p:spPr>
      </p:sp>
      <p:sp>
        <p:nvSpPr>
          <p:cNvPr id="47" name="Text 33"/>
          <p:cNvSpPr txBox="1"/>
          <p:nvPr/>
        </p:nvSpPr>
        <p:spPr>
          <a:xfrm>
            <a:off x="7461504"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17:00—20:00</a:t>
            </a:r>
            <a:endParaRPr lang="en-US" sz="900" dirty="0"/>
          </a:p>
        </p:txBody>
      </p:sp>
      <p:sp>
        <p:nvSpPr>
          <p:cNvPr id="48" name="Text 34"/>
          <p:cNvSpPr txBox="1"/>
          <p:nvPr/>
        </p:nvSpPr>
        <p:spPr>
          <a:xfrm>
            <a:off x="548640" y="420624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动态活动场所：</a:t>
            </a:r>
            <a:endParaRPr lang="en-US" sz="750" dirty="0"/>
          </a:p>
        </p:txBody>
      </p:sp>
      <p:sp>
        <p:nvSpPr>
          <p:cNvPr id="49" name="Text 35"/>
          <p:cNvSpPr txBox="1"/>
          <p:nvPr/>
        </p:nvSpPr>
        <p:spPr>
          <a:xfrm>
            <a:off x="3429000"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晨练、散步、太极</a:t>
            </a:r>
            <a:endParaRPr lang="en-US" sz="750" dirty="0"/>
          </a:p>
        </p:txBody>
      </p:sp>
      <p:sp>
        <p:nvSpPr>
          <p:cNvPr id="50" name="Text 36"/>
          <p:cNvSpPr txBox="1"/>
          <p:nvPr/>
        </p:nvSpPr>
        <p:spPr>
          <a:xfrm>
            <a:off x="6117336"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跑步、球类、骑行</a:t>
            </a:r>
            <a:endParaRPr lang="en-US" sz="750" dirty="0"/>
          </a:p>
        </p:txBody>
      </p:sp>
      <p:sp>
        <p:nvSpPr>
          <p:cNvPr id="51" name="Text 37"/>
          <p:cNvSpPr txBox="1"/>
          <p:nvPr/>
        </p:nvSpPr>
        <p:spPr>
          <a:xfrm>
            <a:off x="7461504"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健身、亲子游乐</a:t>
            </a:r>
            <a:endParaRPr lang="en-US" sz="750" dirty="0"/>
          </a:p>
        </p:txBody>
      </p:sp>
      <p:sp>
        <p:nvSpPr>
          <p:cNvPr id="52" name="Text 38"/>
          <p:cNvSpPr txBox="1"/>
          <p:nvPr/>
        </p:nvSpPr>
        <p:spPr>
          <a:xfrm>
            <a:off x="548640" y="438912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静态活动场所：</a:t>
            </a:r>
            <a:endParaRPr lang="en-US" sz="750" dirty="0"/>
          </a:p>
        </p:txBody>
      </p:sp>
      <p:sp>
        <p:nvSpPr>
          <p:cNvPr id="53" name="Text 39"/>
          <p:cNvSpPr txBox="1"/>
          <p:nvPr/>
        </p:nvSpPr>
        <p:spPr>
          <a:xfrm>
            <a:off x="4773168"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休憩闲谈、晾晒</a:t>
            </a:r>
            <a:endParaRPr lang="en-US" sz="750" dirty="0"/>
          </a:p>
        </p:txBody>
      </p:sp>
      <p:sp>
        <p:nvSpPr>
          <p:cNvPr id="54" name="Text 40"/>
          <p:cNvSpPr txBox="1"/>
          <p:nvPr/>
        </p:nvSpPr>
        <p:spPr>
          <a:xfrm>
            <a:off x="7461504"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饭后休闲、聚会下棋</a:t>
            </a:r>
            <a:endParaRPr lang="en-US" sz="750" dirty="0"/>
          </a:p>
        </p:txBody>
      </p:sp>
      <p:sp>
        <p:nvSpPr>
          <p:cNvPr id="55" name="Text 41"/>
          <p:cNvSpPr txBox="1"/>
          <p:nvPr/>
        </p:nvSpPr>
        <p:spPr>
          <a:xfrm>
            <a:off x="548640" y="457200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步行活动场所：</a:t>
            </a:r>
            <a:endParaRPr lang="en-US" sz="750" dirty="0"/>
          </a:p>
        </p:txBody>
      </p:sp>
      <p:sp>
        <p:nvSpPr>
          <p:cNvPr id="56" name="Text 42"/>
          <p:cNvSpPr txBox="1"/>
          <p:nvPr/>
        </p:nvSpPr>
        <p:spPr>
          <a:xfrm>
            <a:off x="3429000" y="4572000"/>
            <a:ext cx="5303520" cy="182880"/>
          </a:xfrm>
          <a:prstGeom prst="rect">
            <a:avLst/>
          </a:prstGeom>
          <a:noFill/>
          <a:ln/>
        </p:spPr>
        <p:txBody>
          <a:bodyPr wrap="square" lIns="0" tIns="0" rIns="0" bIns="0" rtlCol="0" anchor="ctr"/>
          <a:lstStyle/>
          <a:p>
            <a:pPr indent="0" marL="0">
              <a:buNone/>
            </a:pPr>
            <a:r>
              <a:rPr lang="en-US" sz="750" dirty="0">
                <a:solidFill>
                  <a:srgbClr val="DDDDDD"/>
                </a:solidFill>
                <a:latin typeface="Microsoft YaHei" pitchFamily="34" charset="0"/>
                <a:ea typeface="Microsoft YaHei" pitchFamily="34" charset="-122"/>
                <a:cs typeface="Microsoft YaHei" pitchFamily="34" charset="-120"/>
              </a:rPr>
              <a:t>上学途经、四向穿越，需连续无障碍步道与岔路口标识系统</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主要人群需求分析——调研数据</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31</a:t>
            </a:r>
            <a:endParaRPr lang="en-US" sz="900" dirty="0"/>
          </a:p>
        </p:txBody>
      </p:sp>
      <p:pic>
        <p:nvPicPr>
          <p:cNvPr id="7" name="Image 0" descr="/home/user/lxfs/pptx_build/figs/pie_act.jpg">    </p:cNvPr>
          <p:cNvPicPr>
            <a:picLocks noChangeAspect="1"/>
          </p:cNvPicPr>
          <p:nvPr/>
        </p:nvPicPr>
        <p:blipFill>
          <a:blip r:embed="rId1"/>
          <a:stretch>
            <a:fillRect/>
          </a:stretch>
        </p:blipFill>
        <p:spPr>
          <a:xfrm>
            <a:off x="457200" y="914400"/>
            <a:ext cx="2240280" cy="2240280"/>
          </a:xfrm>
          <a:prstGeom prst="rect">
            <a:avLst/>
          </a:prstGeom>
        </p:spPr>
      </p:pic>
      <p:sp>
        <p:nvSpPr>
          <p:cNvPr id="8" name="Text 5"/>
          <p:cNvSpPr txBox="1"/>
          <p:nvPr/>
        </p:nvSpPr>
        <p:spPr>
          <a:xfrm>
            <a:off x="45720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居民主要活动类型偏好</a:t>
            </a:r>
            <a:endParaRPr lang="en-US" sz="800" dirty="0"/>
          </a:p>
        </p:txBody>
      </p:sp>
      <p:pic>
        <p:nvPicPr>
          <p:cNvPr id="9" name="Image 1" descr="/home/user/lxfs/pptx_build/figs/pie_time.jpg">    </p:cNvPr>
          <p:cNvPicPr>
            <a:picLocks noChangeAspect="1"/>
          </p:cNvPicPr>
          <p:nvPr/>
        </p:nvPicPr>
        <p:blipFill>
          <a:blip r:embed="rId2"/>
          <a:stretch>
            <a:fillRect/>
          </a:stretch>
        </p:blipFill>
        <p:spPr>
          <a:xfrm>
            <a:off x="3246120" y="914400"/>
            <a:ext cx="2240280" cy="2240280"/>
          </a:xfrm>
          <a:prstGeom prst="rect">
            <a:avLst/>
          </a:prstGeom>
        </p:spPr>
      </p:pic>
      <p:sp>
        <p:nvSpPr>
          <p:cNvPr id="10" name="Text 6"/>
          <p:cNvSpPr txBox="1"/>
          <p:nvPr/>
        </p:nvSpPr>
        <p:spPr>
          <a:xfrm>
            <a:off x="324612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居民户外活动时段分布</a:t>
            </a:r>
            <a:endParaRPr lang="en-US" sz="800" dirty="0"/>
          </a:p>
        </p:txBody>
      </p:sp>
      <p:sp>
        <p:nvSpPr>
          <p:cNvPr id="11" name="Shape 7"/>
          <p:cNvSpPr/>
          <p:nvPr/>
        </p:nvSpPr>
        <p:spPr>
          <a:xfrm>
            <a:off x="6217920" y="914400"/>
            <a:ext cx="2606040" cy="1417320"/>
          </a:xfrm>
          <a:prstGeom prst="rect">
            <a:avLst/>
          </a:prstGeom>
          <a:solidFill>
            <a:srgbClr val="EEF2F8"/>
          </a:solidFill>
          <a:ln w="12700">
            <a:solidFill>
              <a:srgbClr val="EEF2F8"/>
            </a:solidFill>
            <a:prstDash val="solid"/>
          </a:ln>
        </p:spPr>
      </p:sp>
      <p:sp>
        <p:nvSpPr>
          <p:cNvPr id="12" name="Shape 8"/>
          <p:cNvSpPr/>
          <p:nvPr/>
        </p:nvSpPr>
        <p:spPr>
          <a:xfrm>
            <a:off x="6309360" y="1005840"/>
            <a:ext cx="868680" cy="274320"/>
          </a:xfrm>
          <a:prstGeom prst="rect">
            <a:avLst/>
          </a:prstGeom>
          <a:solidFill>
            <a:srgbClr val="1F3F7A"/>
          </a:solidFill>
          <a:ln w="12700">
            <a:solidFill>
              <a:srgbClr val="1F3F7A"/>
            </a:solidFill>
            <a:prstDash val="solid"/>
          </a:ln>
        </p:spPr>
      </p:sp>
      <p:sp>
        <p:nvSpPr>
          <p:cNvPr id="13" name="Text 9"/>
          <p:cNvSpPr txBox="1"/>
          <p:nvPr/>
        </p:nvSpPr>
        <p:spPr>
          <a:xfrm>
            <a:off x="6309360" y="100584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基本需求</a:t>
            </a:r>
            <a:endParaRPr lang="en-US" sz="900" dirty="0"/>
          </a:p>
        </p:txBody>
      </p:sp>
      <p:sp>
        <p:nvSpPr>
          <p:cNvPr id="14" name="Text 10"/>
          <p:cNvSpPr txBox="1"/>
          <p:nvPr/>
        </p:nvSpPr>
        <p:spPr>
          <a:xfrm>
            <a:off x="6263640" y="132588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出行、日晒、休憩、体锻——全域无障碍步道、遮阳林荫、充足座椅、分龄健身场地。</a:t>
            </a:r>
            <a:endParaRPr lang="en-US" sz="850" dirty="0"/>
          </a:p>
        </p:txBody>
      </p:sp>
      <p:sp>
        <p:nvSpPr>
          <p:cNvPr id="15" name="Shape 11"/>
          <p:cNvSpPr/>
          <p:nvPr/>
        </p:nvSpPr>
        <p:spPr>
          <a:xfrm>
            <a:off x="6217920" y="2468880"/>
            <a:ext cx="2606040" cy="1417320"/>
          </a:xfrm>
          <a:prstGeom prst="rect">
            <a:avLst/>
          </a:prstGeom>
          <a:solidFill>
            <a:srgbClr val="EEF2F8"/>
          </a:solidFill>
          <a:ln w="12700">
            <a:solidFill>
              <a:srgbClr val="EEF2F8"/>
            </a:solidFill>
            <a:prstDash val="solid"/>
          </a:ln>
        </p:spPr>
      </p:sp>
      <p:sp>
        <p:nvSpPr>
          <p:cNvPr id="16" name="Shape 12"/>
          <p:cNvSpPr/>
          <p:nvPr/>
        </p:nvSpPr>
        <p:spPr>
          <a:xfrm>
            <a:off x="6309360" y="2560320"/>
            <a:ext cx="868680" cy="274320"/>
          </a:xfrm>
          <a:prstGeom prst="rect">
            <a:avLst/>
          </a:prstGeom>
          <a:solidFill>
            <a:srgbClr val="E07B2A"/>
          </a:solidFill>
          <a:ln w="12700">
            <a:solidFill>
              <a:srgbClr val="E07B2A"/>
            </a:solidFill>
            <a:prstDash val="solid"/>
          </a:ln>
        </p:spPr>
      </p:sp>
      <p:sp>
        <p:nvSpPr>
          <p:cNvPr id="17" name="Text 13"/>
          <p:cNvSpPr txBox="1"/>
          <p:nvPr/>
        </p:nvSpPr>
        <p:spPr>
          <a:xfrm>
            <a:off x="6309360" y="256032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进阶需求</a:t>
            </a:r>
            <a:endParaRPr lang="en-US" sz="900" dirty="0"/>
          </a:p>
        </p:txBody>
      </p:sp>
      <p:sp>
        <p:nvSpPr>
          <p:cNvPr id="18" name="Text 14"/>
          <p:cNvSpPr txBox="1"/>
          <p:nvPr/>
        </p:nvSpPr>
        <p:spPr>
          <a:xfrm>
            <a:off x="6263640" y="288036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情感、兴趣、社交、理疗——邻里聚会草坪、种植科普、康养步道、文化记忆节点。</a:t>
            </a:r>
            <a:endParaRPr lang="en-US" sz="8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474720"/>
          <a:ext cx="5532120" cy="914400"/>
        </p:xfrm>
        <a:graphic>
          <a:graphicData uri="http://schemas.openxmlformats.org/drawingml/2006/table">
            <a:tbl>
              <a:tblPr/>
              <a:tblGrid>
                <a:gridCol w="1188720"/>
                <a:gridCol w="1371600"/>
                <a:gridCol w="2971800"/>
              </a:tblGrid>
              <a:tr h="24688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人群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主要活动时段</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主要活动类型</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中老年人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6:00—9:00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晨练散步、日间休憩闲谈、饭后休闲</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中年群体</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14:00—20:00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跑步、健身等体育运动</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青少年</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14:00—19:00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跑步、球类、骑行；上学途经</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儿童（亲子）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全天分散</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攀爬游乐、亲子游乐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20" name="Text 15"/>
          <p:cNvSpPr txBox="1"/>
          <p:nvPr/>
        </p:nvSpPr>
        <p:spPr>
          <a:xfrm>
            <a:off x="6263640" y="4023360"/>
            <a:ext cx="256032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注：饼图数据为开题报告调研预测，待问卷统计后校正。</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Sunlight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2.14 光照分析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32</a:t>
            </a:r>
            <a:endParaRPr lang="en-US" sz="900" dirty="0"/>
          </a:p>
        </p:txBody>
      </p:sp>
      <p:pic>
        <p:nvPicPr>
          <p:cNvPr id="7" name="Image 0" descr="/home/user/lxfs/pptx_build/figs/sun1.jpg">    </p:cNvPr>
          <p:cNvPicPr>
            <a:picLocks noChangeAspect="1"/>
          </p:cNvPicPr>
          <p:nvPr/>
        </p:nvPicPr>
        <p:blipFill>
          <a:blip r:embed="rId1"/>
          <a:stretch>
            <a:fillRect/>
          </a:stretch>
        </p:blipFill>
        <p:spPr>
          <a:xfrm>
            <a:off x="457200" y="932688"/>
            <a:ext cx="4160520" cy="2331720"/>
          </a:xfrm>
          <a:prstGeom prst="rect">
            <a:avLst/>
          </a:prstGeom>
        </p:spPr>
      </p:pic>
      <p:pic>
        <p:nvPicPr>
          <p:cNvPr id="8" name="Image 1" descr="/home/user/lxfs/pptx_build/figs/sun2.jpg">    </p:cNvPr>
          <p:cNvPicPr>
            <a:picLocks noChangeAspect="1"/>
          </p:cNvPicPr>
          <p:nvPr/>
        </p:nvPicPr>
        <p:blipFill>
          <a:blip r:embed="rId2"/>
          <a:stretch>
            <a:fillRect/>
          </a:stretch>
        </p:blipFill>
        <p:spPr>
          <a:xfrm>
            <a:off x="4983480" y="932688"/>
            <a:ext cx="3474720" cy="2331720"/>
          </a:xfrm>
          <a:prstGeom prst="rect">
            <a:avLst/>
          </a:prstGeom>
        </p:spPr>
      </p:pic>
      <p:sp>
        <p:nvSpPr>
          <p:cNvPr id="9" name="Text 5"/>
          <p:cNvSpPr txBox="1"/>
          <p:nvPr/>
        </p:nvSpPr>
        <p:spPr>
          <a:xfrm>
            <a:off x="457200" y="3273552"/>
            <a:ext cx="41605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夏季太阳轨迹与场地日照</a:t>
            </a:r>
            <a:endParaRPr lang="en-US" sz="800" dirty="0"/>
          </a:p>
        </p:txBody>
      </p:sp>
      <p:sp>
        <p:nvSpPr>
          <p:cNvPr id="10" name="Text 6"/>
          <p:cNvSpPr txBox="1"/>
          <p:nvPr/>
        </p:nvSpPr>
        <p:spPr>
          <a:xfrm>
            <a:off x="4983480" y="3273552"/>
            <a:ext cx="34747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光照分析图（冬季太阳高度角较低）</a:t>
            </a:r>
            <a:endParaRPr lang="en-US" sz="800" dirty="0"/>
          </a:p>
        </p:txBody>
      </p:sp>
      <p:sp>
        <p:nvSpPr>
          <p:cNvPr id="11" name="Shape 7"/>
          <p:cNvSpPr/>
          <p:nvPr/>
        </p:nvSpPr>
        <p:spPr>
          <a:xfrm>
            <a:off x="457200" y="3566160"/>
            <a:ext cx="2697480" cy="1188720"/>
          </a:xfrm>
          <a:prstGeom prst="rect">
            <a:avLst/>
          </a:prstGeom>
          <a:solidFill>
            <a:srgbClr val="EEF2F8"/>
          </a:solidFill>
          <a:ln w="12700">
            <a:solidFill>
              <a:srgbClr val="EEF2F8"/>
            </a:solidFill>
            <a:prstDash val="solid"/>
          </a:ln>
        </p:spPr>
      </p:sp>
      <p:sp>
        <p:nvSpPr>
          <p:cNvPr id="12" name="Shape 8"/>
          <p:cNvSpPr/>
          <p:nvPr/>
        </p:nvSpPr>
        <p:spPr>
          <a:xfrm>
            <a:off x="548640" y="3657600"/>
            <a:ext cx="1371600" cy="274320"/>
          </a:xfrm>
          <a:prstGeom prst="rect">
            <a:avLst/>
          </a:prstGeom>
          <a:solidFill>
            <a:srgbClr val="E07B2A"/>
          </a:solidFill>
          <a:ln w="12700">
            <a:solidFill>
              <a:srgbClr val="E07B2A"/>
            </a:solidFill>
            <a:prstDash val="solid"/>
          </a:ln>
        </p:spPr>
      </p:sp>
      <p:sp>
        <p:nvSpPr>
          <p:cNvPr id="13" name="Text 9"/>
          <p:cNvSpPr txBox="1"/>
          <p:nvPr/>
        </p:nvSpPr>
        <p:spPr>
          <a:xfrm>
            <a:off x="54864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全日照区（≥6h）</a:t>
            </a:r>
            <a:endParaRPr lang="en-US" sz="850" dirty="0"/>
          </a:p>
        </p:txBody>
      </p:sp>
      <p:sp>
        <p:nvSpPr>
          <p:cNvPr id="14" name="Text 10"/>
          <p:cNvSpPr txBox="1"/>
          <p:nvPr/>
        </p:nvSpPr>
        <p:spPr>
          <a:xfrm>
            <a:off x="50292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场地开阔区域，适合布置阳光草坪、运动场地和露天活动空间。</a:t>
            </a:r>
            <a:endParaRPr lang="en-US" sz="850" dirty="0"/>
          </a:p>
        </p:txBody>
      </p:sp>
      <p:sp>
        <p:nvSpPr>
          <p:cNvPr id="15" name="Shape 11"/>
          <p:cNvSpPr/>
          <p:nvPr/>
        </p:nvSpPr>
        <p:spPr>
          <a:xfrm>
            <a:off x="3291840" y="3566160"/>
            <a:ext cx="2697480" cy="1188720"/>
          </a:xfrm>
          <a:prstGeom prst="rect">
            <a:avLst/>
          </a:prstGeom>
          <a:solidFill>
            <a:srgbClr val="EEF2F8"/>
          </a:solidFill>
          <a:ln w="12700">
            <a:solidFill>
              <a:srgbClr val="EEF2F8"/>
            </a:solidFill>
            <a:prstDash val="solid"/>
          </a:ln>
        </p:spPr>
      </p:sp>
      <p:sp>
        <p:nvSpPr>
          <p:cNvPr id="16" name="Shape 12"/>
          <p:cNvSpPr/>
          <p:nvPr/>
        </p:nvSpPr>
        <p:spPr>
          <a:xfrm>
            <a:off x="3383280" y="3657600"/>
            <a:ext cx="1371600" cy="274320"/>
          </a:xfrm>
          <a:prstGeom prst="rect">
            <a:avLst/>
          </a:prstGeom>
          <a:solidFill>
            <a:srgbClr val="4E8A3E"/>
          </a:solidFill>
          <a:ln w="12700">
            <a:solidFill>
              <a:srgbClr val="4E8A3E"/>
            </a:solidFill>
            <a:prstDash val="solid"/>
          </a:ln>
        </p:spPr>
      </p:sp>
      <p:sp>
        <p:nvSpPr>
          <p:cNvPr id="17" name="Text 13"/>
          <p:cNvSpPr txBox="1"/>
          <p:nvPr/>
        </p:nvSpPr>
        <p:spPr>
          <a:xfrm>
            <a:off x="338328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半日照区（3—6h）</a:t>
            </a:r>
            <a:endParaRPr lang="en-US" sz="850" dirty="0"/>
          </a:p>
        </p:txBody>
      </p:sp>
      <p:sp>
        <p:nvSpPr>
          <p:cNvPr id="18" name="Text 14"/>
          <p:cNvSpPr txBox="1"/>
          <p:nvPr/>
        </p:nvSpPr>
        <p:spPr>
          <a:xfrm>
            <a:off x="333756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场地两侧，适宜疏林草地、慢行步道和林下休憩空间。</a:t>
            </a:r>
            <a:endParaRPr lang="en-US" sz="850" dirty="0"/>
          </a:p>
        </p:txBody>
      </p:sp>
      <p:sp>
        <p:nvSpPr>
          <p:cNvPr id="19" name="Shape 15"/>
          <p:cNvSpPr/>
          <p:nvPr/>
        </p:nvSpPr>
        <p:spPr>
          <a:xfrm>
            <a:off x="6126480" y="3566160"/>
            <a:ext cx="2697480" cy="1188720"/>
          </a:xfrm>
          <a:prstGeom prst="rect">
            <a:avLst/>
          </a:prstGeom>
          <a:solidFill>
            <a:srgbClr val="EEF2F8"/>
          </a:solidFill>
          <a:ln w="12700">
            <a:solidFill>
              <a:srgbClr val="EEF2F8"/>
            </a:solidFill>
            <a:prstDash val="solid"/>
          </a:ln>
        </p:spPr>
      </p:sp>
      <p:sp>
        <p:nvSpPr>
          <p:cNvPr id="20" name="Shape 16"/>
          <p:cNvSpPr/>
          <p:nvPr/>
        </p:nvSpPr>
        <p:spPr>
          <a:xfrm>
            <a:off x="6217920" y="3657600"/>
            <a:ext cx="1371600" cy="274320"/>
          </a:xfrm>
          <a:prstGeom prst="rect">
            <a:avLst/>
          </a:prstGeom>
          <a:solidFill>
            <a:srgbClr val="1F3F7A"/>
          </a:solidFill>
          <a:ln w="12700">
            <a:solidFill>
              <a:srgbClr val="1F3F7A"/>
            </a:solidFill>
            <a:prstDash val="solid"/>
          </a:ln>
        </p:spPr>
      </p:sp>
      <p:sp>
        <p:nvSpPr>
          <p:cNvPr id="21" name="Text 17"/>
          <p:cNvSpPr txBox="1"/>
          <p:nvPr/>
        </p:nvSpPr>
        <p:spPr>
          <a:xfrm>
            <a:off x="621792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阴影区（&lt;3h）</a:t>
            </a:r>
            <a:endParaRPr lang="en-US" sz="850" dirty="0"/>
          </a:p>
        </p:txBody>
      </p:sp>
      <p:sp>
        <p:nvSpPr>
          <p:cNvPr id="22" name="Text 18"/>
          <p:cNvSpPr txBox="1"/>
          <p:nvPr/>
        </p:nvSpPr>
        <p:spPr>
          <a:xfrm>
            <a:off x="617220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受建筑阴影影响，可布置阴生植物景观和静谧休闲空间。</a:t>
            </a:r>
            <a:endParaRPr lang="en-US" sz="850" dirty="0"/>
          </a:p>
        </p:txBody>
      </p:sp>
      <p:sp>
        <p:nvSpPr>
          <p:cNvPr id="23" name="Text 19"/>
          <p:cNvSpPr txBox="1"/>
          <p:nvPr/>
        </p:nvSpPr>
        <p:spPr>
          <a:xfrm>
            <a:off x="457200" y="4754880"/>
            <a:ext cx="8366760" cy="201168"/>
          </a:xfrm>
          <a:prstGeom prst="rect">
            <a:avLst/>
          </a:prstGeom>
          <a:noFill/>
          <a:ln/>
        </p:spPr>
        <p:txBody>
          <a:bodyPr wrap="square" lIns="25400" tIns="25400" rIns="25400" bIns="25400" rtlCol="0" anchor="t"/>
          <a:lstStyle/>
          <a:p>
            <a:pP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夏季太阳高度角高，场地大部分区域日照强烈，需通过乔木遮阴提升舒适度；冬季太阳高度角较低，南侧和中部向阳空间更适合人群活动。</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SWOT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2.15 SWOT分析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33</a:t>
            </a:r>
            <a:endParaRPr lang="en-US" sz="900" dirty="0"/>
          </a:p>
        </p:txBody>
      </p:sp>
      <p:sp>
        <p:nvSpPr>
          <p:cNvPr id="7" name="Shape 5"/>
          <p:cNvSpPr/>
          <p:nvPr/>
        </p:nvSpPr>
        <p:spPr>
          <a:xfrm>
            <a:off x="457200" y="932688"/>
            <a:ext cx="4114800" cy="1828800"/>
          </a:xfrm>
          <a:prstGeom prst="rect">
            <a:avLst/>
          </a:prstGeom>
          <a:solidFill>
            <a:srgbClr val="EEF2F8"/>
          </a:solidFill>
          <a:ln w="12700">
            <a:solidFill>
              <a:srgbClr val="EEF2F8"/>
            </a:solidFill>
            <a:prstDash val="solid"/>
          </a:ln>
        </p:spPr>
      </p:sp>
      <p:pic>
        <p:nvPicPr>
          <p:cNvPr id="8" name="Image 0" descr="/home/user/lxfs/pptx_build/figs/satellite.jpg">    </p:cNvPr>
          <p:cNvPicPr>
            <a:picLocks noChangeAspect="1"/>
          </p:cNvPicPr>
          <p:nvPr/>
        </p:nvPicPr>
        <p:blipFill>
          <a:blip r:embed="rId1"/>
          <a:stretch>
            <a:fillRect/>
          </a:stretch>
        </p:blipFill>
        <p:spPr>
          <a:xfrm>
            <a:off x="530352" y="1216341"/>
            <a:ext cx="1600200" cy="1261494"/>
          </a:xfrm>
          <a:prstGeom prst="rect">
            <a:avLst/>
          </a:prstGeom>
        </p:spPr>
      </p:pic>
      <p:sp>
        <p:nvSpPr>
          <p:cNvPr id="9" name="Shape 6"/>
          <p:cNvSpPr/>
          <p:nvPr/>
        </p:nvSpPr>
        <p:spPr>
          <a:xfrm>
            <a:off x="530352" y="1216341"/>
            <a:ext cx="457200" cy="457200"/>
          </a:xfrm>
          <a:prstGeom prst="rect">
            <a:avLst/>
          </a:prstGeom>
          <a:solidFill>
            <a:srgbClr val="1F3F7A"/>
          </a:solidFill>
          <a:ln w="12700">
            <a:solidFill>
              <a:srgbClr val="1F3F7A"/>
            </a:solidFill>
            <a:prstDash val="solid"/>
          </a:ln>
        </p:spPr>
      </p:sp>
      <p:sp>
        <p:nvSpPr>
          <p:cNvPr id="10" name="Text 7"/>
          <p:cNvSpPr txBox="1"/>
          <p:nvPr/>
        </p:nvSpPr>
        <p:spPr>
          <a:xfrm>
            <a:off x="530352" y="1216341"/>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a:t>
            </a:r>
            <a:endParaRPr lang="en-US" sz="2000" dirty="0"/>
          </a:p>
        </p:txBody>
      </p:sp>
      <p:sp>
        <p:nvSpPr>
          <p:cNvPr id="11" name="Text 8"/>
          <p:cNvSpPr txBox="1"/>
          <p:nvPr/>
        </p:nvSpPr>
        <p:spPr>
          <a:xfrm>
            <a:off x="2240280" y="1005840"/>
            <a:ext cx="2194560" cy="292608"/>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优势</a:t>
            </a:r>
            <a:endParaRPr lang="en-US" sz="1100" dirty="0"/>
          </a:p>
        </p:txBody>
      </p:sp>
      <p:sp>
        <p:nvSpPr>
          <p:cNvPr id="12" name="Text 9"/>
          <p:cNvSpPr txBox="1"/>
          <p:nvPr/>
        </p:nvSpPr>
        <p:spPr>
          <a:xfrm>
            <a:off x="2194560" y="131673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规模8.6公顷，满足15分钟生活圈综合公园标准</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四面临路，四面可设入口，可达性极强</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场地平整无拆迁，建设成本低</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周边居住人口密集，使用需求充足</a:t>
            </a:r>
            <a:endParaRPr lang="en-US" sz="800" dirty="0"/>
          </a:p>
        </p:txBody>
      </p:sp>
      <p:sp>
        <p:nvSpPr>
          <p:cNvPr id="13" name="Shape 10"/>
          <p:cNvSpPr/>
          <p:nvPr/>
        </p:nvSpPr>
        <p:spPr>
          <a:xfrm>
            <a:off x="4709160" y="932688"/>
            <a:ext cx="4114800" cy="1828800"/>
          </a:xfrm>
          <a:prstGeom prst="rect">
            <a:avLst/>
          </a:prstGeom>
          <a:solidFill>
            <a:srgbClr val="EEF2F8"/>
          </a:solidFill>
          <a:ln w="12700">
            <a:solidFill>
              <a:srgbClr val="EEF2F8"/>
            </a:solidFill>
            <a:prstDash val="solid"/>
          </a:ln>
        </p:spPr>
      </p:sp>
      <p:pic>
        <p:nvPicPr>
          <p:cNvPr id="14" name="Image 1" descr="/home/user/lxfs/pptx_build/figs/site_1.jpg">    </p:cNvPr>
          <p:cNvPicPr>
            <a:picLocks noChangeAspect="1"/>
          </p:cNvPicPr>
          <p:nvPr/>
        </p:nvPicPr>
        <p:blipFill>
          <a:blip r:embed="rId2"/>
          <a:stretch>
            <a:fillRect/>
          </a:stretch>
        </p:blipFill>
        <p:spPr>
          <a:xfrm>
            <a:off x="4782312" y="1393185"/>
            <a:ext cx="1600200" cy="907806"/>
          </a:xfrm>
          <a:prstGeom prst="rect">
            <a:avLst/>
          </a:prstGeom>
        </p:spPr>
      </p:pic>
      <p:sp>
        <p:nvSpPr>
          <p:cNvPr id="15" name="Shape 11"/>
          <p:cNvSpPr/>
          <p:nvPr/>
        </p:nvSpPr>
        <p:spPr>
          <a:xfrm>
            <a:off x="4782312" y="1393185"/>
            <a:ext cx="457200" cy="457200"/>
          </a:xfrm>
          <a:prstGeom prst="rect">
            <a:avLst/>
          </a:prstGeom>
          <a:solidFill>
            <a:srgbClr val="E07B2A"/>
          </a:solidFill>
          <a:ln w="12700">
            <a:solidFill>
              <a:srgbClr val="E07B2A"/>
            </a:solidFill>
            <a:prstDash val="solid"/>
          </a:ln>
        </p:spPr>
      </p:sp>
      <p:sp>
        <p:nvSpPr>
          <p:cNvPr id="16" name="Text 12"/>
          <p:cNvSpPr txBox="1"/>
          <p:nvPr/>
        </p:nvSpPr>
        <p:spPr>
          <a:xfrm>
            <a:off x="4782312" y="139318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W</a:t>
            </a:r>
            <a:endParaRPr lang="en-US" sz="2000" dirty="0"/>
          </a:p>
        </p:txBody>
      </p:sp>
      <p:sp>
        <p:nvSpPr>
          <p:cNvPr id="17" name="Text 13"/>
          <p:cNvSpPr txBox="1"/>
          <p:nvPr/>
        </p:nvSpPr>
        <p:spPr>
          <a:xfrm>
            <a:off x="6492240" y="1005840"/>
            <a:ext cx="2194560" cy="292608"/>
          </a:xfrm>
          <a:prstGeom prst="rect">
            <a:avLst/>
          </a:prstGeom>
          <a:noFill/>
          <a:ln/>
        </p:spPr>
        <p:txBody>
          <a:bodyPr wrap="square" lIns="0" tIns="0" rIns="0" bIns="0" rtlCol="0" anchor="ctr"/>
          <a:lstStyle/>
          <a:p>
            <a:pPr indent="0" marL="0">
              <a:buNone/>
            </a:pPr>
            <a:r>
              <a:rPr lang="en-US" sz="1100" b="1" dirty="0">
                <a:solidFill>
                  <a:srgbClr val="E07B2A"/>
                </a:solidFill>
                <a:latin typeface="Microsoft YaHei" pitchFamily="34" charset="0"/>
                <a:ea typeface="Microsoft YaHei" pitchFamily="34" charset="-122"/>
                <a:cs typeface="Microsoft YaHei" pitchFamily="34" charset="-120"/>
              </a:rPr>
              <a:t>劣势</a:t>
            </a:r>
            <a:endParaRPr lang="en-US" sz="1100" dirty="0"/>
          </a:p>
        </p:txBody>
      </p:sp>
      <p:sp>
        <p:nvSpPr>
          <p:cNvPr id="18" name="Text 14"/>
          <p:cNvSpPr txBox="1"/>
          <p:nvPr/>
        </p:nvSpPr>
        <p:spPr>
          <a:xfrm>
            <a:off x="6446520" y="131673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北侧主干道车流大，噪声粉尘干扰严重</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现状成型乔木有限，初期需大量苗木栽植</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场地缺少天然水系，需人工营造海绵水景</a:t>
            </a:r>
            <a:endParaRPr lang="en-US" sz="800" dirty="0"/>
          </a:p>
        </p:txBody>
      </p:sp>
      <p:sp>
        <p:nvSpPr>
          <p:cNvPr id="19" name="Shape 15"/>
          <p:cNvSpPr/>
          <p:nvPr/>
        </p:nvSpPr>
        <p:spPr>
          <a:xfrm>
            <a:off x="457200" y="2852928"/>
            <a:ext cx="4114800" cy="1828800"/>
          </a:xfrm>
          <a:prstGeom prst="rect">
            <a:avLst/>
          </a:prstGeom>
          <a:solidFill>
            <a:srgbClr val="EEF2F8"/>
          </a:solidFill>
          <a:ln w="12700">
            <a:solidFill>
              <a:srgbClr val="EEF2F8"/>
            </a:solidFill>
            <a:prstDash val="solid"/>
          </a:ln>
        </p:spPr>
      </p:sp>
      <p:pic>
        <p:nvPicPr>
          <p:cNvPr id="20" name="Image 2" descr="/home/user/lxfs/pptx_build/figs/map.jpg">    </p:cNvPr>
          <p:cNvPicPr>
            <a:picLocks noChangeAspect="1"/>
          </p:cNvPicPr>
          <p:nvPr/>
        </p:nvPicPr>
        <p:blipFill>
          <a:blip r:embed="rId3"/>
          <a:stretch>
            <a:fillRect/>
          </a:stretch>
        </p:blipFill>
        <p:spPr>
          <a:xfrm>
            <a:off x="861674" y="2926080"/>
            <a:ext cx="937556" cy="1682496"/>
          </a:xfrm>
          <a:prstGeom prst="rect">
            <a:avLst/>
          </a:prstGeom>
        </p:spPr>
      </p:pic>
      <p:sp>
        <p:nvSpPr>
          <p:cNvPr id="21" name="Shape 16"/>
          <p:cNvSpPr/>
          <p:nvPr/>
        </p:nvSpPr>
        <p:spPr>
          <a:xfrm>
            <a:off x="861674" y="2926080"/>
            <a:ext cx="457200" cy="457200"/>
          </a:xfrm>
          <a:prstGeom prst="rect">
            <a:avLst/>
          </a:prstGeom>
          <a:solidFill>
            <a:srgbClr val="4E8A3E"/>
          </a:solidFill>
          <a:ln w="12700">
            <a:solidFill>
              <a:srgbClr val="4E8A3E"/>
            </a:solidFill>
            <a:prstDash val="solid"/>
          </a:ln>
        </p:spPr>
      </p:sp>
      <p:sp>
        <p:nvSpPr>
          <p:cNvPr id="22" name="Text 17"/>
          <p:cNvSpPr txBox="1"/>
          <p:nvPr/>
        </p:nvSpPr>
        <p:spPr>
          <a:xfrm>
            <a:off x="861674" y="292608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a:t>
            </a:r>
            <a:endParaRPr lang="en-US" sz="2000" dirty="0"/>
          </a:p>
        </p:txBody>
      </p:sp>
      <p:sp>
        <p:nvSpPr>
          <p:cNvPr id="23" name="Text 18"/>
          <p:cNvSpPr txBox="1"/>
          <p:nvPr/>
        </p:nvSpPr>
        <p:spPr>
          <a:xfrm>
            <a:off x="2240280" y="2926080"/>
            <a:ext cx="2194560" cy="292608"/>
          </a:xfrm>
          <a:prstGeom prst="rect">
            <a:avLst/>
          </a:prstGeom>
          <a:noFill/>
          <a:ln/>
        </p:spPr>
        <p:txBody>
          <a:bodyPr wrap="square" lIns="0" tIns="0" rIns="0" bIns="0" rtlCol="0" anchor="ctr"/>
          <a:lstStyle/>
          <a:p>
            <a:pPr indent="0" marL="0">
              <a:buNone/>
            </a:pPr>
            <a:r>
              <a:rPr lang="en-US" sz="1100" b="1" dirty="0">
                <a:solidFill>
                  <a:srgbClr val="4E8A3E"/>
                </a:solidFill>
                <a:latin typeface="Microsoft YaHei" pitchFamily="34" charset="0"/>
                <a:ea typeface="Microsoft YaHei" pitchFamily="34" charset="-122"/>
                <a:cs typeface="Microsoft YaHei" pitchFamily="34" charset="-120"/>
              </a:rPr>
              <a:t>机遇</a:t>
            </a:r>
            <a:endParaRPr lang="en-US" sz="1100" dirty="0"/>
          </a:p>
        </p:txBody>
      </p:sp>
      <p:sp>
        <p:nvSpPr>
          <p:cNvPr id="24" name="Text 19"/>
          <p:cNvSpPr txBox="1"/>
          <p:nvPr/>
        </p:nvSpPr>
        <p:spPr>
          <a:xfrm>
            <a:off x="2194560" y="323697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仁寿城北新城公园城市规划政策支持</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片区缺少综合绿地，项目民生价值高</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海绵城市、15分钟生活圈政策提供设计导向</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周边小区入住率持续提升，远期人流增长</a:t>
            </a:r>
            <a:endParaRPr lang="en-US" sz="800" dirty="0"/>
          </a:p>
        </p:txBody>
      </p:sp>
      <p:sp>
        <p:nvSpPr>
          <p:cNvPr id="25" name="Shape 20"/>
          <p:cNvSpPr/>
          <p:nvPr/>
        </p:nvSpPr>
        <p:spPr>
          <a:xfrm>
            <a:off x="4709160" y="2852928"/>
            <a:ext cx="4114800" cy="1828800"/>
          </a:xfrm>
          <a:prstGeom prst="rect">
            <a:avLst/>
          </a:prstGeom>
          <a:solidFill>
            <a:srgbClr val="EEF2F8"/>
          </a:solidFill>
          <a:ln w="12700">
            <a:solidFill>
              <a:srgbClr val="EEF2F8"/>
            </a:solidFill>
            <a:prstDash val="solid"/>
          </a:ln>
        </p:spPr>
      </p:sp>
      <p:pic>
        <p:nvPicPr>
          <p:cNvPr id="26" name="Image 3" descr="/home/user/lxfs/pptx_build/figs/site_4.jpg">    </p:cNvPr>
          <p:cNvPicPr>
            <a:picLocks noChangeAspect="1"/>
          </p:cNvPicPr>
          <p:nvPr/>
        </p:nvPicPr>
        <p:blipFill>
          <a:blip r:embed="rId4"/>
          <a:stretch>
            <a:fillRect/>
          </a:stretch>
        </p:blipFill>
        <p:spPr>
          <a:xfrm>
            <a:off x="4782312" y="3311220"/>
            <a:ext cx="1600200" cy="912216"/>
          </a:xfrm>
          <a:prstGeom prst="rect">
            <a:avLst/>
          </a:prstGeom>
        </p:spPr>
      </p:pic>
      <p:sp>
        <p:nvSpPr>
          <p:cNvPr id="27" name="Shape 21"/>
          <p:cNvSpPr/>
          <p:nvPr/>
        </p:nvSpPr>
        <p:spPr>
          <a:xfrm>
            <a:off x="4782312" y="3311220"/>
            <a:ext cx="457200" cy="457200"/>
          </a:xfrm>
          <a:prstGeom prst="rect">
            <a:avLst/>
          </a:prstGeom>
          <a:solidFill>
            <a:srgbClr val="8A8F9C"/>
          </a:solidFill>
          <a:ln w="12700">
            <a:solidFill>
              <a:srgbClr val="8A8F9C"/>
            </a:solidFill>
            <a:prstDash val="solid"/>
          </a:ln>
        </p:spPr>
      </p:sp>
      <p:sp>
        <p:nvSpPr>
          <p:cNvPr id="28" name="Text 22"/>
          <p:cNvSpPr txBox="1"/>
          <p:nvPr/>
        </p:nvSpPr>
        <p:spPr>
          <a:xfrm>
            <a:off x="4782312" y="331122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T</a:t>
            </a:r>
            <a:endParaRPr lang="en-US" sz="2000" dirty="0"/>
          </a:p>
        </p:txBody>
      </p:sp>
      <p:sp>
        <p:nvSpPr>
          <p:cNvPr id="29" name="Text 23"/>
          <p:cNvSpPr txBox="1"/>
          <p:nvPr/>
        </p:nvSpPr>
        <p:spPr>
          <a:xfrm>
            <a:off x="6492240" y="2926080"/>
            <a:ext cx="2194560" cy="292608"/>
          </a:xfrm>
          <a:prstGeom prst="rect">
            <a:avLst/>
          </a:prstGeom>
          <a:noFill/>
          <a:ln/>
        </p:spPr>
        <p:txBody>
          <a:bodyPr wrap="square" lIns="0" tIns="0" rIns="0" bIns="0" rtlCol="0" anchor="ctr"/>
          <a:lstStyle/>
          <a:p>
            <a:pPr indent="0" marL="0">
              <a:buNone/>
            </a:pPr>
            <a:r>
              <a:rPr lang="en-US" sz="1100" b="1" dirty="0">
                <a:solidFill>
                  <a:srgbClr val="8A8F9C"/>
                </a:solidFill>
                <a:latin typeface="Microsoft YaHei" pitchFamily="34" charset="0"/>
                <a:ea typeface="Microsoft YaHei" pitchFamily="34" charset="-122"/>
                <a:cs typeface="Microsoft YaHei" pitchFamily="34" charset="-120"/>
              </a:rPr>
              <a:t>威胁</a:t>
            </a:r>
            <a:endParaRPr lang="en-US" sz="1100" dirty="0"/>
          </a:p>
        </p:txBody>
      </p:sp>
      <p:sp>
        <p:nvSpPr>
          <p:cNvPr id="30" name="Text 24"/>
          <p:cNvSpPr txBox="1"/>
          <p:nvPr/>
        </p:nvSpPr>
        <p:spPr>
          <a:xfrm>
            <a:off x="6446520" y="323697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县城建设预算有限，不宜采用高端硬质景观</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夏季多雨，需重点做好场地排水防涝设计</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周边小区内部小型绿地分流部分休闲人群</a:t>
            </a:r>
            <a:endParaRPr lang="en-US" sz="800" dirty="0"/>
          </a:p>
        </p:txBody>
      </p:sp>
      <p:sp>
        <p:nvSpPr>
          <p:cNvPr id="31" name="Text 25"/>
          <p:cNvSpPr txBox="1"/>
          <p:nvPr/>
        </p:nvSpPr>
        <p:spPr>
          <a:xfrm>
            <a:off x="457200" y="4773168"/>
            <a:ext cx="8321040" cy="201168"/>
          </a:xfrm>
          <a:prstGeom prst="rect">
            <a:avLst/>
          </a:prstGeom>
          <a:noFill/>
          <a:ln/>
        </p:spPr>
        <p:txBody>
          <a:bodyPr wrap="square" lIns="25400" tIns="25400" rIns="25400" bIns="25400" rtlCol="0" anchor="t"/>
          <a:lstStyle/>
          <a:p>
            <a:pPr indent="0" marL="0">
              <a:lnSpc>
                <a:spcPct val="115000"/>
              </a:lnSpc>
              <a:buNone/>
            </a:pPr>
            <a:r>
              <a:rPr lang="en-US" sz="650" dirty="0">
                <a:solidFill>
                  <a:srgbClr val="777777"/>
                </a:solidFill>
                <a:latin typeface="Microsoft YaHei" pitchFamily="34" charset="0"/>
                <a:ea typeface="Microsoft YaHei" pitchFamily="34" charset="-122"/>
                <a:cs typeface="Microsoft YaHei" pitchFamily="34" charset="-120"/>
              </a:rPr>
              <a:t>注：开题报告SWOT中“现状无成型乔木”与2.11“保留原生乔木群落”矛盾，此处按现状分析口径修正为“成型乔木有限”，请确认。</a:t>
            </a:r>
            <a:endParaRPr lang="en-US" sz="6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Problem Summary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2.16 问题梳理</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34</a:t>
            </a:r>
            <a:endParaRPr lang="en-US" sz="900" dirty="0"/>
          </a:p>
        </p:txBody>
      </p:sp>
      <p:pic>
        <p:nvPicPr>
          <p:cNvPr id="7" name="Image 0" descr="/home/user/lxfs/pptx_build/figs/site_3.jpg">    </p:cNvPr>
          <p:cNvPicPr>
            <a:picLocks noChangeAspect="1"/>
          </p:cNvPicPr>
          <p:nvPr/>
        </p:nvPicPr>
        <p:blipFill>
          <a:blip r:embed="rId1"/>
          <a:stretch>
            <a:fillRect/>
          </a:stretch>
        </p:blipFill>
        <p:spPr>
          <a:xfrm>
            <a:off x="606748" y="932688"/>
            <a:ext cx="2398384" cy="1371600"/>
          </a:xfrm>
          <a:prstGeom prst="rect">
            <a:avLst/>
          </a:prstGeom>
        </p:spPr>
      </p:pic>
      <p:sp>
        <p:nvSpPr>
          <p:cNvPr id="8" name="Shape 5"/>
          <p:cNvSpPr/>
          <p:nvPr/>
        </p:nvSpPr>
        <p:spPr>
          <a:xfrm>
            <a:off x="606748" y="1920240"/>
            <a:ext cx="2398384" cy="384048"/>
          </a:xfrm>
          <a:prstGeom prst="rect">
            <a:avLst/>
          </a:prstGeom>
          <a:solidFill>
            <a:srgbClr val="E07B2A">
              <a:alpha val="85000"/>
            </a:srgbClr>
          </a:solidFill>
          <a:ln w="12700">
            <a:solidFill>
              <a:srgbClr val="E07B2A"/>
            </a:solidFill>
            <a:prstDash val="solid"/>
          </a:ln>
        </p:spPr>
      </p:sp>
      <p:sp>
        <p:nvSpPr>
          <p:cNvPr id="9" name="Text 6"/>
          <p:cNvSpPr txBox="1"/>
          <p:nvPr/>
        </p:nvSpPr>
        <p:spPr>
          <a:xfrm>
            <a:off x="661612" y="1920240"/>
            <a:ext cx="228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场地现状问题</a:t>
            </a:r>
            <a:endParaRPr lang="en-US" sz="1100" dirty="0"/>
          </a:p>
        </p:txBody>
      </p:sp>
      <p:sp>
        <p:nvSpPr>
          <p:cNvPr id="10" name="Shape 7"/>
          <p:cNvSpPr/>
          <p:nvPr/>
        </p:nvSpPr>
        <p:spPr>
          <a:xfrm>
            <a:off x="457200" y="2377440"/>
            <a:ext cx="2697480" cy="1828800"/>
          </a:xfrm>
          <a:prstGeom prst="rect">
            <a:avLst/>
          </a:prstGeom>
          <a:solidFill>
            <a:srgbClr val="EEF2F8"/>
          </a:solidFill>
          <a:ln w="12700">
            <a:solidFill>
              <a:srgbClr val="EEF2F8"/>
            </a:solidFill>
            <a:prstDash val="solid"/>
          </a:ln>
        </p:spPr>
      </p:sp>
      <p:sp>
        <p:nvSpPr>
          <p:cNvPr id="11" name="Text 8"/>
          <p:cNvSpPr txBox="1"/>
          <p:nvPr/>
        </p:nvSpPr>
        <p:spPr>
          <a:xfrm>
            <a:off x="50292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北侧普宁大道车流大，噪声、粉尘干扰严重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裸土地块土壤条件一般，需改良</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无天然水体，旱地型地块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局部小土坡，场地平整度一般</a:t>
            </a:r>
            <a:endParaRPr lang="en-US" sz="850" dirty="0"/>
          </a:p>
        </p:txBody>
      </p:sp>
      <p:pic>
        <p:nvPicPr>
          <p:cNvPr id="12" name="Image 1" descr="/home/user/lxfs/pptx_build/figs/site_2.jpg">    </p:cNvPr>
          <p:cNvPicPr>
            <a:picLocks noChangeAspect="1"/>
          </p:cNvPicPr>
          <p:nvPr/>
        </p:nvPicPr>
        <p:blipFill>
          <a:blip r:embed="rId2"/>
          <a:stretch>
            <a:fillRect/>
          </a:stretch>
        </p:blipFill>
        <p:spPr>
          <a:xfrm>
            <a:off x="3441388" y="932688"/>
            <a:ext cx="2398384" cy="1371600"/>
          </a:xfrm>
          <a:prstGeom prst="rect">
            <a:avLst/>
          </a:prstGeom>
        </p:spPr>
      </p:pic>
      <p:sp>
        <p:nvSpPr>
          <p:cNvPr id="13" name="Shape 9"/>
          <p:cNvSpPr/>
          <p:nvPr/>
        </p:nvSpPr>
        <p:spPr>
          <a:xfrm>
            <a:off x="3441388" y="1920240"/>
            <a:ext cx="2398384" cy="384048"/>
          </a:xfrm>
          <a:prstGeom prst="rect">
            <a:avLst/>
          </a:prstGeom>
          <a:solidFill>
            <a:srgbClr val="1F3F7A">
              <a:alpha val="85000"/>
            </a:srgbClr>
          </a:solidFill>
          <a:ln w="12700">
            <a:solidFill>
              <a:srgbClr val="1F3F7A"/>
            </a:solidFill>
            <a:prstDash val="solid"/>
          </a:ln>
        </p:spPr>
      </p:sp>
      <p:sp>
        <p:nvSpPr>
          <p:cNvPr id="14" name="Text 10"/>
          <p:cNvSpPr txBox="1"/>
          <p:nvPr/>
        </p:nvSpPr>
        <p:spPr>
          <a:xfrm>
            <a:off x="3496252" y="1920240"/>
            <a:ext cx="228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片区供给问题</a:t>
            </a:r>
            <a:endParaRPr lang="en-US" sz="1100" dirty="0"/>
          </a:p>
        </p:txBody>
      </p:sp>
      <p:sp>
        <p:nvSpPr>
          <p:cNvPr id="15" name="Shape 11"/>
          <p:cNvSpPr/>
          <p:nvPr/>
        </p:nvSpPr>
        <p:spPr>
          <a:xfrm>
            <a:off x="3291840" y="2377440"/>
            <a:ext cx="2697480" cy="1828800"/>
          </a:xfrm>
          <a:prstGeom prst="rect">
            <a:avLst/>
          </a:prstGeom>
          <a:solidFill>
            <a:srgbClr val="EEF2F8"/>
          </a:solidFill>
          <a:ln w="12700">
            <a:solidFill>
              <a:srgbClr val="EEF2F8"/>
            </a:solidFill>
            <a:prstDash val="solid"/>
          </a:ln>
        </p:spPr>
      </p:sp>
      <p:sp>
        <p:nvSpPr>
          <p:cNvPr id="16" name="Text 12"/>
          <p:cNvSpPr txBox="1"/>
          <p:nvPr/>
        </p:nvSpPr>
        <p:spPr>
          <a:xfrm>
            <a:off x="333756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集中型公共休闲绿地供给严重不足</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现有绿地为小区零散附属绿化，仅简易健身器械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缺乏规模化、分龄化专业运动场地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新城缺少文化景观载体与场所记忆</a:t>
            </a:r>
            <a:endParaRPr lang="en-US" sz="850" dirty="0"/>
          </a:p>
        </p:txBody>
      </p:sp>
      <p:pic>
        <p:nvPicPr>
          <p:cNvPr id="17" name="Image 2" descr="/home/user/lxfs/pptx_build/figs/site_4.jpg">    </p:cNvPr>
          <p:cNvPicPr>
            <a:picLocks noChangeAspect="1"/>
          </p:cNvPicPr>
          <p:nvPr/>
        </p:nvPicPr>
        <p:blipFill>
          <a:blip r:embed="rId3"/>
          <a:stretch>
            <a:fillRect/>
          </a:stretch>
        </p:blipFill>
        <p:spPr>
          <a:xfrm>
            <a:off x="6272197" y="932688"/>
            <a:ext cx="2406047" cy="1371600"/>
          </a:xfrm>
          <a:prstGeom prst="rect">
            <a:avLst/>
          </a:prstGeom>
        </p:spPr>
      </p:pic>
      <p:sp>
        <p:nvSpPr>
          <p:cNvPr id="18" name="Shape 13"/>
          <p:cNvSpPr/>
          <p:nvPr/>
        </p:nvSpPr>
        <p:spPr>
          <a:xfrm>
            <a:off x="6272197" y="1920240"/>
            <a:ext cx="2406047" cy="384048"/>
          </a:xfrm>
          <a:prstGeom prst="rect">
            <a:avLst/>
          </a:prstGeom>
          <a:solidFill>
            <a:srgbClr val="4E8A3E">
              <a:alpha val="85000"/>
            </a:srgbClr>
          </a:solidFill>
          <a:ln w="12700">
            <a:solidFill>
              <a:srgbClr val="4E8A3E"/>
            </a:solidFill>
            <a:prstDash val="solid"/>
          </a:ln>
        </p:spPr>
      </p:sp>
      <p:sp>
        <p:nvSpPr>
          <p:cNvPr id="19" name="Text 14"/>
          <p:cNvSpPr txBox="1"/>
          <p:nvPr/>
        </p:nvSpPr>
        <p:spPr>
          <a:xfrm>
            <a:off x="6327061" y="1920240"/>
            <a:ext cx="2296319"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人群需求问题</a:t>
            </a:r>
            <a:endParaRPr lang="en-US" sz="1100" dirty="0"/>
          </a:p>
        </p:txBody>
      </p:sp>
      <p:sp>
        <p:nvSpPr>
          <p:cNvPr id="20" name="Shape 15"/>
          <p:cNvSpPr/>
          <p:nvPr/>
        </p:nvSpPr>
        <p:spPr>
          <a:xfrm>
            <a:off x="6126480" y="2377440"/>
            <a:ext cx="2697480" cy="1828800"/>
          </a:xfrm>
          <a:prstGeom prst="rect">
            <a:avLst/>
          </a:prstGeom>
          <a:solidFill>
            <a:srgbClr val="EEF2F8"/>
          </a:solidFill>
          <a:ln w="12700">
            <a:solidFill>
              <a:srgbClr val="EEF2F8"/>
            </a:solidFill>
            <a:prstDash val="solid"/>
          </a:ln>
        </p:spPr>
      </p:sp>
      <p:sp>
        <p:nvSpPr>
          <p:cNvPr id="21" name="Text 16"/>
          <p:cNvSpPr txBox="1"/>
          <p:nvPr/>
        </p:nvSpPr>
        <p:spPr>
          <a:xfrm>
            <a:off x="617220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中老年占比高，康养、社交空间缺失</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亲子群体缺少安全分龄游乐场地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青少年、学生缺少球类、跑步场地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夏季高温多雨，缺少遮阳与全天候活动条件</a:t>
            </a:r>
            <a:endParaRPr lang="en-US" sz="850" dirty="0"/>
          </a:p>
        </p:txBody>
      </p:sp>
      <p:sp>
        <p:nvSpPr>
          <p:cNvPr id="22" name="Text 17"/>
          <p:cNvSpPr txBox="1"/>
          <p:nvPr/>
        </p:nvSpPr>
        <p:spPr>
          <a:xfrm>
            <a:off x="457200" y="4343400"/>
            <a:ext cx="8366760" cy="365760"/>
          </a:xfrm>
          <a:prstGeom prst="rect">
            <a:avLst/>
          </a:prstGeom>
          <a:noFill/>
          <a:ln/>
        </p:spPr>
        <p:txBody>
          <a:bodyPr wrap="square" lIns="0" tIns="0" rIns="0" bIns="0" rtlCol="0" anchor="ctr"/>
          <a:lstStyle/>
          <a:p>
            <a:pPr algn="ctr" indent="0" marL="0">
              <a:buNone/>
            </a:pPr>
            <a:r>
              <a:rPr lang="en-US" sz="1000" b="1" dirty="0">
                <a:solidFill>
                  <a:srgbClr val="E07B2A"/>
                </a:solidFill>
                <a:latin typeface="Microsoft YaHei" pitchFamily="34" charset="0"/>
                <a:ea typeface="Microsoft YaHei" pitchFamily="34" charset="-122"/>
                <a:cs typeface="Microsoft YaHei" pitchFamily="34" charset="-120"/>
              </a:rPr>
              <a:t>以上问题对应第三部分设计目标（3.1）与设计策略（3.4）逐项回应</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Planning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35</a:t>
            </a:r>
            <a:endParaRPr lang="en-US" sz="900" dirty="0"/>
          </a:p>
        </p:txBody>
      </p:sp>
      <p:pic>
        <p:nvPicPr>
          <p:cNvPr id="6" name="Image 0" descr="/home/user/lxfs/pptx_build/figs/x_tennis.jpg">    </p:cNvPr>
          <p:cNvPicPr>
            <a:picLocks noChangeAspect="1"/>
          </p:cNvPicPr>
          <p:nvPr/>
        </p:nvPicPr>
        <p:blipFill>
          <a:blip r:embed="rId1"/>
          <a:stretch>
            <a:fillRect/>
          </a:stretch>
        </p:blipFill>
        <p:spPr>
          <a:xfrm>
            <a:off x="6136838" y="822960"/>
            <a:ext cx="1396603" cy="2103120"/>
          </a:xfrm>
          <a:prstGeom prst="rect">
            <a:avLst/>
          </a:prstGeom>
        </p:spPr>
      </p:pic>
      <p:pic>
        <p:nvPicPr>
          <p:cNvPr id="7" name="Image 1" descr="/home/user/lxfs/pptx_build/figs/x_sign.jpg">    </p:cNvPr>
          <p:cNvPicPr>
            <a:picLocks noChangeAspect="1"/>
          </p:cNvPicPr>
          <p:nvPr/>
        </p:nvPicPr>
        <p:blipFill>
          <a:blip r:embed="rId2"/>
          <a:stretch>
            <a:fillRect/>
          </a:stretch>
        </p:blipFill>
        <p:spPr>
          <a:xfrm>
            <a:off x="4846320" y="3017520"/>
            <a:ext cx="1920240" cy="1355689"/>
          </a:xfrm>
          <a:prstGeom prst="rect">
            <a:avLst/>
          </a:prstGeom>
        </p:spPr>
      </p:pic>
      <p:pic>
        <p:nvPicPr>
          <p:cNvPr id="8" name="Image 2" descr="/home/user/lxfs/pptx_build/figs/x_greenhouse.jpg">    </p:cNvPr>
          <p:cNvPicPr>
            <a:picLocks noChangeAspect="1"/>
          </p:cNvPicPr>
          <p:nvPr/>
        </p:nvPicPr>
        <p:blipFill>
          <a:blip r:embed="rId3"/>
          <a:stretch>
            <a:fillRect/>
          </a:stretch>
        </p:blipFill>
        <p:spPr>
          <a:xfrm>
            <a:off x="7298832" y="3017520"/>
            <a:ext cx="1130016" cy="1691640"/>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03</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场地规划分析</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3.1 设计目标</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3.2 设计原则</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3.3 设计构思</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3.4 设计策略</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3.5 设计成果</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3.6 进度安排</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3.7 参考文献</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Objectives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3.1 设计目标</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36</a:t>
            </a:r>
            <a:endParaRPr lang="en-US" sz="900" dirty="0"/>
          </a:p>
        </p:txBody>
      </p:sp>
      <p:pic>
        <p:nvPicPr>
          <p:cNvPr id="7" name="Image 0" descr="/home/user/lxfs/pptx_build/figs/x_lake.jpg">    </p:cNvPr>
          <p:cNvPicPr>
            <a:picLocks noChangeAspect="1"/>
          </p:cNvPicPr>
          <p:nvPr/>
        </p:nvPicPr>
        <p:blipFill>
          <a:blip r:embed="rId1"/>
          <a:stretch>
            <a:fillRect/>
          </a:stretch>
        </p:blipFill>
        <p:spPr>
          <a:xfrm>
            <a:off x="457200" y="932688"/>
            <a:ext cx="2011680" cy="1524853"/>
          </a:xfrm>
          <a:prstGeom prst="rect">
            <a:avLst/>
          </a:prstGeom>
        </p:spPr>
      </p:pic>
      <p:sp>
        <p:nvSpPr>
          <p:cNvPr id="8" name="Shape 5"/>
          <p:cNvSpPr/>
          <p:nvPr/>
        </p:nvSpPr>
        <p:spPr>
          <a:xfrm>
            <a:off x="457200" y="2046061"/>
            <a:ext cx="2011680" cy="411480"/>
          </a:xfrm>
          <a:prstGeom prst="rect">
            <a:avLst/>
          </a:prstGeom>
          <a:solidFill>
            <a:srgbClr val="4E8A3E">
              <a:alpha val="85000"/>
            </a:srgbClr>
          </a:solidFill>
          <a:ln w="12700">
            <a:solidFill>
              <a:srgbClr val="4E8A3E"/>
            </a:solidFill>
            <a:prstDash val="solid"/>
          </a:ln>
        </p:spPr>
      </p:sp>
      <p:sp>
        <p:nvSpPr>
          <p:cNvPr id="9" name="Text 6"/>
          <p:cNvSpPr txBox="1"/>
          <p:nvPr/>
        </p:nvSpPr>
        <p:spPr>
          <a:xfrm>
            <a:off x="512064" y="2046061"/>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生态目标</a:t>
            </a:r>
            <a:endParaRPr lang="en-US" sz="1200" dirty="0"/>
          </a:p>
        </p:txBody>
      </p:sp>
      <p:sp>
        <p:nvSpPr>
          <p:cNvPr id="10" name="Shape 7"/>
          <p:cNvSpPr/>
          <p:nvPr/>
        </p:nvSpPr>
        <p:spPr>
          <a:xfrm>
            <a:off x="457200" y="3063240"/>
            <a:ext cx="310896" cy="310896"/>
          </a:xfrm>
          <a:prstGeom prst="ellipse">
            <a:avLst/>
          </a:prstGeom>
          <a:solidFill>
            <a:srgbClr val="4E8A3E"/>
          </a:solidFill>
          <a:ln w="12700">
            <a:solidFill>
              <a:srgbClr val="4E8A3E"/>
            </a:solidFill>
            <a:prstDash val="solid"/>
          </a:ln>
        </p:spPr>
      </p:sp>
      <p:sp>
        <p:nvSpPr>
          <p:cNvPr id="11" name="Text 8"/>
          <p:cNvSpPr txBox="1"/>
          <p:nvPr/>
        </p:nvSpPr>
        <p:spPr>
          <a:xfrm>
            <a:off x="45720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841248" y="3063240"/>
            <a:ext cx="1627632" cy="310896"/>
          </a:xfrm>
          <a:prstGeom prst="rect">
            <a:avLst/>
          </a:prstGeom>
          <a:noFill/>
          <a:ln/>
        </p:spPr>
        <p:txBody>
          <a:bodyPr wrap="square" lIns="0" tIns="0" rIns="0" bIns="0" rtlCol="0" anchor="ctr"/>
          <a:lstStyle/>
          <a:p>
            <a:pPr indent="0" marL="0">
              <a:buNone/>
            </a:pPr>
            <a:r>
              <a:rPr lang="en-US" sz="1050" b="1" dirty="0">
                <a:solidFill>
                  <a:srgbClr val="4E8A3E"/>
                </a:solidFill>
                <a:latin typeface="Microsoft YaHei" pitchFamily="34" charset="0"/>
                <a:ea typeface="Microsoft YaHei" pitchFamily="34" charset="-122"/>
                <a:cs typeface="Microsoft YaHei" pitchFamily="34" charset="-120"/>
              </a:rPr>
              <a:t>生态目标</a:t>
            </a:r>
            <a:endParaRPr lang="en-US" sz="1050" dirty="0"/>
          </a:p>
        </p:txBody>
      </p:sp>
      <p:sp>
        <p:nvSpPr>
          <p:cNvPr id="13" name="Shape 10"/>
          <p:cNvSpPr/>
          <p:nvPr/>
        </p:nvSpPr>
        <p:spPr>
          <a:xfrm>
            <a:off x="457200" y="3456432"/>
            <a:ext cx="2011680" cy="1280160"/>
          </a:xfrm>
          <a:prstGeom prst="rect">
            <a:avLst/>
          </a:prstGeom>
          <a:solidFill>
            <a:srgbClr val="EEF2F8"/>
          </a:solidFill>
          <a:ln w="12700">
            <a:solidFill>
              <a:srgbClr val="EEF2F8"/>
            </a:solidFill>
            <a:prstDash val="solid"/>
          </a:ln>
        </p:spPr>
      </p:sp>
      <p:sp>
        <p:nvSpPr>
          <p:cNvPr id="14" name="Text 11"/>
          <p:cNvSpPr txBox="1"/>
          <p:nvPr/>
        </p:nvSpPr>
        <p:spPr>
          <a:xfrm>
            <a:off x="51206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多层次乡土植物群落 + 主干道生态缓冲带 + 海绵雨水系统，降低径流，削弱噪声粉尘，修复片区微型生态。</a:t>
            </a:r>
            <a:endParaRPr lang="en-US" sz="850" dirty="0"/>
          </a:p>
        </p:txBody>
      </p:sp>
      <p:pic>
        <p:nvPicPr>
          <p:cNvPr id="15" name="Image 1" descr="/home/user/lxfs/pptx_build/figs/x_basketball.jpg">    </p:cNvPr>
          <p:cNvPicPr>
            <a:picLocks noChangeAspect="1"/>
          </p:cNvPicPr>
          <p:nvPr/>
        </p:nvPicPr>
        <p:blipFill>
          <a:blip r:embed="rId2"/>
          <a:stretch>
            <a:fillRect/>
          </a:stretch>
        </p:blipFill>
        <p:spPr>
          <a:xfrm>
            <a:off x="2896271" y="932688"/>
            <a:ext cx="1339779" cy="2011680"/>
          </a:xfrm>
          <a:prstGeom prst="rect">
            <a:avLst/>
          </a:prstGeom>
        </p:spPr>
      </p:pic>
      <p:sp>
        <p:nvSpPr>
          <p:cNvPr id="16" name="Shape 12"/>
          <p:cNvSpPr/>
          <p:nvPr/>
        </p:nvSpPr>
        <p:spPr>
          <a:xfrm>
            <a:off x="2896271" y="2532888"/>
            <a:ext cx="1339779" cy="411480"/>
          </a:xfrm>
          <a:prstGeom prst="rect">
            <a:avLst/>
          </a:prstGeom>
          <a:solidFill>
            <a:srgbClr val="E07B2A">
              <a:alpha val="85000"/>
            </a:srgbClr>
          </a:solidFill>
          <a:ln w="12700">
            <a:solidFill>
              <a:srgbClr val="E07B2A"/>
            </a:solidFill>
            <a:prstDash val="solid"/>
          </a:ln>
        </p:spPr>
      </p:sp>
      <p:sp>
        <p:nvSpPr>
          <p:cNvPr id="17" name="Text 13"/>
          <p:cNvSpPr txBox="1"/>
          <p:nvPr/>
        </p:nvSpPr>
        <p:spPr>
          <a:xfrm>
            <a:off x="2951135" y="2532888"/>
            <a:ext cx="1230051"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功能目标</a:t>
            </a:r>
            <a:endParaRPr lang="en-US" sz="1200" dirty="0"/>
          </a:p>
        </p:txBody>
      </p:sp>
      <p:sp>
        <p:nvSpPr>
          <p:cNvPr id="18" name="Shape 14"/>
          <p:cNvSpPr/>
          <p:nvPr/>
        </p:nvSpPr>
        <p:spPr>
          <a:xfrm>
            <a:off x="2560320" y="3063240"/>
            <a:ext cx="310896" cy="310896"/>
          </a:xfrm>
          <a:prstGeom prst="ellipse">
            <a:avLst/>
          </a:prstGeom>
          <a:solidFill>
            <a:srgbClr val="E07B2A"/>
          </a:solidFill>
          <a:ln w="12700">
            <a:solidFill>
              <a:srgbClr val="E07B2A"/>
            </a:solidFill>
            <a:prstDash val="solid"/>
          </a:ln>
        </p:spPr>
      </p:sp>
      <p:sp>
        <p:nvSpPr>
          <p:cNvPr id="19" name="Text 15"/>
          <p:cNvSpPr txBox="1"/>
          <p:nvPr/>
        </p:nvSpPr>
        <p:spPr>
          <a:xfrm>
            <a:off x="256032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0" name="Text 16"/>
          <p:cNvSpPr txBox="1"/>
          <p:nvPr/>
        </p:nvSpPr>
        <p:spPr>
          <a:xfrm>
            <a:off x="2944368" y="3063240"/>
            <a:ext cx="1627632" cy="310896"/>
          </a:xfrm>
          <a:prstGeom prst="rect">
            <a:avLst/>
          </a:prstGeom>
          <a:noFill/>
          <a:ln/>
        </p:spPr>
        <p:txBody>
          <a:bodyPr wrap="square" lIns="0" tIns="0" rIns="0" bIns="0" rtlCol="0" anchor="ctr"/>
          <a:lstStyle/>
          <a:p>
            <a:pPr indent="0" marL="0">
              <a:buNone/>
            </a:pPr>
            <a:r>
              <a:rPr lang="en-US" sz="1050" b="1" dirty="0">
                <a:solidFill>
                  <a:srgbClr val="E07B2A"/>
                </a:solidFill>
                <a:latin typeface="Microsoft YaHei" pitchFamily="34" charset="0"/>
                <a:ea typeface="Microsoft YaHei" pitchFamily="34" charset="-122"/>
                <a:cs typeface="Microsoft YaHei" pitchFamily="34" charset="-120"/>
              </a:rPr>
              <a:t>功能目标</a:t>
            </a:r>
            <a:endParaRPr lang="en-US" sz="1050" dirty="0"/>
          </a:p>
        </p:txBody>
      </p:sp>
      <p:sp>
        <p:nvSpPr>
          <p:cNvPr id="21" name="Shape 17"/>
          <p:cNvSpPr/>
          <p:nvPr/>
        </p:nvSpPr>
        <p:spPr>
          <a:xfrm>
            <a:off x="2560320" y="3456432"/>
            <a:ext cx="2011680" cy="1280160"/>
          </a:xfrm>
          <a:prstGeom prst="rect">
            <a:avLst/>
          </a:prstGeom>
          <a:solidFill>
            <a:srgbClr val="EEF2F8"/>
          </a:solidFill>
          <a:ln w="12700">
            <a:solidFill>
              <a:srgbClr val="EEF2F8"/>
            </a:solidFill>
            <a:prstDash val="solid"/>
          </a:ln>
        </p:spPr>
      </p:sp>
      <p:sp>
        <p:nvSpPr>
          <p:cNvPr id="22" name="Text 18"/>
          <p:cNvSpPr txBox="1"/>
          <p:nvPr/>
        </p:nvSpPr>
        <p:spPr>
          <a:xfrm>
            <a:off x="261518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婴幼儿游乐、青少年运动、老年康养、邻里大草坪、自然科普五大核心分区，满足日常游憩、健身、社交需求。</a:t>
            </a:r>
            <a:endParaRPr lang="en-US" sz="850" dirty="0"/>
          </a:p>
        </p:txBody>
      </p:sp>
      <p:pic>
        <p:nvPicPr>
          <p:cNvPr id="23" name="Image 2" descr="/home/user/lxfs/pptx_build/figs/x_aerial_city.jpg">    </p:cNvPr>
          <p:cNvPicPr>
            <a:picLocks noChangeAspect="1"/>
          </p:cNvPicPr>
          <p:nvPr/>
        </p:nvPicPr>
        <p:blipFill>
          <a:blip r:embed="rId3"/>
          <a:stretch>
            <a:fillRect/>
          </a:stretch>
        </p:blipFill>
        <p:spPr>
          <a:xfrm>
            <a:off x="4663440" y="932688"/>
            <a:ext cx="2011680" cy="1131570"/>
          </a:xfrm>
          <a:prstGeom prst="rect">
            <a:avLst/>
          </a:prstGeom>
        </p:spPr>
      </p:pic>
      <p:sp>
        <p:nvSpPr>
          <p:cNvPr id="24" name="Shape 19"/>
          <p:cNvSpPr/>
          <p:nvPr/>
        </p:nvSpPr>
        <p:spPr>
          <a:xfrm>
            <a:off x="4663440" y="1652778"/>
            <a:ext cx="2011680" cy="411480"/>
          </a:xfrm>
          <a:prstGeom prst="rect">
            <a:avLst/>
          </a:prstGeom>
          <a:solidFill>
            <a:srgbClr val="1F3F7A">
              <a:alpha val="85000"/>
            </a:srgbClr>
          </a:solidFill>
          <a:ln w="12700">
            <a:solidFill>
              <a:srgbClr val="1F3F7A"/>
            </a:solidFill>
            <a:prstDash val="solid"/>
          </a:ln>
        </p:spPr>
      </p:sp>
      <p:sp>
        <p:nvSpPr>
          <p:cNvPr id="25" name="Text 20"/>
          <p:cNvSpPr txBox="1"/>
          <p:nvPr/>
        </p:nvSpPr>
        <p:spPr>
          <a:xfrm>
            <a:off x="4718304" y="1652778"/>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空间目标</a:t>
            </a:r>
            <a:endParaRPr lang="en-US" sz="1200" dirty="0"/>
          </a:p>
        </p:txBody>
      </p:sp>
      <p:sp>
        <p:nvSpPr>
          <p:cNvPr id="26" name="Shape 21"/>
          <p:cNvSpPr/>
          <p:nvPr/>
        </p:nvSpPr>
        <p:spPr>
          <a:xfrm>
            <a:off x="4663440" y="3063240"/>
            <a:ext cx="310896" cy="310896"/>
          </a:xfrm>
          <a:prstGeom prst="ellipse">
            <a:avLst/>
          </a:prstGeom>
          <a:solidFill>
            <a:srgbClr val="1F3F7A"/>
          </a:solidFill>
          <a:ln w="12700">
            <a:solidFill>
              <a:srgbClr val="1F3F7A"/>
            </a:solidFill>
            <a:prstDash val="solid"/>
          </a:ln>
        </p:spPr>
      </p:sp>
      <p:sp>
        <p:nvSpPr>
          <p:cNvPr id="27" name="Text 22"/>
          <p:cNvSpPr txBox="1"/>
          <p:nvPr/>
        </p:nvSpPr>
        <p:spPr>
          <a:xfrm>
            <a:off x="466344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8" name="Text 23"/>
          <p:cNvSpPr txBox="1"/>
          <p:nvPr/>
        </p:nvSpPr>
        <p:spPr>
          <a:xfrm>
            <a:off x="5047488" y="3063240"/>
            <a:ext cx="1627632" cy="310896"/>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空间目标</a:t>
            </a:r>
            <a:endParaRPr lang="en-US" sz="1050" dirty="0"/>
          </a:p>
        </p:txBody>
      </p:sp>
      <p:sp>
        <p:nvSpPr>
          <p:cNvPr id="29" name="Shape 24"/>
          <p:cNvSpPr/>
          <p:nvPr/>
        </p:nvSpPr>
        <p:spPr>
          <a:xfrm>
            <a:off x="4663440" y="3456432"/>
            <a:ext cx="2011680" cy="1280160"/>
          </a:xfrm>
          <a:prstGeom prst="rect">
            <a:avLst/>
          </a:prstGeom>
          <a:solidFill>
            <a:srgbClr val="EEF2F8"/>
          </a:solidFill>
          <a:ln w="12700">
            <a:solidFill>
              <a:srgbClr val="EEF2F8"/>
            </a:solidFill>
            <a:prstDash val="solid"/>
          </a:ln>
        </p:spPr>
      </p:sp>
      <p:sp>
        <p:nvSpPr>
          <p:cNvPr id="30" name="Text 25"/>
          <p:cNvSpPr txBox="1"/>
          <p:nvPr/>
        </p:nvSpPr>
        <p:spPr>
          <a:xfrm>
            <a:off x="471830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优化主次入口与人车流线，打通四向人行通道，公园与居住区步行无缝衔接，形成连贯游览轴线。</a:t>
            </a:r>
            <a:endParaRPr lang="en-US" sz="850" dirty="0"/>
          </a:p>
        </p:txBody>
      </p:sp>
      <p:pic>
        <p:nvPicPr>
          <p:cNvPr id="31" name="Image 3" descr="/home/user/lxfs/pptx_build/figs/satellite.jpg">    </p:cNvPr>
          <p:cNvPicPr>
            <a:picLocks noChangeAspect="1"/>
          </p:cNvPicPr>
          <p:nvPr/>
        </p:nvPicPr>
        <p:blipFill>
          <a:blip r:embed="rId4"/>
          <a:stretch>
            <a:fillRect/>
          </a:stretch>
        </p:blipFill>
        <p:spPr>
          <a:xfrm>
            <a:off x="6766560" y="932688"/>
            <a:ext cx="2011680" cy="1585878"/>
          </a:xfrm>
          <a:prstGeom prst="rect">
            <a:avLst/>
          </a:prstGeom>
        </p:spPr>
      </p:pic>
      <p:sp>
        <p:nvSpPr>
          <p:cNvPr id="32" name="Shape 26"/>
          <p:cNvSpPr/>
          <p:nvPr/>
        </p:nvSpPr>
        <p:spPr>
          <a:xfrm>
            <a:off x="6766560" y="2107086"/>
            <a:ext cx="2011680" cy="411480"/>
          </a:xfrm>
          <a:prstGeom prst="rect">
            <a:avLst/>
          </a:prstGeom>
          <a:solidFill>
            <a:srgbClr val="5B7DB1">
              <a:alpha val="85000"/>
            </a:srgbClr>
          </a:solidFill>
          <a:ln w="12700">
            <a:solidFill>
              <a:srgbClr val="5B7DB1"/>
            </a:solidFill>
            <a:prstDash val="solid"/>
          </a:ln>
        </p:spPr>
      </p:sp>
      <p:sp>
        <p:nvSpPr>
          <p:cNvPr id="33" name="Text 27"/>
          <p:cNvSpPr txBox="1"/>
          <p:nvPr/>
        </p:nvSpPr>
        <p:spPr>
          <a:xfrm>
            <a:off x="6821424" y="2107086"/>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落地目标</a:t>
            </a:r>
            <a:endParaRPr lang="en-US" sz="1200" dirty="0"/>
          </a:p>
        </p:txBody>
      </p:sp>
      <p:sp>
        <p:nvSpPr>
          <p:cNvPr id="34" name="Shape 28"/>
          <p:cNvSpPr/>
          <p:nvPr/>
        </p:nvSpPr>
        <p:spPr>
          <a:xfrm>
            <a:off x="6766560" y="3063240"/>
            <a:ext cx="310896" cy="310896"/>
          </a:xfrm>
          <a:prstGeom prst="ellipse">
            <a:avLst/>
          </a:prstGeom>
          <a:solidFill>
            <a:srgbClr val="5B7DB1"/>
          </a:solidFill>
          <a:ln w="12700">
            <a:solidFill>
              <a:srgbClr val="5B7DB1"/>
            </a:solidFill>
            <a:prstDash val="solid"/>
          </a:ln>
        </p:spPr>
      </p:sp>
      <p:sp>
        <p:nvSpPr>
          <p:cNvPr id="35" name="Text 29"/>
          <p:cNvSpPr txBox="1"/>
          <p:nvPr/>
        </p:nvSpPr>
        <p:spPr>
          <a:xfrm>
            <a:off x="676656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6" name="Text 30"/>
          <p:cNvSpPr txBox="1"/>
          <p:nvPr/>
        </p:nvSpPr>
        <p:spPr>
          <a:xfrm>
            <a:off x="7150608" y="3063240"/>
            <a:ext cx="1627632" cy="310896"/>
          </a:xfrm>
          <a:prstGeom prst="rect">
            <a:avLst/>
          </a:prstGeom>
          <a:noFill/>
          <a:ln/>
        </p:spPr>
        <p:txBody>
          <a:bodyPr wrap="square" lIns="0" tIns="0" rIns="0" bIns="0" rtlCol="0" anchor="ctr"/>
          <a:lstStyle/>
          <a:p>
            <a:pPr indent="0" marL="0">
              <a:buNone/>
            </a:pPr>
            <a:r>
              <a:rPr lang="en-US" sz="1050" b="1" dirty="0">
                <a:solidFill>
                  <a:srgbClr val="5B7DB1"/>
                </a:solidFill>
                <a:latin typeface="Microsoft YaHei" pitchFamily="34" charset="0"/>
                <a:ea typeface="Microsoft YaHei" pitchFamily="34" charset="-122"/>
                <a:cs typeface="Microsoft YaHei" pitchFamily="34" charset="-120"/>
              </a:rPr>
              <a:t>落地目标</a:t>
            </a:r>
            <a:endParaRPr lang="en-US" sz="1050" dirty="0"/>
          </a:p>
        </p:txBody>
      </p:sp>
      <p:sp>
        <p:nvSpPr>
          <p:cNvPr id="37" name="Shape 31"/>
          <p:cNvSpPr/>
          <p:nvPr/>
        </p:nvSpPr>
        <p:spPr>
          <a:xfrm>
            <a:off x="6766560" y="3456432"/>
            <a:ext cx="2011680" cy="1280160"/>
          </a:xfrm>
          <a:prstGeom prst="rect">
            <a:avLst/>
          </a:prstGeom>
          <a:solidFill>
            <a:srgbClr val="EEF2F8"/>
          </a:solidFill>
          <a:ln w="12700">
            <a:solidFill>
              <a:srgbClr val="EEF2F8"/>
            </a:solidFill>
            <a:prstDash val="solid"/>
          </a:ln>
        </p:spPr>
      </p:sp>
      <p:sp>
        <p:nvSpPr>
          <p:cNvPr id="38" name="Text 32"/>
          <p:cNvSpPr txBox="1"/>
          <p:nvPr/>
        </p:nvSpPr>
        <p:spPr>
          <a:xfrm>
            <a:off x="682142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低成本、低维护：眉山本土苗木，减少土方开挖，构筑物简约轻量化，适配县城建设标准。</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Principles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3.2 设计原则</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37</a:t>
            </a:r>
            <a:endParaRPr lang="en-US" sz="900" dirty="0"/>
          </a:p>
        </p:txBody>
      </p:sp>
      <p:pic>
        <p:nvPicPr>
          <p:cNvPr id="7" name="Image 0" descr="/home/user/lxfs/pptx_build/figs/x_swing.jpg">    </p:cNvPr>
          <p:cNvPicPr>
            <a:picLocks noChangeAspect="1"/>
          </p:cNvPicPr>
          <p:nvPr/>
        </p:nvPicPr>
        <p:blipFill>
          <a:blip r:embed="rId1"/>
          <a:stretch>
            <a:fillRect/>
          </a:stretch>
        </p:blipFill>
        <p:spPr>
          <a:xfrm>
            <a:off x="457200" y="932688"/>
            <a:ext cx="2011680" cy="1251383"/>
          </a:xfrm>
          <a:prstGeom prst="rect">
            <a:avLst/>
          </a:prstGeom>
        </p:spPr>
      </p:pic>
      <p:sp>
        <p:nvSpPr>
          <p:cNvPr id="8" name="Shape 5"/>
          <p:cNvSpPr/>
          <p:nvPr/>
        </p:nvSpPr>
        <p:spPr>
          <a:xfrm>
            <a:off x="457200" y="1772591"/>
            <a:ext cx="2011680" cy="411480"/>
          </a:xfrm>
          <a:prstGeom prst="rect">
            <a:avLst/>
          </a:prstGeom>
          <a:solidFill>
            <a:srgbClr val="1F3F7A">
              <a:alpha val="85000"/>
            </a:srgbClr>
          </a:solidFill>
          <a:ln w="12700">
            <a:solidFill>
              <a:srgbClr val="1F3F7A"/>
            </a:solidFill>
            <a:prstDash val="solid"/>
          </a:ln>
        </p:spPr>
      </p:sp>
      <p:sp>
        <p:nvSpPr>
          <p:cNvPr id="9" name="Text 6"/>
          <p:cNvSpPr txBox="1"/>
          <p:nvPr/>
        </p:nvSpPr>
        <p:spPr>
          <a:xfrm>
            <a:off x="512064" y="1772591"/>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以人为本·全龄友好</a:t>
            </a:r>
            <a:endParaRPr lang="en-US" sz="1050" dirty="0"/>
          </a:p>
        </p:txBody>
      </p:sp>
      <p:sp>
        <p:nvSpPr>
          <p:cNvPr id="10" name="Shape 7"/>
          <p:cNvSpPr/>
          <p:nvPr/>
        </p:nvSpPr>
        <p:spPr>
          <a:xfrm>
            <a:off x="457200" y="3063240"/>
            <a:ext cx="2011680" cy="1645920"/>
          </a:xfrm>
          <a:prstGeom prst="rect">
            <a:avLst/>
          </a:prstGeom>
          <a:solidFill>
            <a:srgbClr val="EEF2F8"/>
          </a:solidFill>
          <a:ln w="12700">
            <a:solidFill>
              <a:srgbClr val="EEF2F8"/>
            </a:solidFill>
            <a:prstDash val="solid"/>
          </a:ln>
        </p:spPr>
      </p:sp>
      <p:sp>
        <p:nvSpPr>
          <p:cNvPr id="11" name="Text 8"/>
          <p:cNvSpPr txBox="1"/>
          <p:nvPr/>
        </p:nvSpPr>
        <p:spPr>
          <a:xfrm>
            <a:off x="53035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依老人、儿童、中青年行为特征分区，全域无障碍步道、休憩座椅、遮阳乔木，兼顾安全、舒适、可达。</a:t>
            </a:r>
            <a:endParaRPr lang="en-US" sz="950" dirty="0"/>
          </a:p>
        </p:txBody>
      </p:sp>
      <p:pic>
        <p:nvPicPr>
          <p:cNvPr id="12" name="Image 1" descr="/home/user/lxfs/pptx_build/figs/x_plaza.jpg">    </p:cNvPr>
          <p:cNvPicPr>
            <a:picLocks noChangeAspect="1"/>
          </p:cNvPicPr>
          <p:nvPr/>
        </p:nvPicPr>
        <p:blipFill>
          <a:blip r:embed="rId2"/>
          <a:stretch>
            <a:fillRect/>
          </a:stretch>
        </p:blipFill>
        <p:spPr>
          <a:xfrm>
            <a:off x="2560320" y="932688"/>
            <a:ext cx="2011680" cy="1508760"/>
          </a:xfrm>
          <a:prstGeom prst="rect">
            <a:avLst/>
          </a:prstGeom>
        </p:spPr>
      </p:pic>
      <p:sp>
        <p:nvSpPr>
          <p:cNvPr id="13" name="Shape 9"/>
          <p:cNvSpPr/>
          <p:nvPr/>
        </p:nvSpPr>
        <p:spPr>
          <a:xfrm>
            <a:off x="2560320" y="2029968"/>
            <a:ext cx="2011680" cy="411480"/>
          </a:xfrm>
          <a:prstGeom prst="rect">
            <a:avLst/>
          </a:prstGeom>
          <a:solidFill>
            <a:srgbClr val="E07B2A">
              <a:alpha val="85000"/>
            </a:srgbClr>
          </a:solidFill>
          <a:ln w="12700">
            <a:solidFill>
              <a:srgbClr val="E07B2A"/>
            </a:solidFill>
            <a:prstDash val="solid"/>
          </a:ln>
        </p:spPr>
      </p:sp>
      <p:sp>
        <p:nvSpPr>
          <p:cNvPr id="14" name="Text 10"/>
          <p:cNvSpPr txBox="1"/>
          <p:nvPr/>
        </p:nvSpPr>
        <p:spPr>
          <a:xfrm>
            <a:off x="2615184" y="2029968"/>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交通便捷·开放共享</a:t>
            </a:r>
            <a:endParaRPr lang="en-US" sz="1050" dirty="0"/>
          </a:p>
        </p:txBody>
      </p:sp>
      <p:sp>
        <p:nvSpPr>
          <p:cNvPr id="15" name="Shape 11"/>
          <p:cNvSpPr/>
          <p:nvPr/>
        </p:nvSpPr>
        <p:spPr>
          <a:xfrm>
            <a:off x="2560320" y="3063240"/>
            <a:ext cx="2011680" cy="1645920"/>
          </a:xfrm>
          <a:prstGeom prst="rect">
            <a:avLst/>
          </a:prstGeom>
          <a:solidFill>
            <a:srgbClr val="EEF2F8"/>
          </a:solidFill>
          <a:ln w="12700">
            <a:solidFill>
              <a:srgbClr val="EEF2F8"/>
            </a:solidFill>
            <a:prstDash val="solid"/>
          </a:ln>
        </p:spPr>
      </p:sp>
      <p:sp>
        <p:nvSpPr>
          <p:cNvPr id="16" name="Text 12"/>
          <p:cNvSpPr txBox="1"/>
          <p:nvPr/>
        </p:nvSpPr>
        <p:spPr>
          <a:xfrm>
            <a:off x="263347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四面设主次人行入口，绿篱、微地形软边界代替围墙，24小时开放，绿地资源全民共享。</a:t>
            </a:r>
            <a:endParaRPr lang="en-US" sz="950" dirty="0"/>
          </a:p>
        </p:txBody>
      </p:sp>
      <p:pic>
        <p:nvPicPr>
          <p:cNvPr id="17" name="Image 2" descr="/home/user/lxfs/pptx_build/figs/x_stonewall.jpg">    </p:cNvPr>
          <p:cNvPicPr>
            <a:picLocks noChangeAspect="1"/>
          </p:cNvPicPr>
          <p:nvPr/>
        </p:nvPicPr>
        <p:blipFill>
          <a:blip r:embed="rId3"/>
          <a:stretch>
            <a:fillRect/>
          </a:stretch>
        </p:blipFill>
        <p:spPr>
          <a:xfrm>
            <a:off x="4663440" y="932688"/>
            <a:ext cx="2011680" cy="1536924"/>
          </a:xfrm>
          <a:prstGeom prst="rect">
            <a:avLst/>
          </a:prstGeom>
        </p:spPr>
      </p:pic>
      <p:sp>
        <p:nvSpPr>
          <p:cNvPr id="18" name="Shape 13"/>
          <p:cNvSpPr/>
          <p:nvPr/>
        </p:nvSpPr>
        <p:spPr>
          <a:xfrm>
            <a:off x="4663440" y="2058132"/>
            <a:ext cx="2011680" cy="411480"/>
          </a:xfrm>
          <a:prstGeom prst="rect">
            <a:avLst/>
          </a:prstGeom>
          <a:solidFill>
            <a:srgbClr val="4E8A3E">
              <a:alpha val="85000"/>
            </a:srgbClr>
          </a:solidFill>
          <a:ln w="12700">
            <a:solidFill>
              <a:srgbClr val="4E8A3E"/>
            </a:solidFill>
            <a:prstDash val="solid"/>
          </a:ln>
        </p:spPr>
      </p:sp>
      <p:sp>
        <p:nvSpPr>
          <p:cNvPr id="19" name="Text 14"/>
          <p:cNvSpPr txBox="1"/>
          <p:nvPr/>
        </p:nvSpPr>
        <p:spPr>
          <a:xfrm>
            <a:off x="4718304" y="2058132"/>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乡土风貌·简约宜居</a:t>
            </a:r>
            <a:endParaRPr lang="en-US" sz="1050" dirty="0"/>
          </a:p>
        </p:txBody>
      </p:sp>
      <p:sp>
        <p:nvSpPr>
          <p:cNvPr id="20" name="Shape 15"/>
          <p:cNvSpPr/>
          <p:nvPr/>
        </p:nvSpPr>
        <p:spPr>
          <a:xfrm>
            <a:off x="4663440" y="3063240"/>
            <a:ext cx="2011680" cy="1645920"/>
          </a:xfrm>
          <a:prstGeom prst="rect">
            <a:avLst/>
          </a:prstGeom>
          <a:solidFill>
            <a:srgbClr val="EEF2F8"/>
          </a:solidFill>
          <a:ln w="12700">
            <a:solidFill>
              <a:srgbClr val="EEF2F8"/>
            </a:solidFill>
            <a:prstDash val="solid"/>
          </a:ln>
        </p:spPr>
      </p:sp>
      <p:sp>
        <p:nvSpPr>
          <p:cNvPr id="21" name="Text 16"/>
          <p:cNvSpPr txBox="1"/>
          <p:nvPr/>
        </p:nvSpPr>
        <p:spPr>
          <a:xfrm>
            <a:off x="473659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川南浅丘自然简约风格，小品铺装提取仁寿田园、黑龙滩水系元素，质朴舒适。</a:t>
            </a:r>
            <a:endParaRPr lang="en-US" sz="950" dirty="0"/>
          </a:p>
        </p:txBody>
      </p:sp>
      <p:pic>
        <p:nvPicPr>
          <p:cNvPr id="22" name="Image 3" descr="/home/user/lxfs/pptx_build/figs/x_lake.jpg">    </p:cNvPr>
          <p:cNvPicPr>
            <a:picLocks noChangeAspect="1"/>
          </p:cNvPicPr>
          <p:nvPr/>
        </p:nvPicPr>
        <p:blipFill>
          <a:blip r:embed="rId4"/>
          <a:stretch>
            <a:fillRect/>
          </a:stretch>
        </p:blipFill>
        <p:spPr>
          <a:xfrm>
            <a:off x="6766560" y="932688"/>
            <a:ext cx="2011680" cy="1524853"/>
          </a:xfrm>
          <a:prstGeom prst="rect">
            <a:avLst/>
          </a:prstGeom>
        </p:spPr>
      </p:pic>
      <p:sp>
        <p:nvSpPr>
          <p:cNvPr id="23" name="Shape 17"/>
          <p:cNvSpPr/>
          <p:nvPr/>
        </p:nvSpPr>
        <p:spPr>
          <a:xfrm>
            <a:off x="6766560" y="2046061"/>
            <a:ext cx="2011680" cy="411480"/>
          </a:xfrm>
          <a:prstGeom prst="rect">
            <a:avLst/>
          </a:prstGeom>
          <a:solidFill>
            <a:srgbClr val="5B7DB1">
              <a:alpha val="85000"/>
            </a:srgbClr>
          </a:solidFill>
          <a:ln w="12700">
            <a:solidFill>
              <a:srgbClr val="5B7DB1"/>
            </a:solidFill>
            <a:prstDash val="solid"/>
          </a:ln>
        </p:spPr>
      </p:sp>
      <p:sp>
        <p:nvSpPr>
          <p:cNvPr id="24" name="Text 18"/>
          <p:cNvSpPr txBox="1"/>
          <p:nvPr/>
        </p:nvSpPr>
        <p:spPr>
          <a:xfrm>
            <a:off x="6821424" y="2046061"/>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生态节约·海绵低碳</a:t>
            </a:r>
            <a:endParaRPr lang="en-US" sz="1050" dirty="0"/>
          </a:p>
        </p:txBody>
      </p:sp>
      <p:sp>
        <p:nvSpPr>
          <p:cNvPr id="25" name="Shape 19"/>
          <p:cNvSpPr/>
          <p:nvPr/>
        </p:nvSpPr>
        <p:spPr>
          <a:xfrm>
            <a:off x="6766560" y="3063240"/>
            <a:ext cx="2011680" cy="1645920"/>
          </a:xfrm>
          <a:prstGeom prst="rect">
            <a:avLst/>
          </a:prstGeom>
          <a:solidFill>
            <a:srgbClr val="EEF2F8"/>
          </a:solidFill>
          <a:ln w="12700">
            <a:solidFill>
              <a:srgbClr val="EEF2F8"/>
            </a:solidFill>
            <a:prstDash val="solid"/>
          </a:ln>
        </p:spPr>
      </p:sp>
      <p:sp>
        <p:nvSpPr>
          <p:cNvPr id="26" name="Text 20"/>
          <p:cNvSpPr txBox="1"/>
          <p:nvPr/>
        </p:nvSpPr>
        <p:spPr>
          <a:xfrm>
            <a:off x="683971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保留平整原始地形，土方场内平衡；桢楠、香樟、桂花、紫薇等乡土树种；雨水花园、植草沟就地净化利用。</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Concept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3.3 设计构思</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38</a:t>
            </a:r>
            <a:endParaRPr lang="en-US" sz="900" dirty="0"/>
          </a:p>
        </p:txBody>
      </p:sp>
      <p:pic>
        <p:nvPicPr>
          <p:cNvPr id="7" name="Image 0" descr="/home/user/lxfs/pptx_build/figs/satellite.jpg">    </p:cNvPr>
          <p:cNvPicPr>
            <a:picLocks noChangeAspect="1"/>
          </p:cNvPicPr>
          <p:nvPr/>
        </p:nvPicPr>
        <p:blipFill>
          <a:blip r:embed="rId1"/>
          <a:stretch>
            <a:fillRect/>
          </a:stretch>
        </p:blipFill>
        <p:spPr>
          <a:xfrm>
            <a:off x="457200" y="914400"/>
            <a:ext cx="4206240" cy="3315926"/>
          </a:xfrm>
          <a:prstGeom prst="rect">
            <a:avLst/>
          </a:prstGeom>
        </p:spPr>
      </p:pic>
      <p:sp>
        <p:nvSpPr>
          <p:cNvPr id="8" name="Shape 5"/>
          <p:cNvSpPr/>
          <p:nvPr/>
        </p:nvSpPr>
        <p:spPr>
          <a:xfrm>
            <a:off x="457200" y="914400"/>
            <a:ext cx="4206240" cy="685800"/>
          </a:xfrm>
          <a:prstGeom prst="rect">
            <a:avLst/>
          </a:prstGeom>
          <a:solidFill>
            <a:srgbClr val="000000">
              <a:alpha val="55000"/>
            </a:srgbClr>
          </a:solidFill>
          <a:ln w="12700">
            <a:solidFill>
              <a:srgbClr val="000000"/>
            </a:solidFill>
            <a:prstDash val="solid"/>
          </a:ln>
        </p:spPr>
      </p:sp>
      <p:sp>
        <p:nvSpPr>
          <p:cNvPr id="9" name="Text 6"/>
          <p:cNvSpPr txBox="1"/>
          <p:nvPr/>
        </p:nvSpPr>
        <p:spPr>
          <a:xfrm>
            <a:off x="594360" y="960120"/>
            <a:ext cx="2286000" cy="594360"/>
          </a:xfrm>
          <a:prstGeom prst="rect">
            <a:avLst/>
          </a:prstGeom>
          <a:noFill/>
          <a:ln/>
        </p:spPr>
        <p:txBody>
          <a:bodyPr wrap="square" lIns="0" tIns="0" rIns="0" bIns="0" rtlCol="0" anchor="ctr"/>
          <a:lstStyle/>
          <a:p>
            <a:pPr indent="0" marL="0">
              <a:buNone/>
            </a:pPr>
            <a:r>
              <a:rPr lang="en-US" sz="2600" b="1" dirty="0">
                <a:solidFill>
                  <a:srgbClr val="FFFFFF"/>
                </a:solidFill>
                <a:latin typeface="Microsoft YaHei" pitchFamily="34" charset="0"/>
                <a:ea typeface="Microsoft YaHei" pitchFamily="34" charset="-122"/>
                <a:cs typeface="Microsoft YaHei" pitchFamily="34" charset="-120"/>
              </a:rPr>
              <a:t>跃动·栖园</a:t>
            </a:r>
            <a:endParaRPr lang="en-US" sz="2600" dirty="0"/>
          </a:p>
        </p:txBody>
      </p:sp>
      <p:sp>
        <p:nvSpPr>
          <p:cNvPr id="10" name="Text 7"/>
          <p:cNvSpPr txBox="1"/>
          <p:nvPr/>
        </p:nvSpPr>
        <p:spPr>
          <a:xfrm>
            <a:off x="2651760" y="1097280"/>
            <a:ext cx="1874520" cy="365760"/>
          </a:xfrm>
          <a:prstGeom prst="rect">
            <a:avLst/>
          </a:prstGeom>
          <a:noFill/>
          <a:ln/>
        </p:spPr>
        <p:txBody>
          <a:bodyPr wrap="square" lIns="0" tIns="0" rIns="0" bIns="0" rtlCol="0" anchor="ctr"/>
          <a:lstStyle/>
          <a:p>
            <a:pPr algn="r" indent="0" marL="0">
              <a:buNone/>
            </a:pPr>
            <a:r>
              <a:rPr lang="en-US" sz="1100" b="1" dirty="0">
                <a:solidFill>
                  <a:srgbClr val="FFFFFF"/>
                </a:solidFill>
                <a:latin typeface="Microsoft YaHei" pitchFamily="34" charset="0"/>
                <a:ea typeface="Microsoft YaHei" pitchFamily="34" charset="-122"/>
                <a:cs typeface="Microsoft YaHei" pitchFamily="34" charset="-120"/>
              </a:rPr>
              <a:t>一环 · 一带 · 三组团</a:t>
            </a:r>
            <a:endParaRPr lang="en-US" sz="1100" dirty="0"/>
          </a:p>
        </p:txBody>
      </p:sp>
      <p:sp>
        <p:nvSpPr>
          <p:cNvPr id="11" name="Shape 8"/>
          <p:cNvSpPr/>
          <p:nvPr/>
        </p:nvSpPr>
        <p:spPr>
          <a:xfrm>
            <a:off x="457200" y="3453086"/>
            <a:ext cx="4206240" cy="777240"/>
          </a:xfrm>
          <a:prstGeom prst="rect">
            <a:avLst/>
          </a:prstGeom>
          <a:solidFill>
            <a:srgbClr val="1F3F7A">
              <a:alpha val="75000"/>
            </a:srgbClr>
          </a:solidFill>
          <a:ln w="12700">
            <a:solidFill>
              <a:srgbClr val="1F3F7A"/>
            </a:solidFill>
            <a:prstDash val="solid"/>
          </a:ln>
        </p:spPr>
      </p:sp>
      <p:sp>
        <p:nvSpPr>
          <p:cNvPr id="12" name="Text 9"/>
          <p:cNvSpPr txBox="1"/>
          <p:nvPr/>
        </p:nvSpPr>
        <p:spPr>
          <a:xfrm>
            <a:off x="548640" y="3471374"/>
            <a:ext cx="4023360" cy="731520"/>
          </a:xfrm>
          <a:prstGeom prst="rect">
            <a:avLst/>
          </a:prstGeom>
          <a:noFill/>
          <a:ln/>
        </p:spPr>
        <p:txBody>
          <a:bodyPr wrap="square" lIns="0" tIns="0" rIns="0" bIns="0" rtlCol="0" anchor="ctr"/>
          <a:lstStyle/>
          <a:p>
            <a:pPr indent="0" marL="0">
              <a:buNone/>
            </a:pPr>
            <a:r>
              <a:rPr lang="en-US" sz="800" dirty="0">
                <a:solidFill>
                  <a:srgbClr val="FFFFFF"/>
                </a:solidFill>
                <a:latin typeface="Microsoft YaHei" pitchFamily="34" charset="0"/>
                <a:ea typeface="Microsoft YaHei" pitchFamily="34" charset="-122"/>
                <a:cs typeface="Microsoft YaHei" pitchFamily="34" charset="-120"/>
              </a:rPr>
              <a:t>“跃动”对应全民健康——全龄运动、活力健身；“栖园”对应生态栖居——林下休憩、海绵生态、乡土记忆。以“一环”健康步道串联“动”“静”两类组团，主干道一侧以“一带”防护林承担生态缓冲。</a:t>
            </a:r>
            <a:endParaRPr lang="en-US" sz="800" dirty="0"/>
          </a:p>
        </p:txBody>
      </p:sp>
      <p:sp>
        <p:nvSpPr>
          <p:cNvPr id="13" name="Shape 10"/>
          <p:cNvSpPr/>
          <p:nvPr/>
        </p:nvSpPr>
        <p:spPr>
          <a:xfrm>
            <a:off x="4892040" y="914400"/>
            <a:ext cx="3931920" cy="1051560"/>
          </a:xfrm>
          <a:prstGeom prst="rect">
            <a:avLst/>
          </a:prstGeom>
          <a:solidFill>
            <a:srgbClr val="EEF2F8"/>
          </a:solidFill>
          <a:ln w="12700">
            <a:solidFill>
              <a:srgbClr val="EEF2F8"/>
            </a:solidFill>
            <a:prstDash val="solid"/>
          </a:ln>
        </p:spPr>
      </p:sp>
      <p:pic>
        <p:nvPicPr>
          <p:cNvPr id="14" name="Image 1" descr="/home/user/lxfs/pptx_build/figs/x_bar.jpg">    </p:cNvPr>
          <p:cNvPicPr>
            <a:picLocks noChangeAspect="1"/>
          </p:cNvPicPr>
          <p:nvPr/>
        </p:nvPicPr>
        <p:blipFill>
          <a:blip r:embed="rId2"/>
          <a:stretch>
            <a:fillRect/>
          </a:stretch>
        </p:blipFill>
        <p:spPr>
          <a:xfrm>
            <a:off x="4956048" y="997336"/>
            <a:ext cx="1325880" cy="885688"/>
          </a:xfrm>
          <a:prstGeom prst="rect">
            <a:avLst/>
          </a:prstGeom>
        </p:spPr>
      </p:pic>
      <p:sp>
        <p:nvSpPr>
          <p:cNvPr id="15" name="Shape 11"/>
          <p:cNvSpPr/>
          <p:nvPr/>
        </p:nvSpPr>
        <p:spPr>
          <a:xfrm>
            <a:off x="6355080" y="1005840"/>
            <a:ext cx="64008" cy="868680"/>
          </a:xfrm>
          <a:prstGeom prst="rect">
            <a:avLst/>
          </a:prstGeom>
          <a:solidFill>
            <a:srgbClr val="E07B2A"/>
          </a:solidFill>
          <a:ln w="12700">
            <a:solidFill>
              <a:srgbClr val="E07B2A"/>
            </a:solidFill>
            <a:prstDash val="solid"/>
          </a:ln>
        </p:spPr>
      </p:sp>
      <p:sp>
        <p:nvSpPr>
          <p:cNvPr id="16" name="Text 12"/>
          <p:cNvSpPr txBox="1"/>
          <p:nvPr/>
        </p:nvSpPr>
        <p:spPr>
          <a:xfrm>
            <a:off x="6492240" y="1005840"/>
            <a:ext cx="2286000" cy="274320"/>
          </a:xfrm>
          <a:prstGeom prst="rect">
            <a:avLst/>
          </a:prstGeom>
          <a:noFill/>
          <a:ln/>
        </p:spPr>
        <p:txBody>
          <a:bodyPr wrap="square" lIns="0" tIns="0" rIns="0" bIns="0" rtlCol="0" anchor="ctr"/>
          <a:lstStyle/>
          <a:p>
            <a:pPr indent="0" marL="0">
              <a:buNone/>
            </a:pPr>
            <a:r>
              <a:rPr lang="en-US" sz="1050" b="1" dirty="0">
                <a:solidFill>
                  <a:srgbClr val="E07B2A"/>
                </a:solidFill>
                <a:latin typeface="Microsoft YaHei" pitchFamily="34" charset="0"/>
                <a:ea typeface="Microsoft YaHei" pitchFamily="34" charset="-122"/>
                <a:cs typeface="Microsoft YaHei" pitchFamily="34" charset="-120"/>
              </a:rPr>
              <a:t>跃动组团（动）</a:t>
            </a:r>
            <a:endParaRPr lang="en-US" sz="1050" dirty="0"/>
          </a:p>
        </p:txBody>
      </p:sp>
      <p:sp>
        <p:nvSpPr>
          <p:cNvPr id="17" name="Text 13"/>
          <p:cNvSpPr txBox="1"/>
          <p:nvPr/>
        </p:nvSpPr>
        <p:spPr>
          <a:xfrm>
            <a:off x="6446520" y="1298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青少年球类运动区、中青年健身器械区、环形健康步道</a:t>
            </a:r>
            <a:endParaRPr lang="en-US" sz="850" dirty="0"/>
          </a:p>
        </p:txBody>
      </p:sp>
      <p:sp>
        <p:nvSpPr>
          <p:cNvPr id="18" name="Shape 14"/>
          <p:cNvSpPr/>
          <p:nvPr/>
        </p:nvSpPr>
        <p:spPr>
          <a:xfrm>
            <a:off x="4892040" y="2057400"/>
            <a:ext cx="3931920" cy="1051560"/>
          </a:xfrm>
          <a:prstGeom prst="rect">
            <a:avLst/>
          </a:prstGeom>
          <a:solidFill>
            <a:srgbClr val="EEF2F8"/>
          </a:solidFill>
          <a:ln w="12700">
            <a:solidFill>
              <a:srgbClr val="EEF2F8"/>
            </a:solidFill>
            <a:prstDash val="solid"/>
          </a:ln>
        </p:spPr>
      </p:sp>
      <p:pic>
        <p:nvPicPr>
          <p:cNvPr id="19" name="Image 2" descr="/home/user/lxfs/pptx_build/figs/x_bench.jpg">    </p:cNvPr>
          <p:cNvPicPr>
            <a:picLocks noChangeAspect="1"/>
          </p:cNvPicPr>
          <p:nvPr/>
        </p:nvPicPr>
        <p:blipFill>
          <a:blip r:embed="rId3"/>
          <a:stretch>
            <a:fillRect/>
          </a:stretch>
        </p:blipFill>
        <p:spPr>
          <a:xfrm>
            <a:off x="4956048" y="2140336"/>
            <a:ext cx="1325880" cy="885688"/>
          </a:xfrm>
          <a:prstGeom prst="rect">
            <a:avLst/>
          </a:prstGeom>
        </p:spPr>
      </p:pic>
      <p:sp>
        <p:nvSpPr>
          <p:cNvPr id="20" name="Shape 15"/>
          <p:cNvSpPr/>
          <p:nvPr/>
        </p:nvSpPr>
        <p:spPr>
          <a:xfrm>
            <a:off x="6355080" y="2148840"/>
            <a:ext cx="64008" cy="868680"/>
          </a:xfrm>
          <a:prstGeom prst="rect">
            <a:avLst/>
          </a:prstGeom>
          <a:solidFill>
            <a:srgbClr val="1F3F7A"/>
          </a:solidFill>
          <a:ln w="12700">
            <a:solidFill>
              <a:srgbClr val="1F3F7A"/>
            </a:solidFill>
            <a:prstDash val="solid"/>
          </a:ln>
        </p:spPr>
      </p:sp>
      <p:sp>
        <p:nvSpPr>
          <p:cNvPr id="21" name="Text 16"/>
          <p:cNvSpPr txBox="1"/>
          <p:nvPr/>
        </p:nvSpPr>
        <p:spPr>
          <a:xfrm>
            <a:off x="6492240" y="2148840"/>
            <a:ext cx="228600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栖居组团（静）</a:t>
            </a:r>
            <a:endParaRPr lang="en-US" sz="1050" dirty="0"/>
          </a:p>
        </p:txBody>
      </p:sp>
      <p:sp>
        <p:nvSpPr>
          <p:cNvPr id="22" name="Text 17"/>
          <p:cNvSpPr txBox="1"/>
          <p:nvPr/>
        </p:nvSpPr>
        <p:spPr>
          <a:xfrm>
            <a:off x="6446520" y="2441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老年康养林荫区、邻里阳光草坪、海绵雨水花园、文化记忆节点</a:t>
            </a:r>
            <a:endParaRPr lang="en-US" sz="850" dirty="0"/>
          </a:p>
        </p:txBody>
      </p:sp>
      <p:sp>
        <p:nvSpPr>
          <p:cNvPr id="23" name="Shape 18"/>
          <p:cNvSpPr/>
          <p:nvPr/>
        </p:nvSpPr>
        <p:spPr>
          <a:xfrm>
            <a:off x="4892040" y="3200400"/>
            <a:ext cx="3931920" cy="1051560"/>
          </a:xfrm>
          <a:prstGeom prst="rect">
            <a:avLst/>
          </a:prstGeom>
          <a:solidFill>
            <a:srgbClr val="EEF2F8"/>
          </a:solidFill>
          <a:ln w="12700">
            <a:solidFill>
              <a:srgbClr val="EEF2F8"/>
            </a:solidFill>
            <a:prstDash val="solid"/>
          </a:ln>
        </p:spPr>
      </p:sp>
      <p:pic>
        <p:nvPicPr>
          <p:cNvPr id="24" name="Image 3" descr="/home/user/lxfs/pptx_build/figs/x_swing.jpg">    </p:cNvPr>
          <p:cNvPicPr>
            <a:picLocks noChangeAspect="1"/>
          </p:cNvPicPr>
          <p:nvPr/>
        </p:nvPicPr>
        <p:blipFill>
          <a:blip r:embed="rId4"/>
          <a:stretch>
            <a:fillRect/>
          </a:stretch>
        </p:blipFill>
        <p:spPr>
          <a:xfrm>
            <a:off x="4956048" y="3313792"/>
            <a:ext cx="1325880" cy="824775"/>
          </a:xfrm>
          <a:prstGeom prst="rect">
            <a:avLst/>
          </a:prstGeom>
        </p:spPr>
      </p:pic>
      <p:sp>
        <p:nvSpPr>
          <p:cNvPr id="25" name="Shape 19"/>
          <p:cNvSpPr/>
          <p:nvPr/>
        </p:nvSpPr>
        <p:spPr>
          <a:xfrm>
            <a:off x="6355080" y="3291840"/>
            <a:ext cx="64008" cy="868680"/>
          </a:xfrm>
          <a:prstGeom prst="rect">
            <a:avLst/>
          </a:prstGeom>
          <a:solidFill>
            <a:srgbClr val="4E8A3E"/>
          </a:solidFill>
          <a:ln w="12700">
            <a:solidFill>
              <a:srgbClr val="4E8A3E"/>
            </a:solidFill>
            <a:prstDash val="solid"/>
          </a:ln>
        </p:spPr>
      </p:sp>
      <p:sp>
        <p:nvSpPr>
          <p:cNvPr id="26" name="Text 20"/>
          <p:cNvSpPr txBox="1"/>
          <p:nvPr/>
        </p:nvSpPr>
        <p:spPr>
          <a:xfrm>
            <a:off x="6492240" y="3291840"/>
            <a:ext cx="2286000" cy="274320"/>
          </a:xfrm>
          <a:prstGeom prst="rect">
            <a:avLst/>
          </a:prstGeom>
          <a:noFill/>
          <a:ln/>
        </p:spPr>
        <p:txBody>
          <a:bodyPr wrap="square" lIns="0" tIns="0" rIns="0" bIns="0" rtlCol="0" anchor="ctr"/>
          <a:lstStyle/>
          <a:p>
            <a:pPr indent="0" marL="0">
              <a:buNone/>
            </a:pPr>
            <a:r>
              <a:rPr lang="en-US" sz="1050" b="1" dirty="0">
                <a:solidFill>
                  <a:srgbClr val="4E8A3E"/>
                </a:solidFill>
                <a:latin typeface="Microsoft YaHei" pitchFamily="34" charset="0"/>
                <a:ea typeface="Microsoft YaHei" pitchFamily="34" charset="-122"/>
                <a:cs typeface="Microsoft YaHei" pitchFamily="34" charset="-120"/>
              </a:rPr>
              <a:t>亲子组团（动静结合）</a:t>
            </a:r>
            <a:endParaRPr lang="en-US" sz="1050" dirty="0"/>
          </a:p>
        </p:txBody>
      </p:sp>
      <p:sp>
        <p:nvSpPr>
          <p:cNvPr id="27" name="Text 21"/>
          <p:cNvSpPr txBox="1"/>
          <p:nvPr/>
        </p:nvSpPr>
        <p:spPr>
          <a:xfrm>
            <a:off x="6446520" y="3584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分龄儿童游乐区、家长看护休憩、自然科普种植</a:t>
            </a:r>
            <a:endParaRPr lang="en-US" sz="850" dirty="0"/>
          </a:p>
        </p:txBody>
      </p:sp>
      <p:sp>
        <p:nvSpPr>
          <p:cNvPr id="28" name="Shape 22"/>
          <p:cNvSpPr/>
          <p:nvPr/>
        </p:nvSpPr>
        <p:spPr>
          <a:xfrm>
            <a:off x="4892040" y="4343400"/>
            <a:ext cx="3931920" cy="411480"/>
          </a:xfrm>
          <a:prstGeom prst="rect">
            <a:avLst/>
          </a:prstGeom>
          <a:solidFill>
            <a:srgbClr val="3E5A3A"/>
          </a:solidFill>
          <a:ln w="12700">
            <a:solidFill>
              <a:srgbClr val="3E5A3A"/>
            </a:solidFill>
            <a:prstDash val="solid"/>
          </a:ln>
        </p:spPr>
      </p:sp>
      <p:sp>
        <p:nvSpPr>
          <p:cNvPr id="29" name="Text 23"/>
          <p:cNvSpPr txBox="1"/>
          <p:nvPr/>
        </p:nvSpPr>
        <p:spPr>
          <a:xfrm>
            <a:off x="489204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全龄运动</a:t>
            </a:r>
            <a:endParaRPr lang="en-US" sz="1000" dirty="0"/>
          </a:p>
        </p:txBody>
      </p:sp>
      <p:sp>
        <p:nvSpPr>
          <p:cNvPr id="30" name="Text 24"/>
          <p:cNvSpPr txBox="1"/>
          <p:nvPr/>
        </p:nvSpPr>
        <p:spPr>
          <a:xfrm>
            <a:off x="587502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林下栖居</a:t>
            </a:r>
            <a:endParaRPr lang="en-US" sz="1000" dirty="0"/>
          </a:p>
        </p:txBody>
      </p:sp>
      <p:sp>
        <p:nvSpPr>
          <p:cNvPr id="31" name="Text 25"/>
          <p:cNvSpPr txBox="1"/>
          <p:nvPr/>
        </p:nvSpPr>
        <p:spPr>
          <a:xfrm>
            <a:off x="685800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海绵生态</a:t>
            </a:r>
            <a:endParaRPr lang="en-US" sz="1000" dirty="0"/>
          </a:p>
        </p:txBody>
      </p:sp>
      <p:sp>
        <p:nvSpPr>
          <p:cNvPr id="32" name="Text 26"/>
          <p:cNvSpPr txBox="1"/>
          <p:nvPr/>
        </p:nvSpPr>
        <p:spPr>
          <a:xfrm>
            <a:off x="784098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乡土记忆</a:t>
            </a:r>
            <a:endParaRPr lang="en-US" sz="1000" dirty="0"/>
          </a:p>
        </p:txBody>
      </p:sp>
      <p:sp>
        <p:nvSpPr>
          <p:cNvPr id="33" name="Text 27"/>
          <p:cNvSpPr txBox="1"/>
          <p:nvPr/>
        </p:nvSpPr>
        <p:spPr>
          <a:xfrm>
            <a:off x="457200" y="4434840"/>
            <a:ext cx="4206240" cy="27432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注：本页构思为依据开题报告目标与案例借鉴整理的初步框架，需确认或替换。</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设计策略——策略框架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39</a:t>
            </a:r>
            <a:endParaRPr lang="en-US" sz="900" dirty="0"/>
          </a:p>
        </p:txBody>
      </p:sp>
      <p:pic>
        <p:nvPicPr>
          <p:cNvPr id="7" name="Image 0" descr="/home/user/lxfs/pptx_build/figs/strategy.jpg">    </p:cNvPr>
          <p:cNvPicPr>
            <a:picLocks noChangeAspect="1"/>
          </p:cNvPicPr>
          <p:nvPr/>
        </p:nvPicPr>
        <p:blipFill>
          <a:blip r:embed="rId1"/>
          <a:stretch>
            <a:fillRect/>
          </a:stretch>
        </p:blipFill>
        <p:spPr>
          <a:xfrm>
            <a:off x="464385" y="932688"/>
            <a:ext cx="5746351" cy="3794760"/>
          </a:xfrm>
          <a:prstGeom prst="rect">
            <a:avLst/>
          </a:prstGeom>
        </p:spPr>
      </p:pic>
      <p:sp>
        <p:nvSpPr>
          <p:cNvPr id="8" name="Text 5"/>
          <p:cNvSpPr txBox="1"/>
          <p:nvPr/>
        </p:nvSpPr>
        <p:spPr>
          <a:xfrm>
            <a:off x="457200" y="4745736"/>
            <a:ext cx="57607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设计策略框架图（开题报告）</a:t>
            </a:r>
            <a:endParaRPr lang="en-US" sz="800" dirty="0"/>
          </a:p>
        </p:txBody>
      </p:sp>
      <p:pic>
        <p:nvPicPr>
          <p:cNvPr id="9" name="Image 1" descr="/home/user/lxfs/pptx_build/figs/x_tennis.jpg">    </p:cNvPr>
          <p:cNvPicPr>
            <a:picLocks noChangeAspect="1"/>
          </p:cNvPicPr>
          <p:nvPr/>
        </p:nvPicPr>
        <p:blipFill>
          <a:blip r:embed="rId2"/>
          <a:stretch>
            <a:fillRect/>
          </a:stretch>
        </p:blipFill>
        <p:spPr>
          <a:xfrm>
            <a:off x="7240548" y="932688"/>
            <a:ext cx="789384" cy="1188720"/>
          </a:xfrm>
          <a:prstGeom prst="rect">
            <a:avLst/>
          </a:prstGeom>
        </p:spPr>
      </p:pic>
      <p:sp>
        <p:nvSpPr>
          <p:cNvPr id="10" name="Text 6"/>
          <p:cNvSpPr txBox="1"/>
          <p:nvPr/>
        </p:nvSpPr>
        <p:spPr>
          <a:xfrm>
            <a:off x="6446520" y="2139696"/>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运动专项场地</a:t>
            </a:r>
            <a:endParaRPr lang="en-US" sz="800" dirty="0"/>
          </a:p>
        </p:txBody>
      </p:sp>
      <p:pic>
        <p:nvPicPr>
          <p:cNvPr id="11" name="Image 2" descr="/home/user/lxfs/pptx_build/figs/x_sign.jpg">    </p:cNvPr>
          <p:cNvPicPr>
            <a:picLocks noChangeAspect="1"/>
          </p:cNvPicPr>
          <p:nvPr/>
        </p:nvPicPr>
        <p:blipFill>
          <a:blip r:embed="rId3"/>
          <a:stretch>
            <a:fillRect/>
          </a:stretch>
        </p:blipFill>
        <p:spPr>
          <a:xfrm>
            <a:off x="6793370" y="2331720"/>
            <a:ext cx="1683739" cy="1188720"/>
          </a:xfrm>
          <a:prstGeom prst="rect">
            <a:avLst/>
          </a:prstGeom>
        </p:spPr>
      </p:pic>
      <p:sp>
        <p:nvSpPr>
          <p:cNvPr id="12" name="Text 7"/>
          <p:cNvSpPr txBox="1"/>
          <p:nvPr/>
        </p:nvSpPr>
        <p:spPr>
          <a:xfrm>
            <a:off x="6446520" y="3538728"/>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标识导览与配套设施</a:t>
            </a:r>
            <a:endParaRPr lang="en-US" sz="800" dirty="0"/>
          </a:p>
        </p:txBody>
      </p:sp>
      <p:pic>
        <p:nvPicPr>
          <p:cNvPr id="13" name="Image 3" descr="/home/user/lxfs/pptx_build/figs/x_greenhouse.jpg">    </p:cNvPr>
          <p:cNvPicPr>
            <a:picLocks noChangeAspect="1"/>
          </p:cNvPicPr>
          <p:nvPr/>
        </p:nvPicPr>
        <p:blipFill>
          <a:blip r:embed="rId4"/>
          <a:stretch>
            <a:fillRect/>
          </a:stretch>
        </p:blipFill>
        <p:spPr>
          <a:xfrm>
            <a:off x="7314560" y="3730752"/>
            <a:ext cx="641360" cy="960120"/>
          </a:xfrm>
          <a:prstGeom prst="rect">
            <a:avLst/>
          </a:prstGeom>
        </p:spPr>
      </p:pic>
      <p:sp>
        <p:nvSpPr>
          <p:cNvPr id="14" name="Text 8"/>
          <p:cNvSpPr txBox="1"/>
          <p:nvPr/>
        </p:nvSpPr>
        <p:spPr>
          <a:xfrm>
            <a:off x="6446520" y="4709160"/>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生态基底与植物景观</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设计策略——回应2.16问题</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40</a:t>
            </a:r>
            <a:endParaRPr lang="en-US" sz="900" dirty="0"/>
          </a:p>
        </p:txBody>
      </p:sp>
      <p:sp>
        <p:nvSpPr>
          <p:cNvPr id="7" name="Shape 5"/>
          <p:cNvSpPr/>
          <p:nvPr/>
        </p:nvSpPr>
        <p:spPr>
          <a:xfrm>
            <a:off x="457200" y="932688"/>
            <a:ext cx="8366760" cy="868680"/>
          </a:xfrm>
          <a:prstGeom prst="rect">
            <a:avLst/>
          </a:prstGeom>
          <a:solidFill>
            <a:srgbClr val="EEF2F8"/>
          </a:solidFill>
          <a:ln w="12700">
            <a:solidFill>
              <a:srgbClr val="EEF2F8"/>
            </a:solidFill>
            <a:prstDash val="solid"/>
          </a:ln>
        </p:spPr>
      </p:sp>
      <p:pic>
        <p:nvPicPr>
          <p:cNvPr id="8" name="Image 0" descr="/home/user/lxfs/pptx_build/figs/x_aerial_round.jpg">    </p:cNvPr>
          <p:cNvPicPr>
            <a:picLocks noChangeAspect="1"/>
          </p:cNvPicPr>
          <p:nvPr/>
        </p:nvPicPr>
        <p:blipFill>
          <a:blip r:embed="rId1"/>
          <a:stretch>
            <a:fillRect/>
          </a:stretch>
        </p:blipFill>
        <p:spPr>
          <a:xfrm>
            <a:off x="7789435" y="978408"/>
            <a:ext cx="788890" cy="777240"/>
          </a:xfrm>
          <a:prstGeom prst="rect">
            <a:avLst/>
          </a:prstGeom>
        </p:spPr>
      </p:pic>
      <p:sp>
        <p:nvSpPr>
          <p:cNvPr id="9" name="Shape 6"/>
          <p:cNvSpPr/>
          <p:nvPr/>
        </p:nvSpPr>
        <p:spPr>
          <a:xfrm>
            <a:off x="457200" y="932688"/>
            <a:ext cx="1600200" cy="868680"/>
          </a:xfrm>
          <a:prstGeom prst="rect">
            <a:avLst/>
          </a:prstGeom>
          <a:solidFill>
            <a:srgbClr val="1F3F7A"/>
          </a:solidFill>
          <a:ln w="12700">
            <a:solidFill>
              <a:srgbClr val="1F3F7A"/>
            </a:solidFill>
            <a:prstDash val="solid"/>
          </a:ln>
        </p:spPr>
      </p:sp>
      <p:sp>
        <p:nvSpPr>
          <p:cNvPr id="10" name="Text 7"/>
          <p:cNvSpPr txBox="1"/>
          <p:nvPr/>
        </p:nvSpPr>
        <p:spPr>
          <a:xfrm>
            <a:off x="502920" y="93268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宏观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整体空间统筹规划</a:t>
            </a:r>
            <a:endParaRPr lang="en-US" sz="850" dirty="0"/>
          </a:p>
        </p:txBody>
      </p:sp>
      <p:sp>
        <p:nvSpPr>
          <p:cNvPr id="11" name="Text 8"/>
          <p:cNvSpPr txBox="1"/>
          <p:nvPr/>
        </p:nvSpPr>
        <p:spPr>
          <a:xfrm>
            <a:off x="2148840"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结合周边人群需求划分功能板块</a:t>
            </a:r>
            <a:endParaRPr lang="en-US" sz="900" dirty="0"/>
          </a:p>
        </p:txBody>
      </p:sp>
      <p:sp>
        <p:nvSpPr>
          <p:cNvPr id="12" name="Text 9"/>
          <p:cNvSpPr txBox="1"/>
          <p:nvPr/>
        </p:nvSpPr>
        <p:spPr>
          <a:xfrm>
            <a:off x="2130552"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运动健身区 / 生态休闲区 / 亲子活动区</a:t>
            </a:r>
            <a:endParaRPr lang="en-US" sz="750" dirty="0"/>
          </a:p>
        </p:txBody>
      </p:sp>
      <p:sp>
        <p:nvSpPr>
          <p:cNvPr id="13" name="Text 10"/>
          <p:cNvSpPr txBox="1"/>
          <p:nvPr/>
        </p:nvSpPr>
        <p:spPr>
          <a:xfrm>
            <a:off x="3959352"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统筹布置公园主次出入口</a:t>
            </a:r>
            <a:endParaRPr lang="en-US" sz="900" dirty="0"/>
          </a:p>
        </p:txBody>
      </p:sp>
      <p:sp>
        <p:nvSpPr>
          <p:cNvPr id="14" name="Text 11"/>
          <p:cNvSpPr txBox="1"/>
          <p:nvPr/>
        </p:nvSpPr>
        <p:spPr>
          <a:xfrm>
            <a:off x="3941064"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四向人行入口对应小区与学校</a:t>
            </a:r>
            <a:endParaRPr lang="en-US" sz="750" dirty="0"/>
          </a:p>
        </p:txBody>
      </p:sp>
      <p:sp>
        <p:nvSpPr>
          <p:cNvPr id="15" name="Text 12"/>
          <p:cNvSpPr txBox="1"/>
          <p:nvPr/>
        </p:nvSpPr>
        <p:spPr>
          <a:xfrm>
            <a:off x="5769864"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组织场地交通流线</a:t>
            </a:r>
            <a:endParaRPr lang="en-US" sz="900" dirty="0"/>
          </a:p>
        </p:txBody>
      </p:sp>
      <p:sp>
        <p:nvSpPr>
          <p:cNvPr id="16" name="Text 13"/>
          <p:cNvSpPr txBox="1"/>
          <p:nvPr/>
        </p:nvSpPr>
        <p:spPr>
          <a:xfrm>
            <a:off x="5751576"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人车分流 / 慢行运动步道 / 优化游览运动路线</a:t>
            </a:r>
            <a:endParaRPr lang="en-US" sz="750" dirty="0"/>
          </a:p>
        </p:txBody>
      </p:sp>
      <p:sp>
        <p:nvSpPr>
          <p:cNvPr id="17" name="Shape 14"/>
          <p:cNvSpPr/>
          <p:nvPr/>
        </p:nvSpPr>
        <p:spPr>
          <a:xfrm>
            <a:off x="457200" y="1892808"/>
            <a:ext cx="8366760" cy="868680"/>
          </a:xfrm>
          <a:prstGeom prst="rect">
            <a:avLst/>
          </a:prstGeom>
          <a:solidFill>
            <a:srgbClr val="F6F7FA"/>
          </a:solidFill>
          <a:ln w="12700">
            <a:solidFill>
              <a:srgbClr val="F6F7FA"/>
            </a:solidFill>
            <a:prstDash val="solid"/>
          </a:ln>
        </p:spPr>
      </p:sp>
      <p:pic>
        <p:nvPicPr>
          <p:cNvPr id="18" name="Image 1" descr="/home/user/lxfs/pptx_build/figs/x_kites.jpg">    </p:cNvPr>
          <p:cNvPicPr>
            <a:picLocks noChangeAspect="1"/>
          </p:cNvPicPr>
          <p:nvPr/>
        </p:nvPicPr>
        <p:blipFill>
          <a:blip r:embed="rId2"/>
          <a:stretch>
            <a:fillRect/>
          </a:stretch>
        </p:blipFill>
        <p:spPr>
          <a:xfrm>
            <a:off x="7589520" y="1951958"/>
            <a:ext cx="1188720" cy="750380"/>
          </a:xfrm>
          <a:prstGeom prst="rect">
            <a:avLst/>
          </a:prstGeom>
        </p:spPr>
      </p:pic>
      <p:sp>
        <p:nvSpPr>
          <p:cNvPr id="19" name="Shape 15"/>
          <p:cNvSpPr/>
          <p:nvPr/>
        </p:nvSpPr>
        <p:spPr>
          <a:xfrm>
            <a:off x="457200" y="1892808"/>
            <a:ext cx="1600200" cy="868680"/>
          </a:xfrm>
          <a:prstGeom prst="rect">
            <a:avLst/>
          </a:prstGeom>
          <a:solidFill>
            <a:srgbClr val="E07B2A"/>
          </a:solidFill>
          <a:ln w="12700">
            <a:solidFill>
              <a:srgbClr val="E07B2A"/>
            </a:solidFill>
            <a:prstDash val="solid"/>
          </a:ln>
        </p:spPr>
      </p:sp>
      <p:sp>
        <p:nvSpPr>
          <p:cNvPr id="20" name="Text 16"/>
          <p:cNvSpPr txBox="1"/>
          <p:nvPr/>
        </p:nvSpPr>
        <p:spPr>
          <a:xfrm>
            <a:off x="502920" y="189280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中观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全龄友好分区活力营造</a:t>
            </a:r>
            <a:endParaRPr lang="en-US" sz="850" dirty="0"/>
          </a:p>
        </p:txBody>
      </p:sp>
      <p:sp>
        <p:nvSpPr>
          <p:cNvPr id="21" name="Text 17"/>
          <p:cNvSpPr txBox="1"/>
          <p:nvPr/>
        </p:nvSpPr>
        <p:spPr>
          <a:xfrm>
            <a:off x="2148840"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匹配各年龄段活动诉求</a:t>
            </a:r>
            <a:endParaRPr lang="en-US" sz="900" dirty="0"/>
          </a:p>
        </p:txBody>
      </p:sp>
      <p:sp>
        <p:nvSpPr>
          <p:cNvPr id="22" name="Text 18"/>
          <p:cNvSpPr txBox="1"/>
          <p:nvPr/>
        </p:nvSpPr>
        <p:spPr>
          <a:xfrm>
            <a:off x="2130552"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老年康养 / 儿童亲子 / 青年运动 / 大众休闲社交空间</a:t>
            </a:r>
            <a:endParaRPr lang="en-US" sz="750" dirty="0"/>
          </a:p>
        </p:txBody>
      </p:sp>
      <p:sp>
        <p:nvSpPr>
          <p:cNvPr id="23" name="Text 19"/>
          <p:cNvSpPr txBox="1"/>
          <p:nvPr/>
        </p:nvSpPr>
        <p:spPr>
          <a:xfrm>
            <a:off x="3959352"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打造多元全民健身场景</a:t>
            </a:r>
            <a:endParaRPr lang="en-US" sz="900" dirty="0"/>
          </a:p>
        </p:txBody>
      </p:sp>
      <p:sp>
        <p:nvSpPr>
          <p:cNvPr id="24" name="Text 20"/>
          <p:cNvSpPr txBox="1"/>
          <p:nvPr/>
        </p:nvSpPr>
        <p:spPr>
          <a:xfrm>
            <a:off x="3941064"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分龄场地与动静分区</a:t>
            </a:r>
            <a:endParaRPr lang="en-US" sz="750" dirty="0"/>
          </a:p>
        </p:txBody>
      </p:sp>
      <p:sp>
        <p:nvSpPr>
          <p:cNvPr id="25" name="Text 21"/>
          <p:cNvSpPr txBox="1"/>
          <p:nvPr/>
        </p:nvSpPr>
        <p:spPr>
          <a:xfrm>
            <a:off x="5769864"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激活各片区场地活力</a:t>
            </a:r>
            <a:endParaRPr lang="en-US" sz="900" dirty="0"/>
          </a:p>
        </p:txBody>
      </p:sp>
      <p:sp>
        <p:nvSpPr>
          <p:cNvPr id="26" name="Text 22"/>
          <p:cNvSpPr txBox="1"/>
          <p:nvPr/>
        </p:nvSpPr>
        <p:spPr>
          <a:xfrm>
            <a:off x="5751576"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环形健康步道串联组团</a:t>
            </a:r>
            <a:endParaRPr lang="en-US" sz="750" dirty="0"/>
          </a:p>
        </p:txBody>
      </p:sp>
      <p:sp>
        <p:nvSpPr>
          <p:cNvPr id="27" name="Shape 23"/>
          <p:cNvSpPr/>
          <p:nvPr/>
        </p:nvSpPr>
        <p:spPr>
          <a:xfrm>
            <a:off x="457200" y="2852928"/>
            <a:ext cx="8366760" cy="868680"/>
          </a:xfrm>
          <a:prstGeom prst="rect">
            <a:avLst/>
          </a:prstGeom>
          <a:solidFill>
            <a:srgbClr val="EEF2F8"/>
          </a:solidFill>
          <a:ln w="12700">
            <a:solidFill>
              <a:srgbClr val="EEF2F8"/>
            </a:solidFill>
            <a:prstDash val="solid"/>
          </a:ln>
        </p:spPr>
      </p:sp>
      <p:pic>
        <p:nvPicPr>
          <p:cNvPr id="28" name="Image 2" descr="/home/user/lxfs/pptx_build/figs/x_basketball.jpg">    </p:cNvPr>
          <p:cNvPicPr>
            <a:picLocks noChangeAspect="1"/>
          </p:cNvPicPr>
          <p:nvPr/>
        </p:nvPicPr>
        <p:blipFill>
          <a:blip r:embed="rId3"/>
          <a:stretch>
            <a:fillRect/>
          </a:stretch>
        </p:blipFill>
        <p:spPr>
          <a:xfrm>
            <a:off x="7925059" y="2898648"/>
            <a:ext cx="517642" cy="777240"/>
          </a:xfrm>
          <a:prstGeom prst="rect">
            <a:avLst/>
          </a:prstGeom>
        </p:spPr>
      </p:pic>
      <p:sp>
        <p:nvSpPr>
          <p:cNvPr id="29" name="Shape 24"/>
          <p:cNvSpPr/>
          <p:nvPr/>
        </p:nvSpPr>
        <p:spPr>
          <a:xfrm>
            <a:off x="457200" y="2852928"/>
            <a:ext cx="1600200" cy="868680"/>
          </a:xfrm>
          <a:prstGeom prst="rect">
            <a:avLst/>
          </a:prstGeom>
          <a:solidFill>
            <a:srgbClr val="4E8A3E"/>
          </a:solidFill>
          <a:ln w="12700">
            <a:solidFill>
              <a:srgbClr val="4E8A3E"/>
            </a:solidFill>
            <a:prstDash val="solid"/>
          </a:ln>
        </p:spPr>
      </p:sp>
      <p:sp>
        <p:nvSpPr>
          <p:cNvPr id="30" name="Text 25"/>
          <p:cNvSpPr txBox="1"/>
          <p:nvPr/>
        </p:nvSpPr>
        <p:spPr>
          <a:xfrm>
            <a:off x="502920" y="285292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微观·核心</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运动专项景观设施提升</a:t>
            </a:r>
            <a:endParaRPr lang="en-US" sz="850" dirty="0"/>
          </a:p>
        </p:txBody>
      </p:sp>
      <p:sp>
        <p:nvSpPr>
          <p:cNvPr id="31" name="Text 26"/>
          <p:cNvSpPr txBox="1"/>
          <p:nvPr/>
        </p:nvSpPr>
        <p:spPr>
          <a:xfrm>
            <a:off x="2148840"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体育运动场地配置</a:t>
            </a:r>
            <a:endParaRPr lang="en-US" sz="900" dirty="0"/>
          </a:p>
        </p:txBody>
      </p:sp>
      <p:sp>
        <p:nvSpPr>
          <p:cNvPr id="32" name="Text 27"/>
          <p:cNvSpPr txBox="1"/>
          <p:nvPr/>
        </p:nvSpPr>
        <p:spPr>
          <a:xfrm>
            <a:off x="2130552"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球类运动场地 / 健身器械点位 / 健身慢跑步道</a:t>
            </a:r>
            <a:endParaRPr lang="en-US" sz="750" dirty="0"/>
          </a:p>
        </p:txBody>
      </p:sp>
      <p:sp>
        <p:nvSpPr>
          <p:cNvPr id="33" name="Text 28"/>
          <p:cNvSpPr txBox="1"/>
          <p:nvPr/>
        </p:nvSpPr>
        <p:spPr>
          <a:xfrm>
            <a:off x="3959352"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运动配套休憩设施</a:t>
            </a:r>
            <a:endParaRPr lang="en-US" sz="900" dirty="0"/>
          </a:p>
        </p:txBody>
      </p:sp>
      <p:sp>
        <p:nvSpPr>
          <p:cNvPr id="34" name="Text 29"/>
          <p:cNvSpPr txBox="1"/>
          <p:nvPr/>
        </p:nvSpPr>
        <p:spPr>
          <a:xfrm>
            <a:off x="3941064"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运动休息节点 / 标识导览系统 / 基础便民服务设施</a:t>
            </a:r>
            <a:endParaRPr lang="en-US" sz="750" dirty="0"/>
          </a:p>
        </p:txBody>
      </p:sp>
      <p:sp>
        <p:nvSpPr>
          <p:cNvPr id="35" name="Text 30"/>
          <p:cNvSpPr txBox="1"/>
          <p:nvPr/>
        </p:nvSpPr>
        <p:spPr>
          <a:xfrm>
            <a:off x="5769864"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文化植入</a:t>
            </a:r>
            <a:endParaRPr lang="en-US" sz="900" dirty="0"/>
          </a:p>
        </p:txBody>
      </p:sp>
      <p:sp>
        <p:nvSpPr>
          <p:cNvPr id="36" name="Text 31"/>
          <p:cNvSpPr txBox="1"/>
          <p:nvPr/>
        </p:nvSpPr>
        <p:spPr>
          <a:xfrm>
            <a:off x="5751576"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黑龙滩水利记忆铺装 / 陵州文脉标识小品</a:t>
            </a:r>
            <a:endParaRPr lang="en-US" sz="750" dirty="0"/>
          </a:p>
        </p:txBody>
      </p:sp>
      <p:sp>
        <p:nvSpPr>
          <p:cNvPr id="37" name="Shape 32"/>
          <p:cNvSpPr/>
          <p:nvPr/>
        </p:nvSpPr>
        <p:spPr>
          <a:xfrm>
            <a:off x="457200" y="3813048"/>
            <a:ext cx="8366760" cy="868680"/>
          </a:xfrm>
          <a:prstGeom prst="rect">
            <a:avLst/>
          </a:prstGeom>
          <a:solidFill>
            <a:srgbClr val="F6F7FA"/>
          </a:solidFill>
          <a:ln w="12700">
            <a:solidFill>
              <a:srgbClr val="F6F7FA"/>
            </a:solidFill>
            <a:prstDash val="solid"/>
          </a:ln>
        </p:spPr>
      </p:sp>
      <p:pic>
        <p:nvPicPr>
          <p:cNvPr id="38" name="Image 3" descr="/home/user/lxfs/pptx_build/figs/x_daisy.jpg">    </p:cNvPr>
          <p:cNvPicPr>
            <a:picLocks noChangeAspect="1"/>
          </p:cNvPicPr>
          <p:nvPr/>
        </p:nvPicPr>
        <p:blipFill>
          <a:blip r:embed="rId4"/>
          <a:stretch>
            <a:fillRect/>
          </a:stretch>
        </p:blipFill>
        <p:spPr>
          <a:xfrm>
            <a:off x="7665720" y="3858768"/>
            <a:ext cx="1036320" cy="777240"/>
          </a:xfrm>
          <a:prstGeom prst="rect">
            <a:avLst/>
          </a:prstGeom>
        </p:spPr>
      </p:pic>
      <p:sp>
        <p:nvSpPr>
          <p:cNvPr id="39" name="Shape 33"/>
          <p:cNvSpPr/>
          <p:nvPr/>
        </p:nvSpPr>
        <p:spPr>
          <a:xfrm>
            <a:off x="457200" y="3813048"/>
            <a:ext cx="1600200" cy="868680"/>
          </a:xfrm>
          <a:prstGeom prst="rect">
            <a:avLst/>
          </a:prstGeom>
          <a:solidFill>
            <a:srgbClr val="5B7DB1"/>
          </a:solidFill>
          <a:ln w="12700">
            <a:solidFill>
              <a:srgbClr val="5B7DB1"/>
            </a:solidFill>
            <a:prstDash val="solid"/>
          </a:ln>
        </p:spPr>
      </p:sp>
      <p:sp>
        <p:nvSpPr>
          <p:cNvPr id="40" name="Text 34"/>
          <p:cNvSpPr txBox="1"/>
          <p:nvPr/>
        </p:nvSpPr>
        <p:spPr>
          <a:xfrm>
            <a:off x="502920" y="381304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次要后置</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场地生态基底优化</a:t>
            </a:r>
            <a:endParaRPr lang="en-US" sz="850" dirty="0"/>
          </a:p>
        </p:txBody>
      </p:sp>
      <p:sp>
        <p:nvSpPr>
          <p:cNvPr id="41" name="Text 35"/>
          <p:cNvSpPr txBox="1"/>
          <p:nvPr/>
        </p:nvSpPr>
        <p:spPr>
          <a:xfrm>
            <a:off x="2148840"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保留场地原生林地植被</a:t>
            </a:r>
            <a:endParaRPr lang="en-US" sz="900" dirty="0"/>
          </a:p>
        </p:txBody>
      </p:sp>
      <p:sp>
        <p:nvSpPr>
          <p:cNvPr id="42" name="Text 36"/>
          <p:cNvSpPr txBox="1"/>
          <p:nvPr/>
        </p:nvSpPr>
        <p:spPr>
          <a:xfrm>
            <a:off x="2130552"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北侧多层乔灌降噪防护林带</a:t>
            </a:r>
            <a:endParaRPr lang="en-US" sz="750" dirty="0"/>
          </a:p>
        </p:txBody>
      </p:sp>
      <p:sp>
        <p:nvSpPr>
          <p:cNvPr id="43" name="Text 37"/>
          <p:cNvSpPr txBox="1"/>
          <p:nvPr/>
        </p:nvSpPr>
        <p:spPr>
          <a:xfrm>
            <a:off x="3959352"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修复场地裸土地块环境</a:t>
            </a:r>
            <a:endParaRPr lang="en-US" sz="900" dirty="0"/>
          </a:p>
        </p:txBody>
      </p:sp>
      <p:sp>
        <p:nvSpPr>
          <p:cNvPr id="44" name="Text 38"/>
          <p:cNvSpPr txBox="1"/>
          <p:nvPr/>
        </p:nvSpPr>
        <p:spPr>
          <a:xfrm>
            <a:off x="3941064"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乡土植物构建复层群落</a:t>
            </a:r>
            <a:endParaRPr lang="en-US" sz="750" dirty="0"/>
          </a:p>
        </p:txBody>
      </p:sp>
      <p:sp>
        <p:nvSpPr>
          <p:cNvPr id="45" name="Text 39"/>
          <p:cNvSpPr txBox="1"/>
          <p:nvPr/>
        </p:nvSpPr>
        <p:spPr>
          <a:xfrm>
            <a:off x="5769864"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海绵雨水场地处理</a:t>
            </a:r>
            <a:endParaRPr lang="en-US" sz="900" dirty="0"/>
          </a:p>
        </p:txBody>
      </p:sp>
      <p:sp>
        <p:nvSpPr>
          <p:cNvPr id="46" name="Text 40"/>
          <p:cNvSpPr txBox="1"/>
          <p:nvPr/>
        </p:nvSpPr>
        <p:spPr>
          <a:xfrm>
            <a:off x="5751576"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透水铺装 + 植草沟 + 线性雨水花园</a:t>
            </a:r>
            <a:endParaRPr lang="en-US" sz="750" dirty="0"/>
          </a:p>
        </p:txBody>
      </p:sp>
      <p:sp>
        <p:nvSpPr>
          <p:cNvPr id="47" name="Text 41"/>
          <p:cNvSpPr txBox="1"/>
          <p:nvPr/>
        </p:nvSpPr>
        <p:spPr>
          <a:xfrm>
            <a:off x="457200" y="4800600"/>
            <a:ext cx="73152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策略框架来源：开题报告4.9设计策略图（宏观—中观—微观—后置四层级）。</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Deliverables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3.5 设计成果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41</a:t>
            </a:r>
            <a:endParaRPr lang="en-US" sz="9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4206240" cy="914400"/>
        </p:xfrm>
        <a:graphic>
          <a:graphicData uri="http://schemas.openxmlformats.org/drawingml/2006/table">
            <a:tbl>
              <a:tblPr/>
              <a:tblGrid>
                <a:gridCol w="822960"/>
                <a:gridCol w="3383280"/>
              </a:tblGrid>
              <a:tr h="38404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类别</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l" indent="0" marL="0">
                        <a:buNone/>
                      </a:pPr>
                      <a:r>
                        <a:rPr lang="en-US" sz="800" b="1" dirty="0">
                          <a:solidFill>
                            <a:srgbClr val="FFFFFF"/>
                          </a:solidFill>
                          <a:latin typeface="Microsoft YaHei" pitchFamily="34" charset="0"/>
                          <a:ea typeface="Microsoft YaHei" pitchFamily="34" charset="-122"/>
                          <a:cs typeface="Microsoft YaHei" pitchFamily="34" charset="-120"/>
                        </a:rPr>
                        <a:t>主要内容</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现状分析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区位、自然条件（地形、气候）、社会条件（风貌、文化、道路、交通、用地、人群行为）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设计分析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场地道路、视线、建筑、入口、人流分析、景观序列</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设计图纸</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总平面图（图名图例比例风玫瑰）、节点详图（平面、立面、细节）、植物配置图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场地鸟瞰图、节点效果图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专项设计</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建筑外立面、照明设计、平面图、立面图、效果图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文本</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设计目的、依据与政策、思想与原则、现状分析、设计分析、设计说明</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pic>
        <p:nvPicPr>
          <p:cNvPr id="8" name="Image 0" descr="/home/user/lxfs/pptx_build/figs/x_aerial_round.jpg">    </p:cNvPr>
          <p:cNvPicPr>
            <a:picLocks noChangeAspect="1"/>
          </p:cNvPicPr>
          <p:nvPr/>
        </p:nvPicPr>
        <p:blipFill>
          <a:blip r:embed="rId1"/>
          <a:stretch>
            <a:fillRect/>
          </a:stretch>
        </p:blipFill>
        <p:spPr>
          <a:xfrm>
            <a:off x="5248891" y="932688"/>
            <a:ext cx="1206538" cy="1188720"/>
          </a:xfrm>
          <a:prstGeom prst="rect">
            <a:avLst/>
          </a:prstGeom>
        </p:spPr>
      </p:pic>
      <p:sp>
        <p:nvSpPr>
          <p:cNvPr id="9" name="Shape 5"/>
          <p:cNvSpPr/>
          <p:nvPr/>
        </p:nvSpPr>
        <p:spPr>
          <a:xfrm>
            <a:off x="5248891" y="1847088"/>
            <a:ext cx="1206538" cy="274320"/>
          </a:xfrm>
          <a:prstGeom prst="rect">
            <a:avLst/>
          </a:prstGeom>
          <a:solidFill>
            <a:srgbClr val="1F3F7A">
              <a:alpha val="85000"/>
            </a:srgbClr>
          </a:solidFill>
          <a:ln w="12700">
            <a:solidFill>
              <a:srgbClr val="1F3F7A"/>
            </a:solidFill>
            <a:prstDash val="solid"/>
          </a:ln>
        </p:spPr>
      </p:sp>
      <p:sp>
        <p:nvSpPr>
          <p:cNvPr id="10" name="Text 6"/>
          <p:cNvSpPr txBox="1"/>
          <p:nvPr/>
        </p:nvSpPr>
        <p:spPr>
          <a:xfrm>
            <a:off x="5303755" y="1847088"/>
            <a:ext cx="109681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场地鸟瞰图</a:t>
            </a:r>
            <a:endParaRPr lang="en-US" sz="850" dirty="0"/>
          </a:p>
        </p:txBody>
      </p:sp>
      <p:pic>
        <p:nvPicPr>
          <p:cNvPr id="11" name="Image 1" descr="/home/user/lxfs/pptx_build/figs/x_basketball.jpg">    </p:cNvPr>
          <p:cNvPicPr>
            <a:picLocks noChangeAspect="1"/>
          </p:cNvPicPr>
          <p:nvPr/>
        </p:nvPicPr>
        <p:blipFill>
          <a:blip r:embed="rId2"/>
          <a:stretch>
            <a:fillRect/>
          </a:stretch>
        </p:blipFill>
        <p:spPr>
          <a:xfrm>
            <a:off x="7467996" y="932688"/>
            <a:ext cx="791688" cy="1188720"/>
          </a:xfrm>
          <a:prstGeom prst="rect">
            <a:avLst/>
          </a:prstGeom>
        </p:spPr>
      </p:pic>
      <p:sp>
        <p:nvSpPr>
          <p:cNvPr id="12" name="Shape 7"/>
          <p:cNvSpPr/>
          <p:nvPr/>
        </p:nvSpPr>
        <p:spPr>
          <a:xfrm>
            <a:off x="7467996" y="1847088"/>
            <a:ext cx="791688" cy="274320"/>
          </a:xfrm>
          <a:prstGeom prst="rect">
            <a:avLst/>
          </a:prstGeom>
          <a:solidFill>
            <a:srgbClr val="1F3F7A">
              <a:alpha val="85000"/>
            </a:srgbClr>
          </a:solidFill>
          <a:ln w="12700">
            <a:solidFill>
              <a:srgbClr val="1F3F7A"/>
            </a:solidFill>
            <a:prstDash val="solid"/>
          </a:ln>
        </p:spPr>
      </p:sp>
      <p:sp>
        <p:nvSpPr>
          <p:cNvPr id="13" name="Text 8"/>
          <p:cNvSpPr txBox="1"/>
          <p:nvPr/>
        </p:nvSpPr>
        <p:spPr>
          <a:xfrm>
            <a:off x="7522860" y="1847088"/>
            <a:ext cx="68196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节点效果图</a:t>
            </a:r>
            <a:endParaRPr lang="en-US" sz="850" dirty="0"/>
          </a:p>
        </p:txBody>
      </p:sp>
      <p:pic>
        <p:nvPicPr>
          <p:cNvPr id="14" name="Image 2" descr="/home/user/lxfs/pptx_build/figs/plants.jpg">    </p:cNvPr>
          <p:cNvPicPr>
            <a:picLocks noChangeAspect="1"/>
          </p:cNvPicPr>
          <p:nvPr/>
        </p:nvPicPr>
        <p:blipFill>
          <a:blip r:embed="rId3"/>
          <a:stretch>
            <a:fillRect/>
          </a:stretch>
        </p:blipFill>
        <p:spPr>
          <a:xfrm>
            <a:off x="4892040" y="2212848"/>
            <a:ext cx="1920240" cy="1054717"/>
          </a:xfrm>
          <a:prstGeom prst="rect">
            <a:avLst/>
          </a:prstGeom>
        </p:spPr>
      </p:pic>
      <p:sp>
        <p:nvSpPr>
          <p:cNvPr id="15" name="Shape 9"/>
          <p:cNvSpPr/>
          <p:nvPr/>
        </p:nvSpPr>
        <p:spPr>
          <a:xfrm>
            <a:off x="4892040" y="2993245"/>
            <a:ext cx="1920240" cy="274320"/>
          </a:xfrm>
          <a:prstGeom prst="rect">
            <a:avLst/>
          </a:prstGeom>
          <a:solidFill>
            <a:srgbClr val="1F3F7A">
              <a:alpha val="85000"/>
            </a:srgbClr>
          </a:solidFill>
          <a:ln w="12700">
            <a:solidFill>
              <a:srgbClr val="1F3F7A"/>
            </a:solidFill>
            <a:prstDash val="solid"/>
          </a:ln>
        </p:spPr>
      </p:sp>
      <p:sp>
        <p:nvSpPr>
          <p:cNvPr id="16" name="Text 10"/>
          <p:cNvSpPr txBox="1"/>
          <p:nvPr/>
        </p:nvSpPr>
        <p:spPr>
          <a:xfrm>
            <a:off x="4946904" y="2993245"/>
            <a:ext cx="181051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植物配置图</a:t>
            </a:r>
            <a:endParaRPr lang="en-US" sz="850" dirty="0"/>
          </a:p>
        </p:txBody>
      </p:sp>
      <p:pic>
        <p:nvPicPr>
          <p:cNvPr id="17" name="Image 3" descr="/home/user/lxfs/pptx_build/figs/siteplan.jpg">    </p:cNvPr>
          <p:cNvPicPr>
            <a:picLocks noChangeAspect="1"/>
          </p:cNvPicPr>
          <p:nvPr/>
        </p:nvPicPr>
        <p:blipFill>
          <a:blip r:embed="rId4"/>
          <a:stretch>
            <a:fillRect/>
          </a:stretch>
        </p:blipFill>
        <p:spPr>
          <a:xfrm>
            <a:off x="7525756" y="2212848"/>
            <a:ext cx="676168" cy="1188720"/>
          </a:xfrm>
          <a:prstGeom prst="rect">
            <a:avLst/>
          </a:prstGeom>
        </p:spPr>
      </p:pic>
      <p:sp>
        <p:nvSpPr>
          <p:cNvPr id="18" name="Shape 11"/>
          <p:cNvSpPr/>
          <p:nvPr/>
        </p:nvSpPr>
        <p:spPr>
          <a:xfrm>
            <a:off x="7525756" y="3127248"/>
            <a:ext cx="676168" cy="274320"/>
          </a:xfrm>
          <a:prstGeom prst="rect">
            <a:avLst/>
          </a:prstGeom>
          <a:solidFill>
            <a:srgbClr val="1F3F7A">
              <a:alpha val="85000"/>
            </a:srgbClr>
          </a:solidFill>
          <a:ln w="12700">
            <a:solidFill>
              <a:srgbClr val="1F3F7A"/>
            </a:solidFill>
            <a:prstDash val="solid"/>
          </a:ln>
        </p:spPr>
      </p:sp>
      <p:sp>
        <p:nvSpPr>
          <p:cNvPr id="19" name="Text 12"/>
          <p:cNvSpPr txBox="1"/>
          <p:nvPr/>
        </p:nvSpPr>
        <p:spPr>
          <a:xfrm>
            <a:off x="7580620" y="3127248"/>
            <a:ext cx="56644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总平面图</a:t>
            </a:r>
            <a:endParaRPr lang="en-US" sz="850" dirty="0"/>
          </a:p>
        </p:txBody>
      </p:sp>
      <p:pic>
        <p:nvPicPr>
          <p:cNvPr id="20" name="Image 4" descr="/home/user/lxfs/pptx_build/figs/x_church.jpg">    </p:cNvPr>
          <p:cNvPicPr>
            <a:picLocks noChangeAspect="1"/>
          </p:cNvPicPr>
          <p:nvPr/>
        </p:nvPicPr>
        <p:blipFill>
          <a:blip r:embed="rId5"/>
          <a:stretch>
            <a:fillRect/>
          </a:stretch>
        </p:blipFill>
        <p:spPr>
          <a:xfrm>
            <a:off x="5059680" y="3493008"/>
            <a:ext cx="1584960" cy="1188720"/>
          </a:xfrm>
          <a:prstGeom prst="rect">
            <a:avLst/>
          </a:prstGeom>
        </p:spPr>
      </p:pic>
      <p:sp>
        <p:nvSpPr>
          <p:cNvPr id="21" name="Shape 13"/>
          <p:cNvSpPr/>
          <p:nvPr/>
        </p:nvSpPr>
        <p:spPr>
          <a:xfrm>
            <a:off x="5059680" y="4407408"/>
            <a:ext cx="1584960" cy="274320"/>
          </a:xfrm>
          <a:prstGeom prst="rect">
            <a:avLst/>
          </a:prstGeom>
          <a:solidFill>
            <a:srgbClr val="1F3F7A">
              <a:alpha val="85000"/>
            </a:srgbClr>
          </a:solidFill>
          <a:ln w="12700">
            <a:solidFill>
              <a:srgbClr val="1F3F7A"/>
            </a:solidFill>
            <a:prstDash val="solid"/>
          </a:ln>
        </p:spPr>
      </p:sp>
      <p:sp>
        <p:nvSpPr>
          <p:cNvPr id="22" name="Text 14"/>
          <p:cNvSpPr txBox="1"/>
          <p:nvPr/>
        </p:nvSpPr>
        <p:spPr>
          <a:xfrm>
            <a:off x="5114544" y="4407408"/>
            <a:ext cx="147523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建筑专项</a:t>
            </a:r>
            <a:endParaRPr lang="en-US" sz="850" dirty="0"/>
          </a:p>
        </p:txBody>
      </p:sp>
      <p:pic>
        <p:nvPicPr>
          <p:cNvPr id="23" name="Image 5" descr="/home/user/lxfs/pptx_build/figs/x_light.jpg">    </p:cNvPr>
          <p:cNvPicPr>
            <a:picLocks noChangeAspect="1"/>
          </p:cNvPicPr>
          <p:nvPr/>
        </p:nvPicPr>
        <p:blipFill>
          <a:blip r:embed="rId6"/>
          <a:stretch>
            <a:fillRect/>
          </a:stretch>
        </p:blipFill>
        <p:spPr>
          <a:xfrm>
            <a:off x="7418070" y="3493008"/>
            <a:ext cx="891540" cy="1188720"/>
          </a:xfrm>
          <a:prstGeom prst="rect">
            <a:avLst/>
          </a:prstGeom>
        </p:spPr>
      </p:pic>
      <p:sp>
        <p:nvSpPr>
          <p:cNvPr id="24" name="Shape 15"/>
          <p:cNvSpPr/>
          <p:nvPr/>
        </p:nvSpPr>
        <p:spPr>
          <a:xfrm>
            <a:off x="7418070" y="4407408"/>
            <a:ext cx="891540" cy="274320"/>
          </a:xfrm>
          <a:prstGeom prst="rect">
            <a:avLst/>
          </a:prstGeom>
          <a:solidFill>
            <a:srgbClr val="1F3F7A">
              <a:alpha val="85000"/>
            </a:srgbClr>
          </a:solidFill>
          <a:ln w="12700">
            <a:solidFill>
              <a:srgbClr val="1F3F7A"/>
            </a:solidFill>
            <a:prstDash val="solid"/>
          </a:ln>
        </p:spPr>
      </p:sp>
      <p:sp>
        <p:nvSpPr>
          <p:cNvPr id="25" name="Text 16"/>
          <p:cNvSpPr txBox="1"/>
          <p:nvPr/>
        </p:nvSpPr>
        <p:spPr>
          <a:xfrm>
            <a:off x="7472934" y="4407408"/>
            <a:ext cx="78181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照明与小品</a:t>
            </a:r>
            <a:endParaRPr lang="en-US" sz="850" dirty="0"/>
          </a:p>
        </p:txBody>
      </p:sp>
      <p:sp>
        <p:nvSpPr>
          <p:cNvPr id="26" name="Text 17"/>
          <p:cNvSpPr txBox="1"/>
          <p:nvPr/>
        </p:nvSpPr>
        <p:spPr>
          <a:xfrm>
            <a:off x="4892040" y="4773168"/>
            <a:ext cx="3931920" cy="182880"/>
          </a:xfrm>
          <a:prstGeom prst="rect">
            <a:avLst/>
          </a:prstGeom>
          <a:noFill/>
          <a:ln/>
        </p:spPr>
        <p:txBody>
          <a:bodyPr wrap="square" lIns="25400" tIns="25400" rIns="25400" bIns="25400" rtlCol="0" anchor="t"/>
          <a:lstStyle/>
          <a:p>
            <a:pPr algn="ct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成果类型示意（案例图片）</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Schedule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3.6 进度安排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42</a:t>
            </a:r>
            <a:endParaRPr lang="en-US" sz="900" dirty="0"/>
          </a:p>
        </p:txBody>
      </p:sp>
      <p:sp>
        <p:nvSpPr>
          <p:cNvPr id="7" name="Shape 5"/>
          <p:cNvSpPr/>
          <p:nvPr/>
        </p:nvSpPr>
        <p:spPr>
          <a:xfrm>
            <a:off x="3931920" y="932688"/>
            <a:ext cx="584073" cy="274320"/>
          </a:xfrm>
          <a:prstGeom prst="rect">
            <a:avLst/>
          </a:prstGeom>
          <a:solidFill>
            <a:srgbClr val="F6F7FA"/>
          </a:solidFill>
          <a:ln w="12700">
            <a:solidFill>
              <a:srgbClr val="F6F7FA"/>
            </a:solidFill>
            <a:prstDash val="solid"/>
          </a:ln>
        </p:spPr>
      </p:sp>
      <p:sp>
        <p:nvSpPr>
          <p:cNvPr id="8" name="Text 6"/>
          <p:cNvSpPr txBox="1"/>
          <p:nvPr/>
        </p:nvSpPr>
        <p:spPr>
          <a:xfrm>
            <a:off x="393192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9月</a:t>
            </a:r>
            <a:endParaRPr lang="en-US" sz="800" dirty="0"/>
          </a:p>
        </p:txBody>
      </p:sp>
      <p:sp>
        <p:nvSpPr>
          <p:cNvPr id="9" name="Shape 7"/>
          <p:cNvSpPr/>
          <p:nvPr/>
        </p:nvSpPr>
        <p:spPr>
          <a:xfrm>
            <a:off x="4543425" y="932688"/>
            <a:ext cx="584073" cy="274320"/>
          </a:xfrm>
          <a:prstGeom prst="rect">
            <a:avLst/>
          </a:prstGeom>
          <a:solidFill>
            <a:srgbClr val="EEF2F8"/>
          </a:solidFill>
          <a:ln w="12700">
            <a:solidFill>
              <a:srgbClr val="EEF2F8"/>
            </a:solidFill>
            <a:prstDash val="solid"/>
          </a:ln>
        </p:spPr>
      </p:sp>
      <p:sp>
        <p:nvSpPr>
          <p:cNvPr id="10" name="Text 8"/>
          <p:cNvSpPr txBox="1"/>
          <p:nvPr/>
        </p:nvSpPr>
        <p:spPr>
          <a:xfrm>
            <a:off x="454342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10月</a:t>
            </a:r>
            <a:endParaRPr lang="en-US" sz="800" dirty="0"/>
          </a:p>
        </p:txBody>
      </p:sp>
      <p:sp>
        <p:nvSpPr>
          <p:cNvPr id="11" name="Shape 9"/>
          <p:cNvSpPr/>
          <p:nvPr/>
        </p:nvSpPr>
        <p:spPr>
          <a:xfrm>
            <a:off x="5154930" y="932688"/>
            <a:ext cx="584073" cy="274320"/>
          </a:xfrm>
          <a:prstGeom prst="rect">
            <a:avLst/>
          </a:prstGeom>
          <a:solidFill>
            <a:srgbClr val="F6F7FA"/>
          </a:solidFill>
          <a:ln w="12700">
            <a:solidFill>
              <a:srgbClr val="F6F7FA"/>
            </a:solidFill>
            <a:prstDash val="solid"/>
          </a:ln>
        </p:spPr>
      </p:sp>
      <p:sp>
        <p:nvSpPr>
          <p:cNvPr id="12" name="Text 10"/>
          <p:cNvSpPr txBox="1"/>
          <p:nvPr/>
        </p:nvSpPr>
        <p:spPr>
          <a:xfrm>
            <a:off x="515493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11月</a:t>
            </a:r>
            <a:endParaRPr lang="en-US" sz="800" dirty="0"/>
          </a:p>
        </p:txBody>
      </p:sp>
      <p:sp>
        <p:nvSpPr>
          <p:cNvPr id="13" name="Shape 11"/>
          <p:cNvSpPr/>
          <p:nvPr/>
        </p:nvSpPr>
        <p:spPr>
          <a:xfrm>
            <a:off x="5766435" y="932688"/>
            <a:ext cx="584073" cy="274320"/>
          </a:xfrm>
          <a:prstGeom prst="rect">
            <a:avLst/>
          </a:prstGeom>
          <a:solidFill>
            <a:srgbClr val="EEF2F8"/>
          </a:solidFill>
          <a:ln w="12700">
            <a:solidFill>
              <a:srgbClr val="EEF2F8"/>
            </a:solidFill>
            <a:prstDash val="solid"/>
          </a:ln>
        </p:spPr>
      </p:sp>
      <p:sp>
        <p:nvSpPr>
          <p:cNvPr id="14" name="Text 12"/>
          <p:cNvSpPr txBox="1"/>
          <p:nvPr/>
        </p:nvSpPr>
        <p:spPr>
          <a:xfrm>
            <a:off x="576643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12月</a:t>
            </a:r>
            <a:endParaRPr lang="en-US" sz="800" dirty="0"/>
          </a:p>
        </p:txBody>
      </p:sp>
      <p:sp>
        <p:nvSpPr>
          <p:cNvPr id="15" name="Shape 13"/>
          <p:cNvSpPr/>
          <p:nvPr/>
        </p:nvSpPr>
        <p:spPr>
          <a:xfrm>
            <a:off x="6377940" y="932688"/>
            <a:ext cx="584073" cy="274320"/>
          </a:xfrm>
          <a:prstGeom prst="rect">
            <a:avLst/>
          </a:prstGeom>
          <a:solidFill>
            <a:srgbClr val="F6F7FA"/>
          </a:solidFill>
          <a:ln w="12700">
            <a:solidFill>
              <a:srgbClr val="F6F7FA"/>
            </a:solidFill>
            <a:prstDash val="solid"/>
          </a:ln>
        </p:spPr>
      </p:sp>
      <p:sp>
        <p:nvSpPr>
          <p:cNvPr id="16" name="Text 14"/>
          <p:cNvSpPr txBox="1"/>
          <p:nvPr/>
        </p:nvSpPr>
        <p:spPr>
          <a:xfrm>
            <a:off x="637794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1月</a:t>
            </a:r>
            <a:endParaRPr lang="en-US" sz="800" dirty="0"/>
          </a:p>
        </p:txBody>
      </p:sp>
      <p:sp>
        <p:nvSpPr>
          <p:cNvPr id="17" name="Shape 15"/>
          <p:cNvSpPr/>
          <p:nvPr/>
        </p:nvSpPr>
        <p:spPr>
          <a:xfrm>
            <a:off x="6989445" y="932688"/>
            <a:ext cx="584073" cy="274320"/>
          </a:xfrm>
          <a:prstGeom prst="rect">
            <a:avLst/>
          </a:prstGeom>
          <a:solidFill>
            <a:srgbClr val="EEF2F8"/>
          </a:solidFill>
          <a:ln w="12700">
            <a:solidFill>
              <a:srgbClr val="EEF2F8"/>
            </a:solidFill>
            <a:prstDash val="solid"/>
          </a:ln>
        </p:spPr>
      </p:sp>
      <p:sp>
        <p:nvSpPr>
          <p:cNvPr id="18" name="Text 16"/>
          <p:cNvSpPr txBox="1"/>
          <p:nvPr/>
        </p:nvSpPr>
        <p:spPr>
          <a:xfrm>
            <a:off x="698944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2月</a:t>
            </a:r>
            <a:endParaRPr lang="en-US" sz="800" dirty="0"/>
          </a:p>
        </p:txBody>
      </p:sp>
      <p:sp>
        <p:nvSpPr>
          <p:cNvPr id="19" name="Shape 17"/>
          <p:cNvSpPr/>
          <p:nvPr/>
        </p:nvSpPr>
        <p:spPr>
          <a:xfrm>
            <a:off x="7600950" y="932688"/>
            <a:ext cx="584073" cy="274320"/>
          </a:xfrm>
          <a:prstGeom prst="rect">
            <a:avLst/>
          </a:prstGeom>
          <a:solidFill>
            <a:srgbClr val="F6F7FA"/>
          </a:solidFill>
          <a:ln w="12700">
            <a:solidFill>
              <a:srgbClr val="F6F7FA"/>
            </a:solidFill>
            <a:prstDash val="solid"/>
          </a:ln>
        </p:spPr>
      </p:sp>
      <p:sp>
        <p:nvSpPr>
          <p:cNvPr id="20" name="Text 18"/>
          <p:cNvSpPr txBox="1"/>
          <p:nvPr/>
        </p:nvSpPr>
        <p:spPr>
          <a:xfrm>
            <a:off x="760095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3月</a:t>
            </a:r>
            <a:endParaRPr lang="en-US" sz="800" dirty="0"/>
          </a:p>
        </p:txBody>
      </p:sp>
      <p:sp>
        <p:nvSpPr>
          <p:cNvPr id="21" name="Shape 19"/>
          <p:cNvSpPr/>
          <p:nvPr/>
        </p:nvSpPr>
        <p:spPr>
          <a:xfrm>
            <a:off x="8212455" y="932688"/>
            <a:ext cx="584073" cy="274320"/>
          </a:xfrm>
          <a:prstGeom prst="rect">
            <a:avLst/>
          </a:prstGeom>
          <a:solidFill>
            <a:srgbClr val="EEF2F8"/>
          </a:solidFill>
          <a:ln w="12700">
            <a:solidFill>
              <a:srgbClr val="EEF2F8"/>
            </a:solidFill>
            <a:prstDash val="solid"/>
          </a:ln>
        </p:spPr>
      </p:sp>
      <p:sp>
        <p:nvSpPr>
          <p:cNvPr id="22" name="Text 20"/>
          <p:cNvSpPr txBox="1"/>
          <p:nvPr/>
        </p:nvSpPr>
        <p:spPr>
          <a:xfrm>
            <a:off x="821245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4月</a:t>
            </a:r>
            <a:endParaRPr lang="en-US" sz="800" dirty="0"/>
          </a:p>
        </p:txBody>
      </p:sp>
      <p:sp>
        <p:nvSpPr>
          <p:cNvPr id="23" name="Shape 21"/>
          <p:cNvSpPr/>
          <p:nvPr/>
        </p:nvSpPr>
        <p:spPr>
          <a:xfrm>
            <a:off x="457200" y="1353312"/>
            <a:ext cx="274320" cy="274320"/>
          </a:xfrm>
          <a:prstGeom prst="ellipse">
            <a:avLst/>
          </a:prstGeom>
          <a:solidFill>
            <a:srgbClr val="1F3F7A"/>
          </a:solidFill>
          <a:ln w="12700">
            <a:solidFill>
              <a:srgbClr val="1F3F7A"/>
            </a:solidFill>
            <a:prstDash val="solid"/>
          </a:ln>
        </p:spPr>
      </p:sp>
      <p:sp>
        <p:nvSpPr>
          <p:cNvPr id="24" name="Text 22"/>
          <p:cNvSpPr txBox="1"/>
          <p:nvPr/>
        </p:nvSpPr>
        <p:spPr>
          <a:xfrm>
            <a:off x="457200" y="13533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5" name="Text 23"/>
          <p:cNvSpPr txBox="1"/>
          <p:nvPr/>
        </p:nvSpPr>
        <p:spPr>
          <a:xfrm>
            <a:off x="822960" y="132588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2026.09.01—09.25</a:t>
            </a:r>
            <a:endParaRPr lang="en-US" sz="850" dirty="0"/>
          </a:p>
        </p:txBody>
      </p:sp>
      <p:sp>
        <p:nvSpPr>
          <p:cNvPr id="26" name="Text 24"/>
          <p:cNvSpPr txBox="1"/>
          <p:nvPr/>
        </p:nvSpPr>
        <p:spPr>
          <a:xfrm>
            <a:off x="2423160" y="132588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收集资料，完成选题</a:t>
            </a:r>
            <a:endParaRPr lang="en-US" sz="900" dirty="0"/>
          </a:p>
        </p:txBody>
      </p:sp>
      <p:sp>
        <p:nvSpPr>
          <p:cNvPr id="27" name="Shape 25"/>
          <p:cNvSpPr/>
          <p:nvPr/>
        </p:nvSpPr>
        <p:spPr>
          <a:xfrm>
            <a:off x="3931920" y="1655064"/>
            <a:ext cx="4892040" cy="0"/>
          </a:xfrm>
          <a:prstGeom prst="line">
            <a:avLst/>
          </a:prstGeom>
          <a:noFill/>
          <a:ln w="6350">
            <a:solidFill>
              <a:srgbClr val="E3E6EC"/>
            </a:solidFill>
            <a:prstDash val="solid"/>
          </a:ln>
        </p:spPr>
      </p:sp>
      <p:sp>
        <p:nvSpPr>
          <p:cNvPr id="28" name="Shape 26"/>
          <p:cNvSpPr/>
          <p:nvPr/>
        </p:nvSpPr>
        <p:spPr>
          <a:xfrm>
            <a:off x="3931920" y="1399032"/>
            <a:ext cx="507549" cy="182880"/>
          </a:xfrm>
          <a:prstGeom prst="rect">
            <a:avLst/>
          </a:prstGeom>
          <a:solidFill>
            <a:srgbClr val="8FA6D6"/>
          </a:solidFill>
          <a:ln w="12700">
            <a:solidFill>
              <a:srgbClr val="8FA6D6"/>
            </a:solidFill>
            <a:prstDash val="solid"/>
          </a:ln>
        </p:spPr>
      </p:sp>
      <p:sp>
        <p:nvSpPr>
          <p:cNvPr id="29" name="Shape 27"/>
          <p:cNvSpPr/>
          <p:nvPr/>
        </p:nvSpPr>
        <p:spPr>
          <a:xfrm>
            <a:off x="457200" y="1783080"/>
            <a:ext cx="274320" cy="274320"/>
          </a:xfrm>
          <a:prstGeom prst="ellipse">
            <a:avLst/>
          </a:prstGeom>
          <a:solidFill>
            <a:srgbClr val="1F3F7A"/>
          </a:solidFill>
          <a:ln w="12700">
            <a:solidFill>
              <a:srgbClr val="1F3F7A"/>
            </a:solidFill>
            <a:prstDash val="solid"/>
          </a:ln>
        </p:spPr>
      </p:sp>
      <p:sp>
        <p:nvSpPr>
          <p:cNvPr id="30" name="Text 28"/>
          <p:cNvSpPr txBox="1"/>
          <p:nvPr/>
        </p:nvSpPr>
        <p:spPr>
          <a:xfrm>
            <a:off x="457200" y="178308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1" name="Text 29"/>
          <p:cNvSpPr txBox="1"/>
          <p:nvPr/>
        </p:nvSpPr>
        <p:spPr>
          <a:xfrm>
            <a:off x="822960" y="175564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2026.09.26—10.26</a:t>
            </a:r>
            <a:endParaRPr lang="en-US" sz="850" dirty="0"/>
          </a:p>
        </p:txBody>
      </p:sp>
      <p:sp>
        <p:nvSpPr>
          <p:cNvPr id="32" name="Text 30"/>
          <p:cNvSpPr txBox="1"/>
          <p:nvPr/>
        </p:nvSpPr>
        <p:spPr>
          <a:xfrm>
            <a:off x="2423160" y="175564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完成开题报告</a:t>
            </a:r>
            <a:endParaRPr lang="en-US" sz="900" dirty="0"/>
          </a:p>
        </p:txBody>
      </p:sp>
      <p:sp>
        <p:nvSpPr>
          <p:cNvPr id="33" name="Shape 31"/>
          <p:cNvSpPr/>
          <p:nvPr/>
        </p:nvSpPr>
        <p:spPr>
          <a:xfrm>
            <a:off x="3931920" y="2084832"/>
            <a:ext cx="4892040" cy="0"/>
          </a:xfrm>
          <a:prstGeom prst="line">
            <a:avLst/>
          </a:prstGeom>
          <a:noFill/>
          <a:ln w="6350">
            <a:solidFill>
              <a:srgbClr val="E3E6EC"/>
            </a:solidFill>
            <a:prstDash val="solid"/>
          </a:ln>
        </p:spPr>
      </p:sp>
      <p:sp>
        <p:nvSpPr>
          <p:cNvPr id="34" name="Shape 32"/>
          <p:cNvSpPr/>
          <p:nvPr/>
        </p:nvSpPr>
        <p:spPr>
          <a:xfrm>
            <a:off x="4451699" y="1828800"/>
            <a:ext cx="623735" cy="182880"/>
          </a:xfrm>
          <a:prstGeom prst="rect">
            <a:avLst/>
          </a:prstGeom>
          <a:solidFill>
            <a:srgbClr val="8FA6D6"/>
          </a:solidFill>
          <a:ln w="12700">
            <a:solidFill>
              <a:srgbClr val="8FA6D6"/>
            </a:solidFill>
            <a:prstDash val="solid"/>
          </a:ln>
        </p:spPr>
      </p:sp>
      <p:sp>
        <p:nvSpPr>
          <p:cNvPr id="35" name="Shape 33"/>
          <p:cNvSpPr/>
          <p:nvPr/>
        </p:nvSpPr>
        <p:spPr>
          <a:xfrm>
            <a:off x="457200" y="2212848"/>
            <a:ext cx="274320" cy="274320"/>
          </a:xfrm>
          <a:prstGeom prst="ellipse">
            <a:avLst/>
          </a:prstGeom>
          <a:solidFill>
            <a:srgbClr val="1F3F7A"/>
          </a:solidFill>
          <a:ln w="12700">
            <a:solidFill>
              <a:srgbClr val="1F3F7A"/>
            </a:solidFill>
            <a:prstDash val="solid"/>
          </a:ln>
        </p:spPr>
      </p:sp>
      <p:sp>
        <p:nvSpPr>
          <p:cNvPr id="36" name="Text 34"/>
          <p:cNvSpPr txBox="1"/>
          <p:nvPr/>
        </p:nvSpPr>
        <p:spPr>
          <a:xfrm>
            <a:off x="457200" y="22128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7" name="Text 35"/>
          <p:cNvSpPr txBox="1"/>
          <p:nvPr/>
        </p:nvSpPr>
        <p:spPr>
          <a:xfrm>
            <a:off x="822960" y="218541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2026.10.27—10.28</a:t>
            </a:r>
            <a:endParaRPr lang="en-US" sz="850" dirty="0"/>
          </a:p>
        </p:txBody>
      </p:sp>
      <p:sp>
        <p:nvSpPr>
          <p:cNvPr id="38" name="Text 36"/>
          <p:cNvSpPr txBox="1"/>
          <p:nvPr/>
        </p:nvSpPr>
        <p:spPr>
          <a:xfrm>
            <a:off x="2423160" y="218541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开题答辩</a:t>
            </a:r>
            <a:endParaRPr lang="en-US" sz="900" dirty="0"/>
          </a:p>
        </p:txBody>
      </p:sp>
      <p:sp>
        <p:nvSpPr>
          <p:cNvPr id="39" name="Shape 37"/>
          <p:cNvSpPr/>
          <p:nvPr/>
        </p:nvSpPr>
        <p:spPr>
          <a:xfrm>
            <a:off x="3931920" y="2514600"/>
            <a:ext cx="4892040" cy="0"/>
          </a:xfrm>
          <a:prstGeom prst="line">
            <a:avLst/>
          </a:prstGeom>
          <a:noFill/>
          <a:ln w="6350">
            <a:solidFill>
              <a:srgbClr val="E3E6EC"/>
            </a:solidFill>
            <a:prstDash val="solid"/>
          </a:ln>
        </p:spPr>
      </p:sp>
      <p:sp>
        <p:nvSpPr>
          <p:cNvPr id="40" name="Shape 38"/>
          <p:cNvSpPr/>
          <p:nvPr/>
        </p:nvSpPr>
        <p:spPr>
          <a:xfrm>
            <a:off x="5075434" y="2258568"/>
            <a:ext cx="73152" cy="182880"/>
          </a:xfrm>
          <a:prstGeom prst="rect">
            <a:avLst/>
          </a:prstGeom>
          <a:solidFill>
            <a:srgbClr val="E07B2A"/>
          </a:solidFill>
          <a:ln w="12700">
            <a:solidFill>
              <a:srgbClr val="E07B2A"/>
            </a:solidFill>
            <a:prstDash val="solid"/>
          </a:ln>
        </p:spPr>
      </p:sp>
      <p:sp>
        <p:nvSpPr>
          <p:cNvPr id="41" name="Shape 39"/>
          <p:cNvSpPr/>
          <p:nvPr/>
        </p:nvSpPr>
        <p:spPr>
          <a:xfrm>
            <a:off x="457200" y="2642616"/>
            <a:ext cx="274320" cy="274320"/>
          </a:xfrm>
          <a:prstGeom prst="ellipse">
            <a:avLst/>
          </a:prstGeom>
          <a:solidFill>
            <a:srgbClr val="1F3F7A"/>
          </a:solidFill>
          <a:ln w="12700">
            <a:solidFill>
              <a:srgbClr val="1F3F7A"/>
            </a:solidFill>
            <a:prstDash val="solid"/>
          </a:ln>
        </p:spPr>
      </p:sp>
      <p:sp>
        <p:nvSpPr>
          <p:cNvPr id="42" name="Text 40"/>
          <p:cNvSpPr txBox="1"/>
          <p:nvPr/>
        </p:nvSpPr>
        <p:spPr>
          <a:xfrm>
            <a:off x="457200" y="264261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3" name="Text 41"/>
          <p:cNvSpPr txBox="1"/>
          <p:nvPr/>
        </p:nvSpPr>
        <p:spPr>
          <a:xfrm>
            <a:off x="822960" y="2615184"/>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2026.10.29—11.09</a:t>
            </a:r>
            <a:endParaRPr lang="en-US" sz="850" dirty="0"/>
          </a:p>
        </p:txBody>
      </p:sp>
      <p:sp>
        <p:nvSpPr>
          <p:cNvPr id="44" name="Text 42"/>
          <p:cNvSpPr txBox="1"/>
          <p:nvPr/>
        </p:nvSpPr>
        <p:spPr>
          <a:xfrm>
            <a:off x="2423160" y="2615184"/>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搜集资料、实地研究</a:t>
            </a:r>
            <a:endParaRPr lang="en-US" sz="900" dirty="0"/>
          </a:p>
        </p:txBody>
      </p:sp>
      <p:sp>
        <p:nvSpPr>
          <p:cNvPr id="45" name="Shape 43"/>
          <p:cNvSpPr/>
          <p:nvPr/>
        </p:nvSpPr>
        <p:spPr>
          <a:xfrm>
            <a:off x="3931920" y="2944368"/>
            <a:ext cx="4892040" cy="0"/>
          </a:xfrm>
          <a:prstGeom prst="line">
            <a:avLst/>
          </a:prstGeom>
          <a:noFill/>
          <a:ln w="6350">
            <a:solidFill>
              <a:srgbClr val="E3E6EC"/>
            </a:solidFill>
            <a:prstDash val="solid"/>
          </a:ln>
        </p:spPr>
      </p:sp>
      <p:sp>
        <p:nvSpPr>
          <p:cNvPr id="46" name="Shape 44"/>
          <p:cNvSpPr/>
          <p:nvPr/>
        </p:nvSpPr>
        <p:spPr>
          <a:xfrm>
            <a:off x="5124355" y="2688336"/>
            <a:ext cx="214027" cy="182880"/>
          </a:xfrm>
          <a:prstGeom prst="rect">
            <a:avLst/>
          </a:prstGeom>
          <a:solidFill>
            <a:srgbClr val="8FA6D6"/>
          </a:solidFill>
          <a:ln w="12700">
            <a:solidFill>
              <a:srgbClr val="8FA6D6"/>
            </a:solidFill>
            <a:prstDash val="solid"/>
          </a:ln>
        </p:spPr>
      </p:sp>
      <p:sp>
        <p:nvSpPr>
          <p:cNvPr id="47" name="Shape 45"/>
          <p:cNvSpPr/>
          <p:nvPr/>
        </p:nvSpPr>
        <p:spPr>
          <a:xfrm>
            <a:off x="457200" y="3072384"/>
            <a:ext cx="274320" cy="274320"/>
          </a:xfrm>
          <a:prstGeom prst="ellipse">
            <a:avLst/>
          </a:prstGeom>
          <a:solidFill>
            <a:srgbClr val="1F3F7A"/>
          </a:solidFill>
          <a:ln w="12700">
            <a:solidFill>
              <a:srgbClr val="1F3F7A"/>
            </a:solidFill>
            <a:prstDash val="solid"/>
          </a:ln>
        </p:spPr>
      </p:sp>
      <p:sp>
        <p:nvSpPr>
          <p:cNvPr id="48" name="Text 46"/>
          <p:cNvSpPr txBox="1"/>
          <p:nvPr/>
        </p:nvSpPr>
        <p:spPr>
          <a:xfrm>
            <a:off x="457200" y="307238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49" name="Text 47"/>
          <p:cNvSpPr txBox="1"/>
          <p:nvPr/>
        </p:nvSpPr>
        <p:spPr>
          <a:xfrm>
            <a:off x="822960" y="3044952"/>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2026.11.10—12.25</a:t>
            </a:r>
            <a:endParaRPr lang="en-US" sz="850" dirty="0"/>
          </a:p>
        </p:txBody>
      </p:sp>
      <p:sp>
        <p:nvSpPr>
          <p:cNvPr id="50" name="Text 48"/>
          <p:cNvSpPr txBox="1"/>
          <p:nvPr/>
        </p:nvSpPr>
        <p:spPr>
          <a:xfrm>
            <a:off x="2423160" y="3044952"/>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完成初稿</a:t>
            </a:r>
            <a:endParaRPr lang="en-US" sz="900" dirty="0"/>
          </a:p>
        </p:txBody>
      </p:sp>
      <p:sp>
        <p:nvSpPr>
          <p:cNvPr id="51" name="Shape 49"/>
          <p:cNvSpPr/>
          <p:nvPr/>
        </p:nvSpPr>
        <p:spPr>
          <a:xfrm>
            <a:off x="3931920" y="3374136"/>
            <a:ext cx="4892040" cy="0"/>
          </a:xfrm>
          <a:prstGeom prst="line">
            <a:avLst/>
          </a:prstGeom>
          <a:noFill/>
          <a:ln w="6350">
            <a:solidFill>
              <a:srgbClr val="E3E6EC"/>
            </a:solidFill>
            <a:prstDash val="solid"/>
          </a:ln>
        </p:spPr>
      </p:sp>
      <p:sp>
        <p:nvSpPr>
          <p:cNvPr id="52" name="Shape 50"/>
          <p:cNvSpPr/>
          <p:nvPr/>
        </p:nvSpPr>
        <p:spPr>
          <a:xfrm>
            <a:off x="5356727" y="3118104"/>
            <a:ext cx="917257" cy="182880"/>
          </a:xfrm>
          <a:prstGeom prst="rect">
            <a:avLst/>
          </a:prstGeom>
          <a:solidFill>
            <a:srgbClr val="8FA6D6"/>
          </a:solidFill>
          <a:ln w="12700">
            <a:solidFill>
              <a:srgbClr val="8FA6D6"/>
            </a:solidFill>
            <a:prstDash val="solid"/>
          </a:ln>
        </p:spPr>
      </p:sp>
      <p:sp>
        <p:nvSpPr>
          <p:cNvPr id="53" name="Shape 51"/>
          <p:cNvSpPr/>
          <p:nvPr/>
        </p:nvSpPr>
        <p:spPr>
          <a:xfrm>
            <a:off x="457200" y="3502152"/>
            <a:ext cx="274320" cy="274320"/>
          </a:xfrm>
          <a:prstGeom prst="ellipse">
            <a:avLst/>
          </a:prstGeom>
          <a:solidFill>
            <a:srgbClr val="1F3F7A"/>
          </a:solidFill>
          <a:ln w="12700">
            <a:solidFill>
              <a:srgbClr val="1F3F7A"/>
            </a:solidFill>
            <a:prstDash val="solid"/>
          </a:ln>
        </p:spPr>
      </p:sp>
      <p:sp>
        <p:nvSpPr>
          <p:cNvPr id="54" name="Text 52"/>
          <p:cNvSpPr txBox="1"/>
          <p:nvPr/>
        </p:nvSpPr>
        <p:spPr>
          <a:xfrm>
            <a:off x="457200" y="35021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5" name="Text 53"/>
          <p:cNvSpPr txBox="1"/>
          <p:nvPr/>
        </p:nvSpPr>
        <p:spPr>
          <a:xfrm>
            <a:off x="822960" y="347472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2026.12.26—2027.02.25</a:t>
            </a:r>
            <a:endParaRPr lang="en-US" sz="850" dirty="0"/>
          </a:p>
        </p:txBody>
      </p:sp>
      <p:sp>
        <p:nvSpPr>
          <p:cNvPr id="56" name="Text 54"/>
          <p:cNvSpPr txBox="1"/>
          <p:nvPr/>
        </p:nvSpPr>
        <p:spPr>
          <a:xfrm>
            <a:off x="2423160" y="347472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完成修改稿</a:t>
            </a:r>
            <a:endParaRPr lang="en-US" sz="900" dirty="0"/>
          </a:p>
        </p:txBody>
      </p:sp>
      <p:sp>
        <p:nvSpPr>
          <p:cNvPr id="57" name="Shape 55"/>
          <p:cNvSpPr/>
          <p:nvPr/>
        </p:nvSpPr>
        <p:spPr>
          <a:xfrm>
            <a:off x="3931920" y="3803904"/>
            <a:ext cx="4892040" cy="0"/>
          </a:xfrm>
          <a:prstGeom prst="line">
            <a:avLst/>
          </a:prstGeom>
          <a:noFill/>
          <a:ln w="6350">
            <a:solidFill>
              <a:srgbClr val="E3E6EC"/>
            </a:solidFill>
            <a:prstDash val="solid"/>
          </a:ln>
        </p:spPr>
      </p:sp>
      <p:sp>
        <p:nvSpPr>
          <p:cNvPr id="58" name="Shape 56"/>
          <p:cNvSpPr/>
          <p:nvPr/>
        </p:nvSpPr>
        <p:spPr>
          <a:xfrm>
            <a:off x="6286214" y="3547872"/>
            <a:ext cx="1223010" cy="182880"/>
          </a:xfrm>
          <a:prstGeom prst="rect">
            <a:avLst/>
          </a:prstGeom>
          <a:solidFill>
            <a:srgbClr val="8FA6D6"/>
          </a:solidFill>
          <a:ln w="12700">
            <a:solidFill>
              <a:srgbClr val="8FA6D6"/>
            </a:solidFill>
            <a:prstDash val="solid"/>
          </a:ln>
        </p:spPr>
      </p:sp>
      <p:sp>
        <p:nvSpPr>
          <p:cNvPr id="59" name="Shape 57"/>
          <p:cNvSpPr/>
          <p:nvPr/>
        </p:nvSpPr>
        <p:spPr>
          <a:xfrm>
            <a:off x="457200" y="3931920"/>
            <a:ext cx="274320" cy="274320"/>
          </a:xfrm>
          <a:prstGeom prst="ellipse">
            <a:avLst/>
          </a:prstGeom>
          <a:solidFill>
            <a:srgbClr val="1F3F7A"/>
          </a:solidFill>
          <a:ln w="12700">
            <a:solidFill>
              <a:srgbClr val="1F3F7A"/>
            </a:solidFill>
            <a:prstDash val="solid"/>
          </a:ln>
        </p:spPr>
      </p:sp>
      <p:sp>
        <p:nvSpPr>
          <p:cNvPr id="60" name="Text 58"/>
          <p:cNvSpPr txBox="1"/>
          <p:nvPr/>
        </p:nvSpPr>
        <p:spPr>
          <a:xfrm>
            <a:off x="457200" y="39319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61" name="Text 59"/>
          <p:cNvSpPr txBox="1"/>
          <p:nvPr/>
        </p:nvSpPr>
        <p:spPr>
          <a:xfrm>
            <a:off x="822960" y="390448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2027.02.26—03.25</a:t>
            </a:r>
            <a:endParaRPr lang="en-US" sz="850" dirty="0"/>
          </a:p>
        </p:txBody>
      </p:sp>
      <p:sp>
        <p:nvSpPr>
          <p:cNvPr id="62" name="Text 60"/>
          <p:cNvSpPr txBox="1"/>
          <p:nvPr/>
        </p:nvSpPr>
        <p:spPr>
          <a:xfrm>
            <a:off x="2423160" y="390448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完成定稿</a:t>
            </a:r>
            <a:endParaRPr lang="en-US" sz="900" dirty="0"/>
          </a:p>
        </p:txBody>
      </p:sp>
      <p:sp>
        <p:nvSpPr>
          <p:cNvPr id="63" name="Shape 61"/>
          <p:cNvSpPr/>
          <p:nvPr/>
        </p:nvSpPr>
        <p:spPr>
          <a:xfrm>
            <a:off x="3931920" y="4233672"/>
            <a:ext cx="4892040" cy="0"/>
          </a:xfrm>
          <a:prstGeom prst="line">
            <a:avLst/>
          </a:prstGeom>
          <a:noFill/>
          <a:ln w="6350">
            <a:solidFill>
              <a:srgbClr val="E3E6EC"/>
            </a:solidFill>
            <a:prstDash val="solid"/>
          </a:ln>
        </p:spPr>
      </p:sp>
      <p:sp>
        <p:nvSpPr>
          <p:cNvPr id="64" name="Shape 62"/>
          <p:cNvSpPr/>
          <p:nvPr/>
        </p:nvSpPr>
        <p:spPr>
          <a:xfrm>
            <a:off x="7521454" y="3977640"/>
            <a:ext cx="587045" cy="182880"/>
          </a:xfrm>
          <a:prstGeom prst="rect">
            <a:avLst/>
          </a:prstGeom>
          <a:solidFill>
            <a:srgbClr val="8FA6D6"/>
          </a:solidFill>
          <a:ln w="12700">
            <a:solidFill>
              <a:srgbClr val="8FA6D6"/>
            </a:solidFill>
            <a:prstDash val="solid"/>
          </a:ln>
        </p:spPr>
      </p:sp>
      <p:sp>
        <p:nvSpPr>
          <p:cNvPr id="65" name="Shape 63"/>
          <p:cNvSpPr/>
          <p:nvPr/>
        </p:nvSpPr>
        <p:spPr>
          <a:xfrm>
            <a:off x="457200" y="4361688"/>
            <a:ext cx="274320" cy="274320"/>
          </a:xfrm>
          <a:prstGeom prst="ellipse">
            <a:avLst/>
          </a:prstGeom>
          <a:solidFill>
            <a:srgbClr val="E07B2A"/>
          </a:solidFill>
          <a:ln w="12700">
            <a:solidFill>
              <a:srgbClr val="E07B2A"/>
            </a:solidFill>
            <a:prstDash val="solid"/>
          </a:ln>
        </p:spPr>
      </p:sp>
      <p:sp>
        <p:nvSpPr>
          <p:cNvPr id="66" name="Text 64"/>
          <p:cNvSpPr txBox="1"/>
          <p:nvPr/>
        </p:nvSpPr>
        <p:spPr>
          <a:xfrm>
            <a:off x="457200" y="43616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67" name="Text 65"/>
          <p:cNvSpPr txBox="1"/>
          <p:nvPr/>
        </p:nvSpPr>
        <p:spPr>
          <a:xfrm>
            <a:off x="822960" y="433425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2027.04.07—04.08</a:t>
            </a:r>
            <a:endParaRPr lang="en-US" sz="850" dirty="0"/>
          </a:p>
        </p:txBody>
      </p:sp>
      <p:sp>
        <p:nvSpPr>
          <p:cNvPr id="68" name="Text 66"/>
          <p:cNvSpPr txBox="1"/>
          <p:nvPr/>
        </p:nvSpPr>
        <p:spPr>
          <a:xfrm>
            <a:off x="2423160" y="433425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毕业答辩</a:t>
            </a:r>
            <a:endParaRPr lang="en-US" sz="900" dirty="0"/>
          </a:p>
        </p:txBody>
      </p:sp>
      <p:sp>
        <p:nvSpPr>
          <p:cNvPr id="69" name="Shape 67"/>
          <p:cNvSpPr/>
          <p:nvPr/>
        </p:nvSpPr>
        <p:spPr>
          <a:xfrm>
            <a:off x="3931920" y="4663440"/>
            <a:ext cx="4892040" cy="0"/>
          </a:xfrm>
          <a:prstGeom prst="line">
            <a:avLst/>
          </a:prstGeom>
          <a:noFill/>
          <a:ln w="6350">
            <a:solidFill>
              <a:srgbClr val="E3E6EC"/>
            </a:solidFill>
            <a:prstDash val="solid"/>
          </a:ln>
        </p:spPr>
      </p:sp>
      <p:sp>
        <p:nvSpPr>
          <p:cNvPr id="70" name="Shape 68"/>
          <p:cNvSpPr/>
          <p:nvPr/>
        </p:nvSpPr>
        <p:spPr>
          <a:xfrm>
            <a:off x="8334756" y="4407408"/>
            <a:ext cx="73152" cy="182880"/>
          </a:xfrm>
          <a:prstGeom prst="rect">
            <a:avLst/>
          </a:prstGeom>
          <a:solidFill>
            <a:srgbClr val="E07B2A"/>
          </a:solidFill>
          <a:ln w="12700">
            <a:solidFill>
              <a:srgbClr val="E07B2A"/>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参考文献（1/2）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43</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 孟语.城市体育公园规划设计与发展研究[D].北京：北京林业大学,2016.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 史熙文.城市体育公园景观设计研究[D].大连：大连工业大学,2021.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[3] 吴子姮.基于环境行为学的城市体育公园规划设计研究[D].北京：北京林业大学,2022.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[4] 李雨桐.全龄友好视角下县城体育公园景观设计研究[D].成都：四川农业大学,2023.</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[5] 由文华,吉云波.体育景观环境[M].北京：北京体育大学出版社,2018.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[6] 王晓俊.风景园林设计[M].南京：江苏科学技术出版社,2018.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[7] 扬·盖尔.交往与空间[M].何人可,译.4版.北京：中国建筑工业出版社,2002.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[8] 胡鞍钢,方旭东.全民健身国家战略：内涵与发展思路[J].体育科学,2016,36(03):3-9.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[9] 蒋荣,熊瑶.全民健身战略下的社区体育公园景观设计研究[J].设计艺术研究,2022,12(04):77-82.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[10] 金依然.全民健身背景下县级体育公园建设研究[J].广西城镇建设,2024(07):68-72.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[11] 陈芃序,王天扬,张德顺.全民健身背景下城市社区公园环境设计研究[J].华中建筑,2023,41(02):68-72.</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参考文献（2/2）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44</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[12] 周聪惠,陶成蹊,刘婧方,等.基于弹性共享的户外健身设施群体需求响应评测研究[J].风景园林,2024,31(02):48-55.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[13] 张俊涛,杨洪.县域体育公园治理路径研究——以晋江智慧体育公园为例[J].运动精品,2023(07):66-68.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[14] 住房和城乡建设部.公园设计规范：GB 51192-2016[S].北京：中国建筑工业出版社,2017.</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[15] 住房和城乡建设部.城市居住区规划设计标准：GB 50180-2018[S].北京：中国建筑工业出版社,2018.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[16] 中国城市科学研究会.社区体育公园规划建设指南：T/CSUS 18-2021[S].北京：中国建筑工业出版社,2021.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[17] 国务院办公厅.关于推进体育公园建设的指导意见[EB/OL].(2021-10-29)[2026-08-15].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[18] 王益鹏.基于生态恢复理念的景观设计研究[D].清华大学,2015.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[19] KACZYNSKI A T,POTWARKA L R,SAELENS B E.Association of park size,distance,and features with physical activity in neighborhood parks[J].American Journal of Public Health,2008,98(08):1451-1456.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[20] WARBURTON D E R,NICOL C W,BREDIN S S D.Health benefits of physical activity:The evidence[J].Canadian Medical Association Journal,2006,174(06):801-809.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[21] World Health Organization.Global status report on physical activity 2022[R].Geneva:WHO,2022.</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5143500"/>
          </a:xfrm>
          <a:prstGeom prst="rect">
            <a:avLst/>
          </a:prstGeom>
          <a:solidFill>
            <a:srgbClr val="EEF2F8"/>
          </a:solidFill>
          <a:ln w="12700">
            <a:solidFill>
              <a:srgbClr val="EEF2F8"/>
            </a:solidFill>
            <a:prstDash val="solid"/>
          </a:ln>
        </p:spPr>
      </p:sp>
      <p:pic>
        <p:nvPicPr>
          <p:cNvPr id="3" name="Image 0" descr="/home/user/lxfs/pptx_build/figs/x_lake.jpg">    </p:cNvPr>
          <p:cNvPicPr>
            <a:picLocks noChangeAspect="1"/>
          </p:cNvPicPr>
          <p:nvPr/>
        </p:nvPicPr>
        <p:blipFill>
          <a:blip r:embed="rId1"/>
          <a:stretch>
            <a:fillRect/>
          </a:stretch>
        </p:blipFill>
        <p:spPr>
          <a:xfrm>
            <a:off x="565046" y="320040"/>
            <a:ext cx="3076148" cy="2331720"/>
          </a:xfrm>
          <a:prstGeom prst="rect">
            <a:avLst/>
          </a:prstGeom>
        </p:spPr>
      </p:pic>
      <p:pic>
        <p:nvPicPr>
          <p:cNvPr id="4" name="Image 1" descr="/home/user/lxfs/pptx_build/figs/x_bench.jpg">    </p:cNvPr>
          <p:cNvPicPr>
            <a:picLocks noChangeAspect="1"/>
          </p:cNvPicPr>
          <p:nvPr/>
        </p:nvPicPr>
        <p:blipFill>
          <a:blip r:embed="rId2"/>
          <a:stretch>
            <a:fillRect/>
          </a:stretch>
        </p:blipFill>
        <p:spPr>
          <a:xfrm>
            <a:off x="274320" y="2788920"/>
            <a:ext cx="1783080" cy="1191097"/>
          </a:xfrm>
          <a:prstGeom prst="rect">
            <a:avLst/>
          </a:prstGeom>
        </p:spPr>
      </p:pic>
      <p:pic>
        <p:nvPicPr>
          <p:cNvPr id="5" name="Image 2" descr="/home/user/lxfs/pptx_build/figs/x_swing.jpg">    </p:cNvPr>
          <p:cNvPicPr>
            <a:picLocks noChangeAspect="1"/>
          </p:cNvPicPr>
          <p:nvPr/>
        </p:nvPicPr>
        <p:blipFill>
          <a:blip r:embed="rId3"/>
          <a:stretch>
            <a:fillRect/>
          </a:stretch>
        </p:blipFill>
        <p:spPr>
          <a:xfrm>
            <a:off x="2148840" y="2788920"/>
            <a:ext cx="1783080" cy="1109181"/>
          </a:xfrm>
          <a:prstGeom prst="rect">
            <a:avLst/>
          </a:prstGeom>
        </p:spPr>
      </p:pic>
      <p:sp>
        <p:nvSpPr>
          <p:cNvPr id="6" name="Text 1"/>
          <p:cNvSpPr txBox="1"/>
          <p:nvPr/>
        </p:nvSpPr>
        <p:spPr>
          <a:xfrm>
            <a:off x="4572000" y="4846320"/>
            <a:ext cx="4389120" cy="228600"/>
          </a:xfrm>
          <a:prstGeom prst="rect">
            <a:avLst/>
          </a:prstGeom>
          <a:noFill/>
          <a:ln/>
        </p:spPr>
        <p:txBody>
          <a:bodyPr wrap="square" lIns="0" tIns="0" rIns="0" bIns="0" rtlCol="0" anchor="ctr"/>
          <a:lstStyle/>
          <a:p>
            <a:pPr indent="0" marL="0">
              <a:buNone/>
            </a:pPr>
            <a:r>
              <a:rPr lang="en-US" sz="700" dirty="0">
                <a:solidFill>
                  <a:srgbClr val="8FA6D6"/>
                </a:solidFill>
                <a:latin typeface="Microsoft YaHei" pitchFamily="34" charset="0"/>
                <a:ea typeface="Microsoft YaHei" pitchFamily="34" charset="-122"/>
                <a:cs typeface="Microsoft YaHei" pitchFamily="34" charset="-120"/>
              </a:rPr>
              <a:t>示意照片来源：ImageNet 样例图库、COCO/Flickr CC 照片（Mask R-CNN、OpenPose、Detectron、PaddleDetection、MMPose 示例）、OpenCV 示例素材，均已转为黑白</a:t>
            </a:r>
            <a:endParaRPr lang="en-US" sz="700" dirty="0"/>
          </a:p>
        </p:txBody>
      </p:sp>
      <p:sp>
        <p:nvSpPr>
          <p:cNvPr id="7" name="Shape 2"/>
          <p:cNvSpPr/>
          <p:nvPr/>
        </p:nvSpPr>
        <p:spPr>
          <a:xfrm>
            <a:off x="4206240" y="0"/>
            <a:ext cx="4937760" cy="5143500"/>
          </a:xfrm>
          <a:prstGeom prst="rect">
            <a:avLst/>
          </a:prstGeom>
          <a:solidFill>
            <a:srgbClr val="1F3F7A"/>
          </a:solidFill>
          <a:ln w="12700">
            <a:solidFill>
              <a:srgbClr val="1F3F7A"/>
            </a:solidFill>
            <a:prstDash val="solid"/>
          </a:ln>
        </p:spPr>
      </p:sp>
      <p:sp>
        <p:nvSpPr>
          <p:cNvPr id="8" name="Text 3"/>
          <p:cNvSpPr txBox="1"/>
          <p:nvPr/>
        </p:nvSpPr>
        <p:spPr>
          <a:xfrm>
            <a:off x="4572000" y="1737360"/>
            <a:ext cx="4206240" cy="731520"/>
          </a:xfrm>
          <a:prstGeom prst="rect">
            <a:avLst/>
          </a:prstGeom>
          <a:noFill/>
          <a:ln/>
        </p:spPr>
        <p:txBody>
          <a:bodyPr wrap="square" lIns="0" tIns="0" rIns="0" bIns="0" rtlCol="0" anchor="ctr"/>
          <a:lstStyle/>
          <a:p>
            <a:pPr indent="0" marL="0">
              <a:buNone/>
            </a:pPr>
            <a:r>
              <a:rPr lang="en-US" sz="2800" b="1" dirty="0">
                <a:solidFill>
                  <a:srgbClr val="FFFFFF"/>
                </a:solidFill>
                <a:latin typeface="Microsoft YaHei" pitchFamily="34" charset="0"/>
                <a:ea typeface="Microsoft YaHei" pitchFamily="34" charset="-122"/>
                <a:cs typeface="Microsoft YaHei" pitchFamily="34" charset="-120"/>
              </a:rPr>
              <a:t>请各位老师批评指正</a:t>
            </a:r>
            <a:endParaRPr lang="en-US" sz="2800" dirty="0"/>
          </a:p>
        </p:txBody>
      </p:sp>
      <p:sp>
        <p:nvSpPr>
          <p:cNvPr id="9" name="Text 4"/>
          <p:cNvSpPr txBox="1"/>
          <p:nvPr/>
        </p:nvSpPr>
        <p:spPr>
          <a:xfrm>
            <a:off x="4572000" y="2560320"/>
            <a:ext cx="4206240" cy="640080"/>
          </a:xfrm>
          <a:prstGeom prst="rect">
            <a:avLst/>
          </a:prstGeom>
          <a:noFill/>
          <a:ln/>
        </p:spPr>
        <p:txBody>
          <a:bodyPr wrap="square" lIns="0" tIns="0" rIns="0" bIns="0" rtlCol="0" anchor="t"/>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跃动·栖园——全民健康视角下的眉山市仁寿县体育公园景观设计</a:t>
            </a:r>
            <a:endParaRPr lang="en-US" sz="1100" dirty="0"/>
          </a:p>
        </p:txBody>
      </p:sp>
      <p:sp>
        <p:nvSpPr>
          <p:cNvPr id="10" name="Text 5"/>
          <p:cNvSpPr txBox="1"/>
          <p:nvPr/>
        </p:nvSpPr>
        <p:spPr>
          <a:xfrm>
            <a:off x="4572000" y="44805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跃动·栖园——全民健康视角下的眉山市仁寿县体育公园景观设计</dc:title>
  <dc:subject>PptxGenJS Presentation</dc:subject>
  <dc:creator>开题报告</dc:creator>
  <cp:lastModifiedBy>开题报告</cp:lastModifiedBy>
  <cp:revision>1</cp:revision>
  <dcterms:created xsi:type="dcterms:W3CDTF">2026-09-07T13:46:51Z</dcterms:created>
  <dcterms:modified xsi:type="dcterms:W3CDTF">2026-09-07T13:46:51Z</dcterms:modified>
</cp:coreProperties>
</file>