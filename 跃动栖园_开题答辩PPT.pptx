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Microsoft YaHei"/>
              </a:defRPr>
            </a:pPr>
            <a:r>
              <a:rPr sz="1000" b="0" i="0" u="none" strike="noStrike">
                <a:solidFill>
                  <a:srgbClr val="444444"/>
                </a:solidFill>
                <a:latin typeface="Microsoft YaHei"/>
              </a:rPr>
              <a:t>第七次全国人口普查年龄构成对比（%）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0-14岁</c:v>
                </c:pt>
              </c:strCache>
            </c:strRef>
          </c:tx>
          <c:spPr>
            <a:solidFill>
              <a:srgbClr val="4E8A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全国</c:v>
                  </c:pt>
                  <c:pt idx="1">
                    <c:v>四川省</c:v>
                  </c:pt>
                  <c:pt idx="2">
                    <c:v>仁寿县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17.95</c:v>
                </c:pt>
                <c:pt idx="1">
                  <c:v>16.1</c:v>
                </c:pt>
                <c:pt idx="2">
                  <c:v>15.31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15-59岁</c:v>
                </c:pt>
              </c:strCache>
            </c:strRef>
          </c:tx>
          <c:spPr>
            <a:solidFill>
              <a:srgbClr val="1F3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全国</c:v>
                  </c:pt>
                  <c:pt idx="1">
                    <c:v>四川省</c:v>
                  </c:pt>
                  <c:pt idx="2">
                    <c:v>仁寿县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63.35</c:v>
                </c:pt>
                <c:pt idx="1">
                  <c:v>62.19</c:v>
                </c:pt>
                <c:pt idx="2">
                  <c:v>58.13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60岁及以上</c:v>
                </c:pt>
              </c:strCache>
            </c:strRef>
          </c:tx>
          <c:spPr>
            <a:solidFill>
              <a:srgbClr val="E07B2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全国</c:v>
                  </c:pt>
                  <c:pt idx="1">
                    <c:v>四川省</c:v>
                  </c:pt>
                  <c:pt idx="2">
                    <c:v>仁寿县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18.7</c:v>
                </c:pt>
                <c:pt idx="1">
                  <c:v>21.71</c:v>
                </c:pt>
                <c:pt idx="2">
                  <c:v>26.56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Microsoft YaHei"/>
              </a:defRPr>
            </a:pPr>
            <a:r>
              <a:rPr sz="1000" b="0" i="0" u="none" strike="noStrike">
                <a:solidFill>
                  <a:srgbClr val="444444"/>
                </a:solidFill>
                <a:latin typeface="Microsoft YaHei"/>
              </a:rPr>
              <a:t>各月日照时数（h）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日照时数</c:v>
                </c:pt>
              </c:strCache>
            </c:strRef>
          </c:tx>
          <c:spPr>
            <a:solidFill>
              <a:srgbClr val="E07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42.4</c:v>
                </c:pt>
                <c:pt idx="1">
                  <c:v>53.8</c:v>
                </c:pt>
                <c:pt idx="2">
                  <c:v>92.3</c:v>
                </c:pt>
                <c:pt idx="3">
                  <c:v>126.5</c:v>
                </c:pt>
                <c:pt idx="4">
                  <c:v>126.1</c:v>
                </c:pt>
                <c:pt idx="5">
                  <c:v>109.4</c:v>
                </c:pt>
                <c:pt idx="6">
                  <c:v>133.6</c:v>
                </c:pt>
                <c:pt idx="7">
                  <c:v>142.6</c:v>
                </c:pt>
                <c:pt idx="8">
                  <c:v>74.6</c:v>
                </c:pt>
                <c:pt idx="9">
                  <c:v>51</c:v>
                </c:pt>
                <c:pt idx="10">
                  <c:v>55</c:v>
                </c:pt>
                <c:pt idx="11">
                  <c:v>40.3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Microsoft YaHei"/>
                  </a:defRPr>
                </a:pPr>
                <a:r>
                  <a:rPr sz="800" b="0" i="0" u="none" strike="noStrike">
                    <a:solidFill>
                      <a:srgbClr val="000000"/>
                    </a:solidFill>
                    <a:latin typeface="Microsoft YaHei"/>
                  </a:rPr>
                  <a:t>月份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Microsoft YaHei"/>
              </a:defRPr>
            </a:pPr>
            <a:r>
              <a:rPr sz="1000" b="0" i="0" u="none" strike="noStrike">
                <a:solidFill>
                  <a:srgbClr val="444444"/>
                </a:solidFill>
                <a:latin typeface="Microsoft YaHei"/>
              </a:rPr>
              <a:t>各月相对湿度与降水日数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相对湿度（%）</c:v>
                </c:pt>
              </c:strCache>
            </c:strRef>
          </c:tx>
          <c:spPr>
            <a:solidFill>
              <a:srgbClr val="1F3F7A"/>
            </a:solidFill>
            <a:ln w="25400" cap="flat">
              <a:solidFill>
                <a:srgbClr val="1F3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3F7A"/>
              </a:solidFill>
              <a:ln w="9525" cap="flat">
                <a:solidFill>
                  <a:srgbClr val="1F3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77</c:v>
                </c:pt>
                <c:pt idx="1">
                  <c:v>74</c:v>
                </c:pt>
                <c:pt idx="2">
                  <c:v>70</c:v>
                </c:pt>
                <c:pt idx="3">
                  <c:v>69</c:v>
                </c:pt>
                <c:pt idx="4">
                  <c:v>67</c:v>
                </c:pt>
                <c:pt idx="5">
                  <c:v>75</c:v>
                </c:pt>
                <c:pt idx="6">
                  <c:v>78</c:v>
                </c:pt>
                <c:pt idx="7">
                  <c:v>77</c:v>
                </c:pt>
                <c:pt idx="8">
                  <c:v>80</c:v>
                </c:pt>
                <c:pt idx="9">
                  <c:v>81</c:v>
                </c:pt>
                <c:pt idx="10">
                  <c:v>78</c:v>
                </c:pt>
                <c:pt idx="11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降水日数（d）</c:v>
                </c:pt>
              </c:strCache>
            </c:strRef>
          </c:tx>
          <c:spPr>
            <a:solidFill>
              <a:srgbClr val="4E8A3E"/>
            </a:solidFill>
            <a:ln w="25400" cap="flat">
              <a:solidFill>
                <a:srgbClr val="4E8A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E8A3E"/>
              </a:solidFill>
              <a:ln w="9525" cap="flat">
                <a:solidFill>
                  <a:srgbClr val="4E8A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7.8</c:v>
                </c:pt>
                <c:pt idx="1">
                  <c:v>7.8</c:v>
                </c:pt>
                <c:pt idx="2">
                  <c:v>10</c:v>
                </c:pt>
                <c:pt idx="3">
                  <c:v>12.1</c:v>
                </c:pt>
                <c:pt idx="4">
                  <c:v>13.2</c:v>
                </c:pt>
                <c:pt idx="5">
                  <c:v>14.5</c:v>
                </c:pt>
                <c:pt idx="6">
                  <c:v>14.6</c:v>
                </c:pt>
                <c:pt idx="7">
                  <c:v>13.8</c:v>
                </c:pt>
                <c:pt idx="8">
                  <c:v>14.7</c:v>
                </c:pt>
                <c:pt idx="9">
                  <c:v>14.1</c:v>
                </c:pt>
                <c:pt idx="10">
                  <c:v>7.4</c:v>
                </c:pt>
                <c:pt idx="11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Microsoft YaHei"/>
                  </a:defRPr>
                </a:pPr>
                <a:r>
                  <a:rPr sz="800" b="0" i="0" u="none" strike="noStrike">
                    <a:solidFill>
                      <a:srgbClr val="000000"/>
                    </a:solidFill>
                    <a:latin typeface="Microsoft YaHei"/>
                  </a:rPr>
                  <a:t>月份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jpg"/><Relationship Id="rId3" Type="http://schemas.openxmlformats.org/officeDocument/2006/relationships/image" Target="../media/image-7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jpg"/><Relationship Id="rId7" Type="http://schemas.openxmlformats.org/officeDocument/2006/relationships/image" Target="../media/image-13-7.jpg"/><Relationship Id="rId8" Type="http://schemas.openxmlformats.org/officeDocument/2006/relationships/image" Target="../media/image-13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image" Target="../media/image-30-4.jpg"/><Relationship Id="rId5" Type="http://schemas.openxmlformats.org/officeDocument/2006/relationships/image" Target="../media/image-30-5.jpg"/><Relationship Id="rId6" Type="http://schemas.openxmlformats.org/officeDocument/2006/relationships/image" Target="../media/image-3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image" Target="../media/image-31-3.jpg"/><Relationship Id="rId4" Type="http://schemas.openxmlformats.org/officeDocument/2006/relationships/image" Target="../media/image-31-4.jpg"/><Relationship Id="rId5" Type="http://schemas.openxmlformats.org/officeDocument/2006/relationships/image" Target="../media/image-31-5.jpg"/><Relationship Id="rId6" Type="http://schemas.openxmlformats.org/officeDocument/2006/relationships/image" Target="../media/image-31-6.jpg"/><Relationship Id="rId7" Type="http://schemas.openxmlformats.org/officeDocument/2006/relationships/image" Target="../media/image-31-7.jpg"/><Relationship Id="rId8" Type="http://schemas.openxmlformats.org/officeDocument/2006/relationships/image" Target="../media/image-31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image" Target="../media/image-32-3.jpg"/><Relationship Id="rId4" Type="http://schemas.openxmlformats.org/officeDocument/2006/relationships/image" Target="../media/image-32-4.jpg"/><Relationship Id="rId5" Type="http://schemas.openxmlformats.org/officeDocument/2006/relationships/image" Target="../media/image-32-5.jpg"/><Relationship Id="rId6" Type="http://schemas.openxmlformats.org/officeDocument/2006/relationships/image" Target="../media/image-32-6.jpg"/><Relationship Id="rId7" Type="http://schemas.openxmlformats.org/officeDocument/2006/relationships/image" Target="../media/image-32-7.jpg"/><Relationship Id="rId8" Type="http://schemas.openxmlformats.org/officeDocument/2006/relationships/image" Target="../media/image-32-8.jpg"/><Relationship Id="rId9" Type="http://schemas.openxmlformats.org/officeDocument/2006/relationships/image" Target="../media/image-32-9.jpg"/><Relationship Id="rId10" Type="http://schemas.openxmlformats.org/officeDocument/2006/relationships/image" Target="../media/image-32-10.jpg"/><Relationship Id="rId11" Type="http://schemas.openxmlformats.org/officeDocument/2006/relationships/image" Target="../media/image-32-11.jpg"/><Relationship Id="rId12" Type="http://schemas.openxmlformats.org/officeDocument/2006/relationships/image" Target="../media/image-32-12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image" Target="../media/image-35-3.jpg"/><Relationship Id="rId4" Type="http://schemas.openxmlformats.org/officeDocument/2006/relationships/image" Target="../media/image-3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image" Target="../media/image-3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image" Target="../media/image-3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image" Target="../media/image-38-3.jpg"/><Relationship Id="rId4" Type="http://schemas.openxmlformats.org/officeDocument/2006/relationships/image" Target="../media/image-3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image" Target="../media/image-39-3.jpg"/><Relationship Id="rId4" Type="http://schemas.openxmlformats.org/officeDocument/2006/relationships/image" Target="../media/image-3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jpg"/><Relationship Id="rId3" Type="http://schemas.openxmlformats.org/officeDocument/2006/relationships/image" Target="../media/image-40-3.jpg"/><Relationship Id="rId4" Type="http://schemas.openxmlformats.org/officeDocument/2006/relationships/image" Target="../media/image-4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image" Target="../media/image-41-3.jpg"/><Relationship Id="rId4" Type="http://schemas.openxmlformats.org/officeDocument/2006/relationships/image" Target="../media/image-4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jpg"/><Relationship Id="rId3" Type="http://schemas.openxmlformats.org/officeDocument/2006/relationships/image" Target="../media/image-42-3.jpg"/><Relationship Id="rId4" Type="http://schemas.openxmlformats.org/officeDocument/2006/relationships/image" Target="../media/image-4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jpg"/><Relationship Id="rId3" Type="http://schemas.openxmlformats.org/officeDocument/2006/relationships/image" Target="../media/image-43-3.jpg"/><Relationship Id="rId4" Type="http://schemas.openxmlformats.org/officeDocument/2006/relationships/image" Target="../media/image-43-4.jpg"/><Relationship Id="rId5" Type="http://schemas.openxmlformats.org/officeDocument/2006/relationships/image" Target="../media/image-43-5.jpg"/><Relationship Id="rId6" Type="http://schemas.openxmlformats.org/officeDocument/2006/relationships/image" Target="../media/image-4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jpg"/><Relationship Id="rId3" Type="http://schemas.openxmlformats.org/officeDocument/2006/relationships/image" Target="../media/image-4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4" name="Image 0" descr="/home/user/lxfs/pptx_build/figs/x_aerial_c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320040"/>
            <a:ext cx="3840480" cy="2160270"/>
          </a:xfrm>
          <a:prstGeom prst="rect">
            <a:avLst/>
          </a:prstGeom>
        </p:spPr>
      </p:pic>
      <p:pic>
        <p:nvPicPr>
          <p:cNvPr id="5" name="Image 1" descr="/home/user/lxfs/pptx_build/figs/x_kit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88920"/>
            <a:ext cx="1874520" cy="1183291"/>
          </a:xfrm>
          <a:prstGeom prst="rect">
            <a:avLst/>
          </a:prstGeom>
        </p:spPr>
      </p:pic>
      <p:pic>
        <p:nvPicPr>
          <p:cNvPr id="6" name="Image 2" descr="/home/user/lxfs/pptx_build/figs/x_bench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788920"/>
            <a:ext cx="1874520" cy="143810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57200" y="548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风景园林专业毕业设计  开题报告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10515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跃动·栖园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19202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全民健康视角下的眉山市仁寿县体育公园景观设计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2606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Design of Renshou Sports Park, Meishan from the Perspective of Health for All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34290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学院：建筑学院        专业：风景园林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学生姓名：                学号：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二〇二六年九月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F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PARK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320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1D4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366760" cy="0"/>
          </a:xfrm>
          <a:prstGeom prst="line">
            <a:avLst/>
          </a:prstGeom>
          <a:noFill/>
          <a:ln w="15875">
            <a:solidFill>
              <a:srgbClr val="1D4F9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indent="0" marL="0">
              <a:buNone/>
            </a:pPr>
            <a:r>
              <a:rPr lang="en-US" sz="1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课题研究背景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选题背景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研究目的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研究意义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技术路线与研究方法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相关概念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国内外研究现状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案例参考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项目研究概述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60020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上位规划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区位分析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气候分析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植物分析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历史文化分析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 周边道路分析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 周边交通分析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 周边人行流线分析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2.9 周边用地分析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2.10 地形地貌分析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2.11 场地现状分析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2.12 人群结构分析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2.13 主要人群需求分析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2.14 光照分析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2.15 SWOT分析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2.16 问题梳理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场地规划分析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60020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设计目标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设计原则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设计构思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设计策略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 设计成果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3.6 进度安排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 参考文献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of the Research Topic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pic>
        <p:nvPicPr>
          <p:cNvPr id="6" name="Image 0" descr="/home/user/lxfs/pptx_build/figs/x_kit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9302" y="822960"/>
            <a:ext cx="3331675" cy="2103120"/>
          </a:xfrm>
          <a:prstGeom prst="rect">
            <a:avLst/>
          </a:prstGeom>
        </p:spPr>
      </p:pic>
      <p:pic>
        <p:nvPicPr>
          <p:cNvPr id="7" name="Image 1" descr="/home/user/lxfs/pptx_build/figs/x_ba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017520"/>
            <a:ext cx="1920240" cy="1282720"/>
          </a:xfrm>
          <a:prstGeom prst="rect">
            <a:avLst/>
          </a:prstGeom>
        </p:spPr>
      </p:pic>
      <p:pic>
        <p:nvPicPr>
          <p:cNvPr id="8" name="Image 2" descr="/home/user/lxfs/pptx_build/figs/x_skatepar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017520"/>
            <a:ext cx="1920240" cy="14401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914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课题研究背景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24231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选题背景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研究目的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研究意义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技术路线与研究方法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相关概念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国内外研究现状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案例参考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Preface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前言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pic>
        <p:nvPicPr>
          <p:cNvPr id="7" name="Image 0" descr="/home/user/lxfs/pptx_build/figs/x_cyclis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754880" cy="298423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029954"/>
            <a:ext cx="4754880" cy="86868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07567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城镇化持续推进，高密度居住区不断涌现，可供居民开展户外运动的场地供给不足，社区运动配套设施缺口较大。如何为全龄居民提供一处能健身、游憩、社交的体育公园，非常值得探究。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 rot="20400000">
            <a:off x="731520" y="1737360"/>
            <a:ext cx="329184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动起来！体育公园！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914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全民健身状态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5440680" y="1645920"/>
            <a:ext cx="502920" cy="256032"/>
          </a:xfrm>
          <a:prstGeom prst="rect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07608" y="1645920"/>
            <a:ext cx="502920" cy="256032"/>
          </a:xfrm>
          <a:prstGeom prst="rect">
            <a:avLst/>
          </a:prstGeom>
          <a:solidFill>
            <a:srgbClr val="C5CDDC"/>
          </a:solidFill>
          <a:ln w="12700">
            <a:solidFill>
              <a:srgbClr val="C5CD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74536" y="1645920"/>
            <a:ext cx="502920" cy="256032"/>
          </a:xfrm>
          <a:prstGeom prst="rect">
            <a:avLst/>
          </a:prstGeom>
          <a:solidFill>
            <a:srgbClr val="AEB9CE"/>
          </a:solidFill>
          <a:ln w="12700">
            <a:solidFill>
              <a:srgbClr val="AEB9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41464" y="1645920"/>
            <a:ext cx="502920" cy="256032"/>
          </a:xfrm>
          <a:prstGeom prst="rect">
            <a:avLst/>
          </a:prstGeom>
          <a:solidFill>
            <a:srgbClr val="97A5C0"/>
          </a:solidFill>
          <a:ln w="12700">
            <a:solidFill>
              <a:srgbClr val="97A5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08392" y="1645920"/>
            <a:ext cx="502920" cy="256032"/>
          </a:xfrm>
          <a:prstGeom prst="rect">
            <a:avLst/>
          </a:prstGeom>
          <a:solidFill>
            <a:srgbClr val="7E90B2"/>
          </a:solidFill>
          <a:ln w="12700">
            <a:solidFill>
              <a:srgbClr val="7E90B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75320" y="1645920"/>
            <a:ext cx="502920" cy="256032"/>
          </a:xfrm>
          <a:prstGeom prst="rect">
            <a:avLst/>
          </a:prstGeom>
          <a:solidFill>
            <a:srgbClr val="5B6F9C"/>
          </a:solidFill>
          <a:ln w="12700">
            <a:solidFill>
              <a:srgbClr val="5B6F9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94960" y="19659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被忽略的日常运动需求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394960" y="2423160"/>
            <a:ext cx="1691640" cy="1691640"/>
          </a:xfrm>
          <a:prstGeom prst="rect">
            <a:avLst/>
          </a:prstGeom>
          <a:solidFill>
            <a:srgbClr val="3E5A3A"/>
          </a:solidFill>
          <a:ln w="12700">
            <a:solidFill>
              <a:srgbClr val="3E5A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68112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久坐少动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25511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场地不足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504688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老龄化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3081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慢性病风险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468112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亲子游憩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897880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邻里社交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223760" y="2423160"/>
            <a:ext cx="1600200" cy="1691640"/>
          </a:xfrm>
          <a:prstGeom prst="rect">
            <a:avLst/>
          </a:prstGeom>
          <a:solidFill>
            <a:srgbClr val="E4E6EA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269480" y="2468880"/>
            <a:ext cx="150876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仁寿城北新城集中型公共休闲绿地供给严重不足，现有绿地多为小区内部零散附属绿化，仅配简易健身器械，缺少服务全龄居民的城市综合体育公园。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5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跃动！栖园！全民健身！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4389120" y="4251960"/>
            <a:ext cx="4434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全民健身 · 全龄游憩 · 生态栖居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Background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选题背景——时代需求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96112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高密度新城：集中公共绿地与户外运动场地供给不足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70432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仁寿县60岁及以上人口占26.56%，已进入深度老龄化；0-14岁占15.31%，全龄运动与游憩需求突出</a:t>
            </a:r>
            <a:endParaRPr lang="en-US" sz="1000" dirty="0"/>
          </a:p>
        </p:txBody>
      </p:sp>
      <p:pic>
        <p:nvPicPr>
          <p:cNvPr id="9" name="Image 0" descr="/home/user/lxfs/pptx_build/figs/x_aerial_c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1965960" cy="11058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923669"/>
            <a:ext cx="1965960" cy="868680"/>
          </a:xfrm>
          <a:prstGeom prst="rect">
            <a:avLst/>
          </a:prstGeom>
          <a:solidFill>
            <a:srgbClr val="1F3F7A">
              <a:alpha val="70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" y="1923669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城镇化提速，城市建成区人口密度增大，高密度居住区涌现，公共绿地资源分配不均，户外运动场地供给不足。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40416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时代背景需求</a:t>
            </a:r>
            <a:endParaRPr lang="en-US" sz="1200" dirty="0"/>
          </a:p>
        </p:txBody>
      </p:sp>
      <p:pic>
        <p:nvPicPr>
          <p:cNvPr id="13" name="Image 1" descr="/home/user/lxfs/pptx_build/figs/x_basketbal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658" y="1481328"/>
            <a:ext cx="1674724" cy="2514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51658" y="2487168"/>
            <a:ext cx="1674724" cy="868680"/>
          </a:xfrm>
          <a:prstGeom prst="rect">
            <a:avLst/>
          </a:prstGeom>
          <a:solidFill>
            <a:srgbClr val="1F3F7A">
              <a:alpha val="70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806522" y="2487168"/>
            <a:ext cx="15649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国民身体素质与日常运动需求矛盾日益凸显，居民就近健身、球类跑步、亲子运动的场地缺口大。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2606040" y="40416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全民健身需求</a:t>
            </a:r>
            <a:endParaRPr lang="en-US" sz="1200" dirty="0"/>
          </a:p>
        </p:txBody>
      </p:sp>
      <p:pic>
        <p:nvPicPr>
          <p:cNvPr id="17" name="Image 2" descr="/home/user/lxfs/pptx_build/figs/x_elders_benc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481328"/>
            <a:ext cx="1965960" cy="15082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09160" y="2084632"/>
            <a:ext cx="1965960" cy="868680"/>
          </a:xfrm>
          <a:prstGeom prst="rect">
            <a:avLst/>
          </a:prstGeom>
          <a:solidFill>
            <a:srgbClr val="1F3F7A">
              <a:alpha val="70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764024" y="2084632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仁寿县60岁及以上占26.56%，家庭亲子与学校师生集中，老年康养、儿童游乐、青少年运动需求突出。</a:t>
            </a:r>
            <a:endParaRPr lang="en-US" sz="750" dirty="0"/>
          </a:p>
        </p:txBody>
      </p:sp>
      <p:sp>
        <p:nvSpPr>
          <p:cNvPr id="20" name="Text 15"/>
          <p:cNvSpPr txBox="1"/>
          <p:nvPr/>
        </p:nvSpPr>
        <p:spPr>
          <a:xfrm>
            <a:off x="4709160" y="40416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市场机遇人群</a:t>
            </a:r>
            <a:endParaRPr lang="en-US" sz="1200" dirty="0"/>
          </a:p>
        </p:txBody>
      </p:sp>
      <p:pic>
        <p:nvPicPr>
          <p:cNvPr id="21" name="Image 3" descr="/home/user/lxfs/pptx_build/figs/x_cyclist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481328"/>
            <a:ext cx="1965960" cy="123386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812280" y="1974874"/>
            <a:ext cx="1965960" cy="868680"/>
          </a:xfrm>
          <a:prstGeom prst="rect">
            <a:avLst/>
          </a:prstGeom>
          <a:solidFill>
            <a:srgbClr val="1F3F7A">
              <a:alpha val="70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67144" y="1974874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《“健康中国2030”规划纲要》、七部委体育公园指导意见、仁寿县国土空间规划“公园城市”目标共同支持。</a:t>
            </a:r>
            <a:endParaRPr lang="en-US" sz="750" dirty="0"/>
          </a:p>
        </p:txBody>
      </p:sp>
      <p:sp>
        <p:nvSpPr>
          <p:cNvPr id="24" name="Text 18"/>
          <p:cNvSpPr txBox="1"/>
          <p:nvPr/>
        </p:nvSpPr>
        <p:spPr>
          <a:xfrm>
            <a:off x="6812280" y="40416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政策导向优势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4370832"/>
            <a:ext cx="8366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面临雨洪调蓄压力、人居环境品质参差不齐、不同年龄群体休闲游憩需求难以被充分满足等现实矛盾。在全民健康、公园城市政策背景下，集运动健康、全龄游憩于一体的体育型综合公园，成为化解高密度社区绿地不足、居民运动空间匮乏、道路环境干扰等多重问题的核心空间载体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Background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选题背景——政策导向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69848"/>
            <a:ext cx="868680" cy="384048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698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9601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《“健康中国2030”规划纲要》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252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健全城乡全民健身公共服务体系，完善社区体育配套设施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868680" cy="384048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8013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规划标准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1691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《城市居住区规划设计标准》GB 50180-2018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1984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构建15分钟生活圈绿地系统，保障片区级综合公园落地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32888"/>
            <a:ext cx="868680" cy="384048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5328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生态导向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423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《海绵城市建设技术指南》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2715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低影响开发，城市绿地兼顾生态缓冲、雨水调蓄、休闲游憩复合功能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64408"/>
            <a:ext cx="868680" cy="384048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2644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专项指导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七部委《关于推进体育公园建设的指导意见》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4472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以体育健身为核心、与自然生态融合，绿化用地占比不低于65%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95928"/>
            <a:ext cx="868680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9959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地方规划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38862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《仁寿县国土空间总体规划(2021-2035)》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178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城北新城“三生融合、公园城市”目标，完善居住区集中绿地布局</a:t>
            </a:r>
            <a:endParaRPr lang="en-US" sz="900" dirty="0"/>
          </a:p>
        </p:txBody>
      </p:sp>
      <p:pic>
        <p:nvPicPr>
          <p:cNvPr id="27" name="Image 0" descr="/home/user/lxfs/pptx_build/figs/x_b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32688"/>
            <a:ext cx="1325880" cy="885688"/>
          </a:xfrm>
          <a:prstGeom prst="rect">
            <a:avLst/>
          </a:prstGeom>
        </p:spPr>
      </p:pic>
      <p:pic>
        <p:nvPicPr>
          <p:cNvPr id="28" name="Image 1" descr="/home/user/lxfs/pptx_build/figs/x_tenni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343" y="932688"/>
            <a:ext cx="1123355" cy="1691640"/>
          </a:xfrm>
          <a:prstGeom prst="rect">
            <a:avLst/>
          </a:prstGeom>
        </p:spPr>
      </p:pic>
      <p:pic>
        <p:nvPicPr>
          <p:cNvPr id="29" name="Image 2" descr="/home/user/lxfs/pptx_build/figs/x_kite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015" y="2788920"/>
            <a:ext cx="2534970" cy="16002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035040" y="440740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户外健身与社区绿地（示意照片）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Background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选题背景——人口结构与地方需求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91440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914400"/>
            <a:ext cx="3246120" cy="1143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9418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仁寿县人口特征（2020年七普）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170432"/>
            <a:ext cx="3108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常住人口111.0万人。60岁及以上占26.56%，65岁及以上占21.94%，分别高于全国7.86和8.44个百分点，已进入深度老龄化；0-14岁占15.31%。老年康养与亲子游憩需求突出。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577840" y="2148840"/>
            <a:ext cx="3246120" cy="1143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15000" y="21762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城北新城现状问题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2404872"/>
            <a:ext cx="3108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成德眉资同城化片区，仁寿向北拓展核心宜居板块；大量商品住宅集中落地，居住密度持续提升。配套逐步完善，但集中型公共休闲绿地供给严重不足，缺少服务全龄、兼具生态运动休闲社交功能的综合公园。</a:t>
            </a:r>
            <a:endParaRPr lang="en-US" sz="800" dirty="0"/>
          </a:p>
        </p:txBody>
      </p:sp>
      <p:pic>
        <p:nvPicPr>
          <p:cNvPr id="14" name="Image 0" descr="/home/user/lxfs/pptx_build/figs/site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383280"/>
            <a:ext cx="1572768" cy="892243"/>
          </a:xfrm>
          <a:prstGeom prst="rect">
            <a:avLst/>
          </a:prstGeom>
        </p:spPr>
      </p:pic>
      <p:pic>
        <p:nvPicPr>
          <p:cNvPr id="15" name="Image 1" descr="/home/user/lxfs/pptx_build/figs/site_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383280"/>
            <a:ext cx="1572768" cy="8994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577840" y="4315968"/>
            <a:ext cx="32461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城北新城场地周边现状</a:t>
            </a:r>
            <a:endParaRPr lang="en-US" sz="7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206240"/>
            <a:ext cx="4937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数据来源：国家统计局《第七次全国人口普查公报（第五号）》；四川省统计局《四川省第七次全国人口普查公报（第四号）》；仁寿县人民政府《仁寿县第七次全国人口普查公报（第三号）》。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Purpose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研究目的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pic>
        <p:nvPicPr>
          <p:cNvPr id="7" name="Image 0" descr="/home/user/lxfs/pptx_build/figs/x_kit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2697480" cy="17027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086832"/>
            <a:ext cx="2697480" cy="548640"/>
          </a:xfrm>
          <a:prstGeom prst="rect">
            <a:avLst/>
          </a:prstGeom>
          <a:solidFill>
            <a:srgbClr val="1F3F7A">
              <a:alpha val="7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208683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营造适配全龄人群的多元运动游憩空间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329184" cy="329184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880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全龄游憩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2697480" cy="1463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0352" y="3337560"/>
            <a:ext cx="256032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足全民健康发展背景，针对仁寿城北新城居住区户外健身场地不足的现实问题，结合场地现状条件，打造融合生态缓冲、运动健身、亲子游乐、邻里社交、乡土科普功能的公园空间，满足周边不同年龄居民日常健身休闲与社交活动需求。</a:t>
            </a:r>
            <a:endParaRPr lang="en-US" sz="850" dirty="0"/>
          </a:p>
        </p:txBody>
      </p:sp>
      <p:pic>
        <p:nvPicPr>
          <p:cNvPr id="15" name="Image 1" descr="/home/user/lxfs/pptx_build/figs/x_lak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248" y="932688"/>
            <a:ext cx="2412665" cy="18288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434248" y="2212848"/>
            <a:ext cx="2412665" cy="548640"/>
          </a:xfrm>
          <a:prstGeom prst="rect">
            <a:avLst/>
          </a:prstGeom>
          <a:solidFill>
            <a:srgbClr val="E07B2A">
              <a:alpha val="75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489112" y="2212848"/>
            <a:ext cx="23029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形成多目标统筹的可落地综合规划方案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383280" y="2880360"/>
            <a:ext cx="329184" cy="329184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38328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794760" y="2880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综合规划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91840" y="3291840"/>
            <a:ext cx="2697480" cy="1463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364992" y="3337560"/>
            <a:ext cx="256032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城市主干道噪声防护、全龄活动场地布置、海绵雨水调蓄、乡土植物群落营造四大核心功能，形成兼顾生态效益、民生需求、建设成本的可落地方案；以城北新城8.6公顷闲置绿地为实践载体，为川南同类新建居住区集中绿地、体育公园建设提供参考案例。</a:t>
            </a:r>
            <a:endParaRPr lang="en-US" sz="850" dirty="0"/>
          </a:p>
        </p:txBody>
      </p:sp>
      <p:pic>
        <p:nvPicPr>
          <p:cNvPr id="23" name="Image 2" descr="/home/user/lxfs/pptx_build/figs/x_al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020" y="932688"/>
            <a:ext cx="2438400" cy="18288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256020" y="2212848"/>
            <a:ext cx="2438400" cy="548640"/>
          </a:xfrm>
          <a:prstGeom prst="rect">
            <a:avLst/>
          </a:prstGeom>
          <a:solidFill>
            <a:srgbClr val="4E8A3E">
              <a:alpha val="75000"/>
            </a:srgbClr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310884" y="2212848"/>
            <a:ext cx="2328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探索适用于西南城市的体育公园景观营造方法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217920" y="2880360"/>
            <a:ext cx="329184" cy="329184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21792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629400" y="2880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地域营造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126480" y="3291840"/>
            <a:ext cx="2697480" cy="14630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199632" y="3337560"/>
            <a:ext cx="256032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西南地区丘陵地貌、亚热带气候特征以及山地城市建设特点，充分运用乡土植物、海绵设施与低维护景观材料，构建适应性强、易管理、生态效益显著的运动景观环境，探索适合西南山地城市体育公园建设的景观营造思路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Significance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研究意义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148840" cy="50292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914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“全民健身”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for 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2148840" cy="50292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536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“全龄友好”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All-age friendly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57984"/>
            <a:ext cx="2148840" cy="50292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1579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“生态缓冲”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Ecological buffer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914400"/>
            <a:ext cx="2148840" cy="50292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914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“老年康养”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care for the aged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1536192"/>
            <a:ext cx="2148840" cy="50292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1536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“亲子游憩”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recreation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157984"/>
            <a:ext cx="2148840" cy="50292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215798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“邻里社交”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 interaction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9601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第一阶段：补齐城北新城运动绿地缺口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21488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第二阶段：全龄健身·康养·社交融合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108960" y="1828800"/>
            <a:ext cx="306324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dash"/>
          </a:ln>
        </p:spPr>
      </p:sp>
      <p:pic>
        <p:nvPicPr>
          <p:cNvPr id="22" name="Image 0" descr="/home/user/lxfs/pptx_build/figs/x_people_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88920"/>
            <a:ext cx="8366760" cy="853249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4370832"/>
            <a:ext cx="8366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国家发展和社会进步，健康观念已深入人心，要让居民认识到体育公园的重要性并积极走入公园运动。理论上，本研究丰富川南县域新城高密度居住区体育公园设计研究；实践上，城市层面盘活闲置绿地、补齐城北新城体育设施短板，民生层面满足全龄康养、游乐、运动、社交需求，生态层面削弱主干道噪声粉尘、缓解热岛效应，实现全民健康是本次设计的主要意义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Route and Methods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技术路线与研究方法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pic>
        <p:nvPicPr>
          <p:cNvPr id="7" name="Image 0" descr="/home/user/lxfs/pptx_build/figs/rou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96112"/>
            <a:ext cx="3703320" cy="3913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43484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280160"/>
            <a:ext cx="4389120" cy="603504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408176"/>
            <a:ext cx="960120" cy="347472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4081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文献查阅法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检索知网、万方等，研读《公园设计规范》《居住区规划设计标准》及全龄景观专著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434840" y="1975104"/>
            <a:ext cx="4389120" cy="603504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26280" y="2103120"/>
            <a:ext cx="960120" cy="347472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6280" y="21031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实地调研法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2020824"/>
            <a:ext cx="3200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现场踏勘地形、道路、住宅分布、植被；走访小区观察居民户外行为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434840" y="2670048"/>
            <a:ext cx="4389120" cy="603504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26280" y="2798064"/>
            <a:ext cx="960120" cy="347472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27980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577840" y="2715768"/>
            <a:ext cx="3200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面向老人、家长、青少年发放问卷，统计场地、设施、风格需求偏好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434840" y="3364992"/>
            <a:ext cx="4389120" cy="603504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26280" y="3493008"/>
            <a:ext cx="960120" cy="347472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26280" y="34930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案例分析法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577840" y="3410712"/>
            <a:ext cx="3200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收集西南地区居住区综合公园案例，对比布局、分区、植物配置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434840" y="4059936"/>
            <a:ext cx="4389120" cy="603504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26280" y="4187952"/>
            <a:ext cx="960120" cy="347472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6280" y="41879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图解分析法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577840" y="4105656"/>
            <a:ext cx="3200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CAD、GIS完成区位、交通、人流、日照、用地分析，推导总平面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434840" y="4754880"/>
            <a:ext cx="4389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技术路线：提出问题—理论支撑—分析方案—解决问题—总结问题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相关概念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pic>
        <p:nvPicPr>
          <p:cNvPr id="7" name="Image 0" descr="/home/user/lxfs/pptx_build/figs/x_basketb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298" y="932688"/>
            <a:ext cx="1035284" cy="1554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88298" y="1920240"/>
            <a:ext cx="1035284" cy="566928"/>
          </a:xfrm>
          <a:prstGeom prst="rect">
            <a:avLst/>
          </a:prstGeom>
          <a:solidFill>
            <a:srgbClr val="1F3F7A">
              <a:alpha val="80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9738" y="1920240"/>
            <a:ext cx="852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体育公园</a:t>
            </a:r>
            <a:endParaRPr lang="en-US" sz="120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Park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" y="2578608"/>
            <a:ext cx="844296" cy="36576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" y="2578608"/>
            <a:ext cx="84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体育健身为核心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383792" y="2578608"/>
            <a:ext cx="844296" cy="36576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83792" y="2578608"/>
            <a:ext cx="84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与自然生态融合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282952" y="2578608"/>
            <a:ext cx="844296" cy="36576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82952" y="2578608"/>
            <a:ext cx="84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绿化占比不低于65%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3035808"/>
            <a:ext cx="2697480" cy="16916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" y="3090672"/>
            <a:ext cx="2551176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七部委《关于推进体育公园建设的指导意见》：以体育健身为核心要素、与自然生态融合的城市绿色公共空间，兼具生态美化、全民健身、休闲游憩、防灾避险等功能。社区型综合体育公园依托城市集中绿地建设，面向周边成片居住区开放。</a:t>
            </a:r>
            <a:endParaRPr lang="en-US" sz="850" dirty="0"/>
          </a:p>
        </p:txBody>
      </p:sp>
      <p:pic>
        <p:nvPicPr>
          <p:cNvPr id="18" name="Image 1" descr="/home/user/lxfs/pptx_build/figs/x_exercis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047" y="932688"/>
            <a:ext cx="2327066" cy="15544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477047" y="1920240"/>
            <a:ext cx="2327066" cy="566928"/>
          </a:xfrm>
          <a:prstGeom prst="rect">
            <a:avLst/>
          </a:prstGeom>
          <a:solidFill>
            <a:srgbClr val="E07B2A">
              <a:alpha val="80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568487" y="1920240"/>
            <a:ext cx="2144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全民健康视角</a:t>
            </a:r>
            <a:endParaRPr lang="en-US" sz="120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for All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319272" y="2578608"/>
            <a:ext cx="844296" cy="36576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319272" y="2578608"/>
            <a:ext cx="84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人人可运动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4218432" y="2578608"/>
            <a:ext cx="844296" cy="36576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218432" y="2578608"/>
            <a:ext cx="84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处处能休憩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5117592" y="2578608"/>
            <a:ext cx="844296" cy="36576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117592" y="2578608"/>
            <a:ext cx="84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动静分区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3291840" y="3035808"/>
            <a:ext cx="2697480" cy="16916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364992" y="3090672"/>
            <a:ext cx="2551176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以全民健康为核心导向，将全民健身理念融入公园整体空间设计，兼顾婴幼儿、学龄儿童、中青年、老年人、残障群体的生理运动需求；在场地尺度、运动设施、无障碍通行、休憩配套上分层适配。</a:t>
            </a:r>
            <a:endParaRPr lang="en-US" sz="850" dirty="0"/>
          </a:p>
        </p:txBody>
      </p:sp>
      <p:pic>
        <p:nvPicPr>
          <p:cNvPr id="29" name="Image 2" descr="/home/user/lxfs/pptx_build/figs/x_swin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756" y="932688"/>
            <a:ext cx="2498928" cy="15544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225756" y="1920240"/>
            <a:ext cx="2498928" cy="566928"/>
          </a:xfrm>
          <a:prstGeom prst="rect">
            <a:avLst/>
          </a:prstGeom>
          <a:solidFill>
            <a:srgbClr val="4E8A3E">
              <a:alpha val="80000"/>
            </a:srgbClr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317196" y="1920240"/>
            <a:ext cx="231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全龄友好型景观</a:t>
            </a:r>
            <a:endParaRPr lang="en-US" sz="120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All-age Friendly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153912" y="2578608"/>
            <a:ext cx="844296" cy="36576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153912" y="2578608"/>
            <a:ext cx="84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分区适配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7053072" y="2578608"/>
            <a:ext cx="844296" cy="36576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7053072" y="2578608"/>
            <a:ext cx="84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无障碍通行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7952232" y="2578608"/>
            <a:ext cx="844296" cy="365760"/>
          </a:xfrm>
          <a:prstGeom prst="rect">
            <a:avLst/>
          </a:prstGeom>
          <a:solidFill>
            <a:srgbClr val="E6E8D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7952232" y="2578608"/>
            <a:ext cx="84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安全防护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6126480" y="3035808"/>
            <a:ext cx="2697480" cy="16916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199632" y="3090672"/>
            <a:ext cx="2551176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在公园空间布局、设施配置、尺度设计上兼顾不同人群生理与行为需求，分区设置适配活动场地，完善无障碍通行、休憩、安全防护配套，实现一座公园满足全年龄段居民日常户外需求。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Status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国内外研究现状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731520" cy="274320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932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261872"/>
            <a:ext cx="406908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奥姆斯特德城市公园体系提出“绿地+运动”融合模式；简·雅各布斯强调高密度社区分散布局中小型运动场地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德国分级体育绿地规划；法国社区体育公园24小时开放与智能预约；丹麦、温哥华连续健身绿道网络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日本居住区体育公园分龄分区、全域无障碍、低维护乡土绿化与简易雨水调蓄；新加坡Active SG社区体育公园：模块化球类场地、全天候遮阳健身区、多层次林下空间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研究热点：体育公园可达性与配套对全年龄段日常运动量、慢性病与焦虑发生率的正向影响（Kaczynski et al., 2008；Warburton et al., 2006；WHO, 2022）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932688"/>
            <a:ext cx="731520" cy="2743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932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261872"/>
            <a:ext cx="406908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全民健身与15分钟社区生活圈推进下，体育公园成为风景园林热点方向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规范出台：《公园设计规范》GB 51192-2016、《社区体育公园规划建设指南》T/CSUS 18-2021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成渝西南片区实践：浅丘地貌土方优化、乡土植物应用、海绵设施整合、动静分区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现有研究多聚焦大中型城市综合体育公园，面向县域新城尺度、服务高密度居住区的中小型体育公园研究薄弱，缺乏适配县域人群结构、建设投资条件的成熟设计范式——本研究的探索空间</a:t>
            </a:r>
            <a:endParaRPr lang="en-US" sz="850" dirty="0"/>
          </a:p>
        </p:txBody>
      </p:sp>
      <p:pic>
        <p:nvPicPr>
          <p:cNvPr id="13" name="Image 0" descr="/home/user/lxfs/pptx_build/figs/x_volleyb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3154680"/>
            <a:ext cx="1028700" cy="1371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4544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全天候室内运动空间</a:t>
            </a:r>
            <a:endParaRPr lang="en-US" sz="800" dirty="0"/>
          </a:p>
        </p:txBody>
      </p:sp>
      <p:pic>
        <p:nvPicPr>
          <p:cNvPr id="15" name="Image 1" descr="/home/user/lxfs/pptx_build/figs/x_skatep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3154680"/>
            <a:ext cx="1828800" cy="1371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578608" y="4544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青少年极限运动</a:t>
            </a:r>
            <a:endParaRPr lang="en-US" sz="800" dirty="0"/>
          </a:p>
        </p:txBody>
      </p:sp>
      <p:pic>
        <p:nvPicPr>
          <p:cNvPr id="17" name="Image 2" descr="/home/user/lxfs/pptx_build/figs/x_cyclis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3154680"/>
            <a:ext cx="2011680" cy="12625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00016" y="4435529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连续健身绿道与骑行</a:t>
            </a:r>
            <a:endParaRPr lang="en-US" sz="800" dirty="0"/>
          </a:p>
        </p:txBody>
      </p:sp>
      <p:pic>
        <p:nvPicPr>
          <p:cNvPr id="19" name="Image 3" descr="/home/user/lxfs/pptx_build/figs/x_bench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3154680"/>
            <a:ext cx="2011680" cy="13438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21424" y="451677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林下休憩与滨水空间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Development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国内外研究现状——发展脉络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0943971">
            <a:off x="474253" y="2779776"/>
            <a:ext cx="8195493" cy="201168"/>
          </a:xfrm>
          <a:prstGeom prst="rect">
            <a:avLst/>
          </a:prstGeom>
          <a:solidFill>
            <a:srgbClr val="C9D6C1"/>
          </a:solidFill>
          <a:ln w="12700">
            <a:solidFill>
              <a:srgbClr val="C9D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0943971">
            <a:off x="474253" y="2852928"/>
            <a:ext cx="8195493" cy="54864"/>
          </a:xfrm>
          <a:prstGeom prst="rect">
            <a:avLst/>
          </a:prstGeom>
          <a:solidFill>
            <a:srgbClr val="4E6B3A"/>
          </a:solidFill>
          <a:ln w="12700">
            <a:solidFill>
              <a:srgbClr val="4E6B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 rot="20943971">
            <a:off x="793699" y="3047695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萌芽期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 rot="20943971">
            <a:off x="3931920" y="2441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发展期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 rot="20943971">
            <a:off x="6989674" y="185074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创新成熟期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97357" y="3522269"/>
            <a:ext cx="146304" cy="146304"/>
          </a:xfrm>
          <a:prstGeom prst="ellipse">
            <a:avLst/>
          </a:prstGeom>
          <a:solidFill>
            <a:srgbClr val="1F3F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3309" y="3686861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0509" y="3339389"/>
            <a:ext cx="0" cy="256032"/>
          </a:xfrm>
          <a:prstGeom prst="line">
            <a:avLst/>
          </a:prstGeom>
          <a:noFill/>
          <a:ln w="12700">
            <a:solidFill>
              <a:srgbClr val="1F3F7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11480" y="2242109"/>
            <a:ext cx="1627632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16" name="Image 0" descr="/home/user/lxfs/pptx_build/figs/x_ben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949" y="2287829"/>
            <a:ext cx="848695" cy="56692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57200" y="2873045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5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</a:t>
            </a:r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奥姆斯特德中央公园，提出“绿地+运动”融合模式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1843430" y="3320186"/>
            <a:ext cx="146304" cy="146304"/>
          </a:xfrm>
          <a:prstGeom prst="ellipse">
            <a:avLst/>
          </a:prstGeom>
          <a:solidFill>
            <a:srgbClr val="1F3F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59382" y="306415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1961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916582" y="3393338"/>
            <a:ext cx="0" cy="256032"/>
          </a:xfrm>
          <a:prstGeom prst="line">
            <a:avLst/>
          </a:prstGeom>
          <a:noFill/>
          <a:ln w="12700">
            <a:solidFill>
              <a:srgbClr val="1F3F7A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102766" y="3649370"/>
            <a:ext cx="1627632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22" name="Image 1" descr="/home/user/lxfs/pptx_build/figs/x_plaz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630" y="3695090"/>
            <a:ext cx="755904" cy="56692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48486" y="428030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5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</a:t>
            </a:r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简·雅各布斯：高密度社区分散布局中小型运动场地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2889504" y="3118104"/>
            <a:ext cx="146304" cy="146304"/>
          </a:xfrm>
          <a:prstGeom prst="ellipse">
            <a:avLst/>
          </a:prstGeom>
          <a:solidFill>
            <a:srgbClr val="E07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505456" y="3282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962656" y="2935224"/>
            <a:ext cx="0" cy="256032"/>
          </a:xfrm>
          <a:prstGeom prst="line">
            <a:avLst/>
          </a:prstGeom>
          <a:noFill/>
          <a:ln w="12700">
            <a:solidFill>
              <a:srgbClr val="E07B2A"/>
            </a:solidFill>
            <a:prstDash val="dash"/>
          </a:ln>
        </p:spPr>
      </p:sp>
      <p:sp>
        <p:nvSpPr>
          <p:cNvPr id="27" name="Shape 23"/>
          <p:cNvSpPr/>
          <p:nvPr/>
        </p:nvSpPr>
        <p:spPr>
          <a:xfrm>
            <a:off x="2148840" y="1837944"/>
            <a:ext cx="1627632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28" name="Image 2" descr="/home/user/lxfs/pptx_build/figs/x_ba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309" y="1883664"/>
            <a:ext cx="848695" cy="56692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2194560" y="24688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5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 </a:t>
            </a:r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《全民健身计划纲要》颁布，全民健身上升为国家计划</a:t>
            </a:r>
            <a:endParaRPr lang="en-US" sz="650" dirty="0"/>
          </a:p>
        </p:txBody>
      </p:sp>
      <p:sp>
        <p:nvSpPr>
          <p:cNvPr id="30" name="Shape 25"/>
          <p:cNvSpPr/>
          <p:nvPr/>
        </p:nvSpPr>
        <p:spPr>
          <a:xfrm>
            <a:off x="3935578" y="2916022"/>
            <a:ext cx="146304" cy="146304"/>
          </a:xfrm>
          <a:prstGeom prst="ellipse">
            <a:avLst/>
          </a:prstGeom>
          <a:solidFill>
            <a:srgbClr val="1F3F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551530" y="265999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008730" y="2989174"/>
            <a:ext cx="0" cy="256032"/>
          </a:xfrm>
          <a:prstGeom prst="line">
            <a:avLst/>
          </a:prstGeom>
          <a:noFill/>
          <a:ln w="12700">
            <a:solidFill>
              <a:srgbClr val="1F3F7A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3194914" y="3245206"/>
            <a:ext cx="1627632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34" name="Image 3" descr="/home/user/lxfs/pptx_build/figs/x_basketball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943" y="3290926"/>
            <a:ext cx="377574" cy="56692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3240634" y="387614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5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 </a:t>
            </a:r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ActiveSG计划：模块化球场、全天候遮阳健身区</a:t>
            </a:r>
            <a:endParaRPr lang="en-US" sz="650" dirty="0"/>
          </a:p>
        </p:txBody>
      </p:sp>
      <p:sp>
        <p:nvSpPr>
          <p:cNvPr id="36" name="Shape 30"/>
          <p:cNvSpPr/>
          <p:nvPr/>
        </p:nvSpPr>
        <p:spPr>
          <a:xfrm>
            <a:off x="4981651" y="2713939"/>
            <a:ext cx="146304" cy="146304"/>
          </a:xfrm>
          <a:prstGeom prst="ellipse">
            <a:avLst/>
          </a:prstGeom>
          <a:solidFill>
            <a:srgbClr val="E07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597603" y="2878531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054803" y="2531059"/>
            <a:ext cx="0" cy="256032"/>
          </a:xfrm>
          <a:prstGeom prst="line">
            <a:avLst/>
          </a:prstGeom>
          <a:noFill/>
          <a:ln w="12700">
            <a:solidFill>
              <a:srgbClr val="E07B2A"/>
            </a:solidFill>
            <a:prstDash val="dash"/>
          </a:ln>
        </p:spPr>
      </p:sp>
      <p:sp>
        <p:nvSpPr>
          <p:cNvPr id="39" name="Shape 33"/>
          <p:cNvSpPr/>
          <p:nvPr/>
        </p:nvSpPr>
        <p:spPr>
          <a:xfrm>
            <a:off x="4240987" y="1433779"/>
            <a:ext cx="1627632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40" name="Image 4" descr="/home/user/lxfs/pptx_build/figs/x_tenni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565" y="1479499"/>
            <a:ext cx="376476" cy="566928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4286707" y="2064715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5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 </a:t>
            </a:r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《“健康中国2030”规划纲要》；《公园设计规范》GB 51192-2016</a:t>
            </a:r>
            <a:endParaRPr lang="en-US" sz="650" dirty="0"/>
          </a:p>
        </p:txBody>
      </p:sp>
      <p:sp>
        <p:nvSpPr>
          <p:cNvPr id="42" name="Shape 35"/>
          <p:cNvSpPr/>
          <p:nvPr/>
        </p:nvSpPr>
        <p:spPr>
          <a:xfrm>
            <a:off x="6027725" y="2511857"/>
            <a:ext cx="146304" cy="146304"/>
          </a:xfrm>
          <a:prstGeom prst="ellipse">
            <a:avLst/>
          </a:prstGeom>
          <a:solidFill>
            <a:srgbClr val="E07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5643677" y="2255825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6100877" y="2585009"/>
            <a:ext cx="0" cy="256032"/>
          </a:xfrm>
          <a:prstGeom prst="line">
            <a:avLst/>
          </a:prstGeom>
          <a:noFill/>
          <a:ln w="12700">
            <a:solidFill>
              <a:srgbClr val="E07B2A"/>
            </a:solidFill>
            <a:prstDash val="dash"/>
          </a:ln>
        </p:spPr>
      </p:sp>
      <p:sp>
        <p:nvSpPr>
          <p:cNvPr id="45" name="Shape 38"/>
          <p:cNvSpPr/>
          <p:nvPr/>
        </p:nvSpPr>
        <p:spPr>
          <a:xfrm>
            <a:off x="5287061" y="2841041"/>
            <a:ext cx="1627632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46" name="Image 5" descr="/home/user/lxfs/pptx_build/figs/x_kite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1825" y="2886761"/>
            <a:ext cx="898104" cy="566928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5332781" y="3471977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5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 </a:t>
            </a:r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《城市居住区规划设计标准》GB 50180-2018：15分钟生活圈</a:t>
            </a:r>
            <a:endParaRPr lang="en-US" sz="650" dirty="0"/>
          </a:p>
        </p:txBody>
      </p:sp>
      <p:sp>
        <p:nvSpPr>
          <p:cNvPr id="48" name="Shape 40"/>
          <p:cNvSpPr/>
          <p:nvPr/>
        </p:nvSpPr>
        <p:spPr>
          <a:xfrm>
            <a:off x="7073798" y="2309774"/>
            <a:ext cx="146304" cy="146304"/>
          </a:xfrm>
          <a:prstGeom prst="ellipse">
            <a:avLst/>
          </a:prstGeom>
          <a:solidFill>
            <a:srgbClr val="E07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6689750" y="247436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7146950" y="2126894"/>
            <a:ext cx="0" cy="256032"/>
          </a:xfrm>
          <a:prstGeom prst="line">
            <a:avLst/>
          </a:prstGeom>
          <a:noFill/>
          <a:ln w="12700">
            <a:solidFill>
              <a:srgbClr val="E07B2A"/>
            </a:solidFill>
            <a:prstDash val="dash"/>
          </a:ln>
        </p:spPr>
      </p:sp>
      <p:sp>
        <p:nvSpPr>
          <p:cNvPr id="51" name="Shape 43"/>
          <p:cNvSpPr/>
          <p:nvPr/>
        </p:nvSpPr>
        <p:spPr>
          <a:xfrm>
            <a:off x="6333134" y="1029614"/>
            <a:ext cx="1627632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52" name="Image 6" descr="/home/user/lxfs/pptx_build/figs/wh_2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3873" y="1075334"/>
            <a:ext cx="766155" cy="566928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378854" y="166055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5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 </a:t>
            </a:r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七部委《关于推进体育公园建设的指导意见》；T/CSUS 18-2021</a:t>
            </a:r>
            <a:endParaRPr lang="en-US" sz="650" dirty="0"/>
          </a:p>
        </p:txBody>
      </p:sp>
      <p:sp>
        <p:nvSpPr>
          <p:cNvPr id="54" name="Shape 45"/>
          <p:cNvSpPr/>
          <p:nvPr/>
        </p:nvSpPr>
        <p:spPr>
          <a:xfrm>
            <a:off x="8119872" y="2107692"/>
            <a:ext cx="146304" cy="146304"/>
          </a:xfrm>
          <a:prstGeom prst="ellipse">
            <a:avLst/>
          </a:prstGeom>
          <a:solidFill>
            <a:srgbClr val="E07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7735824" y="18516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8193024" y="2180844"/>
            <a:ext cx="0" cy="256032"/>
          </a:xfrm>
          <a:prstGeom prst="line">
            <a:avLst/>
          </a:prstGeom>
          <a:noFill/>
          <a:ln w="12700">
            <a:solidFill>
              <a:srgbClr val="E07B2A"/>
            </a:solidFill>
            <a:prstDash val="dash"/>
          </a:ln>
        </p:spPr>
      </p:sp>
      <p:sp>
        <p:nvSpPr>
          <p:cNvPr id="57" name="Shape 48"/>
          <p:cNvSpPr/>
          <p:nvPr/>
        </p:nvSpPr>
        <p:spPr>
          <a:xfrm>
            <a:off x="7452360" y="2436876"/>
            <a:ext cx="1371600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58" name="Image 7" descr="/home/user/lxfs/pptx_build/figs/satellite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8587" y="2482596"/>
            <a:ext cx="719146" cy="566928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7498080" y="30678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5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 </a:t>
            </a:r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《仁寿县国土空间总体规划(2021-2035)》：城北新城公园城市</a:t>
            </a:r>
            <a:endParaRPr lang="en-US" sz="650" dirty="0"/>
          </a:p>
        </p:txBody>
      </p:sp>
      <p:sp>
        <p:nvSpPr>
          <p:cNvPr id="60" name="Text 50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蓝色：国外；橙色：国内与地方。配图为公开图库示意照片、本文案例照片及场地卫星影像。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案例参考（一）成都天府公园西区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/home/user/lxfs/pptx_build/figs/tf_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269" y="932688"/>
            <a:ext cx="3442661" cy="2468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419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建筑鸟瞰图</a:t>
            </a:r>
            <a:endParaRPr lang="en-US" sz="800" dirty="0"/>
          </a:p>
        </p:txBody>
      </p:sp>
      <p:pic>
        <p:nvPicPr>
          <p:cNvPr id="9" name="Image 1" descr="/home/user/lxfs/pptx_build/figs/tf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75888"/>
            <a:ext cx="960120" cy="7189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41315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公园河流</a:t>
            </a:r>
            <a:endParaRPr lang="en-US" sz="800" dirty="0"/>
          </a:p>
        </p:txBody>
      </p:sp>
      <p:pic>
        <p:nvPicPr>
          <p:cNvPr id="11" name="Image 2" descr="/home/user/lxfs/pptx_build/figs/tf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077" y="3675888"/>
            <a:ext cx="701486" cy="8686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08760" y="45628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河流植物</a:t>
            </a:r>
            <a:endParaRPr lang="en-US" sz="800" dirty="0"/>
          </a:p>
        </p:txBody>
      </p:sp>
      <p:pic>
        <p:nvPicPr>
          <p:cNvPr id="13" name="Image 3" descr="/home/user/lxfs/pptx_build/figs/tf_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95" y="3675888"/>
            <a:ext cx="689571" cy="8686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560320" y="45628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道路小品</a:t>
            </a:r>
            <a:endParaRPr lang="en-US" sz="800" dirty="0"/>
          </a:p>
        </p:txBody>
      </p:sp>
      <p:pic>
        <p:nvPicPr>
          <p:cNvPr id="15" name="Image 4" descr="/home/user/lxfs/pptx_build/figs/tf_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675888"/>
            <a:ext cx="960120" cy="71735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611880" y="44115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公园周围交通状况</a:t>
            </a:r>
            <a:endParaRPr lang="en-US" sz="800" dirty="0"/>
          </a:p>
        </p:txBody>
      </p:sp>
      <p:sp>
        <p:nvSpPr>
          <p:cNvPr id="17" name="Text 10"/>
          <p:cNvSpPr txBox="1"/>
          <p:nvPr/>
        </p:nvSpPr>
        <p:spPr>
          <a:xfrm>
            <a:off x="480060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4754880" y="1207008"/>
            <a:ext cx="406908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位于天府新区高密度住宅组团之间，用地7.2公顷，服务周边20余个居住小区。设计采用“一轴多组团”布局，沿城市主干道设置宽幅生态林带降噪；内部划分老年康养区、儿童分龄游乐区、青少年运动区、自然科普区；大量采用香樟、桢楠、细叶桢楠等四川乡土树种，搭配下凹式雨水花园实现海绵功能。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4800600" y="3017520"/>
            <a:ext cx="822960" cy="2743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480060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可借鉴</a:t>
            </a:r>
            <a:endParaRPr lang="en-US" sz="950" dirty="0"/>
          </a:p>
        </p:txBody>
      </p:sp>
      <p:sp>
        <p:nvSpPr>
          <p:cNvPr id="21" name="Text 14"/>
          <p:cNvSpPr txBox="1"/>
          <p:nvPr/>
        </p:nvSpPr>
        <p:spPr>
          <a:xfrm>
            <a:off x="4754880" y="3337560"/>
            <a:ext cx="40690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主干道连续多层生态缓冲林带布局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全龄分段运动场地划分模式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多层乡土植物复层群落配置手法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案例参考（二）成都天府牧山活力体育公园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/home/user/lxfs/pptx_build/figs/ms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4114800" cy="23158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26681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公园总平面鸟瞰图</a:t>
            </a:r>
            <a:endParaRPr lang="en-US" sz="800" dirty="0"/>
          </a:p>
        </p:txBody>
      </p:sp>
      <p:pic>
        <p:nvPicPr>
          <p:cNvPr id="9" name="Image 1" descr="/home/user/lxfs/pptx_build/figs/ms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75888"/>
            <a:ext cx="1310640" cy="73611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430289"/>
            <a:ext cx="131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球类集中区效果图</a:t>
            </a:r>
            <a:endParaRPr lang="en-US" sz="800" dirty="0"/>
          </a:p>
        </p:txBody>
      </p:sp>
      <p:pic>
        <p:nvPicPr>
          <p:cNvPr id="11" name="Image 2" descr="/home/user/lxfs/pptx_build/figs/ms_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280" y="3675888"/>
            <a:ext cx="1310640" cy="79501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59280" y="4489192"/>
            <a:ext cx="131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室内运动场地</a:t>
            </a:r>
            <a:endParaRPr lang="en-US" sz="800" dirty="0"/>
          </a:p>
        </p:txBody>
      </p:sp>
      <p:pic>
        <p:nvPicPr>
          <p:cNvPr id="13" name="Image 3" descr="/home/user/lxfs/pptx_build/figs/ms_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360" y="3675888"/>
            <a:ext cx="1310640" cy="73643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261360" y="4430611"/>
            <a:ext cx="131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阳光草坪区</a:t>
            </a:r>
            <a:endParaRPr lang="en-US" sz="800" dirty="0"/>
          </a:p>
        </p:txBody>
      </p:sp>
      <p:sp>
        <p:nvSpPr>
          <p:cNvPr id="15" name="Text 9"/>
          <p:cNvSpPr txBox="1"/>
          <p:nvPr/>
        </p:nvSpPr>
        <p:spPr>
          <a:xfrm>
            <a:off x="480060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4754880" y="1207008"/>
            <a:ext cx="406908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于成都市新津区花源街道，地处新城成片居住组团核心腹地，占地6.39公顷，为城市规划留白绿地全新营建，区位、平缓场地基底与本课题仁寿8.6公顷地块高度匹配。采用“一轴一环五组团”结构，外围彩色环形健康步道串联轻量化户外运动场地，内部划分青少年潮流运动区、分龄儿童游乐区、老年康养林荫区、共享阳光草坪、乡土海绵花境；北侧紧邻主干道设置多层乡土乔木降噪防护林，四面分设人行出入口，造价适配川南县域建设标准。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800600" y="3017520"/>
            <a:ext cx="822960" cy="2743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80060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可借鉴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4754880" y="3337560"/>
            <a:ext cx="40690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县域留白绿地体育公园整体规划模式，“跃动健身+生态栖居”一体化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依托日照条件分区布局全龄活动场地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主干道多层乡土植物降噪隔离林带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轻量化设施适配县城低成本落地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案例参考（三）苏州相城活力体育公园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pic>
        <p:nvPicPr>
          <p:cNvPr id="7" name="Image 0" descr="/home/user/lxfs/pptx_build/figs/sz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932688"/>
            <a:ext cx="3703320" cy="2468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419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公园周围交通情况</a:t>
            </a:r>
            <a:endParaRPr lang="en-US" sz="800" dirty="0"/>
          </a:p>
        </p:txBody>
      </p:sp>
      <p:pic>
        <p:nvPicPr>
          <p:cNvPr id="9" name="Image 1" descr="/home/user/lxfs/pptx_build/figs/sz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32" y="3675888"/>
            <a:ext cx="821977" cy="8686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562856"/>
            <a:ext cx="131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极限运动区</a:t>
            </a:r>
            <a:endParaRPr lang="en-US" sz="800" dirty="0"/>
          </a:p>
        </p:txBody>
      </p:sp>
      <p:pic>
        <p:nvPicPr>
          <p:cNvPr id="11" name="Image 2" descr="/home/user/lxfs/pptx_build/figs/sz_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188" y="3675888"/>
            <a:ext cx="650825" cy="8686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59280" y="4562856"/>
            <a:ext cx="131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儿童娱乐区域</a:t>
            </a:r>
            <a:endParaRPr lang="en-US" sz="800" dirty="0"/>
          </a:p>
        </p:txBody>
      </p:sp>
      <p:pic>
        <p:nvPicPr>
          <p:cNvPr id="13" name="Image 3" descr="/home/user/lxfs/pptx_build/figs/sz_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360" y="3675888"/>
            <a:ext cx="1310640" cy="66526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261360" y="4359442"/>
            <a:ext cx="131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植物小品</a:t>
            </a:r>
            <a:endParaRPr lang="en-US" sz="800" dirty="0"/>
          </a:p>
        </p:txBody>
      </p:sp>
      <p:sp>
        <p:nvSpPr>
          <p:cNvPr id="15" name="Text 9"/>
          <p:cNvSpPr txBox="1"/>
          <p:nvPr/>
        </p:nvSpPr>
        <p:spPr>
          <a:xfrm>
            <a:off x="480060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4754880" y="1207008"/>
            <a:ext cx="406908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新区规划绿地全新建设，总面积13.6公顷，面积接近本设计地块，场地有平缓台地与低洼地块。依托地势打造海绵水景，步道串联运动场地与林下休憩空间，主干道沿线设置连续绿化隔离带，形成“动可健身，静可栖林”的格局。每一处球类、游乐运动组团就近配套林下廊架、休闲平台；海绵调蓄空间与林下栖居景观一体化设计，四季分层乡土乔灌搭配，高度契合“跃动·栖园”设计主题。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800600" y="3017520"/>
            <a:ext cx="822960" cy="2743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80060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可借鉴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4754880" y="3337560"/>
            <a:ext cx="40690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海绵雨水景观与林下休憩空间融合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每个运动组团就近配套便民栖居节点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连续式主干道降噪隔离林带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多点分散休憩构筑物，多层次林下栖居场景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课题研究背景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案例参考（四）芜湖长江三桥桥下体育公园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pic>
        <p:nvPicPr>
          <p:cNvPr id="7" name="Image 0" descr="/home/user/lxfs/pptx_build/figs/wh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359" y="932688"/>
            <a:ext cx="3336482" cy="2468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419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周围交通情况</a:t>
            </a:r>
            <a:endParaRPr lang="en-US" sz="800" dirty="0"/>
          </a:p>
        </p:txBody>
      </p:sp>
      <p:pic>
        <p:nvPicPr>
          <p:cNvPr id="9" name="Image 1" descr="/home/user/lxfs/pptx_build/figs/wh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055" y="3675888"/>
            <a:ext cx="1301090" cy="8686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562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公园跑道（桥下全天候运动空间）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80060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1207008"/>
            <a:ext cx="406908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用地15.5公顷，利用高架桥下闲置灰色空间改造而成，场地天然形成大面积遮阳区域，配套4片篮球场、2片五人制足球场、羽毛球场、门球、轮滑场地与多处老年健身路径、分龄儿童乐园，贯穿彩色透水健身环线，搭配沿线雨水花园，服务周边7个大型社区居民。依托桥体天然遮阴打造全天候运动空间，全场采用彩色透水塑胶铺装，搭配线性生态植草沟构建简易海绵体系；运动场地模块化划分，人群互不干扰。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800600" y="3017520"/>
            <a:ext cx="822960" cy="2743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0060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可借鉴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3337560"/>
            <a:ext cx="40690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全天候遮阳运动场地设计思路，适配仁寿夏季高温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模块化球类场地集约布局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透水铺装+植草沟一体化海绵做法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全年龄段运动设施均衡配置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Project Research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pic>
        <p:nvPicPr>
          <p:cNvPr id="6" name="Image 0" descr="/home/user/lxfs/pptx_build/figs/satell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240" y="822960"/>
            <a:ext cx="2667800" cy="2103120"/>
          </a:xfrm>
          <a:prstGeom prst="rect">
            <a:avLst/>
          </a:prstGeom>
        </p:spPr>
      </p:pic>
      <p:pic>
        <p:nvPicPr>
          <p:cNvPr id="7" name="Image 1" descr="/home/user/lxfs/pptx_build/figs/site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017520"/>
            <a:ext cx="1920240" cy="1098156"/>
          </a:xfrm>
          <a:prstGeom prst="rect">
            <a:avLst/>
          </a:prstGeom>
        </p:spPr>
      </p:pic>
      <p:pic>
        <p:nvPicPr>
          <p:cNvPr id="8" name="Image 2" descr="/home/user/lxfs/pptx_build/figs/site_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017520"/>
            <a:ext cx="1920240" cy="109465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914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项目研究概述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24231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上位规划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区位分析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气候分析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植物分析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历史文化分析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 周边道路分析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 周边交通分析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 周边人行流线分析</a:t>
            </a:r>
            <a:endParaRPr lang="en-US" sz="850" dirty="0"/>
          </a:p>
        </p:txBody>
      </p:sp>
      <p:sp>
        <p:nvSpPr>
          <p:cNvPr id="12" name="Text 7"/>
          <p:cNvSpPr txBox="1"/>
          <p:nvPr/>
        </p:nvSpPr>
        <p:spPr>
          <a:xfrm>
            <a:off x="2697480" y="24231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2.9 周边用地分析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2.10 地形地貌分析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2.11 场地现状分析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2.12 人群结构分析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2.13 主要人群需求分析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2.14 光照分析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2.15 SWOT分析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2.16 问题梳理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Upper-level Planning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上位规划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pic>
        <p:nvPicPr>
          <p:cNvPr id="7" name="Image 0" descr="/home/user/lxfs/pptx_build/figs/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677" y="932688"/>
            <a:ext cx="2038166" cy="3657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46085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场地及周边现状地图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规划要点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34640" y="1325880"/>
            <a:ext cx="329184" cy="329184"/>
          </a:xfrm>
          <a:prstGeom prst="ellipse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3464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246120" y="1280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城北新城定位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0" y="1536192"/>
            <a:ext cx="2514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仁寿向北拓展核心宜居板块，衔接成德眉资同城化片区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834640" y="2148840"/>
            <a:ext cx="329184" cy="329184"/>
          </a:xfrm>
          <a:prstGeom prst="ellipse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3464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246120" y="210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建设目标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0" y="2359152"/>
            <a:ext cx="2514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三生融合辐射周边、公园城市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834640" y="2971800"/>
            <a:ext cx="329184" cy="329184"/>
          </a:xfrm>
          <a:prstGeom prst="ellipse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3464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246120" y="2926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绿地要求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200400" y="3182112"/>
            <a:ext cx="2514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完善居住区集中绿地布局，补齐城市绿色公共空间短板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834640" y="3794760"/>
            <a:ext cx="329184" cy="329184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83464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246120" y="3749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本地块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200400" y="4005072"/>
            <a:ext cx="2514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规划预留集中绿地，承担片区级综合公园功能，服务周边高密度居住区</a:t>
            </a:r>
            <a:endParaRPr lang="en-US" sz="850" dirty="0"/>
          </a:p>
        </p:txBody>
      </p:sp>
      <p:pic>
        <p:nvPicPr>
          <p:cNvPr id="26" name="Image 1" descr="/home/user/lxfs/pptx_build/figs/satelli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164" y="932688"/>
            <a:ext cx="2783792" cy="219456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852160" y="31455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场地卫星影像（规划预留集中绿地）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5852160" y="3429000"/>
            <a:ext cx="2971800" cy="13258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897880" y="3474720"/>
            <a:ext cx="288036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仁寿县国土空间总体规划(2021-2035)》明确城北新城“三生融合辐射周边、公园城市”建设目标，要求完善居住区集中绿地布局，补齐城市绿色公共空间短板。本地块为规划预留的集中绿地，承担片区级综合公园功能。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区位分析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pic>
        <p:nvPicPr>
          <p:cNvPr id="7" name="Image 0" descr="/home/user/lxfs/pptx_build/figs/loc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84" y="932688"/>
            <a:ext cx="2631112" cy="3657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460857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区位分析图（中国—四川—眉山—仁寿）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场地概括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1280160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场地位置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眉山市仁寿县城北新城核心居住区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场地面积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约8.6公顷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普宁大道（城市主干道，车流量大）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南侧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里仁路（城市支路）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黑龙滩路（次干道）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西侧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青冈路 / 陵州大道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用地性质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政府规划预留集中绿地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429000" y="4069080"/>
            <a:ext cx="5394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场地四至边界清晰：北侧为城市主干道普宁大道，车流量大，存在噪声、粉尘干扰；南侧里仁路、东侧黑龙滩路、西侧道路均为城市次级道路，人行通达性良好。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4553712"/>
            <a:ext cx="53949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注：开题报告中西侧道路名称出现“青冈路”与“陵州大道”两种表述，需统一。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气候分析——气温与降水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pic>
        <p:nvPicPr>
          <p:cNvPr id="7" name="Image 0" descr="/home/user/lxfs/pptx_build/figs/clim_tem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4160520" cy="21216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07265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仁寿县气温分析（开题报告）</a:t>
            </a:r>
            <a:endParaRPr lang="en-US" sz="800" dirty="0"/>
          </a:p>
        </p:txBody>
      </p:sp>
      <p:pic>
        <p:nvPicPr>
          <p:cNvPr id="9" name="Image 1" descr="/home/user/lxfs/pptx_build/figs/clim_rai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228" y="932688"/>
            <a:ext cx="3618945" cy="2286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323697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仁寿县降水率分析（开题报告）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310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年均温 17.8℃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1月 7.0℃ / 7月 26.8℃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60320" y="3310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年降水 881.8mm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6—9月占70%以上，8月最多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310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8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雨热同季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夏季高温多雨，冬季温和少霜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3310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亚热带湿润季风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四季分明，雨量充沛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840480"/>
            <a:ext cx="8366760" cy="7772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3886200"/>
            <a:ext cx="81838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热带湿润季风气候，四季分明，雨热同季。年均温17.8℃，1月最冷（7.0℃），7月最热（26.8℃）；年降水881.8mm，集中于6—9月（占70%以上），8月最多。设计需重点应对夏季高温暴晒（乔木林荫、遮阳构筑）与夏季集中降雨（海绵调蓄、场地排水）。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645152"/>
            <a:ext cx="77724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数据来源：中国气象局1991—2020年气候标准值（仁寿站）。开题报告写为年均温17.2℃，与此处17.8℃口径不同，建议统一。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气候分析——日照、湿度与雨日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914400"/>
          <a:ext cx="4160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663440" y="914400"/>
          <a:ext cx="4160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840480"/>
            <a:ext cx="8366760" cy="7772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3886200"/>
            <a:ext cx="81838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日照仅1047.6小时（日照百分率23%），冬季多雾寡照；全年湿度70%—81%，秋季最高。全年降水日137天，4—10月每月13天以上。启示：夏季需遮阳，但全年整体阴湿，场地应以开敞向阳草坪和运动场地为主体，配合可透光的疏林，避免过度郁闭；铺装选用透水、防滑材料。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645152"/>
            <a:ext cx="77724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数据来源：中国气象局1991—2020年气候标准值（仁寿站）。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植物分析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pic>
        <p:nvPicPr>
          <p:cNvPr id="7" name="Image 0" descr="/home/user/lxfs/pptx_build/figs/pla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731" y="932688"/>
            <a:ext cx="5527057" cy="30358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986784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仁寿县植物配置分析图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217920" y="932688"/>
            <a:ext cx="868680" cy="292608"/>
          </a:xfrm>
          <a:prstGeom prst="rect">
            <a:avLst/>
          </a:prstGeom>
          <a:solidFill>
            <a:srgbClr val="4E8A3E"/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9326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优势乔木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1243584"/>
            <a:ext cx="2651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桢楠、香樟、黄葛树、二球悬铃木、桂花、小叶榕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17920" y="1801368"/>
            <a:ext cx="868680" cy="2926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8013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花灌木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2112264"/>
            <a:ext cx="2651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紫薇、木芙蓉、蜡梅、红花檵木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0" y="2670048"/>
            <a:ext cx="868680" cy="292608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2670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地被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980944"/>
            <a:ext cx="2651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麦冬、沿阶草、野花组合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17920" y="3520440"/>
            <a:ext cx="2606040" cy="11887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09360" y="35478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气候适生性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3785616"/>
            <a:ext cx="2514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亚热带湿润季风气候，冬季温和少霜，适宜桢楠、香樟、小叶榕、紫薇、木芙蓉等川南乡土常绿与观花植物生长，均耐粗放养护，为本项目植物配置核心选材。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" y="4224528"/>
            <a:ext cx="5532120" cy="530352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0352" y="4242816"/>
            <a:ext cx="5394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配置策略：北侧沿普宁大道以桢楠、香樟、黄葛树构建多层降噪防护林带；运动场地周边以高大乔木形成连片林荫休憩；低洼区结合雨水花园配置耐湿地被；四季分层乡土乔灌搭配，实现全年可游。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and Cultural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历史文化分析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pic>
        <p:nvPicPr>
          <p:cNvPr id="7" name="Image 0" descr="/home/user/lxfs/pptx_build/figs/cul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4206240" cy="315181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4102791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仁寿历史文化分析图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892040" y="932688"/>
            <a:ext cx="3931920" cy="987552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932688"/>
            <a:ext cx="73152" cy="987552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74920" y="978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陵州人文历史文化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1234440"/>
            <a:ext cx="3749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自隋代置陵州，唐宋文风兴盛，留存古陵城街巷、文庙、书院历史脉络，崇文重教是本土精神内核。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892040" y="2011680"/>
            <a:ext cx="3931920" cy="987552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2011680"/>
            <a:ext cx="73152" cy="98755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黑龙滩水利建设文化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2313432"/>
            <a:ext cx="3749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20世纪70年代十万群众开山筑库建成西南大型人工湖黑龙滩，孕育艰苦奋斗、治水兴农的时代记忆。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92040" y="3090672"/>
            <a:ext cx="3931920" cy="987552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3090672"/>
            <a:ext cx="73152" cy="987552"/>
          </a:xfrm>
          <a:prstGeom prst="rect">
            <a:avLst/>
          </a:prstGeom>
          <a:solidFill>
            <a:srgbClr val="4E8A3E"/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74920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8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川南浅丘农耕民俗文化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0" y="3392424"/>
            <a:ext cx="3749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水田农耕、果林种植、民俗节庆构成居民生活底色，田园乡土气息浓厚。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315968"/>
            <a:ext cx="8366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片区文化基底：城北新城以新建商品房为主，缺少历史建筑与文化景观载体；周边居民多为老城搬迁居民和本地农村进城住户，对黑龙滩水利记忆、陵州文脉、农耕田园有深厚情感共鸣。场地作为片区唯一大型集中绿地，通过轻量化景观载体植入文化符号，弥补新城文化空间缺失。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Peripheral Road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 周边道路分析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pic>
        <p:nvPicPr>
          <p:cNvPr id="7" name="Image 0" descr="/home/user/lxfs/pptx_build/figs/roa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662" y="932688"/>
            <a:ext cx="3643556" cy="1783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7340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场地周边道路分析图</a:t>
            </a:r>
            <a:endParaRPr lang="en-US" sz="800" dirty="0"/>
          </a:p>
        </p:txBody>
      </p:sp>
      <p:pic>
        <p:nvPicPr>
          <p:cNvPr id="9" name="Image 1" descr="/home/user/lxfs/pptx_build/figs/roadcon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26" y="2971800"/>
            <a:ext cx="3675028" cy="1783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773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场地周边路况分析图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932688"/>
          <a:ext cx="42976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234440"/>
                <a:gridCol w="91440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道路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普宁大道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城市主干道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车流大，噪声粉尘干扰，需防护林带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陵州大道 / 青冈路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次干道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车行出入优先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黑龙滩路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次干道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人行通达性好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南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里仁路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城市支路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慢行辅助出入口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526280" y="3063240"/>
            <a:ext cx="4297680" cy="16916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617720" y="3127248"/>
            <a:ext cx="411480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路网层级完善，涵盖主干道、次干道、支路，四面临路。临近天府仁寿大道，属城区发展重点板块，道路路面宽敞，沿线绿化配套完善。平峰时段通行顺畅，节假日休闲客流上升，依托方格路网可有效疏解。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Peripheral Traffic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 周边交通分析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pic>
        <p:nvPicPr>
          <p:cNvPr id="7" name="Image 0" descr="/home/user/lxfs/pptx_build/figs/traff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465" y="932688"/>
            <a:ext cx="5203550" cy="2606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55701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场地周边交通分析图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897880" y="932688"/>
            <a:ext cx="2926080" cy="1170432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89320" y="1024128"/>
            <a:ext cx="914400" cy="274320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89320" y="1024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公共交通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1316736"/>
            <a:ext cx="2834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场地周围分布多处公交停靠点，覆盖多条城区公交线路，具备基础公共交通条件，但近距离公交接驳仍有提升空间。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97880" y="2212848"/>
            <a:ext cx="2926080" cy="1170432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89320" y="2304288"/>
            <a:ext cx="914400" cy="2743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89320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机动车交通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2596896"/>
            <a:ext cx="2834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地块被主次干道合围，车行条件良好。车行出入优先考虑西侧、北侧道路开口。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97880" y="3493008"/>
            <a:ext cx="2926080" cy="1170432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9320" y="3584448"/>
            <a:ext cx="914400" cy="274320"/>
          </a:xfrm>
          <a:prstGeom prst="rect">
            <a:avLst/>
          </a:prstGeom>
          <a:solidFill>
            <a:srgbClr val="4E8A3E"/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89320" y="3584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慢行交通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0" y="3877056"/>
            <a:ext cx="2834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南侧里仁路为城市支路，作为慢行辅助出入口；四面设人行入口，居民下楼直达。</a:t>
            </a:r>
            <a:endParaRPr lang="en-US" sz="850" dirty="0"/>
          </a:p>
        </p:txBody>
      </p:sp>
      <p:pic>
        <p:nvPicPr>
          <p:cNvPr id="21" name="Image 1" descr="/home/user/lxfs/pptx_build/figs/site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25" y="3767328"/>
            <a:ext cx="1678869" cy="960120"/>
          </a:xfrm>
          <a:prstGeom prst="rect">
            <a:avLst/>
          </a:prstGeom>
        </p:spPr>
      </p:pic>
      <p:pic>
        <p:nvPicPr>
          <p:cNvPr id="22" name="Image 2" descr="/home/user/lxfs/pptx_build/figs/site_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85" y="3767328"/>
            <a:ext cx="1678869" cy="9601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57200" y="4736592"/>
            <a:ext cx="521208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场地周边道路现状照片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 Flow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 周边人行流线分析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pic>
        <p:nvPicPr>
          <p:cNvPr id="7" name="Image 0" descr="/home/user/lxfs/pptx_build/figs/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5212080" cy="25765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52749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周边人行流线分析图（蓝：居民聚集点；红：进入聚集点）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932688"/>
            <a:ext cx="292608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场地被居住区环绕，紧邻星光幼儿园、文镇小学、文镇幼儿园、仁寿实验中学，人流量大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主要人流来源：东西两侧小区（最强）、南北两侧小区、四所学校（上下学潮汐）、北侧商务配套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上学时段学生穿越场地形成通道型流线；晨晚居民从四向就近进入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设计启示：四向人行入口与小区、学校出入口对应；主流线连续无障碍；通道流线与活动场地分离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人群构成与行为特征见2.12、2.13</a:t>
            </a:r>
            <a:endParaRPr lang="en-US" sz="850" dirty="0"/>
          </a:p>
        </p:txBody>
      </p:sp>
      <p:pic>
        <p:nvPicPr>
          <p:cNvPr id="10" name="Image 1" descr="/home/user/lxfs/pptx_build/figs/x_ped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560" y="3108960"/>
            <a:ext cx="1950720" cy="1463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97880" y="45902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居民步行流线示意（公开视频帧）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3840480"/>
            <a:ext cx="5212080" cy="8686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30352" y="3867912"/>
            <a:ext cx="5074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居住区常住居民中老年群体占比较高，包含家庭亲子群体、文镇小学师生群体；本地居民以周边小区家庭住户为主。青少年主要开展户外游玩、体育运动；中老年人偏向散步、休闲社交；外来游客多短途停留，偏好生态休闲活动。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Peripheral Land Use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2.9 周边用地分析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pic>
        <p:nvPicPr>
          <p:cNvPr id="7" name="Image 0" descr="/home/user/lxfs/pptx_build/figs/landu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4846320" cy="2874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8254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场地周边用地性质分析图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577840" y="1005840"/>
            <a:ext cx="274320" cy="201168"/>
          </a:xfrm>
          <a:prstGeom prst="rect">
            <a:avLst/>
          </a:prstGeom>
          <a:solidFill>
            <a:srgbClr val="F2D24B"/>
          </a:solidFill>
          <a:ln w="12700">
            <a:solidFill>
              <a:srgbClr val="F2D24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960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住宅用地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1371600"/>
            <a:ext cx="274320" cy="201168"/>
          </a:xfrm>
          <a:prstGeom prst="rect">
            <a:avLst/>
          </a:prstGeom>
          <a:solidFill>
            <a:srgbClr val="E58EC0"/>
          </a:solidFill>
          <a:ln w="12700">
            <a:solidFill>
              <a:srgbClr val="E58EC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13258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教育用地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1737360"/>
            <a:ext cx="274320" cy="201168"/>
          </a:xfrm>
          <a:prstGeom prst="rect">
            <a:avLst/>
          </a:prstGeom>
          <a:solidFill>
            <a:srgbClr val="E8542E"/>
          </a:solidFill>
          <a:ln w="12700">
            <a:solidFill>
              <a:srgbClr val="E854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0" y="1691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商业用地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2103120"/>
            <a:ext cx="274320" cy="201168"/>
          </a:xfrm>
          <a:prstGeom prst="rect">
            <a:avLst/>
          </a:prstGeom>
          <a:solidFill>
            <a:srgbClr val="5DBA4A"/>
          </a:solidFill>
          <a:ln w="12700">
            <a:solidFill>
              <a:srgbClr val="5DBA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0" y="2057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公园用地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2468880"/>
            <a:ext cx="274320" cy="201168"/>
          </a:xfrm>
          <a:prstGeom prst="rect">
            <a:avLst/>
          </a:prstGeom>
          <a:solidFill>
            <a:srgbClr val="8EC6F0"/>
          </a:solidFill>
          <a:ln w="12700">
            <a:solidFill>
              <a:srgbClr val="8EC6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0" y="2423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医疗/服务</a:t>
            </a:r>
            <a:endParaRPr lang="en-US" sz="950" dirty="0"/>
          </a:p>
        </p:txBody>
      </p:sp>
      <p:pic>
        <p:nvPicPr>
          <p:cNvPr id="19" name="Image 1" descr="/home/user/lxfs/pptx_build/figs/ma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745" y="960120"/>
            <a:ext cx="1477670" cy="26517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315200" y="36301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现状地图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577840" y="3886200"/>
            <a:ext cx="3246120" cy="8686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623560" y="3904488"/>
            <a:ext cx="31546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场地四周以二类居住用地为主，周边配套社区幼儿园、小学、沿街商业、小型社区卫生服务站；北侧普宁大道对面为城市商务配套用地。整体人居环境纯粹，公园服务人群以常住居民为主。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周边学校：星光幼儿园、文镇小学、文镇幼儿园、仁寿实验中学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557784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图例颜色为示意，以分析图中标注为准。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and Landform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2.10 地形地貌分析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pic>
        <p:nvPicPr>
          <p:cNvPr id="7" name="Image 0" descr="/home/user/lxfs/pptx_build/figs/satell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4023360" cy="317175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4122731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场地卫星影像（红线范围内为设计地块）</a:t>
            </a:r>
            <a:endParaRPr lang="en-US" sz="800" dirty="0"/>
          </a:p>
        </p:txBody>
      </p:sp>
      <p:pic>
        <p:nvPicPr>
          <p:cNvPr id="9" name="Image 1" descr="/home/user/lxfs/pptx_build/figs/site_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32688"/>
            <a:ext cx="2011680" cy="1146786"/>
          </a:xfrm>
          <a:prstGeom prst="rect">
            <a:avLst/>
          </a:prstGeom>
        </p:spPr>
      </p:pic>
      <p:pic>
        <p:nvPicPr>
          <p:cNvPr id="10" name="Image 2" descr="/home/user/lxfs/pptx_build/figs/site_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932688"/>
            <a:ext cx="2011680" cy="11412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709160" y="2103120"/>
            <a:ext cx="41148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场地现状地形照片（局部小土坡、裸土空地）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4709160" y="2423160"/>
            <a:ext cx="2011680" cy="2286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800600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区域地貌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2715768"/>
            <a:ext cx="19202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仁寿地处四川盆地中部，以浅丘、丘陵为主，地势总体平坦。地质稳定，土壤以紫色土为主。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812280" y="2423160"/>
            <a:ext cx="2011680" cy="22860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903720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场地地形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2715768"/>
            <a:ext cx="19202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整体平缓，无高差突变；局部有小土坡起伏，无废弃构筑物、无土壤污染。适合土方场内平衡，利用微高差布置线性雨水花园。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Current Condition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2.11 场地现状分析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pic>
        <p:nvPicPr>
          <p:cNvPr id="7" name="Image 0" descr="/home/user/lxfs/pptx_build/figs/sitepl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645" y="932688"/>
            <a:ext cx="2054510" cy="3611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456285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场地现状平面图</a:t>
            </a:r>
            <a:endParaRPr lang="en-US" sz="800" dirty="0"/>
          </a:p>
        </p:txBody>
      </p:sp>
      <p:pic>
        <p:nvPicPr>
          <p:cNvPr id="9" name="Image 1" descr="/home/user/lxfs/pptx_build/figs/site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932688"/>
            <a:ext cx="1828800" cy="10374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97480" y="932688"/>
            <a:ext cx="786384" cy="237744"/>
          </a:xfrm>
          <a:prstGeom prst="rect">
            <a:avLst/>
          </a:prstGeom>
          <a:solidFill>
            <a:srgbClr val="E07B2A">
              <a:alpha val="90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697480" y="932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裸土空地</a:t>
            </a:r>
            <a:endParaRPr lang="en-US" sz="800" dirty="0"/>
          </a:p>
        </p:txBody>
      </p:sp>
      <p:pic>
        <p:nvPicPr>
          <p:cNvPr id="12" name="Image 2" descr="/home/user/lxfs/pptx_build/figs/site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32688"/>
            <a:ext cx="1828800" cy="104586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17720" y="932688"/>
            <a:ext cx="786384" cy="237744"/>
          </a:xfrm>
          <a:prstGeom prst="rect">
            <a:avLst/>
          </a:prstGeom>
          <a:solidFill>
            <a:srgbClr val="1F3F7A">
              <a:alpha val="90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617720" y="932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周边住宅</a:t>
            </a:r>
            <a:endParaRPr lang="en-US" sz="800" dirty="0"/>
          </a:p>
        </p:txBody>
      </p:sp>
      <p:pic>
        <p:nvPicPr>
          <p:cNvPr id="15" name="Image 3" descr="/home/user/lxfs/pptx_build/figs/site_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2057400"/>
            <a:ext cx="1828800" cy="1045863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697480" y="2057400"/>
            <a:ext cx="786384" cy="237744"/>
          </a:xfrm>
          <a:prstGeom prst="rect">
            <a:avLst/>
          </a:prstGeom>
          <a:solidFill>
            <a:srgbClr val="4E8A3E">
              <a:alpha val="90000"/>
            </a:srgbClr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2697480" y="205740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原生林地</a:t>
            </a:r>
            <a:endParaRPr lang="en-US" sz="800" dirty="0"/>
          </a:p>
        </p:txBody>
      </p:sp>
      <p:pic>
        <p:nvPicPr>
          <p:cNvPr id="18" name="Image 4" descr="/home/user/lxfs/pptx_build/figs/site_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2057400"/>
            <a:ext cx="1828800" cy="104253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617720" y="2057400"/>
            <a:ext cx="786384" cy="237744"/>
          </a:xfrm>
          <a:prstGeom prst="rect">
            <a:avLst/>
          </a:prstGeom>
          <a:solidFill>
            <a:srgbClr val="E07B2A">
              <a:alpha val="90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4617720" y="205740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局部土坡</a:t>
            </a:r>
            <a:endParaRPr lang="en-US" sz="800" dirty="0"/>
          </a:p>
        </p:txBody>
      </p:sp>
      <p:sp>
        <p:nvSpPr>
          <p:cNvPr id="21" name="Text 14"/>
          <p:cNvSpPr txBox="1"/>
          <p:nvPr/>
        </p:nvSpPr>
        <p:spPr>
          <a:xfrm>
            <a:off x="2697480" y="3127248"/>
            <a:ext cx="3749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场地现状照片（裸土空地、原生林地与周边住宅）</a:t>
            </a:r>
            <a:endParaRPr lang="en-US" sz="750" dirty="0"/>
          </a:p>
        </p:txBody>
      </p:sp>
      <p:pic>
        <p:nvPicPr>
          <p:cNvPr id="22" name="Image 5" descr="/home/user/lxfs/pptx_build/figs/satellit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9059" y="3364992"/>
            <a:ext cx="1565883" cy="123444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269748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场地卫星影像</a:t>
            </a:r>
            <a:endParaRPr lang="en-US" sz="800" dirty="0"/>
          </a:p>
        </p:txBody>
      </p:sp>
      <p:sp>
        <p:nvSpPr>
          <p:cNvPr id="24" name="Shape 16"/>
          <p:cNvSpPr/>
          <p:nvPr/>
        </p:nvSpPr>
        <p:spPr>
          <a:xfrm>
            <a:off x="6629400" y="932688"/>
            <a:ext cx="2194560" cy="11887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702552" y="1005840"/>
            <a:ext cx="914400" cy="256032"/>
          </a:xfrm>
          <a:prstGeom prst="rect">
            <a:avLst/>
          </a:prstGeom>
          <a:solidFill>
            <a:srgbClr val="4E8A3E"/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702552" y="1005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原生林地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6656832" y="1280160"/>
            <a:ext cx="2139696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东北部、中部成片原生乡土乔木群落，长势较好，是核心自然资源，可作为公园生态基底保留利用，减少绿化造价。</a:t>
            </a:r>
            <a:endParaRPr lang="en-US" sz="750" dirty="0"/>
          </a:p>
        </p:txBody>
      </p:sp>
      <p:sp>
        <p:nvSpPr>
          <p:cNvPr id="28" name="Shape 20"/>
          <p:cNvSpPr/>
          <p:nvPr/>
        </p:nvSpPr>
        <p:spPr>
          <a:xfrm>
            <a:off x="6629400" y="2194560"/>
            <a:ext cx="2194560" cy="11887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702552" y="2267712"/>
            <a:ext cx="914400" cy="25603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702552" y="2267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裸土空地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6656832" y="2542032"/>
            <a:ext cx="2139696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其余大片区域为裸露待开发土地，平整程度一般，局部小土坡，杂草零散；土壤条件一般，需改良后再营造植物景观。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6629400" y="3456432"/>
            <a:ext cx="2194560" cy="11887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702552" y="3529584"/>
            <a:ext cx="914400" cy="256032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702552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水体与构筑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6656832" y="3803904"/>
            <a:ext cx="2139696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场地无水体，属旱地型地块，需人工营造海绵水景；无大型建筑遗存，拆迁工程量小，适合公园开发建设。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Structure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2.12 人群结构分析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pic>
        <p:nvPicPr>
          <p:cNvPr id="7" name="Image 0" descr="/home/user/lxfs/pptx_build/figs/x_cn_stre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1600200" cy="106573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31493"/>
            <a:ext cx="1600200" cy="566928"/>
          </a:xfrm>
          <a:prstGeom prst="rect">
            <a:avLst/>
          </a:prstGeom>
          <a:solidFill>
            <a:srgbClr val="1F3F7A">
              <a:alpha val="7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1431493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散步、晨练、休憩闲谈、社交 / 康养步道、器械、林荫座椅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377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老年人</a:t>
            </a:r>
            <a:endParaRPr lang="en-US" sz="1000" dirty="0"/>
          </a:p>
        </p:txBody>
      </p:sp>
      <p:pic>
        <p:nvPicPr>
          <p:cNvPr id="11" name="Image 1" descr="/home/user/lxfs/pptx_build/figs/x_famil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932688"/>
            <a:ext cx="1600200" cy="123215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148840" y="1597914"/>
            <a:ext cx="1600200" cy="566928"/>
          </a:xfrm>
          <a:prstGeom prst="rect">
            <a:avLst/>
          </a:prstGeom>
          <a:solidFill>
            <a:srgbClr val="E07B2A">
              <a:alpha val="75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203704" y="1597914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儿童攀爬游乐、家长陪护 / 分龄儿童游乐区、看护休憩</a:t>
            </a:r>
            <a:endParaRPr lang="en-US" sz="650" dirty="0"/>
          </a:p>
        </p:txBody>
      </p:sp>
      <p:sp>
        <p:nvSpPr>
          <p:cNvPr id="14" name="Text 10"/>
          <p:cNvSpPr txBox="1"/>
          <p:nvPr/>
        </p:nvSpPr>
        <p:spPr>
          <a:xfrm>
            <a:off x="2148840" y="2377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家庭亲子</a:t>
            </a:r>
            <a:endParaRPr lang="en-US" sz="1000" dirty="0"/>
          </a:p>
        </p:txBody>
      </p:sp>
      <p:pic>
        <p:nvPicPr>
          <p:cNvPr id="15" name="Image 2" descr="/home/user/lxfs/pptx_build/figs/x_skatepar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32688"/>
            <a:ext cx="1600200" cy="120015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840480" y="1565910"/>
            <a:ext cx="1600200" cy="566928"/>
          </a:xfrm>
          <a:prstGeom prst="rect">
            <a:avLst/>
          </a:prstGeom>
          <a:solidFill>
            <a:srgbClr val="4E8A3E">
              <a:alpha val="75000"/>
            </a:srgbClr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895344" y="156591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跑步、球类、骑行 / 球类场地、环形跑道</a:t>
            </a:r>
            <a:endParaRPr lang="en-US" sz="650" dirty="0"/>
          </a:p>
        </p:txBody>
      </p:sp>
      <p:sp>
        <p:nvSpPr>
          <p:cNvPr id="18" name="Text 13"/>
          <p:cNvSpPr txBox="1"/>
          <p:nvPr/>
        </p:nvSpPr>
        <p:spPr>
          <a:xfrm>
            <a:off x="3840480" y="2377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青少年/学生</a:t>
            </a:r>
            <a:endParaRPr lang="en-US" sz="1000" dirty="0"/>
          </a:p>
        </p:txBody>
      </p:sp>
      <p:pic>
        <p:nvPicPr>
          <p:cNvPr id="19" name="Image 3" descr="/home/user/lxfs/pptx_build/figs/x_exercis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932688"/>
            <a:ext cx="1600200" cy="106893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532120" y="1434694"/>
            <a:ext cx="1600200" cy="566928"/>
          </a:xfrm>
          <a:prstGeom prst="rect">
            <a:avLst/>
          </a:prstGeom>
          <a:solidFill>
            <a:srgbClr val="5B7DB1">
              <a:alpha val="75000"/>
            </a:srgbClr>
          </a:solidFill>
          <a:ln w="12700">
            <a:solidFill>
              <a:srgbClr val="5B7DB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586984" y="1434694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跑步、健身 / 健身器械区、夜间照明</a:t>
            </a:r>
            <a:endParaRPr lang="en-US" sz="65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2377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中青年</a:t>
            </a:r>
            <a:endParaRPr lang="en-US" sz="1000" dirty="0"/>
          </a:p>
        </p:txBody>
      </p:sp>
      <p:pic>
        <p:nvPicPr>
          <p:cNvPr id="23" name="Image 4" descr="/home/user/lxfs/pptx_build/figs/x_beachkite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932688"/>
            <a:ext cx="1600200" cy="120015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223760" y="1565910"/>
            <a:ext cx="1600200" cy="566928"/>
          </a:xfrm>
          <a:prstGeom prst="rect">
            <a:avLst/>
          </a:prstGeom>
          <a:solidFill>
            <a:srgbClr val="8A8F9C">
              <a:alpha val="75000"/>
            </a:srgbClr>
          </a:solidFill>
          <a:ln w="12700">
            <a:solidFill>
              <a:srgbClr val="8A8F9C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278624" y="156591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短途停留、生态休闲 / 阳光草坪、景观节点</a:t>
            </a:r>
            <a:endParaRPr lang="en-US" sz="650" dirty="0"/>
          </a:p>
        </p:txBody>
      </p:sp>
      <p:sp>
        <p:nvSpPr>
          <p:cNvPr id="26" name="Text 19"/>
          <p:cNvSpPr txBox="1"/>
          <p:nvPr/>
        </p:nvSpPr>
        <p:spPr>
          <a:xfrm>
            <a:off x="7223760" y="2377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外来游客</a:t>
            </a:r>
            <a:endParaRPr lang="en-US" sz="1000" dirty="0"/>
          </a:p>
        </p:txBody>
      </p:sp>
      <p:pic>
        <p:nvPicPr>
          <p:cNvPr id="27" name="Image 5" descr="/home/user/lxfs/pptx_build/figs/pie_src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43200"/>
            <a:ext cx="1737360" cy="17373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7200" y="4498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使用人群来源构成</a:t>
            </a:r>
            <a:endParaRPr lang="en-US" sz="800" dirty="0"/>
          </a:p>
        </p:txBody>
      </p:sp>
      <p:pic>
        <p:nvPicPr>
          <p:cNvPr id="29" name="Image 6" descr="/home/user/lxfs/pptx_build/figs/pie_age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2743200"/>
            <a:ext cx="1737360" cy="1527349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2286000" y="4288837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使用人群年龄构成</a:t>
            </a:r>
            <a:endParaRPr lang="en-US" sz="800" dirty="0"/>
          </a:p>
        </p:txBody>
      </p:sp>
      <p:pic>
        <p:nvPicPr>
          <p:cNvPr id="31" name="Image 7" descr="/home/user/lxfs/pptx_build/figs/pie_sex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2743200"/>
            <a:ext cx="1737360" cy="173736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114800" y="4498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使用人群性别构成</a:t>
            </a:r>
            <a:endParaRPr lang="en-US" sz="800" dirty="0"/>
          </a:p>
        </p:txBody>
      </p:sp>
      <p:sp>
        <p:nvSpPr>
          <p:cNvPr id="33" name="Shape 23"/>
          <p:cNvSpPr/>
          <p:nvPr/>
        </p:nvSpPr>
        <p:spPr>
          <a:xfrm>
            <a:off x="6035040" y="2743200"/>
            <a:ext cx="2788920" cy="19659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126480" y="2770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人群结构特征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6080760" y="3044952"/>
            <a:ext cx="26974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县60岁及以上人口占26.56%，明显高于全国（18.70%）与四川（21.71%）。片区周边居民中老年占比高，并含家庭亲子群体与文镇小学等学校师生。年龄结构呈中老年、青少年占比偏高、青壮年通勤人群为辅的特征；性别构成男50.62%、女49.38%。</a:t>
            </a:r>
            <a:endParaRPr lang="en-US" sz="800" dirty="0"/>
          </a:p>
        </p:txBody>
      </p:sp>
      <p:sp>
        <p:nvSpPr>
          <p:cNvPr id="36" name="Text 26"/>
          <p:cNvSpPr txBox="1"/>
          <p:nvPr/>
        </p:nvSpPr>
        <p:spPr>
          <a:xfrm>
            <a:off x="6080760" y="4389120"/>
            <a:ext cx="2697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数据来源：《仁寿县第七次全国人口普查公报（第三号）》；饼图为开题报告调研预测数据。</a:t>
            </a:r>
            <a:endParaRPr lang="en-US" sz="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Audience Needs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2.13 主要人群需求分析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201168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现有小区附属绿地仅配置简易健身器械，缺乏规模化、分龄化的专业运动场地，居民多元化体育锻炼、亲子运动、康养休闲需求难以满足。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周边居民以中老年、家庭亲子与学生为主：出行、日晒、休憩、体锻是基本需求；情感、兴趣、社交、康养是进阶需求。体育公园需在空间中逐层回应这些需求。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960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基本需求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3520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进阶需求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051560"/>
            <a:ext cx="64008" cy="33832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1389888"/>
            <a:ext cx="64008" cy="338328"/>
          </a:xfrm>
          <a:prstGeom prst="rect">
            <a:avLst/>
          </a:prstGeom>
          <a:solidFill>
            <a:srgbClr val="E58A45"/>
          </a:solidFill>
          <a:ln w="12700">
            <a:solidFill>
              <a:srgbClr val="E58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728216"/>
            <a:ext cx="64008" cy="338328"/>
          </a:xfrm>
          <a:prstGeom prst="rect">
            <a:avLst/>
          </a:prstGeom>
          <a:solidFill>
            <a:srgbClr val="EA9A60"/>
          </a:solidFill>
          <a:ln w="12700">
            <a:solidFill>
              <a:srgbClr val="EA9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2066544"/>
            <a:ext cx="64008" cy="338328"/>
          </a:xfrm>
          <a:prstGeom prst="rect">
            <a:avLst/>
          </a:prstGeom>
          <a:solidFill>
            <a:srgbClr val="EEA97A"/>
          </a:solidFill>
          <a:ln w="12700">
            <a:solidFill>
              <a:srgbClr val="EEA9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2404872"/>
            <a:ext cx="64008" cy="338328"/>
          </a:xfrm>
          <a:prstGeom prst="rect">
            <a:avLst/>
          </a:prstGeom>
          <a:solidFill>
            <a:srgbClr val="F2B995"/>
          </a:solidFill>
          <a:ln w="12700">
            <a:solidFill>
              <a:srgbClr val="F2B99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2743200"/>
            <a:ext cx="64008" cy="338328"/>
          </a:xfrm>
          <a:prstGeom prst="rect">
            <a:avLst/>
          </a:prstGeom>
          <a:solidFill>
            <a:srgbClr val="F6C9B0"/>
          </a:solidFill>
          <a:ln w="12700">
            <a:solidFill>
              <a:srgbClr val="F6C9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3081528"/>
            <a:ext cx="64008" cy="338328"/>
          </a:xfrm>
          <a:prstGeom prst="rect">
            <a:avLst/>
          </a:prstGeom>
          <a:solidFill>
            <a:srgbClr val="F9D9CA"/>
          </a:solidFill>
          <a:ln w="12700">
            <a:solidFill>
              <a:srgbClr val="F9D9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4408" y="3419856"/>
            <a:ext cx="64008" cy="338328"/>
          </a:xfrm>
          <a:prstGeom prst="rect">
            <a:avLst/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1024128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1362456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日晒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1700784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休憩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2039112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体锻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2377440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2715768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3054096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392424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康养</a:t>
            </a:r>
            <a:endParaRPr lang="en-US" sz="850" dirty="0"/>
          </a:p>
        </p:txBody>
      </p:sp>
      <p:pic>
        <p:nvPicPr>
          <p:cNvPr id="26" name="Image 0" descr="/home/user/lxfs/pptx_build/figs/x_cyclis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60120"/>
            <a:ext cx="1427805" cy="896112"/>
          </a:xfrm>
          <a:prstGeom prst="rect">
            <a:avLst/>
          </a:prstGeom>
        </p:spPr>
      </p:pic>
      <p:pic>
        <p:nvPicPr>
          <p:cNvPr id="27" name="Image 1" descr="/home/user/lxfs/pptx_build/figs/x_kit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765" y="960120"/>
            <a:ext cx="1419583" cy="896112"/>
          </a:xfrm>
          <a:prstGeom prst="rect">
            <a:avLst/>
          </a:prstGeom>
        </p:spPr>
      </p:pic>
      <p:pic>
        <p:nvPicPr>
          <p:cNvPr id="28" name="Image 2" descr="/home/user/lxfs/pptx_build/figs/x_bench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7" y="960120"/>
            <a:ext cx="1168048" cy="896112"/>
          </a:xfrm>
          <a:prstGeom prst="rect">
            <a:avLst/>
          </a:prstGeom>
        </p:spPr>
      </p:pic>
      <p:pic>
        <p:nvPicPr>
          <p:cNvPr id="29" name="Image 3" descr="/home/user/lxfs/pptx_build/figs/x_ba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475" y="960120"/>
            <a:ext cx="1341485" cy="896112"/>
          </a:xfrm>
          <a:prstGeom prst="rect">
            <a:avLst/>
          </a:prstGeom>
        </p:spPr>
      </p:pic>
      <p:pic>
        <p:nvPicPr>
          <p:cNvPr id="30" name="Image 4" descr="/home/user/lxfs/pptx_build/figs/x_basketball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1920240"/>
            <a:ext cx="596811" cy="896112"/>
          </a:xfrm>
          <a:prstGeom prst="rect">
            <a:avLst/>
          </a:prstGeom>
        </p:spPr>
      </p:pic>
      <p:pic>
        <p:nvPicPr>
          <p:cNvPr id="31" name="Image 5" descr="/home/user/lxfs/pptx_build/figs/x_tennis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487" y="1920240"/>
            <a:ext cx="502663" cy="896112"/>
          </a:xfrm>
          <a:prstGeom prst="rect">
            <a:avLst/>
          </a:prstGeom>
        </p:spPr>
      </p:pic>
      <p:pic>
        <p:nvPicPr>
          <p:cNvPr id="32" name="Image 6" descr="/home/user/lxfs/pptx_build/figs/x_skatepark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6907" y="1920240"/>
            <a:ext cx="1194816" cy="896112"/>
          </a:xfrm>
          <a:prstGeom prst="rect">
            <a:avLst/>
          </a:prstGeom>
        </p:spPr>
      </p:pic>
      <p:pic>
        <p:nvPicPr>
          <p:cNvPr id="33" name="Image 7" descr="/home/user/lxfs/pptx_build/figs/x_wheelchair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1920240"/>
            <a:ext cx="1554480" cy="874395"/>
          </a:xfrm>
          <a:prstGeom prst="rect">
            <a:avLst/>
          </a:prstGeom>
        </p:spPr>
      </p:pic>
      <p:pic>
        <p:nvPicPr>
          <p:cNvPr id="34" name="Image 8" descr="/home/user/lxfs/pptx_build/figs/x_elders_cake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1920" y="2880360"/>
            <a:ext cx="1349439" cy="896112"/>
          </a:xfrm>
          <a:prstGeom prst="rect">
            <a:avLst/>
          </a:prstGeom>
        </p:spPr>
      </p:pic>
      <p:pic>
        <p:nvPicPr>
          <p:cNvPr id="35" name="Image 9" descr="/home/user/lxfs/pptx_build/figs/x_family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0175" y="2880360"/>
            <a:ext cx="1163782" cy="896112"/>
          </a:xfrm>
          <a:prstGeom prst="rect">
            <a:avLst/>
          </a:prstGeom>
        </p:spPr>
      </p:pic>
      <p:pic>
        <p:nvPicPr>
          <p:cNvPr id="36" name="Image 10" descr="/home/user/lxfs/pptx_build/figs/x_cn_street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2773" y="2880360"/>
            <a:ext cx="1345514" cy="896112"/>
          </a:xfrm>
          <a:prstGeom prst="rect">
            <a:avLst/>
          </a:prstGeom>
        </p:spPr>
      </p:pic>
      <p:pic>
        <p:nvPicPr>
          <p:cNvPr id="37" name="Image 11" descr="/home/user/lxfs/pptx_build/figs/x_baseball_kids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7103" y="2880360"/>
            <a:ext cx="1336857" cy="896112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457200" y="3886200"/>
            <a:ext cx="8366760" cy="89611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9" name="Text 25"/>
          <p:cNvSpPr txBox="1"/>
          <p:nvPr/>
        </p:nvSpPr>
        <p:spPr>
          <a:xfrm>
            <a:off x="54864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居民日常户外活动的时段分布</a:t>
            </a:r>
            <a:endParaRPr lang="en-US" sz="1050" dirty="0"/>
          </a:p>
        </p:txBody>
      </p:sp>
      <p:sp>
        <p:nvSpPr>
          <p:cNvPr id="40" name="Shape 26"/>
          <p:cNvSpPr/>
          <p:nvPr/>
        </p:nvSpPr>
        <p:spPr>
          <a:xfrm>
            <a:off x="4069080" y="3886200"/>
            <a:ext cx="0" cy="10972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27"/>
          <p:cNvSpPr txBox="1"/>
          <p:nvPr/>
        </p:nvSpPr>
        <p:spPr>
          <a:xfrm>
            <a:off x="3429000" y="3986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6:00—9:00</a:t>
            </a:r>
            <a:endParaRPr lang="en-US" sz="900" dirty="0"/>
          </a:p>
        </p:txBody>
      </p:sp>
      <p:sp>
        <p:nvSpPr>
          <p:cNvPr id="42" name="Shape 28"/>
          <p:cNvSpPr/>
          <p:nvPr/>
        </p:nvSpPr>
        <p:spPr>
          <a:xfrm>
            <a:off x="5413248" y="3886200"/>
            <a:ext cx="0" cy="10972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29"/>
          <p:cNvSpPr txBox="1"/>
          <p:nvPr/>
        </p:nvSpPr>
        <p:spPr>
          <a:xfrm>
            <a:off x="4773168" y="3986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9:00—12:00</a:t>
            </a:r>
            <a:endParaRPr lang="en-US" sz="900" dirty="0"/>
          </a:p>
        </p:txBody>
      </p:sp>
      <p:sp>
        <p:nvSpPr>
          <p:cNvPr id="44" name="Shape 30"/>
          <p:cNvSpPr/>
          <p:nvPr/>
        </p:nvSpPr>
        <p:spPr>
          <a:xfrm>
            <a:off x="6757416" y="3886200"/>
            <a:ext cx="0" cy="10972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31"/>
          <p:cNvSpPr txBox="1"/>
          <p:nvPr/>
        </p:nvSpPr>
        <p:spPr>
          <a:xfrm>
            <a:off x="6117336" y="3986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14:00—17:00</a:t>
            </a:r>
            <a:endParaRPr lang="en-US" sz="900" dirty="0"/>
          </a:p>
        </p:txBody>
      </p:sp>
      <p:sp>
        <p:nvSpPr>
          <p:cNvPr id="46" name="Shape 32"/>
          <p:cNvSpPr/>
          <p:nvPr/>
        </p:nvSpPr>
        <p:spPr>
          <a:xfrm>
            <a:off x="8101584" y="3886200"/>
            <a:ext cx="0" cy="10972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33"/>
          <p:cNvSpPr txBox="1"/>
          <p:nvPr/>
        </p:nvSpPr>
        <p:spPr>
          <a:xfrm>
            <a:off x="7461504" y="3986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17:00—20:00</a:t>
            </a:r>
            <a:endParaRPr lang="en-US" sz="900" dirty="0"/>
          </a:p>
        </p:txBody>
      </p:sp>
      <p:sp>
        <p:nvSpPr>
          <p:cNvPr id="48" name="Text 34"/>
          <p:cNvSpPr txBox="1"/>
          <p:nvPr/>
        </p:nvSpPr>
        <p:spPr>
          <a:xfrm>
            <a:off x="548640" y="4206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动态活动场所：</a:t>
            </a:r>
            <a:endParaRPr lang="en-US" sz="750" dirty="0"/>
          </a:p>
        </p:txBody>
      </p:sp>
      <p:sp>
        <p:nvSpPr>
          <p:cNvPr id="49" name="Text 35"/>
          <p:cNvSpPr txBox="1"/>
          <p:nvPr/>
        </p:nvSpPr>
        <p:spPr>
          <a:xfrm>
            <a:off x="3429000" y="4206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晨练、散步、太极</a:t>
            </a:r>
            <a:endParaRPr lang="en-US" sz="750" dirty="0"/>
          </a:p>
        </p:txBody>
      </p:sp>
      <p:sp>
        <p:nvSpPr>
          <p:cNvPr id="50" name="Text 36"/>
          <p:cNvSpPr txBox="1"/>
          <p:nvPr/>
        </p:nvSpPr>
        <p:spPr>
          <a:xfrm>
            <a:off x="6117336" y="4206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跑步、球类、骑行</a:t>
            </a:r>
            <a:endParaRPr lang="en-US" sz="750" dirty="0"/>
          </a:p>
        </p:txBody>
      </p:sp>
      <p:sp>
        <p:nvSpPr>
          <p:cNvPr id="51" name="Text 37"/>
          <p:cNvSpPr txBox="1"/>
          <p:nvPr/>
        </p:nvSpPr>
        <p:spPr>
          <a:xfrm>
            <a:off x="7461504" y="4206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健身、亲子游乐</a:t>
            </a:r>
            <a:endParaRPr lang="en-US" sz="750" dirty="0"/>
          </a:p>
        </p:txBody>
      </p:sp>
      <p:sp>
        <p:nvSpPr>
          <p:cNvPr id="52" name="Text 38"/>
          <p:cNvSpPr txBox="1"/>
          <p:nvPr/>
        </p:nvSpPr>
        <p:spPr>
          <a:xfrm>
            <a:off x="548640" y="4389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静态活动场所：</a:t>
            </a:r>
            <a:endParaRPr lang="en-US" sz="750" dirty="0"/>
          </a:p>
        </p:txBody>
      </p:sp>
      <p:sp>
        <p:nvSpPr>
          <p:cNvPr id="53" name="Text 39"/>
          <p:cNvSpPr txBox="1"/>
          <p:nvPr/>
        </p:nvSpPr>
        <p:spPr>
          <a:xfrm>
            <a:off x="4773168" y="4389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休憩闲谈、晾晒</a:t>
            </a:r>
            <a:endParaRPr lang="en-US" sz="750" dirty="0"/>
          </a:p>
        </p:txBody>
      </p:sp>
      <p:sp>
        <p:nvSpPr>
          <p:cNvPr id="54" name="Text 40"/>
          <p:cNvSpPr txBox="1"/>
          <p:nvPr/>
        </p:nvSpPr>
        <p:spPr>
          <a:xfrm>
            <a:off x="7461504" y="4389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饭后休闲、聚会下棋</a:t>
            </a:r>
            <a:endParaRPr lang="en-US" sz="750" dirty="0"/>
          </a:p>
        </p:txBody>
      </p:sp>
      <p:sp>
        <p:nvSpPr>
          <p:cNvPr id="55" name="Text 41"/>
          <p:cNvSpPr txBox="1"/>
          <p:nvPr/>
        </p:nvSpPr>
        <p:spPr>
          <a:xfrm>
            <a:off x="548640" y="4572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步行活动场所：</a:t>
            </a:r>
            <a:endParaRPr lang="en-US" sz="750" dirty="0"/>
          </a:p>
        </p:txBody>
      </p:sp>
      <p:sp>
        <p:nvSpPr>
          <p:cNvPr id="56" name="Text 42"/>
          <p:cNvSpPr txBox="1"/>
          <p:nvPr/>
        </p:nvSpPr>
        <p:spPr>
          <a:xfrm>
            <a:off x="3429000" y="457200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上学途经、四向穿越，需连续无障碍步道与岔路口标识系统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Audience Needs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2.13 主要人群需求分析——调研数据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pic>
        <p:nvPicPr>
          <p:cNvPr id="7" name="Image 0" descr="/home/user/lxfs/pptx_build/figs/pie_a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2240280" cy="2240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1729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居民主要活动类型偏好</a:t>
            </a:r>
            <a:endParaRPr lang="en-US" sz="800" dirty="0"/>
          </a:p>
        </p:txBody>
      </p:sp>
      <p:pic>
        <p:nvPicPr>
          <p:cNvPr id="9" name="Image 1" descr="/home/user/lxfs/pptx_build/figs/pie_ti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914400"/>
            <a:ext cx="2240280" cy="22402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46120" y="31729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居民户外活动时段分布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6217920" y="914400"/>
            <a:ext cx="2606040" cy="14173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09360" y="1005840"/>
            <a:ext cx="868680" cy="274320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09360" y="1005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基本需求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263640" y="1325880"/>
            <a:ext cx="25146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出行、日晒、休憩、体锻——全域无障碍步道、遮阳林荫、充足座椅、分龄健身场地。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217920" y="2468880"/>
            <a:ext cx="2606040" cy="14173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2560320"/>
            <a:ext cx="868680" cy="2743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0936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进阶需求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6263640" y="2880360"/>
            <a:ext cx="25146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情感、兴趣、社交、理疗——邻里聚会草坪、种植科普、康养步道、文化记忆节点。</a:t>
            </a:r>
            <a:endParaRPr lang="en-US" sz="8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29718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人群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主要活动时段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主要活动类型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中老年人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6:00—9:00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晨练散步、日间休憩闲谈、饭后休闲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中年群体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14:00—20:00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跑步、健身等体育运动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青少年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14:00—19:00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跑步、球类、骑行；上学途经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儿童（亲子）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全天分散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攀爬游乐、亲子游乐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626364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注：饼图数据为开题报告调研预测，待问卷统计后校正。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2.14 光照分析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pic>
        <p:nvPicPr>
          <p:cNvPr id="7" name="Image 0" descr="/home/user/lxfs/pptx_build/figs/sun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4160520" cy="2331720"/>
          </a:xfrm>
          <a:prstGeom prst="rect">
            <a:avLst/>
          </a:prstGeom>
        </p:spPr>
      </p:pic>
      <p:pic>
        <p:nvPicPr>
          <p:cNvPr id="8" name="Image 1" descr="/home/user/lxfs/pptx_build/figs/sun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932688"/>
            <a:ext cx="3474720" cy="2331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273552"/>
            <a:ext cx="41605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夏季太阳轨迹与场地日照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983480" y="3273552"/>
            <a:ext cx="34747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光照分析图（冬季太阳高度角较低）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57200" y="3566160"/>
            <a:ext cx="2697480" cy="11887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657600"/>
            <a:ext cx="1371600" cy="2743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8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全日照区（≥6h）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3977640"/>
            <a:ext cx="2606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场地开阔区域，适合布置阳光草坪、运动场地和露天活动空间。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291840" y="3566160"/>
            <a:ext cx="2697480" cy="11887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83280" y="3657600"/>
            <a:ext cx="1371600" cy="274320"/>
          </a:xfrm>
          <a:prstGeom prst="rect">
            <a:avLst/>
          </a:prstGeom>
          <a:solidFill>
            <a:srgbClr val="4E8A3E"/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383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半日照区（3—6h）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3337560" y="3977640"/>
            <a:ext cx="2606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场地两侧，适宜疏林草地、慢行步道和林下休憩空间。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126480" y="3566160"/>
            <a:ext cx="2697480" cy="11887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17920" y="3657600"/>
            <a:ext cx="1371600" cy="274320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17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阴影区（&lt;3h）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6172200" y="3977640"/>
            <a:ext cx="2606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受建筑阴影影响，可布置阴生植物景观和静谧休闲空间。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4754880"/>
            <a:ext cx="83667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夏季太阳高度角高，场地大部分区域日照强烈，需通过乔木遮阴提升舒适度；冬季太阳高度角较低，南侧和中部向阳空间更适合人群活动。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2.15 SWOT分析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114800" cy="18288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8" name="Image 0" descr="/home/user/lxfs/pptx_build/figs/satell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16341"/>
            <a:ext cx="1600200" cy="126149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0352" y="1216341"/>
            <a:ext cx="457200" cy="457200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121634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194560" y="1316736"/>
            <a:ext cx="2331720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规模8.6公顷，满足15分钟生活圈综合公园标准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四面临路，四面可设入口，可达性极强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场地平整无拆迁，建设成本低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周边居住人口密集，使用需求充足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9160" y="932688"/>
            <a:ext cx="4114800" cy="18288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14" name="Image 1" descr="/home/user/lxfs/pptx_build/figs/site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393185"/>
            <a:ext cx="1600200" cy="90780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82312" y="1393185"/>
            <a:ext cx="457200" cy="4572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82312" y="13931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446520" y="1316736"/>
            <a:ext cx="2331720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北侧主干道车流大，噪声粉尘干扰严重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现状成型乔木有限，初期需大量苗木栽植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场地缺少天然水系，需人工营造海绵水景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57200" y="2852928"/>
            <a:ext cx="4114800" cy="18288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20" name="Image 2" descr="/home/user/lxfs/pptx_build/figs/ma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74" y="2926080"/>
            <a:ext cx="937556" cy="168249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61674" y="2926080"/>
            <a:ext cx="457200" cy="457200"/>
          </a:xfrm>
          <a:prstGeom prst="rect">
            <a:avLst/>
          </a:prstGeom>
          <a:solidFill>
            <a:srgbClr val="4E8A3E"/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61674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2240280" y="2926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机遇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2194560" y="3236976"/>
            <a:ext cx="2331720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仁寿城北新城公园城市规划政策支持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片区缺少综合绿地，项目民生价值高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海绵城市、15分钟生活圈政策提供设计导向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周边小区入住率持续提升，远期人流增长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709160" y="2852928"/>
            <a:ext cx="4114800" cy="18288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26" name="Image 3" descr="/home/user/lxfs/pptx_build/figs/site_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311220"/>
            <a:ext cx="1600200" cy="91221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782312" y="3311220"/>
            <a:ext cx="457200" cy="457200"/>
          </a:xfrm>
          <a:prstGeom prst="rect">
            <a:avLst/>
          </a:prstGeom>
          <a:solidFill>
            <a:srgbClr val="8A8F9C"/>
          </a:solidFill>
          <a:ln w="12700">
            <a:solidFill>
              <a:srgbClr val="8A8F9C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782312" y="3311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6492240" y="2926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6446520" y="3236976"/>
            <a:ext cx="2331720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县城建设预算有限，不宜采用高端硬质景观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夏季多雨，需重点做好场地排水防涝设计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周边小区内部小型绿地分流部分休闲人群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4773168"/>
            <a:ext cx="8321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注：开题报告SWOT中“现状无成型乔木”与2.11“保留原生乔木群落”矛盾，此处按现状分析口径修正为“成型乔木有限”，请确认。</a:t>
            </a:r>
            <a:endParaRPr lang="en-US" sz="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项目研究概述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Summary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2.16 问题梳理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pic>
        <p:nvPicPr>
          <p:cNvPr id="7" name="Image 0" descr="/home/user/lxfs/pptx_build/figs/site_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748" y="932688"/>
            <a:ext cx="2398384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6748" y="1920240"/>
            <a:ext cx="2398384" cy="384048"/>
          </a:xfrm>
          <a:prstGeom prst="rect">
            <a:avLst/>
          </a:prstGeom>
          <a:solidFill>
            <a:srgbClr val="E07B2A">
              <a:alpha val="85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1612" y="1920240"/>
            <a:ext cx="2288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场地现状问题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2697480" cy="18288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2441448"/>
            <a:ext cx="260604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北侧普宁大道车流大，噪声、粉尘干扰严重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裸土地块土壤条件一般，需改良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无天然水体，旱地型地块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局部小土坡，场地平整度一般</a:t>
            </a:r>
            <a:endParaRPr lang="en-US" sz="850" dirty="0"/>
          </a:p>
        </p:txBody>
      </p:sp>
      <p:pic>
        <p:nvPicPr>
          <p:cNvPr id="12" name="Image 1" descr="/home/user/lxfs/pptx_build/figs/site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388" y="932688"/>
            <a:ext cx="2398384" cy="1371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41388" y="1920240"/>
            <a:ext cx="2398384" cy="384048"/>
          </a:xfrm>
          <a:prstGeom prst="rect">
            <a:avLst/>
          </a:prstGeom>
          <a:solidFill>
            <a:srgbClr val="1F3F7A">
              <a:alpha val="8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96252" y="1920240"/>
            <a:ext cx="2288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片区供给问题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91840" y="2377440"/>
            <a:ext cx="2697480" cy="18288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337560" y="2441448"/>
            <a:ext cx="260604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集中型公共休闲绿地供给严重不足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现有绿地为小区零散附属绿化，仅简易健身器械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缺乏规模化、分龄化专业运动场地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新城缺少文化景观载体与场所记忆</a:t>
            </a:r>
            <a:endParaRPr lang="en-US" sz="850" dirty="0"/>
          </a:p>
        </p:txBody>
      </p:sp>
      <p:pic>
        <p:nvPicPr>
          <p:cNvPr id="17" name="Image 2" descr="/home/user/lxfs/pptx_build/figs/site_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197" y="932688"/>
            <a:ext cx="2406047" cy="13716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72197" y="1920240"/>
            <a:ext cx="2406047" cy="384048"/>
          </a:xfrm>
          <a:prstGeom prst="rect">
            <a:avLst/>
          </a:prstGeom>
          <a:solidFill>
            <a:srgbClr val="4E8A3E">
              <a:alpha val="85000"/>
            </a:srgbClr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327061" y="1920240"/>
            <a:ext cx="2296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人群需求问题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26480" y="2377440"/>
            <a:ext cx="2697480" cy="18288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172200" y="2441448"/>
            <a:ext cx="260604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中老年占比高，康养、社交空间缺失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亲子群体缺少安全分龄游乐场地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青少年、学生缺少球类、跑步场地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夏季高温多雨，缺少遮阳与全天候活动条件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34340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以上问题对应第三部分设计目标（3.1）与设计策略（3.4）逐项回应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场地规划分析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Planning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pic>
        <p:nvPicPr>
          <p:cNvPr id="6" name="Image 0" descr="/home/user/lxfs/pptx_build/figs/x_tenn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6838" y="822960"/>
            <a:ext cx="1396603" cy="2103120"/>
          </a:xfrm>
          <a:prstGeom prst="rect">
            <a:avLst/>
          </a:prstGeom>
        </p:spPr>
      </p:pic>
      <p:pic>
        <p:nvPicPr>
          <p:cNvPr id="7" name="Image 1" descr="/home/user/lxfs/pptx_build/figs/x_sig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017520"/>
            <a:ext cx="1920240" cy="1355689"/>
          </a:xfrm>
          <a:prstGeom prst="rect">
            <a:avLst/>
          </a:prstGeom>
        </p:spPr>
      </p:pic>
      <p:pic>
        <p:nvPicPr>
          <p:cNvPr id="8" name="Image 2" descr="/home/user/lxfs/pptx_build/figs/x_greenhous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832" y="3017520"/>
            <a:ext cx="1130016" cy="16916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914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场地规划分析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24231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设计目标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设计原则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设计构思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设计策略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 设计成果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3.6 进度安排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 参考文献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场地规划分析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Objectives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设计目标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pic>
        <p:nvPicPr>
          <p:cNvPr id="7" name="Image 0" descr="/home/user/lxfs/pptx_build/figs/x_l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2011680" cy="15248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046061"/>
            <a:ext cx="2011680" cy="411480"/>
          </a:xfrm>
          <a:prstGeom prst="rect">
            <a:avLst/>
          </a:prstGeom>
          <a:solidFill>
            <a:srgbClr val="4E8A3E">
              <a:alpha val="85000"/>
            </a:srgbClr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2046061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063240"/>
            <a:ext cx="310896" cy="310896"/>
          </a:xfrm>
          <a:prstGeom prst="ellipse">
            <a:avLst/>
          </a:prstGeom>
          <a:solidFill>
            <a:srgbClr val="4E8A3E"/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3063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8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生态目标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456432"/>
            <a:ext cx="2011680" cy="12801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2064" y="3502152"/>
            <a:ext cx="190195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多层次乡土植物群落 + 主干道生态缓冲带 + 海绵雨水系统，降低径流，削弱噪声粉尘，修复片区微型生态。</a:t>
            </a:r>
            <a:endParaRPr lang="en-US" sz="850" dirty="0"/>
          </a:p>
        </p:txBody>
      </p:sp>
      <p:pic>
        <p:nvPicPr>
          <p:cNvPr id="15" name="Image 1" descr="/home/user/lxfs/pptx_build/figs/x_basketbal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271" y="932688"/>
            <a:ext cx="1339779" cy="2011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896271" y="2532888"/>
            <a:ext cx="1339779" cy="411480"/>
          </a:xfrm>
          <a:prstGeom prst="rect">
            <a:avLst/>
          </a:prstGeom>
          <a:solidFill>
            <a:srgbClr val="E07B2A">
              <a:alpha val="85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951135" y="2532888"/>
            <a:ext cx="12300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功能目标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560320" y="3063240"/>
            <a:ext cx="310896" cy="310896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56032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2944368" y="3063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功能目标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560320" y="3456432"/>
            <a:ext cx="2011680" cy="12801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615184" y="3502152"/>
            <a:ext cx="190195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婴幼儿游乐、青少年运动、老年康养、邻里大草坪、自然科普五大核心分区，满足日常游憩、健身、社交需求。</a:t>
            </a:r>
            <a:endParaRPr lang="en-US" sz="850" dirty="0"/>
          </a:p>
        </p:txBody>
      </p:sp>
      <p:pic>
        <p:nvPicPr>
          <p:cNvPr id="23" name="Image 2" descr="/home/user/lxfs/pptx_build/figs/x_aerial_cit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32688"/>
            <a:ext cx="2011680" cy="113157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663440" y="1652778"/>
            <a:ext cx="2011680" cy="411480"/>
          </a:xfrm>
          <a:prstGeom prst="rect">
            <a:avLst/>
          </a:prstGeom>
          <a:solidFill>
            <a:srgbClr val="1F3F7A">
              <a:alpha val="8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718304" y="165277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空间目标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663440" y="3063240"/>
            <a:ext cx="310896" cy="310896"/>
          </a:xfrm>
          <a:prstGeom prst="ellipse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66344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047488" y="3063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空间目标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663440" y="3456432"/>
            <a:ext cx="2011680" cy="12801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718304" y="3502152"/>
            <a:ext cx="190195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优化主次入口与人车流线，打通四向人行通道，公园与居住区步行无缝衔接，形成连贯游览轴线。</a:t>
            </a:r>
            <a:endParaRPr lang="en-US" sz="850" dirty="0"/>
          </a:p>
        </p:txBody>
      </p:sp>
      <p:pic>
        <p:nvPicPr>
          <p:cNvPr id="31" name="Image 3" descr="/home/user/lxfs/pptx_build/figs/satellit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932688"/>
            <a:ext cx="2011680" cy="158587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6766560" y="2107086"/>
            <a:ext cx="2011680" cy="411480"/>
          </a:xfrm>
          <a:prstGeom prst="rect">
            <a:avLst/>
          </a:prstGeom>
          <a:solidFill>
            <a:srgbClr val="5B7DB1">
              <a:alpha val="85000"/>
            </a:srgbClr>
          </a:solidFill>
          <a:ln w="12700">
            <a:solidFill>
              <a:srgbClr val="5B7DB1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821424" y="210708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落地目标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766560" y="3063240"/>
            <a:ext cx="310896" cy="310896"/>
          </a:xfrm>
          <a:prstGeom prst="ellipse">
            <a:avLst/>
          </a:prstGeom>
          <a:solidFill>
            <a:srgbClr val="5B7DB1"/>
          </a:solidFill>
          <a:ln w="12700">
            <a:solidFill>
              <a:srgbClr val="5B7DB1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76656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150608" y="3063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D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落地目标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6766560" y="3456432"/>
            <a:ext cx="2011680" cy="12801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821424" y="3502152"/>
            <a:ext cx="190195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低成本、低维护：眉山本土苗木，减少土方开挖，构筑物简约轻量化，适配县城建设标准。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场地规划分析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设计原则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pic>
        <p:nvPicPr>
          <p:cNvPr id="7" name="Image 0" descr="/home/user/lxfs/pptx_build/figs/x_sw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2011680" cy="125138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772591"/>
            <a:ext cx="2011680" cy="411480"/>
          </a:xfrm>
          <a:prstGeom prst="rect">
            <a:avLst/>
          </a:prstGeom>
          <a:solidFill>
            <a:srgbClr val="1F3F7A">
              <a:alpha val="8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1772591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以人为本·全龄友好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3063240"/>
            <a:ext cx="2011680" cy="16459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0352" y="3127248"/>
            <a:ext cx="1865376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依老人、儿童、中青年行为特征分区，全域无障碍步道、休憩座椅、遮阳乔木，兼顾安全、舒适、可达。</a:t>
            </a:r>
            <a:endParaRPr lang="en-US" sz="950" dirty="0"/>
          </a:p>
        </p:txBody>
      </p:sp>
      <p:pic>
        <p:nvPicPr>
          <p:cNvPr id="12" name="Image 1" descr="/home/user/lxfs/pptx_build/figs/x_plaz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932688"/>
            <a:ext cx="2011680" cy="1508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60320" y="2029968"/>
            <a:ext cx="2011680" cy="411480"/>
          </a:xfrm>
          <a:prstGeom prst="rect">
            <a:avLst/>
          </a:prstGeom>
          <a:solidFill>
            <a:srgbClr val="E07B2A">
              <a:alpha val="85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615184" y="202996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交通便捷·开放共享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560320" y="3063240"/>
            <a:ext cx="2011680" cy="16459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633472" y="3127248"/>
            <a:ext cx="1865376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四面设主次人行入口，绿篱、微地形软边界代替围墙，24小时开放，绿地资源全民共享。</a:t>
            </a:r>
            <a:endParaRPr lang="en-US" sz="950" dirty="0"/>
          </a:p>
        </p:txBody>
      </p:sp>
      <p:pic>
        <p:nvPicPr>
          <p:cNvPr id="17" name="Image 2" descr="/home/user/lxfs/pptx_build/figs/x_stonewal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32688"/>
            <a:ext cx="2011680" cy="153692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663440" y="2058132"/>
            <a:ext cx="2011680" cy="411480"/>
          </a:xfrm>
          <a:prstGeom prst="rect">
            <a:avLst/>
          </a:prstGeom>
          <a:solidFill>
            <a:srgbClr val="4E8A3E">
              <a:alpha val="85000"/>
            </a:srgbClr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718304" y="205813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乡土风貌·简约宜居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3063240"/>
            <a:ext cx="2011680" cy="16459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736592" y="3127248"/>
            <a:ext cx="1865376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川南浅丘自然简约风格，小品铺装提取仁寿田园、黑龙滩水系元素，质朴舒适。</a:t>
            </a:r>
            <a:endParaRPr lang="en-US" sz="950" dirty="0"/>
          </a:p>
        </p:txBody>
      </p:sp>
      <p:pic>
        <p:nvPicPr>
          <p:cNvPr id="22" name="Image 3" descr="/home/user/lxfs/pptx_build/figs/x_lak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932688"/>
            <a:ext cx="2011680" cy="1524853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766560" y="2046061"/>
            <a:ext cx="2011680" cy="411480"/>
          </a:xfrm>
          <a:prstGeom prst="rect">
            <a:avLst/>
          </a:prstGeom>
          <a:solidFill>
            <a:srgbClr val="5B7DB1">
              <a:alpha val="85000"/>
            </a:srgbClr>
          </a:solidFill>
          <a:ln w="12700">
            <a:solidFill>
              <a:srgbClr val="5B7DB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21424" y="2046061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生态节约·海绵低碳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766560" y="3063240"/>
            <a:ext cx="2011680" cy="16459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39712" y="3127248"/>
            <a:ext cx="1865376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保留平整原始地形，土方场内平衡；桢楠、香樟、桂花、紫薇等乡土树种；雨水花园、植草沟就地净化利用。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场地规划分析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Concept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设计构思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pic>
        <p:nvPicPr>
          <p:cNvPr id="7" name="Image 0" descr="/home/user/lxfs/pptx_build/figs/satell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206240" cy="33159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914400"/>
            <a:ext cx="4206240" cy="6858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960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跃动·栖园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1097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一环 · 一带 · 三组团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453086"/>
            <a:ext cx="4206240" cy="777240"/>
          </a:xfrm>
          <a:prstGeom prst="rect">
            <a:avLst/>
          </a:prstGeom>
          <a:solidFill>
            <a:srgbClr val="1F3F7A">
              <a:alpha val="7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47137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“跃动”对应全民健康——全龄运动、活力健身；“栖园”对应生态栖居——林下休憩、海绵生态、乡土记忆。以“一环”健康步道串联“动”“静”两类组团，主干道一侧以“一带”防护林承担生态缓冲。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892040" y="914400"/>
            <a:ext cx="3931920" cy="10515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14" name="Image 1" descr="/home/user/lxfs/pptx_build/figs/x_ba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997336"/>
            <a:ext cx="1325880" cy="8856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55080" y="1005840"/>
            <a:ext cx="64008" cy="8686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92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跃动组团（动）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446520" y="1298448"/>
            <a:ext cx="2331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青少年球类运动区、中青年健身器械区、环形健康步道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92040" y="2057400"/>
            <a:ext cx="3931920" cy="10515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19" name="Image 2" descr="/home/user/lxfs/pptx_build/figs/x_benc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140336"/>
            <a:ext cx="1325880" cy="88568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355080" y="2148840"/>
            <a:ext cx="64008" cy="868680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922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栖居组团（静）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446520" y="2441448"/>
            <a:ext cx="2331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老年康养林荫区、邻里阳光草坪、海绵雨水花园、文化记忆节点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892040" y="3200400"/>
            <a:ext cx="3931920" cy="105156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24" name="Image 3" descr="/home/user/lxfs/pptx_build/figs/x_swin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313792"/>
            <a:ext cx="1325880" cy="82477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355080" y="3291840"/>
            <a:ext cx="64008" cy="868680"/>
          </a:xfrm>
          <a:prstGeom prst="rect">
            <a:avLst/>
          </a:prstGeom>
          <a:solidFill>
            <a:srgbClr val="4E8A3E"/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4922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8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亲子组团（动静结合）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446520" y="3584448"/>
            <a:ext cx="2331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分龄儿童游乐区、家长看护休憩、自然科普种植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892040" y="4343400"/>
            <a:ext cx="3931920" cy="411480"/>
          </a:xfrm>
          <a:prstGeom prst="rect">
            <a:avLst/>
          </a:prstGeom>
          <a:solidFill>
            <a:srgbClr val="3E5A3A"/>
          </a:solidFill>
          <a:ln w="12700">
            <a:solidFill>
              <a:srgbClr val="3E5A3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92040" y="4343400"/>
            <a:ext cx="982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全龄运动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875020" y="4343400"/>
            <a:ext cx="982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林下栖居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858000" y="4343400"/>
            <a:ext cx="982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海绵生态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7840980" y="4343400"/>
            <a:ext cx="982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乡土记忆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注：本页构思为依据开题报告目标与案例借鉴整理的初步框架，需确认或替换。</a:t>
            </a:r>
            <a:endParaRPr lang="en-US" sz="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场地规划分析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Strategy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设计策略——策略框架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pic>
        <p:nvPicPr>
          <p:cNvPr id="7" name="Image 0" descr="/home/user/lxfs/pptx_build/figs/strateg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85" y="932688"/>
            <a:ext cx="5746351" cy="3794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474573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设计策略框架图（开题报告）</a:t>
            </a:r>
            <a:endParaRPr lang="en-US" sz="800" dirty="0"/>
          </a:p>
        </p:txBody>
      </p:sp>
      <p:pic>
        <p:nvPicPr>
          <p:cNvPr id="9" name="Image 1" descr="/home/user/lxfs/pptx_build/figs/x_tenni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548" y="932688"/>
            <a:ext cx="789384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46520" y="2139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运动专项场地</a:t>
            </a:r>
            <a:endParaRPr lang="en-US" sz="800" dirty="0"/>
          </a:p>
        </p:txBody>
      </p:sp>
      <p:pic>
        <p:nvPicPr>
          <p:cNvPr id="11" name="Image 2" descr="/home/user/lxfs/pptx_build/figs/x_sig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370" y="2331720"/>
            <a:ext cx="1683739" cy="11887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446520" y="3538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标识导览与配套设施</a:t>
            </a:r>
            <a:endParaRPr lang="en-US" sz="800" dirty="0"/>
          </a:p>
        </p:txBody>
      </p:sp>
      <p:pic>
        <p:nvPicPr>
          <p:cNvPr id="13" name="Image 3" descr="/home/user/lxfs/pptx_build/figs/x_greenhous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560" y="3730752"/>
            <a:ext cx="641360" cy="9601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446520" y="4709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生态基底与植物景观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场地规划分析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Strategy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设计策略——回应2.16问题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366760" cy="8686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8" name="Image 0" descr="/home/user/lxfs/pptx_build/figs/x_aerial_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9435" y="978408"/>
            <a:ext cx="788890" cy="777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932688"/>
            <a:ext cx="1600200" cy="868680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93268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</a:t>
            </a:r>
            <a:endParaRPr lang="en-US" sz="8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整体空间统筹规划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2148840" y="102412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结合周边人群需求划分功能板块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130552" y="128016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运动健身区 / 生态休闲区 / 亲子活动区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3959352" y="102412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统筹布置公园主次出入口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941064" y="128016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四向人行入口对应小区与学校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5769864" y="102412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组织场地交通流线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51576" y="128016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人车分流 / 慢行运动步道 / 优化游览运动路线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57200" y="1892808"/>
            <a:ext cx="8366760" cy="86868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pic>
        <p:nvPicPr>
          <p:cNvPr id="18" name="Image 1" descr="/home/user/lxfs/pptx_build/figs/x_kit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51958"/>
            <a:ext cx="1188720" cy="7503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57200" y="1892808"/>
            <a:ext cx="1600200" cy="8686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2920" y="189280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中观</a:t>
            </a:r>
            <a:endParaRPr lang="en-US" sz="8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全龄友好分区活力营造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2148840" y="198424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匹配各年龄段活动诉求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2130552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老年康养 / 儿童亲子 / 青年运动 / 大众休闲社交空间</a:t>
            </a:r>
            <a:endParaRPr lang="en-US" sz="750" dirty="0"/>
          </a:p>
        </p:txBody>
      </p:sp>
      <p:sp>
        <p:nvSpPr>
          <p:cNvPr id="23" name="Text 19"/>
          <p:cNvSpPr txBox="1"/>
          <p:nvPr/>
        </p:nvSpPr>
        <p:spPr>
          <a:xfrm>
            <a:off x="3959352" y="198424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打造多元全民健身场景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3941064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分龄场地与动静分区</a:t>
            </a:r>
            <a:endParaRPr lang="en-US" sz="750" dirty="0"/>
          </a:p>
        </p:txBody>
      </p:sp>
      <p:sp>
        <p:nvSpPr>
          <p:cNvPr id="25" name="Text 21"/>
          <p:cNvSpPr txBox="1"/>
          <p:nvPr/>
        </p:nvSpPr>
        <p:spPr>
          <a:xfrm>
            <a:off x="5769864" y="198424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激活各片区场地活力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5751576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环形健康步道串联组团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457200" y="2852928"/>
            <a:ext cx="8366760" cy="8686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28" name="Image 2" descr="/home/user/lxfs/pptx_build/figs/x_basketbal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059" y="2898648"/>
            <a:ext cx="517642" cy="77724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57200" y="2852928"/>
            <a:ext cx="1600200" cy="868680"/>
          </a:xfrm>
          <a:prstGeom prst="rect">
            <a:avLst/>
          </a:prstGeom>
          <a:solidFill>
            <a:srgbClr val="4E8A3E"/>
          </a:solidFill>
          <a:ln w="12700">
            <a:solidFill>
              <a:srgbClr val="4E8A3E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02920" y="285292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微观·核心</a:t>
            </a:r>
            <a:endParaRPr lang="en-US" sz="8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运动专项景观设施提升</a:t>
            </a:r>
            <a:endParaRPr lang="en-US" sz="850" dirty="0"/>
          </a:p>
        </p:txBody>
      </p:sp>
      <p:sp>
        <p:nvSpPr>
          <p:cNvPr id="31" name="Text 26"/>
          <p:cNvSpPr txBox="1"/>
          <p:nvPr/>
        </p:nvSpPr>
        <p:spPr>
          <a:xfrm>
            <a:off x="2148840" y="2944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8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体育运动场地配置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2130552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球类运动场地 / 健身器械点位 / 健身慢跑步道</a:t>
            </a:r>
            <a:endParaRPr lang="en-US" sz="750" dirty="0"/>
          </a:p>
        </p:txBody>
      </p:sp>
      <p:sp>
        <p:nvSpPr>
          <p:cNvPr id="33" name="Text 28"/>
          <p:cNvSpPr txBox="1"/>
          <p:nvPr/>
        </p:nvSpPr>
        <p:spPr>
          <a:xfrm>
            <a:off x="3959352" y="2944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8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运动配套休憩设施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3941064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运动休息节点 / 标识导览系统 / 基础便民服务设施</a:t>
            </a:r>
            <a:endParaRPr lang="en-US" sz="750" dirty="0"/>
          </a:p>
        </p:txBody>
      </p:sp>
      <p:sp>
        <p:nvSpPr>
          <p:cNvPr id="35" name="Text 30"/>
          <p:cNvSpPr txBox="1"/>
          <p:nvPr/>
        </p:nvSpPr>
        <p:spPr>
          <a:xfrm>
            <a:off x="5769864" y="2944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8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文化植入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5751576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黑龙滩水利记忆铺装 / 陵州文脉标识小品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57200" y="3813048"/>
            <a:ext cx="8366760" cy="86868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pic>
        <p:nvPicPr>
          <p:cNvPr id="38" name="Image 3" descr="/home/user/lxfs/pptx_build/figs/x_daisy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720" y="3858768"/>
            <a:ext cx="1036320" cy="77724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457200" y="3813048"/>
            <a:ext cx="1600200" cy="868680"/>
          </a:xfrm>
          <a:prstGeom prst="rect">
            <a:avLst/>
          </a:prstGeom>
          <a:solidFill>
            <a:srgbClr val="5B7DB1"/>
          </a:solidFill>
          <a:ln w="12700">
            <a:solidFill>
              <a:srgbClr val="5B7DB1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502920" y="381304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次要后置</a:t>
            </a:r>
            <a:endParaRPr lang="en-US" sz="8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场地生态基底优化</a:t>
            </a:r>
            <a:endParaRPr lang="en-US" sz="850" dirty="0"/>
          </a:p>
        </p:txBody>
      </p:sp>
      <p:sp>
        <p:nvSpPr>
          <p:cNvPr id="41" name="Text 35"/>
          <p:cNvSpPr txBox="1"/>
          <p:nvPr/>
        </p:nvSpPr>
        <p:spPr>
          <a:xfrm>
            <a:off x="2148840" y="390448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D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保留场地原生林地植被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2130552" y="416052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北侧多层乔灌降噪防护林带</a:t>
            </a:r>
            <a:endParaRPr lang="en-US" sz="750" dirty="0"/>
          </a:p>
        </p:txBody>
      </p:sp>
      <p:sp>
        <p:nvSpPr>
          <p:cNvPr id="43" name="Text 37"/>
          <p:cNvSpPr txBox="1"/>
          <p:nvPr/>
        </p:nvSpPr>
        <p:spPr>
          <a:xfrm>
            <a:off x="3959352" y="390448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D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修复场地裸土地块环境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3941064" y="416052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乡土植物构建复层群落</a:t>
            </a:r>
            <a:endParaRPr lang="en-US" sz="750" dirty="0"/>
          </a:p>
        </p:txBody>
      </p:sp>
      <p:sp>
        <p:nvSpPr>
          <p:cNvPr id="45" name="Text 39"/>
          <p:cNvSpPr txBox="1"/>
          <p:nvPr/>
        </p:nvSpPr>
        <p:spPr>
          <a:xfrm>
            <a:off x="5769864" y="390448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D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海绵雨水场地处理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5751576" y="416052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透水铺装 + 植草沟 + 线性雨水花园</a:t>
            </a:r>
            <a:endParaRPr lang="en-US" sz="750" dirty="0"/>
          </a:p>
        </p:txBody>
      </p:sp>
      <p:sp>
        <p:nvSpPr>
          <p:cNvPr id="47" name="Text 41"/>
          <p:cNvSpPr txBox="1"/>
          <p:nvPr/>
        </p:nvSpPr>
        <p:spPr>
          <a:xfrm>
            <a:off x="457200" y="4800600"/>
            <a:ext cx="73152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策略框架来源：开题报告4.9设计策略图（宏观—中观—微观—后置四层级）。</a:t>
            </a:r>
            <a:endParaRPr lang="en-US" sz="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场地规划分析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Deliverables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 设计成果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4206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383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主要内容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现状分析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区位、自然条件（地形、气候）、社会条件（风貌、文化、道路、交通、用地、人群行为）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设计分析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场地道路、视线、建筑、入口、人流分析、景观序列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设计图纸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总平面图（图名图例比例风玫瑰）、节点详图（平面、立面、细节）、植物配置图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效果图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场地鸟瞰图、节点效果图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专项设计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建筑外立面、照明设计、平面图、立面图、效果图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设计目的、依据与政策、思想与原则、现状分析、设计分析、设计说明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/home/user/lxfs/pptx_build/figs/x_aerial_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891" y="932688"/>
            <a:ext cx="1206538" cy="11887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248891" y="1847088"/>
            <a:ext cx="1206538" cy="274320"/>
          </a:xfrm>
          <a:prstGeom prst="rect">
            <a:avLst/>
          </a:prstGeom>
          <a:solidFill>
            <a:srgbClr val="1F3F7A">
              <a:alpha val="8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03755" y="1847088"/>
            <a:ext cx="1096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场地鸟瞰图</a:t>
            </a:r>
            <a:endParaRPr lang="en-US" sz="850" dirty="0"/>
          </a:p>
        </p:txBody>
      </p:sp>
      <p:pic>
        <p:nvPicPr>
          <p:cNvPr id="11" name="Image 1" descr="/home/user/lxfs/pptx_build/figs/x_basketbal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996" y="932688"/>
            <a:ext cx="791688" cy="11887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467996" y="1847088"/>
            <a:ext cx="791688" cy="274320"/>
          </a:xfrm>
          <a:prstGeom prst="rect">
            <a:avLst/>
          </a:prstGeom>
          <a:solidFill>
            <a:srgbClr val="1F3F7A">
              <a:alpha val="8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522860" y="1847088"/>
            <a:ext cx="68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节点效果图</a:t>
            </a:r>
            <a:endParaRPr lang="en-US" sz="850" dirty="0"/>
          </a:p>
        </p:txBody>
      </p:sp>
      <p:pic>
        <p:nvPicPr>
          <p:cNvPr id="14" name="Image 2" descr="/home/user/lxfs/pptx_build/figs/plan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212848"/>
            <a:ext cx="1920240" cy="105471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892040" y="2993245"/>
            <a:ext cx="1920240" cy="274320"/>
          </a:xfrm>
          <a:prstGeom prst="rect">
            <a:avLst/>
          </a:prstGeom>
          <a:solidFill>
            <a:srgbClr val="1F3F7A">
              <a:alpha val="8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4946904" y="2993245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植物配置图</a:t>
            </a:r>
            <a:endParaRPr lang="en-US" sz="850" dirty="0"/>
          </a:p>
        </p:txBody>
      </p:sp>
      <p:pic>
        <p:nvPicPr>
          <p:cNvPr id="17" name="Image 3" descr="/home/user/lxfs/pptx_build/figs/sitepla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756" y="2212848"/>
            <a:ext cx="676168" cy="118872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525756" y="3127248"/>
            <a:ext cx="676168" cy="274320"/>
          </a:xfrm>
          <a:prstGeom prst="rect">
            <a:avLst/>
          </a:prstGeom>
          <a:solidFill>
            <a:srgbClr val="1F3F7A">
              <a:alpha val="8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7580620" y="3127248"/>
            <a:ext cx="56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总平面图</a:t>
            </a:r>
            <a:endParaRPr lang="en-US" sz="850" dirty="0"/>
          </a:p>
        </p:txBody>
      </p:sp>
      <p:pic>
        <p:nvPicPr>
          <p:cNvPr id="20" name="Image 4" descr="/home/user/lxfs/pptx_build/figs/x_church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680" y="3493008"/>
            <a:ext cx="1584960" cy="118872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059680" y="4407408"/>
            <a:ext cx="1584960" cy="274320"/>
          </a:xfrm>
          <a:prstGeom prst="rect">
            <a:avLst/>
          </a:prstGeom>
          <a:solidFill>
            <a:srgbClr val="1F3F7A">
              <a:alpha val="8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5114544" y="4407408"/>
            <a:ext cx="147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建筑专项</a:t>
            </a:r>
            <a:endParaRPr lang="en-US" sz="850" dirty="0"/>
          </a:p>
        </p:txBody>
      </p:sp>
      <p:pic>
        <p:nvPicPr>
          <p:cNvPr id="23" name="Image 5" descr="/home/user/lxfs/pptx_build/figs/x_ligh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070" y="3493008"/>
            <a:ext cx="891540" cy="118872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418070" y="4407408"/>
            <a:ext cx="891540" cy="274320"/>
          </a:xfrm>
          <a:prstGeom prst="rect">
            <a:avLst/>
          </a:prstGeom>
          <a:solidFill>
            <a:srgbClr val="1F3F7A">
              <a:alpha val="85000"/>
            </a:srgbClr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7472934" y="4407408"/>
            <a:ext cx="78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照明与小品</a:t>
            </a:r>
            <a:endParaRPr lang="en-US" sz="850" dirty="0"/>
          </a:p>
        </p:txBody>
      </p:sp>
      <p:sp>
        <p:nvSpPr>
          <p:cNvPr id="26" name="Text 17"/>
          <p:cNvSpPr txBox="1"/>
          <p:nvPr/>
        </p:nvSpPr>
        <p:spPr>
          <a:xfrm>
            <a:off x="4892040" y="4773168"/>
            <a:ext cx="39319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成果类型示意（案例图片）</a:t>
            </a:r>
            <a:endParaRPr lang="en-US" sz="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场地规划分析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3.6 进度安排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931920" y="932688"/>
            <a:ext cx="584073" cy="27432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932688"/>
            <a:ext cx="611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43425" y="932688"/>
            <a:ext cx="584073" cy="2743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3425" y="932688"/>
            <a:ext cx="611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10月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154930" y="932688"/>
            <a:ext cx="584073" cy="27432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4930" y="932688"/>
            <a:ext cx="611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66435" y="932688"/>
            <a:ext cx="584073" cy="2743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6435" y="932688"/>
            <a:ext cx="611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12月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377940" y="932688"/>
            <a:ext cx="584073" cy="27432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7940" y="932688"/>
            <a:ext cx="611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1月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89445" y="932688"/>
            <a:ext cx="584073" cy="2743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89445" y="932688"/>
            <a:ext cx="611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2月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00950" y="932688"/>
            <a:ext cx="584073" cy="27432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00950" y="932688"/>
            <a:ext cx="611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12455" y="932688"/>
            <a:ext cx="584073" cy="2743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12455" y="932688"/>
            <a:ext cx="611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1353312"/>
            <a:ext cx="274320" cy="274320"/>
          </a:xfrm>
          <a:prstGeom prst="ellipse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13258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2026.09.01—09.25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13258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收集资料，完成选题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31920" y="1655064"/>
            <a:ext cx="4892040" cy="0"/>
          </a:xfrm>
          <a:prstGeom prst="line">
            <a:avLst/>
          </a:prstGeom>
          <a:noFill/>
          <a:ln w="6350">
            <a:solidFill>
              <a:srgbClr val="E3E6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1399032"/>
            <a:ext cx="507549" cy="182880"/>
          </a:xfrm>
          <a:prstGeom prst="rect">
            <a:avLst/>
          </a:prstGeom>
          <a:solidFill>
            <a:srgbClr val="8FA6D6"/>
          </a:solidFill>
          <a:ln w="12700">
            <a:solidFill>
              <a:srgbClr val="8FA6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1783080"/>
            <a:ext cx="274320" cy="274320"/>
          </a:xfrm>
          <a:prstGeom prst="ellipse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17556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2026.09.26—10.26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17556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完成开题报告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31920" y="2084832"/>
            <a:ext cx="4892040" cy="0"/>
          </a:xfrm>
          <a:prstGeom prst="line">
            <a:avLst/>
          </a:prstGeom>
          <a:noFill/>
          <a:ln w="6350">
            <a:solidFill>
              <a:srgbClr val="E3E6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51699" y="1828800"/>
            <a:ext cx="623735" cy="182880"/>
          </a:xfrm>
          <a:prstGeom prst="rect">
            <a:avLst/>
          </a:prstGeom>
          <a:solidFill>
            <a:srgbClr val="8FA6D6"/>
          </a:solidFill>
          <a:ln w="12700">
            <a:solidFill>
              <a:srgbClr val="8FA6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212848"/>
            <a:ext cx="274320" cy="274320"/>
          </a:xfrm>
          <a:prstGeom prst="ellipse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218541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2026.10.27—10.28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242316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开题答辩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31920" y="2514600"/>
            <a:ext cx="4892040" cy="0"/>
          </a:xfrm>
          <a:prstGeom prst="line">
            <a:avLst/>
          </a:prstGeom>
          <a:noFill/>
          <a:ln w="6350">
            <a:solidFill>
              <a:srgbClr val="E3E6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75434" y="2258568"/>
            <a:ext cx="73152" cy="1828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2642616"/>
            <a:ext cx="274320" cy="274320"/>
          </a:xfrm>
          <a:prstGeom prst="ellipse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26151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2026.10.29—11.09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2423160" y="26151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搜集资料、实地研究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31920" y="2944368"/>
            <a:ext cx="4892040" cy="0"/>
          </a:xfrm>
          <a:prstGeom prst="line">
            <a:avLst/>
          </a:prstGeom>
          <a:noFill/>
          <a:ln w="6350">
            <a:solidFill>
              <a:srgbClr val="E3E6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4355" y="2688336"/>
            <a:ext cx="214027" cy="182880"/>
          </a:xfrm>
          <a:prstGeom prst="rect">
            <a:avLst/>
          </a:prstGeom>
          <a:solidFill>
            <a:srgbClr val="8FA6D6"/>
          </a:solidFill>
          <a:ln w="12700">
            <a:solidFill>
              <a:srgbClr val="8FA6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072384"/>
            <a:ext cx="274320" cy="274320"/>
          </a:xfrm>
          <a:prstGeom prst="ellipse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720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" y="30449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2026.11.10—12.25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2423160" y="30449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完成初稿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31920" y="3374136"/>
            <a:ext cx="4892040" cy="0"/>
          </a:xfrm>
          <a:prstGeom prst="line">
            <a:avLst/>
          </a:prstGeom>
          <a:noFill/>
          <a:ln w="6350">
            <a:solidFill>
              <a:srgbClr val="E3E6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56727" y="3118104"/>
            <a:ext cx="917257" cy="182880"/>
          </a:xfrm>
          <a:prstGeom prst="rect">
            <a:avLst/>
          </a:prstGeom>
          <a:solidFill>
            <a:srgbClr val="8FA6D6"/>
          </a:solidFill>
          <a:ln w="12700">
            <a:solidFill>
              <a:srgbClr val="8FA6D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3502152"/>
            <a:ext cx="274320" cy="274320"/>
          </a:xfrm>
          <a:prstGeom prst="ellipse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5720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22960" y="34747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2026.12.26—2027.02.25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4747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完成修改稿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931920" y="3803904"/>
            <a:ext cx="4892040" cy="0"/>
          </a:xfrm>
          <a:prstGeom prst="line">
            <a:avLst/>
          </a:prstGeom>
          <a:noFill/>
          <a:ln w="6350">
            <a:solidFill>
              <a:srgbClr val="E3E6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86214" y="3547872"/>
            <a:ext cx="1223010" cy="182880"/>
          </a:xfrm>
          <a:prstGeom prst="rect">
            <a:avLst/>
          </a:prstGeom>
          <a:solidFill>
            <a:srgbClr val="8FA6D6"/>
          </a:solidFill>
          <a:ln w="12700">
            <a:solidFill>
              <a:srgbClr val="8FA6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3931920"/>
            <a:ext cx="274320" cy="274320"/>
          </a:xfrm>
          <a:prstGeom prst="ellipse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5720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822960" y="39044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2027.02.26—03.25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2423160" y="39044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完成定稿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931920" y="4233672"/>
            <a:ext cx="4892040" cy="0"/>
          </a:xfrm>
          <a:prstGeom prst="line">
            <a:avLst/>
          </a:prstGeom>
          <a:noFill/>
          <a:ln w="6350">
            <a:solidFill>
              <a:srgbClr val="E3E6E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21454" y="3977640"/>
            <a:ext cx="587045" cy="182880"/>
          </a:xfrm>
          <a:prstGeom prst="rect">
            <a:avLst/>
          </a:prstGeom>
          <a:solidFill>
            <a:srgbClr val="8FA6D6"/>
          </a:solidFill>
          <a:ln w="12700">
            <a:solidFill>
              <a:srgbClr val="8FA6D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4361688"/>
            <a:ext cx="274320" cy="27432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57200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822960" y="43342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2027.04.07—04.08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3342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毕业答辩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931920" y="4663440"/>
            <a:ext cx="4892040" cy="0"/>
          </a:xfrm>
          <a:prstGeom prst="line">
            <a:avLst/>
          </a:prstGeom>
          <a:noFill/>
          <a:ln w="6350">
            <a:solidFill>
              <a:srgbClr val="E3E6E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34756" y="4407408"/>
            <a:ext cx="73152" cy="1828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场地规划分析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 参考文献（1/2）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366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孟语.城市体育公园规划设计与发展研究[D].北京：北京林业大学,2016.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史熙文.城市体育公园景观设计研究[D].大连：大连工业大学,2021.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吴子姮.基于环境行为学的城市体育公园规划设计研究[D].北京：北京林业大学,2022.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李雨桐.全龄友好视角下县城体育公园景观设计研究[D].成都：四川农业大学,2023.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由文华,吉云波.体育景观环境[M].北京：北京体育大学出版社,2018.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王晓俊.风景园林设计[M].南京：江苏科学技术出版社,2018.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 扬·盖尔.交往与空间[M].何人可,译.4版.北京：中国建筑工业出版社,2002.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 胡鞍钢,方旭东.全民健身国家战略：内涵与发展思路[J].体育科学,2016,36(03):3-9.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 蒋荣,熊瑶.全民健身战略下的社区体育公园景观设计研究[J].设计艺术研究,2022,12(04):77-82.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金依然.全民健身背景下县级体育公园建设研究[J].广西城镇建设,2024(07):68-72.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 陈芃序,王天扬,张德顺.全民健身背景下城市社区公园环境设计研究[J].华中建筑,2023,41(02):68-72.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场地规划分析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30352"/>
            <a:ext cx="8503920" cy="0"/>
          </a:xfrm>
          <a:prstGeom prst="line">
            <a:avLst/>
          </a:prstGeom>
          <a:noFill/>
          <a:ln w="9525">
            <a:solidFill>
              <a:srgbClr val="A9B4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6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 参考文献（2/2）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366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[12] 周聪惠,陶成蹊,刘婧方,等.基于弹性共享的户外健身设施群体需求响应评测研究[J].风景园林,2024,31(02):48-55.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[13] 张俊涛,杨洪.县域体育公园治理路径研究——以晋江智慧体育公园为例[J].运动精品,2023(07):66-68.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[14] 住房和城乡建设部.公园设计规范：GB 51192-2016[S].北京：中国建筑工业出版社,2017.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[15] 住房和城乡建设部.城市居住区规划设计标准：GB 50180-2018[S].北京：中国建筑工业出版社,2018.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[16] 中国城市科学研究会.社区体育公园规划建设指南：T/CSUS 18-2021[S].北京：中国建筑工业出版社,2021.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[17] 国务院办公厅.关于推进体育公园建设的指导意见[EB/OL].(2021-10-29)[2026-08-15].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[18] 王益鹏.基于生态恢复理念的景观设计研究[D].清华大学,2015.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[19] KACZYNSKI A T,POTWARKA L R,SAELENS B E.Association of park size,distance,and features with physical activity in neighborhood parks[J].American Journal of Public Health,2008,98(08):1451-1456.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[20] WARBURTON D E R,NICOL C W,BREDIN S S D.Health benefits of physical activity:The evidence[J].Canadian Medical Association Journal,2006,174(06):801-809.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[21] World Health Organization.Global status report on physical activity 2022[R].Geneva:WHO,2022.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pic>
        <p:nvPicPr>
          <p:cNvPr id="3" name="Image 0" descr="/home/user/lxfs/pptx_build/figs/x_l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46" y="320040"/>
            <a:ext cx="3076148" cy="2331720"/>
          </a:xfrm>
          <a:prstGeom prst="rect">
            <a:avLst/>
          </a:prstGeom>
        </p:spPr>
      </p:pic>
      <p:pic>
        <p:nvPicPr>
          <p:cNvPr id="4" name="Image 1" descr="/home/user/lxfs/pptx_build/figs/x_ben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88920"/>
            <a:ext cx="1783080" cy="1191097"/>
          </a:xfrm>
          <a:prstGeom prst="rect">
            <a:avLst/>
          </a:prstGeom>
        </p:spPr>
      </p:pic>
      <p:pic>
        <p:nvPicPr>
          <p:cNvPr id="5" name="Image 2" descr="/home/user/lxfs/pptx_build/figs/x_swin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788920"/>
            <a:ext cx="1783080" cy="110918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0" y="4846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示意照片来源：ImageNet 样例图库、COCO/Flickr CC 照片（Mask R-CNN、OpenPose、Detectron、PaddleDetection、MMPose 示例）、OpenCV 示例素材，均已转为黑白</a:t>
            </a:r>
            <a:endParaRPr lang="en-US" sz="700" dirty="0"/>
          </a:p>
        </p:txBody>
      </p:sp>
      <p:sp>
        <p:nvSpPr>
          <p:cNvPr id="7" name="Shape 2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1F3F7A"/>
          </a:solidFill>
          <a:ln w="12700">
            <a:solidFill>
              <a:srgbClr val="1F3F7A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4572000" y="1737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请各位老师批评指正</a:t>
            </a:r>
            <a:endParaRPr lang="en-US" sz="2800" dirty="0"/>
          </a:p>
        </p:txBody>
      </p:sp>
      <p:sp>
        <p:nvSpPr>
          <p:cNvPr id="9" name="Text 4"/>
          <p:cNvSpPr txBox="1"/>
          <p:nvPr/>
        </p:nvSpPr>
        <p:spPr>
          <a:xfrm>
            <a:off x="457200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跃动·栖园——全民健康视角下的眉山市仁寿县体育公园景观设计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45720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F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PARK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跃动·栖园——全民健康视角下的眉山市仁寿县体育公园景观设计</dc:title>
  <dc:subject>PptxGenJS Presentation</dc:subject>
  <dc:creator>开题报告</dc:creator>
  <cp:lastModifiedBy>开题报告</cp:lastModifiedBy>
  <cp:revision>1</cp:revision>
  <dcterms:created xsi:type="dcterms:W3CDTF">2026-09-07T14:04:05Z</dcterms:created>
  <dcterms:modified xsi:type="dcterms:W3CDTF">2026-09-07T14:04:05Z</dcterms:modified>
</cp:coreProperties>
</file>