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第七次全国人口普查年龄构成对比（%）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0-14岁</c:v>
                </c:pt>
              </c:strCache>
            </c:strRef>
          </c:tx>
          <c:spPr>
            <a:solidFill>
              <a:srgbClr val="4E8A3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17.95</c:v>
                </c:pt>
                <c:pt idx="1">
                  <c:v>16.1</c:v>
                </c:pt>
                <c:pt idx="2">
                  <c:v>15.31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15-59岁</c:v>
                </c:pt>
              </c:strCache>
            </c:strRef>
          </c:tx>
          <c:spPr>
            <a:solidFill>
              <a:srgbClr val="1F3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63.35</c:v>
                </c:pt>
                <c:pt idx="1">
                  <c:v>62.19</c:v>
                </c:pt>
                <c:pt idx="2">
                  <c:v>58.13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60岁及以上</c:v>
                </c:pt>
              </c:strCache>
            </c:strRef>
          </c:tx>
          <c:spPr>
            <a:solidFill>
              <a:srgbClr val="E07B2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全国</c:v>
                  </c:pt>
                  <c:pt idx="1">
                    <c:v>四川省</c:v>
                  </c:pt>
                  <c:pt idx="2">
                    <c:v>仁寿县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18.7</c:v>
                </c:pt>
                <c:pt idx="1">
                  <c:v>21.71</c:v>
                </c:pt>
                <c:pt idx="2">
                  <c:v>26.56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各月日照时数（h）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日照时数</c:v>
                </c:pt>
              </c:strCache>
            </c:strRef>
          </c:tx>
          <c:spPr>
            <a:solidFill>
              <a:srgbClr val="E07B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42.4</c:v>
                </c:pt>
                <c:pt idx="1">
                  <c:v>53.8</c:v>
                </c:pt>
                <c:pt idx="2">
                  <c:v>92.3</c:v>
                </c:pt>
                <c:pt idx="3">
                  <c:v>126.5</c:v>
                </c:pt>
                <c:pt idx="4">
                  <c:v>126.1</c:v>
                </c:pt>
                <c:pt idx="5">
                  <c:v>109.4</c:v>
                </c:pt>
                <c:pt idx="6">
                  <c:v>133.6</c:v>
                </c:pt>
                <c:pt idx="7">
                  <c:v>142.6</c:v>
                </c:pt>
                <c:pt idx="8">
                  <c:v>74.6</c:v>
                </c:pt>
                <c:pt idx="9">
                  <c:v>51</c:v>
                </c:pt>
                <c:pt idx="10">
                  <c:v>55</c:v>
                </c:pt>
                <c:pt idx="11">
                  <c:v>40.3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444444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444444"/>
                </a:solidFill>
                <a:latin typeface="Microsoft YaHei"/>
              </a:rPr>
              <a:t>各月相对湿度与降水日数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相对湿度（%）</c:v>
                </c:pt>
              </c:strCache>
            </c:strRef>
          </c:tx>
          <c:spPr>
            <a:solidFill>
              <a:srgbClr val="1F3F7A"/>
            </a:solidFill>
            <a:ln w="25400" cap="flat">
              <a:solidFill>
                <a:srgbClr val="1F3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F3F7A"/>
              </a:solidFill>
              <a:ln w="9525" cap="flat">
                <a:solidFill>
                  <a:srgbClr val="1F3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</c:v>
                </c:pt>
                <c:pt idx="1">
                  <c:v>74</c:v>
                </c:pt>
                <c:pt idx="2">
                  <c:v>70</c:v>
                </c:pt>
                <c:pt idx="3">
                  <c:v>69</c:v>
                </c:pt>
                <c:pt idx="4">
                  <c:v>67</c:v>
                </c:pt>
                <c:pt idx="5">
                  <c:v>75</c:v>
                </c:pt>
                <c:pt idx="6">
                  <c:v>78</c:v>
                </c:pt>
                <c:pt idx="7">
                  <c:v>77</c:v>
                </c:pt>
                <c:pt idx="8">
                  <c:v>80</c:v>
                </c:pt>
                <c:pt idx="9">
                  <c:v>81</c:v>
                </c:pt>
                <c:pt idx="10">
                  <c:v>78</c:v>
                </c:pt>
                <c:pt idx="11">
                  <c:v>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降水日数（d）</c:v>
                </c:pt>
              </c:strCache>
            </c:strRef>
          </c:tx>
          <c:spPr>
            <a:solidFill>
              <a:srgbClr val="4E8A3E"/>
            </a:solidFill>
            <a:ln w="25400" cap="flat">
              <a:solidFill>
                <a:srgbClr val="4E8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E8A3E"/>
              </a:solidFill>
              <a:ln w="9525" cap="flat">
                <a:solidFill>
                  <a:srgbClr val="4E8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7.8</c:v>
                </c:pt>
                <c:pt idx="1">
                  <c:v>7.8</c:v>
                </c:pt>
                <c:pt idx="2">
                  <c:v>10</c:v>
                </c:pt>
                <c:pt idx="3">
                  <c:v>12.1</c:v>
                </c:pt>
                <c:pt idx="4">
                  <c:v>13.2</c:v>
                </c:pt>
                <c:pt idx="5">
                  <c:v>14.5</c:v>
                </c:pt>
                <c:pt idx="6">
                  <c:v>14.6</c:v>
                </c:pt>
                <c:pt idx="7">
                  <c:v>13.8</c:v>
                </c:pt>
                <c:pt idx="8">
                  <c:v>14.7</c:v>
                </c:pt>
                <c:pt idx="9">
                  <c:v>14.1</c:v>
                </c:pt>
                <c:pt idx="10">
                  <c:v>7.4</c:v>
                </c:pt>
                <c:pt idx="11">
                  <c:v>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Microsoft YaHei"/>
                  </a:rPr>
                  <a:t>月份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image" Target="../media/image-3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jpg"/><Relationship Id="rId3" Type="http://schemas.openxmlformats.org/officeDocument/2006/relationships/image" Target="../media/image-4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4" name="Image 0" descr="/home/user/lxfs/pptx_build/figs/tf_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3302" y="320040"/>
            <a:ext cx="3315155" cy="2377440"/>
          </a:xfrm>
          <a:prstGeom prst="rect">
            <a:avLst/>
          </a:prstGeom>
        </p:spPr>
      </p:pic>
      <p:pic>
        <p:nvPicPr>
          <p:cNvPr id="5" name="Image 1" descr="/home/user/lxfs/pptx_build/figs/tf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788920"/>
            <a:ext cx="1874520" cy="1403710"/>
          </a:xfrm>
          <a:prstGeom prst="rect">
            <a:avLst/>
          </a:prstGeom>
        </p:spPr>
      </p:pic>
      <p:pic>
        <p:nvPicPr>
          <p:cNvPr id="6" name="Image 2" descr="/home/user/lxfs/pptx_build/figs/ms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788920"/>
            <a:ext cx="1874520" cy="105499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57200" y="548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风景园林专业毕业设计  开题报告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10515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19202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全民健康视角下的眉山市仁寿县体育公园景观设计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2606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Design of Renshou Sports Park, Meishan from the Perspective of Health for All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34290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学院：建筑学院        专业：风景园林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学生姓名：                学号：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二〇二六年九月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377440" cy="1338037"/>
          </a:xfrm>
          <a:prstGeom prst="rect">
            <a:avLst/>
          </a:prstGeom>
        </p:spPr>
      </p:pic>
      <p:pic>
        <p:nvPicPr>
          <p:cNvPr id="3" name="Image 1" descr="/home/user/lxfs/pptx_build/figs/tf_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2377440" cy="1704964"/>
          </a:xfrm>
          <a:prstGeom prst="rect">
            <a:avLst/>
          </a:prstGeom>
        </p:spPr>
      </p:pic>
      <p:pic>
        <p:nvPicPr>
          <p:cNvPr id="4" name="Image 2" descr="/home/user/lxfs/pptx_build/figs/sz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2377440" cy="1206761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383280" y="411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 录</a:t>
            </a:r>
            <a:endParaRPr lang="en-US" sz="2600" dirty="0"/>
          </a:p>
        </p:txBody>
      </p:sp>
      <p:sp>
        <p:nvSpPr>
          <p:cNvPr id="6" name="Text 1"/>
          <p:cNvSpPr txBox="1"/>
          <p:nvPr/>
        </p:nvSpPr>
        <p:spPr>
          <a:xfrm>
            <a:off x="338328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3383280" y="1417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050" dirty="0"/>
          </a:p>
        </p:txBody>
      </p:sp>
      <p:sp>
        <p:nvSpPr>
          <p:cNvPr id="8" name="Text 3"/>
          <p:cNvSpPr txBox="1"/>
          <p:nvPr/>
        </p:nvSpPr>
        <p:spPr>
          <a:xfrm>
            <a:off x="3383280" y="1737360"/>
            <a:ext cx="1874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5303520" y="1417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050" dirty="0"/>
          </a:p>
        </p:txBody>
      </p:sp>
      <p:sp>
        <p:nvSpPr>
          <p:cNvPr id="10" name="Text 5"/>
          <p:cNvSpPr txBox="1"/>
          <p:nvPr/>
        </p:nvSpPr>
        <p:spPr>
          <a:xfrm>
            <a:off x="5303520" y="1737360"/>
            <a:ext cx="1874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7223760" y="14173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7223760" y="1737360"/>
            <a:ext cx="1874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8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of the Research Topic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pic>
        <p:nvPicPr>
          <p:cNvPr id="6" name="Image 0" descr="/home/user/lxfs/pptx_build/figs/tf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0883" y="822960"/>
            <a:ext cx="2808514" cy="2103120"/>
          </a:xfrm>
          <a:prstGeom prst="rect">
            <a:avLst/>
          </a:prstGeom>
        </p:spPr>
      </p:pic>
      <p:pic>
        <p:nvPicPr>
          <p:cNvPr id="7" name="Image 1" descr="/home/user/lxfs/pptx_build/figs/tf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016" y="3017520"/>
            <a:ext cx="1342848" cy="1691640"/>
          </a:xfrm>
          <a:prstGeom prst="rect">
            <a:avLst/>
          </a:prstGeom>
        </p:spPr>
      </p:pic>
      <p:pic>
        <p:nvPicPr>
          <p:cNvPr id="8" name="Image 2" descr="/home/user/lxfs/pptx_build/figs/sz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3494" y="3017520"/>
            <a:ext cx="1600692" cy="1691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课题研究背景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选题背景——时代需求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pic>
        <p:nvPicPr>
          <p:cNvPr id="7" name="Image 0" descr="/home/user/lxfs/pptx_build/figs/sz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932688"/>
            <a:ext cx="370332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高密度城市居住片区（案例照片）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983480" y="93268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104241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618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国人处于亚健康状态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949440" y="93268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49440" y="104241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86.6%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1618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慢性病死亡占总死亡人数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83480" y="221284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983480" y="232257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21.1%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5074920" y="2898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2023年我国60岁以上人口占比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949440" y="2212848"/>
            <a:ext cx="187452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232257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15.4%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28986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2023年我国65岁以上人口占比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657600"/>
            <a:ext cx="836676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着我国城镇化进程持续推进，城市建成区人口密度不断增大，高密度居住区不断涌现。城市公共绿地资源分配不均，可供居民开展户外运动的场地供给不足，社区运动配套设施缺口较大；同时城市面临雨洪调蓄压力、人居环境品质参差不齐、不同年龄群体休闲游憩需求难以被充分满足等现实矛盾，国民身体素质与日常运动需求之间的矛盾日益凸显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工作、生活、学习带来的压力导致作息不规律、睡眠不足，身体状况变差，但我国缺少疗愈与运动场所。在全民健康、公园城市政策背景下，集运动健康、全龄游憩于一体的体育型综合公园，成为化解上述矛盾的核心空间载体。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983480" y="3456432"/>
            <a:ext cx="384048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注：上排数据为开题报告引用的公开统计口径，答辩前请核对原始来源。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选题背景——政策导向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国家战略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9601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252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健全城乡全民健身公共服务体系，完善社区体育配套设施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8013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规划标准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1691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构建15分钟生活圈绿地系统，保障片区级综合公园落地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53288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生态导向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423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《海绵城市建设技术指南》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7157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低影响开发，城市绿地兼顾生态缓冲、雨水调蓄、休闲游憩复合功能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264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专项指导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4472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以体育健身为核心、与自然生态融合，绿化用地占比不低于65%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959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地方规划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38862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1788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城北新城“三生融合、公园城市”目标，完善居住区集中绿地布局</a:t>
            </a:r>
            <a:endParaRPr lang="en-US" sz="900" dirty="0"/>
          </a:p>
        </p:txBody>
      </p:sp>
      <p:pic>
        <p:nvPicPr>
          <p:cNvPr id="27" name="Image 0" descr="/home/user/lxfs/pptx_build/figs/tf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32688"/>
            <a:ext cx="1325880" cy="1641893"/>
          </a:xfrm>
          <a:prstGeom prst="rect">
            <a:avLst/>
          </a:prstGeom>
        </p:spPr>
      </p:pic>
      <p:pic>
        <p:nvPicPr>
          <p:cNvPr id="28" name="Image 1" descr="/home/user/lxfs/pptx_build/figs/tf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932688"/>
            <a:ext cx="1325880" cy="1670264"/>
          </a:xfrm>
          <a:prstGeom prst="rect">
            <a:avLst/>
          </a:prstGeom>
        </p:spPr>
      </p:pic>
      <p:pic>
        <p:nvPicPr>
          <p:cNvPr id="29" name="Image 2" descr="/home/user/lxfs/pptx_build/figs/ms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788920"/>
            <a:ext cx="2788920" cy="156706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035040" y="4374272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成都天府公园西区 / 牧山体育公园（案例照片）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Background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选题背景——人口结构与地方需求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577840" y="914400"/>
            <a:ext cx="324612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9418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仁寿县人口特征（2020年七普）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170432"/>
            <a:ext cx="3108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常住人口111.0万人。60岁及以上占26.56%，65岁及以上占21.94%，分别高于全国7.86和8.44个百分点，已进入深度老龄化；0-14岁占15.31%。老年康养与亲子游憩需求突出。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577840" y="2148840"/>
            <a:ext cx="3246120" cy="1143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1762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城北新城现状问题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04872"/>
            <a:ext cx="31089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成德眉资同城化片区，仁寿向北拓展核心宜居板块；大量商品住宅集中落地，居住密度持续提升。配套逐步完善，但集中型公共休闲绿地供给严重不足，缺少服务全龄、兼具生态运动休闲社交功能的综合公园。</a:t>
            </a:r>
            <a:endParaRPr lang="en-US" sz="800" dirty="0"/>
          </a:p>
        </p:txBody>
      </p:sp>
      <p:pic>
        <p:nvPicPr>
          <p:cNvPr id="14" name="Image 0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3383280"/>
            <a:ext cx="1572768" cy="892243"/>
          </a:xfrm>
          <a:prstGeom prst="rect">
            <a:avLst/>
          </a:prstGeom>
        </p:spPr>
      </p:pic>
      <p:pic>
        <p:nvPicPr>
          <p:cNvPr id="15" name="Image 1" descr="/home/user/lxfs/pptx_build/figs/site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3383280"/>
            <a:ext cx="1572768" cy="8994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77840" y="4315968"/>
            <a:ext cx="324612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城北新城场地周边现状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数据来源：国家统计局《第七次全国人口普查公报（第五号）》；四川省统计局《四川省第七次全国人口普查公报（第四号）》；仁寿县人民政府《仁寿县第七次全国人口普查公报（第三号）》。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Purpose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研究目的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pic>
        <p:nvPicPr>
          <p:cNvPr id="7" name="Image 0" descr="/home/user/lxfs/pptx_build/figs/ms_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731" y="932688"/>
            <a:ext cx="2522419" cy="1417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350008"/>
            <a:ext cx="2697480" cy="2331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450592"/>
            <a:ext cx="347472" cy="34747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营造适配全龄人群的多元运动游憩空间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30352" y="2880360"/>
            <a:ext cx="25603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足全民健康发展背景，针对仁寿城北新城居住区户外健身场地不足的现实问题，结合场地现状条件，打造融合生态缓冲、运动健身、亲子游乐、邻里社交、乡土科普功能的公园空间，满足周边不同年龄居民日常健身休闲与社交活动需求。</a:t>
            </a:r>
            <a:endParaRPr lang="en-US" sz="850" dirty="0"/>
          </a:p>
        </p:txBody>
      </p:sp>
      <p:pic>
        <p:nvPicPr>
          <p:cNvPr id="13" name="Image 1" descr="/home/user/lxfs/pptx_build/figs/tf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099" y="932688"/>
            <a:ext cx="1896962" cy="1417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91840" y="2350008"/>
            <a:ext cx="2697480" cy="2331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01568" y="2450592"/>
            <a:ext cx="347472" cy="34747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0156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822192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形成多目标统筹的可落地综合规划方案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364992" y="2880360"/>
            <a:ext cx="25603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城市主干道噪声防护、全龄活动场地布置、海绵雨水调蓄、乡土植物群落营造四大核心功能，形成兼顾生态效益、民生需求、建设成本的可落地方案；以城北新城8.6公顷闲置绿地为实践载体，为川南同类新建居住区集中绿地、体育公园建设提供参考案例。</a:t>
            </a:r>
            <a:endParaRPr lang="en-US" sz="850" dirty="0"/>
          </a:p>
        </p:txBody>
      </p:sp>
      <p:pic>
        <p:nvPicPr>
          <p:cNvPr id="19" name="Image 2" descr="/home/user/lxfs/pptx_build/figs/tf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675" y="932688"/>
            <a:ext cx="1125089" cy="141732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126480" y="2350008"/>
            <a:ext cx="2697480" cy="2331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2450592"/>
            <a:ext cx="347472" cy="34747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236208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6656832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探索适用于西南城市的体育公园景观营造方法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199632" y="2880360"/>
            <a:ext cx="25603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西南地区丘陵地貌、亚热带气候特征以及山地城市建设特点，充分运用乡土植物、海绵设施与低维护景观材料，构建适应性强、易管理、生态效益显著的运动景观环境，探索适合西南山地城市体育公园建设的景观营造思路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研究意义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651760" cy="374904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理论意义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508760"/>
            <a:ext cx="246888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丰富川南县域新城高密度居住区体育公园规划设计研究；结合仁寿浅丘地域气候、居住区人群活动特征，补充适配县城新城尺度、兼顾生态便民的体育公园设计案例，为西南同类县域新城提供理论参考。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932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实践意义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城市层面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18488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落实仁寿县公园城市与全民健康建设要求，盘活城市闲置绿地存量土地，补齐城北新城体育设施短板，塑造兼具运动活力与地域特色的城北门户景观。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37560" y="2514600"/>
            <a:ext cx="365760" cy="36576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7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民生层面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761488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打造全龄分段活动空间，满足老人康养、儿童游乐、青年运动、居民休闲社交多元需求，提升居住幸福感，构建和谐邻里氛围。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657600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3756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生态层面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3904488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多层次乡土植物群落与海绵雨水花园，削弱普宁大道噪声粉尘污染，调节片区微气候，缓解热岛效应，提升城北新城生态基底。</a:t>
            </a:r>
            <a:endParaRPr lang="en-US" sz="850" dirty="0"/>
          </a:p>
        </p:txBody>
      </p:sp>
      <p:pic>
        <p:nvPicPr>
          <p:cNvPr id="23" name="Image 0" descr="/home/user/lxfs/pptx_build/figs/ms_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932688"/>
            <a:ext cx="2468880" cy="138723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355080" y="2338213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阳光草坪·邻里休闲</a:t>
            </a:r>
            <a:endParaRPr lang="en-US" sz="800" dirty="0"/>
          </a:p>
        </p:txBody>
      </p:sp>
      <p:pic>
        <p:nvPicPr>
          <p:cNvPr id="25" name="Image 1" descr="/home/user/lxfs/pptx_build/figs/sz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30" y="2971800"/>
            <a:ext cx="1130380" cy="150876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355080" y="44988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分龄儿童游乐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Route and Methods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技术路线与研究方法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pic>
        <p:nvPicPr>
          <p:cNvPr id="7" name="Image 0" descr="/home/user/lxfs/pptx_build/figs/rou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96112"/>
            <a:ext cx="3703320" cy="39136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43484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1280160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4081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文献查阅法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检索知网、万方等，研读《公园设计规范》《居住区规划设计标准》及全龄景观专著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434840" y="1975104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2103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实地调研法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577840" y="2020824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现场踏勘地形、道路、住宅分布、植被；走访小区观察居民户外行为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434840" y="2670048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279806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问卷调查法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2715768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面向老人、家长、青少年发放问卷，统计场地、设施、风格需求偏好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434840" y="3364992"/>
            <a:ext cx="4389120" cy="603504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349300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案例分析法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577840" y="3410712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收集西南地区居住区综合公园案例，对比布局、分区、植物配置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434840" y="4059936"/>
            <a:ext cx="4389120" cy="603504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418795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图解分析法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577840" y="4105656"/>
            <a:ext cx="32004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CAD、GIS完成区位、交通、人流、日照、用地分析，推导总平面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4434840" y="4754880"/>
            <a:ext cx="43891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技术路线：提出问题—理论支撑—分析方案—解决问题—总结问题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相关概念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pic>
        <p:nvPicPr>
          <p:cNvPr id="7" name="Image 0" descr="/home/user/lxfs/pptx_build/figs/tf_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55" y="932688"/>
            <a:ext cx="1835770" cy="1371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304288"/>
            <a:ext cx="2697480" cy="38404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3042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体育公园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688336"/>
            <a:ext cx="2697480" cy="2011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" y="2743200"/>
            <a:ext cx="25603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七部委《关于推进体育公园建设的指导意见》：以体育健身为核心要素、与自然生态融合的城市绿色公共空间，兼具生态美化、全民健身、休闲游憩、防灾避险等功能，绿化用地占比不低于65%。社区型综合体育公园依托城市集中绿地建设，面向周边成片居住区开放，区别于小区健身角和单一竞技场馆。</a:t>
            </a:r>
            <a:endParaRPr lang="en-US" sz="850" dirty="0"/>
          </a:p>
        </p:txBody>
      </p:sp>
      <p:pic>
        <p:nvPicPr>
          <p:cNvPr id="12" name="Image 1" descr="/home/user/lxfs/pptx_build/figs/ms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055" y="932688"/>
            <a:ext cx="2441050" cy="13716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91840" y="2304288"/>
            <a:ext cx="2697480" cy="38404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91840" y="23042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全民健康视角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91840" y="2688336"/>
            <a:ext cx="2697480" cy="2011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64992" y="2743200"/>
            <a:ext cx="25603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全民健康为核心导向，将全民健身理念融入公园整体空间设计，兼顾婴幼儿、学龄儿童、中青年、老年人、残障群体的生理运动需求；在场地尺度、运动设施、无障碍通行、休憩配套上分层适配，划分动静分区，实现“人人可运动、处处能休憩”。</a:t>
            </a:r>
            <a:endParaRPr lang="en-US" sz="850" dirty="0"/>
          </a:p>
        </p:txBody>
      </p:sp>
      <p:pic>
        <p:nvPicPr>
          <p:cNvPr id="17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411" y="932688"/>
            <a:ext cx="1027618" cy="13716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126480" y="2304288"/>
            <a:ext cx="2697480" cy="384048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26480" y="23042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全龄友好型景观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26480" y="2688336"/>
            <a:ext cx="2697480" cy="2011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99632" y="2743200"/>
            <a:ext cx="25603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在公园空间布局、设施配置、尺度设计上兼顾不同人群生理与行为需求，分区设置适配活动场地，完善无障碍通行、休憩、安全防护配套，实现一座公园满足全年龄段居民日常户外需求。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Status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261872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奥姆斯特德城市公园体系提出“绿地+运动”融合模式；简·雅各布斯强调高密度社区分散布局中小型运动场地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德国分级体育绿地规划；法国社区体育公园24小时开放与智能预约；丹麦、温哥华连续健身绿道网络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日本居住区体育公园分龄分区、全域无障碍、低维护乡土绿化与简易雨水调蓄；新加坡Active SG社区体育公园：模块化球类场地、全天候遮阳健身区、多层次林下空间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研究热点：体育公园可达性与配套对全年龄段日常运动量、慢性病与焦虑发生率的正向影响（Kaczynski et al., 2008；Warburton et al., 2006；WHO, 2022）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932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261872"/>
            <a:ext cx="406908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全民健身与15分钟社区生活圈推进下，体育公园成为风景园林热点方向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规范出台：《公园设计规范》GB 51192-2016、《社区体育公园规划建设指南》T/CSUS 18-2021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成渝西南片区实践：浅丘地貌土方优化、乡土植物应用、海绵设施整合、动静分区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现有研究多聚焦大中型城市综合体育公园，面向县域新城尺度、服务高密度居住区的中小型体育公园研究薄弱，缺乏适配县域人群结构、建设投资条件的成熟设计范式——本研究的探索空间</a:t>
            </a:r>
            <a:endParaRPr lang="en-US" sz="850" dirty="0"/>
          </a:p>
        </p:txBody>
      </p:sp>
      <p:pic>
        <p:nvPicPr>
          <p:cNvPr id="13" name="Image 0" descr="/home/user/lxfs/pptx_build/figs/wh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154680"/>
            <a:ext cx="2011680" cy="13431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451607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全天候遮阳运动空间（芜湖）</a:t>
            </a:r>
            <a:endParaRPr lang="en-US" sz="800" dirty="0"/>
          </a:p>
        </p:txBody>
      </p:sp>
      <p:pic>
        <p:nvPicPr>
          <p:cNvPr id="15" name="Image 1" descr="/home/user/lxfs/pptx_build/figs/sz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519" y="3154680"/>
            <a:ext cx="1297858" cy="1371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78608" y="45445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极限运动场地（苏州相城）</a:t>
            </a:r>
            <a:endParaRPr lang="en-US" sz="800" dirty="0"/>
          </a:p>
        </p:txBody>
      </p:sp>
      <p:pic>
        <p:nvPicPr>
          <p:cNvPr id="17" name="Image 2" descr="/home/user/lxfs/pptx_build/figs/ms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3154680"/>
            <a:ext cx="2011680" cy="113218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00016" y="4305153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留白绿地新建公园（成都牧山）</a:t>
            </a:r>
            <a:endParaRPr lang="en-US" sz="800" dirty="0"/>
          </a:p>
        </p:txBody>
      </p:sp>
      <p:pic>
        <p:nvPicPr>
          <p:cNvPr id="19" name="Image 3" descr="/home/user/lxfs/pptx_build/figs/tf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2866" y="3154680"/>
            <a:ext cx="1088796" cy="1371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21424" y="45445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林荫健身步道（成都天府公园西区）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Development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国内外研究现状——发展脉络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98064"/>
            <a:ext cx="8366760" cy="0"/>
          </a:xfrm>
          <a:prstGeom prst="line">
            <a:avLst/>
          </a:prstGeom>
          <a:noFill/>
          <a:ln w="25400">
            <a:solidFill>
              <a:srgbClr val="1F3F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715768"/>
            <a:ext cx="164592" cy="164592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395728"/>
            <a:ext cx="0" cy="402336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530352" y="960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93776" y="1161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奥姆斯特德中央公园：城市公园体系提出“绿地+运动”融合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924812" y="2715768"/>
            <a:ext cx="164592" cy="164592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58468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78408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7108" y="2798064"/>
            <a:ext cx="0" cy="402336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051560" y="3246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3447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简·雅各布斯《美国大城市的死与生》：高密度社区分散布局中小型运动场地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063240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96896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16836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2395728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189988" y="960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153412" y="1161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《全民健身计划纲要》颁布，全民健身上升为国家计划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201668" y="2715768"/>
            <a:ext cx="164592" cy="164592"/>
          </a:xfrm>
          <a:prstGeom prst="ellipse">
            <a:avLst/>
          </a:prstGeom>
          <a:solidFill>
            <a:srgbClr val="1F3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35324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55264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83964" y="2798064"/>
            <a:ext cx="0" cy="402336"/>
          </a:xfrm>
          <a:prstGeom prst="line">
            <a:avLst/>
          </a:prstGeom>
          <a:noFill/>
          <a:ln w="12700">
            <a:solidFill>
              <a:srgbClr val="1F3F7A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328416" y="324612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新加坡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3447288"/>
            <a:ext cx="1984248" cy="1216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ActiveSG计划：社区体育公园模块化球场、全天候遮阳健身区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340096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73752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93692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22392" y="2395728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36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8730" y="969264"/>
            <a:ext cx="1007324" cy="56692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4466844" y="155448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4430268" y="1755648"/>
            <a:ext cx="198424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《“健康中国2030”规划纲要》；《公园设计规范》GB 51192-2016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6478524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12180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532120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560820" y="2798064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43" name="Image 1" descr="/home/user/lxfs/pptx_build/figs/sz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624" y="3255264"/>
            <a:ext cx="850392" cy="566928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605272" y="384048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5568696" y="4041648"/>
            <a:ext cx="198424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《城市居住区规划设计标准》GB 50180-2018：15分钟生活圈绿地系统</a:t>
            </a:r>
            <a:endParaRPr lang="en-US" sz="700" dirty="0"/>
          </a:p>
        </p:txBody>
      </p:sp>
      <p:sp>
        <p:nvSpPr>
          <p:cNvPr id="46" name="Shape 42"/>
          <p:cNvSpPr/>
          <p:nvPr/>
        </p:nvSpPr>
        <p:spPr>
          <a:xfrm>
            <a:off x="7616952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150608" y="28895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6670548" y="914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699248" y="2395728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50" name="Image 2" descr="/home/user/lxfs/pptx_build/figs/wh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6170" y="969264"/>
            <a:ext cx="766155" cy="566928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6743700" y="155448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</a:t>
            </a:r>
            <a:endParaRPr lang="en-US" sz="850" dirty="0"/>
          </a:p>
        </p:txBody>
      </p:sp>
      <p:sp>
        <p:nvSpPr>
          <p:cNvPr id="52" name="Text 47"/>
          <p:cNvSpPr txBox="1"/>
          <p:nvPr/>
        </p:nvSpPr>
        <p:spPr>
          <a:xfrm>
            <a:off x="6707124" y="1755648"/>
            <a:ext cx="198424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七部委《关于推进体育公园建设的指导意见》；《社区体育公园规划建设指南》T/CSUS 18-2021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8755380" y="2715768"/>
            <a:ext cx="164592" cy="164592"/>
          </a:xfrm>
          <a:prstGeom prst="ellipse">
            <a:avLst/>
          </a:prstGeom>
          <a:solidFill>
            <a:srgbClr val="E07B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289036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766560" y="3200400"/>
            <a:ext cx="2057400" cy="148132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8837676" y="2798064"/>
            <a:ext cx="0" cy="402336"/>
          </a:xfrm>
          <a:prstGeom prst="line">
            <a:avLst/>
          </a:prstGeom>
          <a:noFill/>
          <a:ln w="12700">
            <a:solidFill>
              <a:srgbClr val="E07B2A"/>
            </a:solidFill>
            <a:prstDash val="dash"/>
          </a:ln>
        </p:spPr>
      </p:sp>
      <p:pic>
        <p:nvPicPr>
          <p:cNvPr id="57" name="Image 3" descr="/home/user/lxfs/pptx_build/figs/satell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687" y="3255264"/>
            <a:ext cx="719146" cy="566928"/>
          </a:xfrm>
          <a:prstGeom prst="rect">
            <a:avLst/>
          </a:prstGeom>
        </p:spPr>
      </p:pic>
      <p:sp>
        <p:nvSpPr>
          <p:cNvPr id="58" name="Text 52"/>
          <p:cNvSpPr txBox="1"/>
          <p:nvPr/>
        </p:nvSpPr>
        <p:spPr>
          <a:xfrm>
            <a:off x="6839712" y="3840480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</a:t>
            </a:r>
            <a:endParaRPr lang="en-US" sz="850" dirty="0"/>
          </a:p>
        </p:txBody>
      </p:sp>
      <p:sp>
        <p:nvSpPr>
          <p:cNvPr id="59" name="Text 53"/>
          <p:cNvSpPr txBox="1"/>
          <p:nvPr/>
        </p:nvSpPr>
        <p:spPr>
          <a:xfrm>
            <a:off x="6803136" y="4041648"/>
            <a:ext cx="1984248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《仁寿县国土空间总体规划(2021-2035)》：城北新城公园城市目标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蓝色：国外；橙色：国内与地方。配图为本文案例照片及场地卫星影像。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案例参考（一）成都天府公园西区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0" descr="/home/user/lxfs/pptx_build/figs/tf_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69" y="932688"/>
            <a:ext cx="3442661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建筑鸟瞰图</a:t>
            </a:r>
            <a:endParaRPr lang="en-US" sz="800" dirty="0"/>
          </a:p>
        </p:txBody>
      </p:sp>
      <p:pic>
        <p:nvPicPr>
          <p:cNvPr id="9" name="Image 1" descr="/home/user/lxfs/pptx_build/figs/tf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75888"/>
            <a:ext cx="960120" cy="71897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41315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公园河流</a:t>
            </a:r>
            <a:endParaRPr lang="en-US" sz="800" dirty="0"/>
          </a:p>
        </p:txBody>
      </p:sp>
      <p:pic>
        <p:nvPicPr>
          <p:cNvPr id="11" name="Image 2" descr="/home/user/lxfs/pptx_build/figs/tf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077" y="3675888"/>
            <a:ext cx="701486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0876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河流植物</a:t>
            </a:r>
            <a:endParaRPr lang="en-US" sz="800" dirty="0"/>
          </a:p>
        </p:txBody>
      </p:sp>
      <p:pic>
        <p:nvPicPr>
          <p:cNvPr id="13" name="Image 3" descr="/home/user/lxfs/pptx_build/figs/tf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595" y="3675888"/>
            <a:ext cx="689571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2560320" y="45628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道路小品</a:t>
            </a:r>
            <a:endParaRPr lang="en-US" sz="800" dirty="0"/>
          </a:p>
        </p:txBody>
      </p:sp>
      <p:pic>
        <p:nvPicPr>
          <p:cNvPr id="15" name="Image 4" descr="/home/user/lxfs/pptx_build/figs/tf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675888"/>
            <a:ext cx="960120" cy="71735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611880" y="44115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公园周围交通状况</a:t>
            </a:r>
            <a:endParaRPr lang="en-US" sz="800" dirty="0"/>
          </a:p>
        </p:txBody>
      </p:sp>
      <p:sp>
        <p:nvSpPr>
          <p:cNvPr id="17" name="Text 10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位于天府新区高密度住宅组团之间，用地7.2公顷，服务周边20余个居住小区。设计采用“一轴多组团”布局，沿城市主干道设置宽幅生态林带降噪；内部划分老年康养区、儿童分龄游乐区、青少年运动区、自然科普区；大量采用香樟、桢楠、细叶桢楠等四川乡土树种，搭配下凹式雨水花园实现海绵功能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21" name="Text 14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主干道连续多层生态缓冲林带布局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全龄分段运动场地划分模式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多层乡土植物复层群落配置手法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案例参考（二）成都天府牧山活力体育公园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0" descr="/home/user/lxfs/pptx_build/figs/ms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14800" cy="23158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26681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公园总平面鸟瞰图</a:t>
            </a:r>
            <a:endParaRPr lang="en-US" sz="800" dirty="0"/>
          </a:p>
        </p:txBody>
      </p:sp>
      <p:pic>
        <p:nvPicPr>
          <p:cNvPr id="9" name="Image 1" descr="/home/user/lxfs/pptx_build/figs/ms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75888"/>
            <a:ext cx="1310640" cy="7361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430289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球类集中区效果图</a:t>
            </a:r>
            <a:endParaRPr lang="en-US" sz="800" dirty="0"/>
          </a:p>
        </p:txBody>
      </p:sp>
      <p:pic>
        <p:nvPicPr>
          <p:cNvPr id="11" name="Image 2" descr="/home/user/lxfs/pptx_build/figs/ms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280" y="3675888"/>
            <a:ext cx="1310640" cy="7950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489192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室内运动场地</a:t>
            </a:r>
            <a:endParaRPr lang="en-US" sz="800" dirty="0"/>
          </a:p>
        </p:txBody>
      </p:sp>
      <p:pic>
        <p:nvPicPr>
          <p:cNvPr id="13" name="Image 3" descr="/home/user/lxfs/pptx_build/figs/ms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360" y="3675888"/>
            <a:ext cx="1310640" cy="7364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430611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阳光草坪区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成都市新津区花源街道，地处新城成片居住组团核心腹地，占地6.39公顷，为城市规划留白绿地全新营建，区位、平缓场地基底与本课题仁寿8.6公顷地块高度匹配。采用“一轴一环五组团”结构，外围彩色环形健康步道串联轻量化户外运动场地，内部划分青少年潮流运动区、分龄儿童游乐区、老年康养林荫区、共享阳光草坪、乡土海绵花境；北侧紧邻主干道设置多层乡土乔木降噪防护林，四面分设人行出入口，造价适配川南县域建设标准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县域留白绿地体育公园整体规划模式，“跃动健身+生态栖居”一体化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依托日照条件分区布局全龄活动场地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主干道多层乡土植物降噪隔离林带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轻量化设施适配县城低成本落地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案例参考（三）苏州相城活力体育公园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/home/user/lxfs/pptx_build/figs/sz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932688"/>
            <a:ext cx="3703320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公园周围交通情况</a:t>
            </a:r>
            <a:endParaRPr lang="en-US" sz="800" dirty="0"/>
          </a:p>
        </p:txBody>
      </p:sp>
      <p:pic>
        <p:nvPicPr>
          <p:cNvPr id="9" name="Image 1" descr="/home/user/lxfs/pptx_build/figs/sz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32" y="3675888"/>
            <a:ext cx="821977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极限运动区</a:t>
            </a:r>
            <a:endParaRPr lang="en-US" sz="800" dirty="0"/>
          </a:p>
        </p:txBody>
      </p:sp>
      <p:pic>
        <p:nvPicPr>
          <p:cNvPr id="11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188" y="3675888"/>
            <a:ext cx="650825" cy="8686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59280" y="4562856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儿童娱乐区域</a:t>
            </a:r>
            <a:endParaRPr lang="en-US" sz="800" dirty="0"/>
          </a:p>
        </p:txBody>
      </p:sp>
      <p:pic>
        <p:nvPicPr>
          <p:cNvPr id="13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1360" y="3675888"/>
            <a:ext cx="1310640" cy="66526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261360" y="4359442"/>
            <a:ext cx="131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植物小品</a:t>
            </a:r>
            <a:endParaRPr lang="en-US" sz="800" dirty="0"/>
          </a:p>
        </p:txBody>
      </p:sp>
      <p:sp>
        <p:nvSpPr>
          <p:cNvPr id="15" name="Text 9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新区规划绿地全新建设，总面积13.6公顷，面积接近本设计地块，场地有平缓台地与低洼地块。依托地势打造海绵水景，步道串联运动场地与林下休憩空间，主干道沿线设置连续绿化隔离带，形成“动可健身，静可栖林”的格局。每一处球类、游乐运动组团就近配套林下廊架、休闲平台；海绵调蓄空间与林下栖居景观一体化设计，四季分层乡土乔灌搭配，高度契合“跃动·栖园”设计主题。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海绵雨水景观与林下休憩空间融合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每个运动组团就近配套便民栖居节点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连续式主干道降噪隔离林带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多点分散休憩构筑物，多层次林下栖居场景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课题研究背景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案例参考（四）芜湖长江三桥桥下体育公园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pic>
        <p:nvPicPr>
          <p:cNvPr id="7" name="Image 0" descr="/home/user/lxfs/pptx_build/figs/wh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359" y="932688"/>
            <a:ext cx="3336482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419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周围交通情况</a:t>
            </a:r>
            <a:endParaRPr lang="en-US" sz="800" dirty="0"/>
          </a:p>
        </p:txBody>
      </p:sp>
      <p:pic>
        <p:nvPicPr>
          <p:cNvPr id="9" name="Image 1" descr="/home/user/lxfs/pptx_build/figs/wh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055" y="3675888"/>
            <a:ext cx="1301090" cy="8686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5628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公园跑道（桥下全天候运动空间）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项目简介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207008"/>
            <a:ext cx="406908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用地15.5公顷，利用高架桥下闲置灰色空间改造而成，场地天然形成大面积遮阳区域，配套4片篮球场、2片五人制足球场、羽毛球场、门球、轮滑场地与多处老年健身路径、分龄儿童乐园，贯穿彩色透水健身环线，搭配沿线雨水花园，服务周边7个大型社区居民。依托桥体天然遮阴打造全天候运动空间，全场采用彩色透水塑胶铺装，搭配线性生态植草沟构建简易海绵体系；运动场地模块化划分，人群互不干扰。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0060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可借鉴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754880" y="3337560"/>
            <a:ext cx="40690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全天候遮阳运动场地设计思路，适配仁寿夏季高温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模块化球类场地集约布局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透水铺装+植草沟一体化海绵做法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全年龄段运动设施均衡配置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Project Research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1240" y="822960"/>
            <a:ext cx="2667800" cy="2103120"/>
          </a:xfrm>
          <a:prstGeom prst="rect">
            <a:avLst/>
          </a:prstGeom>
        </p:spPr>
      </p:pic>
      <p:pic>
        <p:nvPicPr>
          <p:cNvPr id="7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017520"/>
            <a:ext cx="1920240" cy="1098156"/>
          </a:xfrm>
          <a:prstGeom prst="rect">
            <a:avLst/>
          </a:prstGeom>
        </p:spPr>
      </p:pic>
      <p:pic>
        <p:nvPicPr>
          <p:cNvPr id="8" name="Image 2" descr="/home/user/lxfs/pptx_build/figs/site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017520"/>
            <a:ext cx="1920240" cy="10946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项目研究概述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2697480" y="242316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Upper-level Planning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上位规划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pic>
        <p:nvPicPr>
          <p:cNvPr id="7" name="Image 0" descr="/home/user/lxfs/pptx_build/figs/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677" y="932688"/>
            <a:ext cx="20381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场地及周边现状地图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规划要点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34640" y="132588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4612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城北新城定位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153619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仁寿向北拓展核心宜居板块，衔接成德眉资同城化片区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834640" y="214884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34640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246120" y="2103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建设目标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200400" y="235915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三生融合辐射周边、公园城市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834640" y="2971800"/>
            <a:ext cx="329184" cy="329184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346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246120" y="2926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绿地要求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200400" y="318211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完善居住区集中绿地布局，补齐城市绿色公共空间短板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34640" y="3794760"/>
            <a:ext cx="329184" cy="329184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3464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本地块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4005072"/>
            <a:ext cx="2514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规划预留集中绿地，承担片区级综合公园功能，服务周边高密度居住区</a:t>
            </a:r>
            <a:endParaRPr lang="en-US" sz="850" dirty="0"/>
          </a:p>
        </p:txBody>
      </p:sp>
      <p:pic>
        <p:nvPicPr>
          <p:cNvPr id="26" name="Image 1" descr="/home/user/lxfs/pptx_build/figs/satell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164" y="932688"/>
            <a:ext cx="2783792" cy="21945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852160" y="3145536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场地卫星影像（规划预留集中绿地）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5852160" y="3429000"/>
            <a:ext cx="2971800" cy="13258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897880" y="3474720"/>
            <a:ext cx="28803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仁寿县国土空间总体规划(2021-2035)》明确城北新城“三生融合辐射周边、公园城市”建设目标，要求完善居住区集中绿地布局，补齐城市绿色公共空间短板。本地块为规划预留的集中绿地，承担片区级综合公园功能。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区位分析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pic>
        <p:nvPicPr>
          <p:cNvPr id="7" name="Image 0" descr="/home/user/lxfs/pptx_build/figs/lo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384" y="932688"/>
            <a:ext cx="2631112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60857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区位分析图（中国—四川—眉山—仁寿）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932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场地概括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8016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场地位置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眉山市仁寿县城北新城核心居住区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场地面积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约8.6公顷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普宁大道（城市主干道，车流量大）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里仁路（城市支路）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黑龙滩路（次干道）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青冈路 / 陵州大道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用地性质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政府规划预留集中绿地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429000" y="4069080"/>
            <a:ext cx="5394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场地四至边界清晰：北侧为城市主干道普宁大道，车流量大，存在噪声、粉尘干扰；南侧里仁路、东侧黑龙滩路、西侧道路均为城市次级道路，人行通达性良好。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4553712"/>
            <a:ext cx="5394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注：开题报告中西侧道路名称出现“青冈路”与“陵州大道”两种表述，需统一。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气候分析——气温与降水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lxfs/pptx_build/figs/clim_tem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60520" cy="21216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07265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仁寿县气温分析（开题报告）</a:t>
            </a:r>
            <a:endParaRPr lang="en-US" sz="800" dirty="0"/>
          </a:p>
        </p:txBody>
      </p:sp>
      <p:pic>
        <p:nvPicPr>
          <p:cNvPr id="9" name="Image 1" descr="/home/user/lxfs/pptx_build/figs/clim_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228" y="932688"/>
            <a:ext cx="3618945" cy="2286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23697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仁寿县降水率分析（开题报告）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年均温 17.8℃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 7.0℃ / 7月 26.8℃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33101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年降水 881.8mm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6—9月占70%以上，8月最多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雨热同季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夏季高温多雨，冬季温和少霜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33101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四季分明，雨量充沛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840480"/>
            <a:ext cx="836676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3886200"/>
            <a:ext cx="8183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气候，四季分明，雨热同季。年均温17.8℃，1月最冷（7.0℃），7月最热（26.8℃）；年降水881.8mm，集中于6—9月（占70%以上），8月最多。设计需重点应对夏季高温暴晒（乔木林荫、遮阳构筑）与夏季集中降雨（海绵调蓄、场地排水）。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4645152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数据来源：中国气象局1991—2020年气候标准值（仁寿站）。开题报告写为年均温17.2℃，与此处17.8℃口径不同，建议统一。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气候分析——日照、湿度与雨日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663440" y="914400"/>
          <a:ext cx="4160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840480"/>
            <a:ext cx="8366760" cy="7772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3886200"/>
            <a:ext cx="8183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日照仅1047.6小时（日照百分率23%），冬季多雾寡照；全年湿度70%—81%，秋季最高。全年降水日137天，4—10月每月13天以上。启示：夏季需遮阳，但全年整体阴湿，场地应以开敞向阳草坪和运动场地为主体，配合可透光的疏林，避免过度郁闭；铺装选用透水、防滑材料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645152"/>
            <a:ext cx="7772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数据来源：中国气象局1991—2020年气候标准值（仁寿站）。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植物分析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0" descr="/home/user/lxfs/pptx_build/figs/pl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731" y="932688"/>
            <a:ext cx="5527057" cy="30358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986784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仁寿县植物配置分析图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9326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优势乔木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24358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桢楠、香樟、黄葛树、二球悬铃木、桂花、小叶榕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18013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花灌木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211226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紫薇、木芙蓉、蜡梅、红花檵木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2670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地被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980944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麦冬、沿阶草、野花组合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35478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气候适生性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3785616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亚热带湿润季风气候，冬季温和少霜，适宜桢楠、香樟、小叶榕、紫薇、木芙蓉等川南乡土常绿与观花植物生长，均耐粗放养护，为本项目植物配置核心选材。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57200" y="4224528"/>
            <a:ext cx="5532120" cy="5303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30352" y="4242816"/>
            <a:ext cx="53949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配置策略：北侧沿普宁大道以桢楠、香樟、黄葛树构建多层降噪防护林带；运动场地周边以高大乔木形成连片林荫休憩；低洼区结合雨水花园配置耐湿地被；四季分层乡土乔灌搭配，实现全年可游。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and Cultural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 历史文化分析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7" name="Image 0" descr="/home/user/lxfs/pptx_build/figs/cul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206240" cy="31518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02791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仁寿历史文化分析图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892040" y="932688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932688"/>
            <a:ext cx="73152" cy="98755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978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陵州人文历史文化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1234440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自隋代置陵州，唐宋文风兴盛，留存古陵城街巷、文庙、书院历史脉络，崇文重教是本土精神内核。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892040" y="2011680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2011680"/>
            <a:ext cx="73152" cy="987552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黑龙滩水利建设文化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2313432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20世纪70年代十万群众开山筑库建成西南大型人工湖黑龙滩，孕育艰苦奋斗、治水兴农的时代记忆。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3090672"/>
            <a:ext cx="3931920" cy="98755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2040" y="3090672"/>
            <a:ext cx="73152" cy="987552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0" y="3136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川南浅丘农耕民俗文化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3392424"/>
            <a:ext cx="37490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水田农耕、果林种植、民俗节庆构成居民生活底色，田园乡土气息浓厚。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315968"/>
            <a:ext cx="83667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片区文化基底：城北新城以新建商品房为主，缺少历史建筑与文化景观载体；周边居民多为老城搬迁居民和本地农村进城住户，对黑龙滩水利记忆、陵州文脉、农耕田园有深厚情感共鸣。场地作为片区唯一大型集中绿地，通过轻量化景观载体植入文化符号，弥补新城文化空间缺失。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Road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 周边道路分析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lxfs/pptx_build/figs/roa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662" y="932688"/>
            <a:ext cx="3643556" cy="1783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73405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场地周边道路分析图</a:t>
            </a:r>
            <a:endParaRPr lang="en-US" sz="800" dirty="0"/>
          </a:p>
        </p:txBody>
      </p:sp>
      <p:pic>
        <p:nvPicPr>
          <p:cNvPr id="9" name="Image 1" descr="/home/user/lxfs/pptx_build/figs/roadco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26" y="2971800"/>
            <a:ext cx="3675028" cy="1783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731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场地周边路况分析图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32688"/>
          <a:ext cx="42976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234440"/>
                <a:gridCol w="9144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道路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等级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普宁大道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城市主干道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车流大，噪声粉尘干扰，需防护林带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陵州大道 / 青冈路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车行出入优先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黑龙滩路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次干道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人行通达性好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里仁路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城市支路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慢行辅助出入口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26280" y="3063240"/>
            <a:ext cx="4297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617720" y="3127248"/>
            <a:ext cx="411480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路网层级完善，涵盖主干道、次干道、支路，四面临路。临近天府仁寿大道，属城区发展重点板块，道路路面宽敞，沿线绿化配套完善。平峰时段通行顺畅，节假日休闲客流上升，依托方格路网可有效疏解。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Traffic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 周边交通分析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lxfs/pptx_build/figs/traff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465" y="932688"/>
            <a:ext cx="5203550" cy="2606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5701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场地周边交通分析图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897880" y="93268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89320" y="1024128"/>
            <a:ext cx="9144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89320" y="1024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公共交通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31673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场地周围分布多处公交停靠点，覆盖多条城区公交线路，具备基础公共交通条件，但近距离公交接驳仍有提升空间。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897880" y="221284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89320" y="2304288"/>
            <a:ext cx="9144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89320" y="23042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机动车交通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59689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地块被主次干道合围，车行条件良好。车行出入优先考虑西侧、北侧道路开口。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897880" y="3493008"/>
            <a:ext cx="2926080" cy="1170432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89320" y="3584448"/>
            <a:ext cx="9144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89320" y="35844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慢行交通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877056"/>
            <a:ext cx="28346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南侧里仁路为城市支路，作为慢行辅助出入口；四面设人行入口，居民下楼直达。</a:t>
            </a:r>
            <a:endParaRPr lang="en-US" sz="850" dirty="0"/>
          </a:p>
        </p:txBody>
      </p:sp>
      <p:pic>
        <p:nvPicPr>
          <p:cNvPr id="21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25" y="3767328"/>
            <a:ext cx="1678869" cy="960120"/>
          </a:xfrm>
          <a:prstGeom prst="rect">
            <a:avLst/>
          </a:prstGeom>
        </p:spPr>
      </p:pic>
      <p:pic>
        <p:nvPicPr>
          <p:cNvPr id="22" name="Image 2" descr="/home/user/lxfs/pptx_build/figs/site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85" y="3767328"/>
            <a:ext cx="1678869" cy="9601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57200" y="4736592"/>
            <a:ext cx="521208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场地周边道路现状照片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Pedestrian Flow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 周边人行流线分析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lxfs/pptx_build/fig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5212080" cy="25765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52749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周边人行流线分析图（蓝：居民聚集点；红：进入聚集点）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932688"/>
            <a:ext cx="2926080" cy="2148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场地被居住区环绕，紧邻星光幼儿园、文镇小学、文镇幼儿园、仁寿实验中学，人流量大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主要人流来源：东西两侧小区（最强）、南北两侧小区、四所学校（上下学潮汐）、北侧商务配套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上学时段学生穿越场地形成通道型流线；晨晚居民从四向就近进入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设计启示：四向人行入口与小区、学校出入口对应；主流线连续无障碍；通道流线与活动场地分离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人群构成与行为特征见2.12、2.13</a:t>
            </a:r>
            <a:endParaRPr lang="en-US" sz="850" dirty="0"/>
          </a:p>
        </p:txBody>
      </p:sp>
      <p:pic>
        <p:nvPicPr>
          <p:cNvPr id="10" name="Image 1" descr="/home/user/lxfs/pptx_build/figs/site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695" y="3108960"/>
            <a:ext cx="2566450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97880" y="459028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场地南侧居住区与现状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457200" y="3840480"/>
            <a:ext cx="521208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0352" y="3867912"/>
            <a:ext cx="50749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区常住居民中老年群体占比较高，包含家庭亲子群体、文镇小学师生群体；本地居民以周边小区家庭住户为主。青少年主要开展户外游玩、体育运动；中老年人偏向散步、休闲社交；外来游客多短途停留，偏好生态休闲活动。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 Land Use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2.9 周边用地分析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lxfs/pptx_build/figs/land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846320" cy="2874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82545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场地周边用地性质分析图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577840" y="1005840"/>
            <a:ext cx="274320" cy="201168"/>
          </a:xfrm>
          <a:prstGeom prst="rect">
            <a:avLst/>
          </a:prstGeom>
          <a:solidFill>
            <a:srgbClr val="F2D24B"/>
          </a:solidFill>
          <a:ln w="12700">
            <a:solidFill>
              <a:srgbClr val="F2D24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0" y="960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住宅用地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1371600"/>
            <a:ext cx="274320" cy="201168"/>
          </a:xfrm>
          <a:prstGeom prst="rect">
            <a:avLst/>
          </a:prstGeom>
          <a:solidFill>
            <a:srgbClr val="E58EC0"/>
          </a:solidFill>
          <a:ln w="12700">
            <a:solidFill>
              <a:srgbClr val="E58E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0" y="13258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教育用地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577840" y="1737360"/>
            <a:ext cx="274320" cy="201168"/>
          </a:xfrm>
          <a:prstGeom prst="rect">
            <a:avLst/>
          </a:prstGeom>
          <a:solidFill>
            <a:srgbClr val="E8542E"/>
          </a:solidFill>
          <a:ln w="12700">
            <a:solidFill>
              <a:srgbClr val="E854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0" y="1691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商业用地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577840" y="2103120"/>
            <a:ext cx="274320" cy="201168"/>
          </a:xfrm>
          <a:prstGeom prst="rect">
            <a:avLst/>
          </a:prstGeom>
          <a:solidFill>
            <a:srgbClr val="5DBA4A"/>
          </a:solidFill>
          <a:ln w="12700">
            <a:solidFill>
              <a:srgbClr val="5DBA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0" y="2057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公园用地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2468880"/>
            <a:ext cx="274320" cy="201168"/>
          </a:xfrm>
          <a:prstGeom prst="rect">
            <a:avLst/>
          </a:prstGeom>
          <a:solidFill>
            <a:srgbClr val="8EC6F0"/>
          </a:solidFill>
          <a:ln w="12700">
            <a:solidFill>
              <a:srgbClr val="8EC6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0" y="2423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医疗/服务</a:t>
            </a:r>
            <a:endParaRPr lang="en-US" sz="950" dirty="0"/>
          </a:p>
        </p:txBody>
      </p:sp>
      <p:pic>
        <p:nvPicPr>
          <p:cNvPr id="19" name="Image 1" descr="/home/user/lxfs/pptx_build/figs/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745" y="960120"/>
            <a:ext cx="1477670" cy="26517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315200" y="36301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现状地图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5577840" y="3886200"/>
            <a:ext cx="324612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623560" y="3904488"/>
            <a:ext cx="31546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场地四周以二类居住用地为主，周边配套社区幼儿园、小学、沿街商业、小型社区卫生服务站；北侧普宁大道对面为城市商务配套用地。整体人居环境纯粹，公园服务人群以常住居民为主。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周边学校：星光幼儿园、文镇小学、文镇幼儿园、仁寿实验中学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557784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图例颜色为示意，以分析图中标注为准。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and Landform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2.10 地形地貌分析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023360" cy="31717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122731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场地卫星影像（红线范围内为设计地块）</a:t>
            </a:r>
            <a:endParaRPr lang="en-US" sz="800" dirty="0"/>
          </a:p>
        </p:txBody>
      </p:sp>
      <p:pic>
        <p:nvPicPr>
          <p:cNvPr id="9" name="Image 1" descr="/home/user/lxfs/pptx_build/figs/site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932688"/>
            <a:ext cx="2011680" cy="1146786"/>
          </a:xfrm>
          <a:prstGeom prst="rect">
            <a:avLst/>
          </a:prstGeom>
        </p:spPr>
      </p:pic>
      <p:pic>
        <p:nvPicPr>
          <p:cNvPr id="10" name="Image 2" descr="/home/user/lxfs/pptx_build/figs/site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932688"/>
            <a:ext cx="2011680" cy="11412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09160" y="2103120"/>
            <a:ext cx="41148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场地现状地形照片（局部小土坡、裸土空地）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4709160" y="2423160"/>
            <a:ext cx="2011680" cy="2286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00600" y="2450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区域地貌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4754880" y="2715768"/>
            <a:ext cx="19202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仁寿地处四川盆地中部，以浅丘、丘陵为主，地势总体平坦。地质稳定，土壤以紫色土为主。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6812280" y="2423160"/>
            <a:ext cx="2011680" cy="22860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903720" y="2450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场地地形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715768"/>
            <a:ext cx="19202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整体平缓，无高差突变；局部有小土坡起伏，无废弃构筑物、无土壤污染。适合土方场内平衡，利用微高差布置线性雨水花园。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Current Condition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2.11 场地现状分析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lxfs/pptx_build/figs/site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645" y="932688"/>
            <a:ext cx="2054510" cy="3611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562856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场地现状平面图</a:t>
            </a:r>
            <a:endParaRPr lang="en-US" sz="800" dirty="0"/>
          </a:p>
        </p:txBody>
      </p:sp>
      <p:pic>
        <p:nvPicPr>
          <p:cNvPr id="9" name="Image 1" descr="/home/user/lxfs/pptx_build/figs/site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932688"/>
            <a:ext cx="1828800" cy="1037492"/>
          </a:xfrm>
          <a:prstGeom prst="rect">
            <a:avLst/>
          </a:prstGeom>
        </p:spPr>
      </p:pic>
      <p:pic>
        <p:nvPicPr>
          <p:cNvPr id="10" name="Image 2" descr="/home/user/lxfs/pptx_build/figs/site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932688"/>
            <a:ext cx="1828800" cy="1045863"/>
          </a:xfrm>
          <a:prstGeom prst="rect">
            <a:avLst/>
          </a:prstGeom>
        </p:spPr>
      </p:pic>
      <p:pic>
        <p:nvPicPr>
          <p:cNvPr id="11" name="Image 3" descr="/home/user/lxfs/pptx_build/figs/site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057400"/>
            <a:ext cx="1828800" cy="1045863"/>
          </a:xfrm>
          <a:prstGeom prst="rect">
            <a:avLst/>
          </a:prstGeom>
        </p:spPr>
      </p:pic>
      <p:pic>
        <p:nvPicPr>
          <p:cNvPr id="12" name="Image 4" descr="/home/user/lxfs/pptx_build/figs/site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057400"/>
            <a:ext cx="1828800" cy="104253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2697480" y="3127248"/>
            <a:ext cx="37490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场地现状照片（裸土空地、原生林地与周边住宅）</a:t>
            </a:r>
            <a:endParaRPr lang="en-US" sz="750" dirty="0"/>
          </a:p>
        </p:txBody>
      </p:sp>
      <p:pic>
        <p:nvPicPr>
          <p:cNvPr id="14" name="Image 5" descr="/home/user/lxfs/pptx_build/figs/satellit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9059" y="3364992"/>
            <a:ext cx="1565883" cy="123444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269748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</a:t>
            </a:r>
            <a:endParaRPr lang="en-US" sz="800" dirty="0"/>
          </a:p>
        </p:txBody>
      </p:sp>
      <p:sp>
        <p:nvSpPr>
          <p:cNvPr id="16" name="Shape 8"/>
          <p:cNvSpPr/>
          <p:nvPr/>
        </p:nvSpPr>
        <p:spPr>
          <a:xfrm>
            <a:off x="6629400" y="932688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6702552" y="1005840"/>
            <a:ext cx="914400" cy="256032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6702552" y="1005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原生林地</a:t>
            </a:r>
            <a:endParaRPr lang="en-US" sz="900" dirty="0"/>
          </a:p>
        </p:txBody>
      </p:sp>
      <p:sp>
        <p:nvSpPr>
          <p:cNvPr id="19" name="Text 11"/>
          <p:cNvSpPr txBox="1"/>
          <p:nvPr/>
        </p:nvSpPr>
        <p:spPr>
          <a:xfrm>
            <a:off x="6656832" y="1280160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东北部、中部成片原生乡土乔木群落，长势较好，是核心自然资源，可作为公园生态基底保留利用，减少绿化造价。</a:t>
            </a:r>
            <a:endParaRPr lang="en-US" sz="750" dirty="0"/>
          </a:p>
        </p:txBody>
      </p:sp>
      <p:sp>
        <p:nvSpPr>
          <p:cNvPr id="20" name="Shape 12"/>
          <p:cNvSpPr/>
          <p:nvPr/>
        </p:nvSpPr>
        <p:spPr>
          <a:xfrm>
            <a:off x="6629400" y="2194560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6702552" y="2267712"/>
            <a:ext cx="914400" cy="256032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6702552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裸土空地</a:t>
            </a:r>
            <a:endParaRPr lang="en-US" sz="900" dirty="0"/>
          </a:p>
        </p:txBody>
      </p:sp>
      <p:sp>
        <p:nvSpPr>
          <p:cNvPr id="23" name="Text 15"/>
          <p:cNvSpPr txBox="1"/>
          <p:nvPr/>
        </p:nvSpPr>
        <p:spPr>
          <a:xfrm>
            <a:off x="6656832" y="2542032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其余大片区域为裸露待开发土地，平整程度一般，局部小土坡，杂草零散；土壤条件一般，需改良后再营造植物景观。</a:t>
            </a:r>
            <a:endParaRPr lang="en-US" sz="750" dirty="0"/>
          </a:p>
        </p:txBody>
      </p:sp>
      <p:sp>
        <p:nvSpPr>
          <p:cNvPr id="24" name="Shape 16"/>
          <p:cNvSpPr/>
          <p:nvPr/>
        </p:nvSpPr>
        <p:spPr>
          <a:xfrm>
            <a:off x="6629400" y="3456432"/>
            <a:ext cx="219456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6702552" y="3529584"/>
            <a:ext cx="914400" cy="256032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702552" y="35295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水体与构筑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6656832" y="3803904"/>
            <a:ext cx="2139696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场地无水体，属旱地型地块，需人工营造海绵水景；无大型建筑遗存，拆迁工程量小，适合公园开发建设。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Structure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2.12 人群结构分析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lxfs/pptx_build/figs/pie_sr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7614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使用人群来源构成</a:t>
            </a:r>
            <a:endParaRPr lang="en-US" sz="800" dirty="0"/>
          </a:p>
        </p:txBody>
      </p:sp>
      <p:pic>
        <p:nvPicPr>
          <p:cNvPr id="9" name="Image 1" descr="/home/user/lxfs/pptx_build/figs/pie_a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914400"/>
            <a:ext cx="1828800" cy="16077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377440" y="2540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使用人群年龄构成</a:t>
            </a:r>
            <a:endParaRPr lang="en-US" sz="800" dirty="0"/>
          </a:p>
        </p:txBody>
      </p:sp>
      <p:pic>
        <p:nvPicPr>
          <p:cNvPr id="11" name="Image 2" descr="/home/user/lxfs/pptx_build/figs/pie_sex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914400"/>
            <a:ext cx="1828800" cy="18288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7614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使用人群性别构成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21031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空间需求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老年人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散步、晨练、休憩闲谈、社交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康养步道、器械、林荫座椅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家庭亲子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儿童攀爬游乐、家长陪护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分龄儿童游乐区、看护休憩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青少年/学生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跑步、球类、骑行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球类场地、环形跑道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中青年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跑步、健身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健身器械区、夜间照明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外来游客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短途停留、生态休闲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阳光草坪、景观节点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6217920" y="914400"/>
            <a:ext cx="2606040" cy="38404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6309360" y="960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人群结构特征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263640" y="1261872"/>
            <a:ext cx="2514600" cy="274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仁寿县60岁及以上人口占26.56%，明显高于全国（18.70%）与四川（21.71%）。片区周边居民中老年占比高，并含家庭亲子群体与文镇小学等学校师生。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年龄结构呈中老年、青少年占比偏高、青壮年通勤人群为辅的特征；性别构成男50.62%、女49.38%，基本均衡。</a:t>
            </a:r>
            <a:endParaRPr lang="en-US" sz="850" dirty="0"/>
          </a:p>
        </p:txBody>
      </p:sp>
      <p:sp>
        <p:nvSpPr>
          <p:cNvPr id="17" name="Text 11"/>
          <p:cNvSpPr txBox="1"/>
          <p:nvPr/>
        </p:nvSpPr>
        <p:spPr>
          <a:xfrm>
            <a:off x="6263640" y="4023360"/>
            <a:ext cx="2514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数据来源：《仁寿县第七次全国人口普查公报（第三号）》；饼图为开题报告调研预测数据。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Audience Needs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2.13 主要人群需求分析——活动类型与时段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pic>
        <p:nvPicPr>
          <p:cNvPr id="7" name="Image 0" descr="/home/user/lxfs/pptx_build/figs/pie_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2240280" cy="2240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17296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居民主要活动类型偏好</a:t>
            </a:r>
            <a:endParaRPr lang="en-US" sz="800" dirty="0"/>
          </a:p>
        </p:txBody>
      </p:sp>
      <p:pic>
        <p:nvPicPr>
          <p:cNvPr id="9" name="Image 1" descr="/home/user/lxfs/pptx_build/figs/pie_ti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91440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317296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居民户外活动时段分布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6217920" y="91440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09360" y="10058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基本需求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263640" y="132588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出行、日晒、休憩、体锻——全域无障碍步道、遮阳林荫、充足座椅、分龄健身场地。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217920" y="2468880"/>
            <a:ext cx="2606040" cy="1417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09360" y="25603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进阶需求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263640" y="2880360"/>
            <a:ext cx="251460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情感、兴趣、社交、理疗——邻里聚会草坪、种植科普、康养步道、文化记忆节点。</a:t>
            </a:r>
            <a:endParaRPr lang="en-US" sz="8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人群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主要活动时段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主要活动类型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中老年人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6:00—9:00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晨练散步、日间休憩闲谈、饭后休闲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中年群体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14:00—20:00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跑步、健身等体育运动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青少年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14:00—19:00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跑步、球类、骑行；上学途经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儿童（亲子）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全天分散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攀爬游乐、亲子游乐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6263640" y="4023360"/>
            <a:ext cx="25603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注：饼图数据为开题报告调研预测，待问卷统计后校正。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2.14 光照分析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pic>
        <p:nvPicPr>
          <p:cNvPr id="7" name="Image 0" descr="/home/user/lxfs/pptx_build/figs/su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4160520" cy="2331720"/>
          </a:xfrm>
          <a:prstGeom prst="rect">
            <a:avLst/>
          </a:prstGeom>
        </p:spPr>
      </p:pic>
      <p:pic>
        <p:nvPicPr>
          <p:cNvPr id="8" name="Image 1" descr="/home/user/lxfs/pptx_build/figs/su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932688"/>
            <a:ext cx="3474720" cy="2331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273552"/>
            <a:ext cx="41605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夏季太阳轨迹与场地日照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83480" y="3273552"/>
            <a:ext cx="34747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光照分析图（冬季太阳高度角较低）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5720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3657600"/>
            <a:ext cx="1371600" cy="27432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全日照区（≥6h）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场地开阔区域，适合布置阳光草坪、运动场地和露天活动空间。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329184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83280" y="3657600"/>
            <a:ext cx="1371600" cy="27432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38328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半日照区（3—6h）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33756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场地两侧，适宜疏林草地、慢行步道和林下休憩空间。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126480" y="3566160"/>
            <a:ext cx="2697480" cy="11887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17920" y="3657600"/>
            <a:ext cx="1371600" cy="27432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阴影区（&lt;3h）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977640"/>
            <a:ext cx="2606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受建筑阴影影响，可布置阴生植物景观和静谧休闲空间。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4754880"/>
            <a:ext cx="83667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夏季太阳高度角高，场地大部分区域日照强烈，需通过乔木遮阴提升舒适度；冬季太阳高度角较低，南侧和中部向阳空间更适合人群活动。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2.15 SWOT分析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32688"/>
            <a:ext cx="777240" cy="329184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93268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31673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规模8.6公顷，满足15分钟生活圈综合公园标准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四面临路，四面可设入口，可达性极强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场地平整无拆迁，建设成本低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周边居住人口密集，使用需求充足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383280" y="93268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932688"/>
            <a:ext cx="777240" cy="329184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93268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31673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北侧主干道车流大，噪声粉尘干扰严重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现状成型乔木有限，初期需大量苗木栽植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场地缺少天然水系，需人工营造海绵水景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80720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07208"/>
            <a:ext cx="777240" cy="329184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072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机遇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19125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仁寿城北新城公园城市规划政策支持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片区缺少综合绿地，项目民生价值高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海绵城市、15分钟生活圈政策提供设计导向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周边小区入住率持续提升，远期人流增长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83280" y="2807208"/>
            <a:ext cx="283464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3280" y="2807208"/>
            <a:ext cx="777240" cy="329184"/>
          </a:xfrm>
          <a:prstGeom prst="rect">
            <a:avLst/>
          </a:prstGeom>
          <a:solidFill>
            <a:srgbClr val="8A8F9C"/>
          </a:solidFill>
          <a:ln w="12700">
            <a:solidFill>
              <a:srgbClr val="8A8F9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8072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191256"/>
            <a:ext cx="2743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县城建设预算有限，不宜采用高端硬质景观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夏季多雨，需重点做好场地排水防涝设计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周边小区内部小型绿地分流部分休闲人群</a:t>
            </a:r>
            <a:endParaRPr lang="en-US" sz="850" dirty="0"/>
          </a:p>
        </p:txBody>
      </p:sp>
      <p:pic>
        <p:nvPicPr>
          <p:cNvPr id="23" name="Image 0" descr="/home/user/lxfs/pptx_build/figs/site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932688"/>
            <a:ext cx="2468880" cy="140061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355080" y="2351591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场地现状：裸土空地</a:t>
            </a:r>
            <a:endParaRPr lang="en-US" sz="800" dirty="0"/>
          </a:p>
        </p:txBody>
      </p:sp>
      <p:pic>
        <p:nvPicPr>
          <p:cNvPr id="25" name="Image 1" descr="/home/user/lxfs/pptx_build/figs/satell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587" y="2606040"/>
            <a:ext cx="1797865" cy="14173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355080" y="40416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45720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注：开题报告SWOT中“现状无成型乔木”与2.11“保留原生乔木群落”矛盾，此处按现状分析口径修正为“成型乔木有限”，请确认。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项目研究概述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Summary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2.16 问题梳理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pic>
        <p:nvPicPr>
          <p:cNvPr id="7" name="Image 0" descr="/home/user/lxfs/pptx_build/figs/site_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586" y="932688"/>
            <a:ext cx="1918707" cy="1097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029968"/>
            <a:ext cx="2697480" cy="329184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029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场地现状问题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359152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2423160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北侧普宁大道车流大，噪声、粉尘干扰严重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裸土地块土壤条件一般，需改良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无天然水体，旱地型地块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局部小土坡，场地平整度一般</a:t>
            </a:r>
            <a:endParaRPr lang="en-US" sz="850" dirty="0"/>
          </a:p>
        </p:txBody>
      </p:sp>
      <p:pic>
        <p:nvPicPr>
          <p:cNvPr id="12" name="Image 1" descr="/home/user/lxfs/pptx_build/figs/sit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226" y="932688"/>
            <a:ext cx="1918707" cy="10972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91840" y="2029968"/>
            <a:ext cx="2697480" cy="329184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91840" y="2029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片区供给问题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291840" y="2359152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37560" y="2423160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集中型公共休闲绿地供给严重不足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现有绿地为小区零散附属绿化，仅简易健身器械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缺乏规模化、分龄化专业运动场地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新城缺少文化景观载体与场所记忆</a:t>
            </a:r>
            <a:endParaRPr lang="en-US" sz="850" dirty="0"/>
          </a:p>
        </p:txBody>
      </p:sp>
      <p:pic>
        <p:nvPicPr>
          <p:cNvPr id="17" name="Image 2" descr="/home/user/lxfs/pptx_build/figs/site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801" y="932688"/>
            <a:ext cx="1924838" cy="10972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126480" y="2029968"/>
            <a:ext cx="2697480" cy="329184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26480" y="2029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人群需求问题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26480" y="2359152"/>
            <a:ext cx="2697480" cy="1828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172200" y="2423160"/>
            <a:ext cx="260604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中老年占比高，康养、社交空间缺失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亲子群体缺少安全分龄游乐场地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青少年、学生缺少球类、跑步场地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夏季高温多雨，缺少遮阳与全天候活动条件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3434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以上问题对应第三部分设计目标（3.1）与设计策略（3.4）逐项回应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Planning Analysis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pic>
        <p:nvPicPr>
          <p:cNvPr id="6" name="Image 0" descr="/home/user/lxfs/pptx_build/figs/sz_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822960"/>
            <a:ext cx="3977640" cy="2019004"/>
          </a:xfrm>
          <a:prstGeom prst="rect">
            <a:avLst/>
          </a:prstGeom>
        </p:spPr>
      </p:pic>
      <p:pic>
        <p:nvPicPr>
          <p:cNvPr id="7" name="Image 1" descr="/home/user/lxfs/pptx_build/figs/ms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017520"/>
            <a:ext cx="1920240" cy="1078491"/>
          </a:xfrm>
          <a:prstGeom prst="rect">
            <a:avLst/>
          </a:prstGeom>
        </p:spPr>
      </p:pic>
      <p:pic>
        <p:nvPicPr>
          <p:cNvPr id="8" name="Image 2" descr="/home/user/lxfs/pptx_build/figs/wh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017520"/>
            <a:ext cx="1920240" cy="12820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914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场地规划分析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23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Objectives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设计目标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042416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424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生态目标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49961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多层次乡土植物群落 + 主干道生态缓冲带 + 海绵雨水系统，降低径流，削弱噪声粉尘，修复片区微型生态。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37560" y="93268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47288" y="1042416"/>
            <a:ext cx="365760" cy="36576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04488" y="10424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功能目标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149961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婴幼儿游乐、青少年运动、老年康养、邻里大草坪、自然科普五大核心分区，满足日常游憩、健身、社交需求。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80720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2916936"/>
            <a:ext cx="365760" cy="36576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916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空间目标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" y="337413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优化主次入口与人车流线，打通四向人行通道，公园与居住区步行无缝衔接，形成连贯游览轴线。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37560" y="2807208"/>
            <a:ext cx="2788920" cy="17830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47288" y="2916936"/>
            <a:ext cx="365760" cy="36576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4728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904488" y="2916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落地目标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410712" y="3374136"/>
            <a:ext cx="265176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低成本、低维护：眉山本土苗木，减少土方开挖，构筑物简约轻量化，适配县城建设标准。</a:t>
            </a:r>
            <a:endParaRPr lang="en-US" sz="900" dirty="0"/>
          </a:p>
        </p:txBody>
      </p:sp>
      <p:pic>
        <p:nvPicPr>
          <p:cNvPr id="27" name="Image 0" descr="/home/user/lxfs/pptx_build/figs/ms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932688"/>
            <a:ext cx="2468880" cy="1386631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355080" y="2337607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球类集中区（案例效果图）</a:t>
            </a:r>
            <a:endParaRPr lang="en-US" sz="800" dirty="0"/>
          </a:p>
        </p:txBody>
      </p:sp>
      <p:pic>
        <p:nvPicPr>
          <p:cNvPr id="29" name="Image 1" descr="/home/user/lxfs/pptx_build/figs/sz_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971800"/>
            <a:ext cx="2468880" cy="1253175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355080" y="4243263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林下休憩空间（案例照片）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Principles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设计原则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pic>
        <p:nvPicPr>
          <p:cNvPr id="7" name="Image 0" descr="/home/user/lxfs/pptx_build/figs/sz_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104" y="932688"/>
            <a:ext cx="1061872" cy="1417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2350008"/>
            <a:ext cx="2011680" cy="4114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以人为本·全龄友好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035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依老人、儿童、中青年行为特征分区，全域无障碍步道、休憩座椅、遮阳乔木，兼顾安全、舒适、可达。</a:t>
            </a:r>
            <a:endParaRPr lang="en-US" sz="950" dirty="0"/>
          </a:p>
        </p:txBody>
      </p:sp>
      <p:pic>
        <p:nvPicPr>
          <p:cNvPr id="12" name="Image 1" descr="/home/user/lxfs/pptx_build/figs/tf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615" y="932688"/>
            <a:ext cx="1125089" cy="1417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2350008"/>
            <a:ext cx="2011680" cy="4114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6032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交通便捷·开放共享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56032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3347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四面设主次人行入口，绿篱、微地形软边界代替围墙，24小时开放，绿地资源全民共享。</a:t>
            </a:r>
            <a:endParaRPr lang="en-US" sz="950" dirty="0"/>
          </a:p>
        </p:txBody>
      </p:sp>
      <p:pic>
        <p:nvPicPr>
          <p:cNvPr id="17" name="Image 2" descr="/home/user/lxfs/pptx_build/figs/tf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2933" y="932688"/>
            <a:ext cx="1892694" cy="14173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663440" y="2350008"/>
            <a:ext cx="2011680" cy="4114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6344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乡土风貌·简约宜居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66344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73659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川南浅丘自然简约风格，小品铺装提取仁寿田园、黑龙滩水系元素，质朴舒适。</a:t>
            </a:r>
            <a:endParaRPr lang="en-US" sz="950" dirty="0"/>
          </a:p>
        </p:txBody>
      </p:sp>
      <p:pic>
        <p:nvPicPr>
          <p:cNvPr id="22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932688"/>
            <a:ext cx="2011680" cy="102110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766560" y="2350008"/>
            <a:ext cx="2011680" cy="411480"/>
          </a:xfrm>
          <a:prstGeom prst="rect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766560" y="23500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生态节约·海绵低碳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766560" y="2761488"/>
            <a:ext cx="201168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39712" y="2834640"/>
            <a:ext cx="1865376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保留平整原始地形，土方场内平衡；桢楠、香樟、桂花、紫薇等乡土树种；雨水花园、植草沟就地净化利用。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Concept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设计构思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48463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“跃动”对应全民健康——全龄运动、活力健身；“栖园”对应生态栖居——林下休憩、海绵生态、乡土记忆。以“一环”健康步道串联“动”“静”两类组团，主干道一侧以“一带”防护林承担生态缓冲。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48463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73152" cy="68580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3682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跃动组团（动）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624328"/>
            <a:ext cx="46634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青少年球类运动区、中青年健身器械区、环形健康步道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48463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108960"/>
            <a:ext cx="73152" cy="6858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455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栖居组团（静）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01568"/>
            <a:ext cx="46634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老年康养林荫区、邻里阳光草坪、海绵雨水花园、文化记忆节点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4846320" cy="6858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73152" cy="68580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9227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亲子组团（动静结合）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178808"/>
            <a:ext cx="46634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分龄儿童游乐区、家长看护休憩、自然科普种植</a:t>
            </a:r>
            <a:endParaRPr lang="en-US" sz="850" dirty="0"/>
          </a:p>
        </p:txBody>
      </p:sp>
      <p:pic>
        <p:nvPicPr>
          <p:cNvPr id="21" name="Image 0" descr="/home/user/lxfs/pptx_build/figs/satell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932688"/>
            <a:ext cx="3291840" cy="259507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532120" y="35460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场地卫星影像（设计基底）</a:t>
            </a:r>
            <a:endParaRPr lang="en-US" sz="800" dirty="0"/>
          </a:p>
        </p:txBody>
      </p:sp>
      <p:pic>
        <p:nvPicPr>
          <p:cNvPr id="23" name="Image 1" descr="/home/user/lxfs/pptx_build/figs/ms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3767328"/>
            <a:ext cx="1600200" cy="90060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532120" y="468621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跃动组团参考</a:t>
            </a:r>
            <a:endParaRPr lang="en-US" sz="800" dirty="0"/>
          </a:p>
        </p:txBody>
      </p:sp>
      <p:pic>
        <p:nvPicPr>
          <p:cNvPr id="25" name="Image 2" descr="/home/user/lxfs/pptx_build/figs/sz_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767328"/>
            <a:ext cx="1600200" cy="81224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223760" y="4597859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栖居组团参考</a:t>
            </a:r>
            <a:endParaRPr lang="en-US" sz="800" dirty="0"/>
          </a:p>
        </p:txBody>
      </p:sp>
      <p:sp>
        <p:nvSpPr>
          <p:cNvPr id="27" name="Text 22"/>
          <p:cNvSpPr txBox="1"/>
          <p:nvPr/>
        </p:nvSpPr>
        <p:spPr>
          <a:xfrm>
            <a:off x="457200" y="4709160"/>
            <a:ext cx="484632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注：本页构思为依据开题报告目标与案例借鉴整理的初步框架，需确认或替换。</a:t>
            </a:r>
            <a:endParaRPr lang="en-US" sz="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设计策略——策略框架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pic>
        <p:nvPicPr>
          <p:cNvPr id="7" name="Image 0" descr="/home/user/lxfs/pptx_build/figs/strateg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85" y="932688"/>
            <a:ext cx="5746351" cy="3794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745736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设计策略框架图（开题报告）</a:t>
            </a:r>
            <a:endParaRPr lang="en-US" sz="800" dirty="0"/>
          </a:p>
        </p:txBody>
      </p:sp>
      <p:pic>
        <p:nvPicPr>
          <p:cNvPr id="9" name="Image 1" descr="/home/user/lxfs/pptx_build/figs/ms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989" y="932688"/>
            <a:ext cx="2116501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46520" y="21396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运动专项场地（案例）</a:t>
            </a:r>
            <a:endParaRPr lang="en-US" sz="800" dirty="0"/>
          </a:p>
        </p:txBody>
      </p:sp>
      <p:pic>
        <p:nvPicPr>
          <p:cNvPr id="11" name="Image 2" descr="/home/user/lxfs/pptx_build/figs/wh_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021" y="2331720"/>
            <a:ext cx="1780438" cy="1188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35387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运动配套休憩与跑道（案例）</a:t>
            </a:r>
            <a:endParaRPr lang="en-US" sz="800" dirty="0"/>
          </a:p>
        </p:txBody>
      </p:sp>
      <p:pic>
        <p:nvPicPr>
          <p:cNvPr id="13" name="Image 3" descr="/home/user/lxfs/pptx_build/figs/sz_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474" y="3730752"/>
            <a:ext cx="1891532" cy="9601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46520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生态基底与林下空间（案例）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Strategy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设计策略——回应2.16问题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32688"/>
            <a:ext cx="1600200" cy="86868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93268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整体空间统筹规划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结合周边人群需求划分功能板块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76272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运动健身区 / 生态休闲区 / 亲子活动区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统筹布置公园主次出入口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416552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四向人行入口对应小区与学校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组织场地交通流线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56832" y="129844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人车分流 / 慢行运动步道 / 优化游览运动路线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189280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1892808"/>
            <a:ext cx="1600200" cy="8686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189280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中观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全龄友好分区活力营造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19842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匹配各年龄段活动诉求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176272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老年康养 / 儿童亲子 / 青年运动 / 大众休闲社交空间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434840" y="19842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打造多元全民健身场景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分龄场地与动静分区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19842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7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激活各片区场地活力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环形健康步道串联组团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852928"/>
            <a:ext cx="8366760" cy="868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852928"/>
            <a:ext cx="1600200" cy="868680"/>
          </a:xfrm>
          <a:prstGeom prst="rect">
            <a:avLst/>
          </a:prstGeom>
          <a:solidFill>
            <a:srgbClr val="4E8A3E"/>
          </a:solidFill>
          <a:ln w="12700">
            <a:solidFill>
              <a:srgbClr val="4E8A3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285292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微观·核心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运动专项景观设施提升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219456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体育运动场地配置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176272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球类运动场地 / 健身器械点位 / 健身慢跑步道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43484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运动配套休憩设施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416552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运动休息节点 / 标识导览系统 / 基础便民服务设施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29443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E8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文化植入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黑龙滩水利记忆铺装 / 陵州文脉标识小品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3813048"/>
            <a:ext cx="8366760" cy="86868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3813048"/>
            <a:ext cx="1600200" cy="868680"/>
          </a:xfrm>
          <a:prstGeom prst="rect">
            <a:avLst/>
          </a:prstGeom>
          <a:solidFill>
            <a:srgbClr val="5B7DB1"/>
          </a:solidFill>
          <a:ln w="12700">
            <a:solidFill>
              <a:srgbClr val="5B7DB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2920" y="3813048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次要后置</a:t>
            </a:r>
            <a:endParaRPr lang="en-US" sz="8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场地生态基底优化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194560" y="39044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保留场地原生林地植被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176272" y="417880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北侧多层乔灌降噪防护林带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434840" y="39044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修复场地裸土地块环境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417880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乡土植物构建复层群落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6675120" y="39044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7D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海绵雨水场地处理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656832" y="4178808"/>
            <a:ext cx="21945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透水铺装 + 植草沟 + 线性雨水花园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800600"/>
            <a:ext cx="73152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策略框架来源：开题报告4.9设计策略图（宏观—中观—微观—后置四层级）。</a:t>
            </a:r>
            <a:endParaRPr lang="en-US" sz="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Deliverables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设计成果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F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区位分析、自然条件（地形、气候）、社会条件（城市风貌、历史文化、道路、交通、用地、使用者构成及行为）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场地道路分析、视线分析、建筑分析、入口分析、人流分析、景观序列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设计图纸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总平面图（景点、建筑、植物、交通布局，图名图例比例风玫瑰）、节点详图（平面、立面、细节）、植物配置图（树林、树丛、孤植、草坪、花境、植物列表）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效果图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场地鸟瞰图、节点效果图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专项设计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建筑外立面、照明设计、平面图、立面图、效果图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4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设计目的、设计依据与相关政策、设计思想与原则、现状分析、设计分析、设计说明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home/user/lxfs/pptx_build/figs/ms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932688"/>
            <a:ext cx="2468880" cy="138663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355080" y="2337607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节点效果图参考</a:t>
            </a:r>
            <a:endParaRPr lang="en-US" sz="800" dirty="0"/>
          </a:p>
        </p:txBody>
      </p:sp>
      <p:pic>
        <p:nvPicPr>
          <p:cNvPr id="10" name="Image 1" descr="/home/user/lxfs/pptx_build/figs/tf_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349" y="2560320"/>
            <a:ext cx="1976343" cy="1417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55080" y="39959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场地鸟瞰图参考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 进度安排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93192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4342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342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10月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15493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5493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11月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76643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643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12月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37794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794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1月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98944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8944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600950" y="932688"/>
            <a:ext cx="584073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00950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3月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12455" y="932688"/>
            <a:ext cx="584073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2455" y="932688"/>
            <a:ext cx="6115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4月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135331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132588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2026.09.01—09.25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13258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收集资料，完成选题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931920" y="165506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1399032"/>
            <a:ext cx="507549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17556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2026.09.26—10.26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17556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完成开题报告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931920" y="208483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51699" y="1828800"/>
            <a:ext cx="62373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212848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218541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2026.10.27—10.28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423160" y="218541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开题答辩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31920" y="251460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5434" y="225856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2642616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26151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2026.10.29—11.09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423160" y="26151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搜集资料、实地研究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31920" y="2944368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4355" y="2688336"/>
            <a:ext cx="21402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3072384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720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" y="304495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2026.11.10—12.25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2423160" y="30449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完成初稿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31920" y="3374136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56727" y="3118104"/>
            <a:ext cx="917257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502152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720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47472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2026.12.26—2027.02.25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42316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完成修改稿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931920" y="3803904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6214" y="3547872"/>
            <a:ext cx="1223010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" y="3931920"/>
            <a:ext cx="274320" cy="274320"/>
          </a:xfrm>
          <a:prstGeom prst="ellipse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5720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822960" y="390448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2027.02.26—03.25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423160" y="39044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完成定稿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931920" y="4233672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521454" y="3977640"/>
            <a:ext cx="587045" cy="182880"/>
          </a:xfrm>
          <a:prstGeom prst="rect">
            <a:avLst/>
          </a:prstGeom>
          <a:solidFill>
            <a:srgbClr val="8FA6D6"/>
          </a:solidFill>
          <a:ln w="12700">
            <a:solidFill>
              <a:srgbClr val="8FA6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" y="4361688"/>
            <a:ext cx="274320" cy="274320"/>
          </a:xfrm>
          <a:prstGeom prst="ellipse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720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22960" y="43342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2027.04.07—04.08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2423160" y="43342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F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毕业答辩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931920" y="4663440"/>
            <a:ext cx="4892040" cy="0"/>
          </a:xfrm>
          <a:prstGeom prst="line">
            <a:avLst/>
          </a:prstGeom>
          <a:noFill/>
          <a:ln w="6350">
            <a:solidFill>
              <a:srgbClr val="E3E6E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34756" y="4407408"/>
            <a:ext cx="73152" cy="182880"/>
          </a:xfrm>
          <a:prstGeom prst="rect">
            <a:avLst/>
          </a:prstGeom>
          <a:solidFill>
            <a:srgbClr val="E07B2A"/>
          </a:solidFill>
          <a:ln w="12700">
            <a:solidFill>
              <a:srgbClr val="E07B2A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参考文献（1/2）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孟语.城市体育公园规划设计与发展研究[D].北京：北京林业大学,2016.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史熙文.城市体育公园景观设计研究[D].大连：大连工业大学,2021.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吴子姮.基于环境行为学的城市体育公园规划设计研究[D].北京：北京林业大学,2022.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李雨桐.全龄友好视角下县城体育公园景观设计研究[D].成都：四川农业大学,2023.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由文华,吉云波.体育景观环境[M].北京：北京体育大学出版社,2018.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王晓俊.风景园林设计[M].南京：江苏科学技术出版社,2018.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扬·盖尔.交往与空间[M].何人可,译.4版.北京：中国建筑工业出版社,2002.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胡鞍钢,方旭东.全民健身国家战略：内涵与发展思路[J].体育科学,2016,36(03):3-9.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蒋荣,熊瑶.全民健身战略下的社区体育公园景观设计研究[J].设计艺术研究,2022,12(04):77-82.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金依然.全民健身背景下县级体育公园建设研究[J].广西城镇建设,2024(07):68-72.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陈芃序,王天扬,张德顺.全民健身背景下城市社区公园环境设计研究[J].华中建筑,2023,41(02):68-72.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场地规划分析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82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30352"/>
            <a:ext cx="8503920" cy="0"/>
          </a:xfrm>
          <a:prstGeom prst="line">
            <a:avLst/>
          </a:prstGeom>
          <a:noFill/>
          <a:ln w="9525">
            <a:solidFill>
              <a:srgbClr val="A9B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760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F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 参考文献（2/2）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8280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366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周聪惠,陶成蹊,刘婧方,等.基于弹性共享的户外健身设施群体需求响应评测研究[J].风景园林,2024,31(02):48-55.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张俊涛,杨洪.县域体育公园治理路径研究——以晋江智慧体育公园为例[J].运动精品,2023(07):66-68.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住房和城乡建设部.公园设计规范：GB 51192-2016[S].北京：中国建筑工业出版社,2017.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住房和城乡建设部.城市居住区规划设计标准：GB 50180-2018[S].北京：中国建筑工业出版社,2018.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中国城市科学研究会.社区体育公园规划建设指南：T/CSUS 18-2021[S].北京：中国建筑工业出版社,2021.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国务院办公厅.关于推进体育公园建设的指导意见[EB/OL].(2021-10-29)[2026-08-15].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王益鹏.基于生态恢复理念的景观设计研究[D].清华大学,2015.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[19] KACZYNSKI A T,POTWARKA L R,SAELENS B E.Association of park size,distance,and features with physical activity in neighborhood parks[J].American Journal of Public Health,2008,98(08):1451-1456.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[20] WARBURTON D E R,NICOL C W,BREDIN S S D.Health benefits of physical activity:The evidence[J].Canadian Medical Association Journal,2006,174(06):801-809.</a:t>
            </a:r>
            <a:endParaRPr lang="en-US" sz="9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[21] World Health Organization.Global status report on physical activity 2022[R].Geneva:WHO,2022.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51435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pic>
        <p:nvPicPr>
          <p:cNvPr id="3" name="Image 0" descr="/home/user/lxfs/pptx_build/figs/tf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226" y="320040"/>
            <a:ext cx="3113788" cy="2331720"/>
          </a:xfrm>
          <a:prstGeom prst="rect">
            <a:avLst/>
          </a:prstGeom>
        </p:spPr>
      </p:pic>
      <p:pic>
        <p:nvPicPr>
          <p:cNvPr id="4" name="Image 1" descr="/home/user/lxfs/pptx_build/figs/tf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3" y="2788920"/>
            <a:ext cx="1633194" cy="2057400"/>
          </a:xfrm>
          <a:prstGeom prst="rect">
            <a:avLst/>
          </a:prstGeom>
        </p:spPr>
      </p:pic>
      <p:pic>
        <p:nvPicPr>
          <p:cNvPr id="5" name="Image 2" descr="/home/user/lxfs/pptx_build/figs/sz_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9666" y="2788920"/>
            <a:ext cx="1541427" cy="205740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1F3F7A"/>
          </a:solidFill>
          <a:ln w="12700">
            <a:solidFill>
              <a:srgbClr val="1F3F7A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4572000" y="1737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请各位老师批评指正</a:t>
            </a:r>
            <a:endParaRPr lang="en-US" sz="2800" dirty="0"/>
          </a:p>
        </p:txBody>
      </p:sp>
      <p:sp>
        <p:nvSpPr>
          <p:cNvPr id="8" name="Text 3"/>
          <p:cNvSpPr txBox="1"/>
          <p:nvPr/>
        </p:nvSpPr>
        <p:spPr>
          <a:xfrm>
            <a:off x="457200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跃动·栖园——全民健康视角下的眉山市仁寿县体育公园景观设计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4572000" y="4480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F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 PARK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跃动·栖园——全民健康视角下的眉山市仁寿县体育公园景观设计</dc:title>
  <dc:subject>PptxGenJS Presentation</dc:subject>
  <dc:creator>开题报告</dc:creator>
  <cp:lastModifiedBy>开题报告</cp:lastModifiedBy>
  <cp:revision>1</cp:revision>
  <dcterms:created xsi:type="dcterms:W3CDTF">2026-09-07T10:20:54Z</dcterms:created>
  <dcterms:modified xsi:type="dcterms:W3CDTF">2026-09-07T10:20:54Z</dcterms:modified>
</cp:coreProperties>
</file>