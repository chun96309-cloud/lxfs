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第七次全国人口普查年龄构成对比（%）</a:t>
            </a:r>
          </a:p>
        </c:rich>
      </c:tx>
      <c:layout/>
      <c:overlay val="0"/>
    </c:title>
    <c:autoTitleDeleted val="0"/>
    <c:plotArea>
      <c:layout/>
      <c:barChart>
        <c:barDir val="col"/>
        <c:grouping val="clustered"/>
        <c:varyColors val="0"/>
        <c:ser>
          <c:idx val="0"/>
          <c:order val="0"/>
          <c:tx>
            <c:strRef>
              <c:f>Sheet1!$B$1</c:f>
              <c:strCache>
                <c:ptCount val="1"/>
                <c:pt idx="0">
                  <c:v>0-14岁</c:v>
                </c:pt>
              </c:strCache>
            </c:strRef>
          </c:tx>
          <c:spPr>
            <a:solidFill>
              <a:srgbClr val="4E8A3E"/>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Sheet1!$B$2:$B$4</c:f>
              <c:numCache>
                <c:formatCode>General</c:formatCode>
                <c:ptCount val="3"/>
                <c:pt idx="0">
                  <c:v>17.95</c:v>
                </c:pt>
                <c:pt idx="1">
                  <c:v>16.1</c:v>
                </c:pt>
                <c:pt idx="2">
                  <c:v>15.31</c:v>
                </c:pt>
              </c:numCache>
            </c:numRef>
          </c:val>
        </c:ser>
        <c:ser>
          <c:idx val="1"/>
          <c:order val="1"/>
          <c:tx>
            <c:strRef>
              <c:f>Sheet1!$C$1</c:f>
              <c:strCache>
                <c:ptCount val="1"/>
                <c:pt idx="0">
                  <c:v>15-59岁</c:v>
                </c:pt>
              </c:strCache>
            </c:strRef>
          </c:tx>
          <c:spPr>
            <a:solidFill>
              <a:srgbClr val="1F3F7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Sheet1!$C$2:$C$4</c:f>
              <c:numCache>
                <c:formatCode>General</c:formatCode>
                <c:ptCount val="3"/>
                <c:pt idx="0">
                  <c:v>63.35</c:v>
                </c:pt>
                <c:pt idx="1">
                  <c:v>62.19</c:v>
                </c:pt>
                <c:pt idx="2">
                  <c:v>58.13</c:v>
                </c:pt>
              </c:numCache>
            </c:numRef>
          </c:val>
        </c:ser>
        <c:ser>
          <c:idx val="2"/>
          <c:order val="2"/>
          <c:tx>
            <c:strRef>
              <c:f>Sheet1!$D$1</c:f>
              <c:strCache>
                <c:ptCount val="1"/>
                <c:pt idx="0">
                  <c:v>60岁及以上</c:v>
                </c:pt>
              </c:strCache>
            </c:strRef>
          </c:tx>
          <c:spPr>
            <a:solidFill>
              <a:srgbClr val="E07B2A"/>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全国</c:v>
                  </c:pt>
                  <c:pt idx="1">
                    <c:v>四川省</c:v>
                  </c:pt>
                  <c:pt idx="2">
                    <c:v>仁寿县</c:v>
                  </c:pt>
                </c:lvl>
              </c:multiLvlStrCache>
            </c:multiLvlStrRef>
          </c:cat>
          <c:val>
            <c:numRef>
              <c:f>Sheet1!$D$2:$D$4</c:f>
              <c:numCache>
                <c:formatCode>General</c:formatCode>
                <c:ptCount val="3"/>
                <c:pt idx="0">
                  <c:v>18.7</c:v>
                </c:pt>
                <c:pt idx="1">
                  <c:v>21.71</c:v>
                </c:pt>
                <c:pt idx="2">
                  <c:v>26.56</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Microsoft YaHei"/>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各月日照时数（h）</a:t>
            </a:r>
          </a:p>
        </c:rich>
      </c:tx>
      <c:layout/>
      <c:overlay val="0"/>
    </c:title>
    <c:autoTitleDeleted val="0"/>
    <c:plotArea>
      <c:layout/>
      <c:barChart>
        <c:barDir val="col"/>
        <c:grouping val="clustered"/>
        <c:varyColors val="0"/>
        <c:ser>
          <c:idx val="0"/>
          <c:order val="0"/>
          <c:tx>
            <c:strRef>
              <c:f>Sheet1!$B$1</c:f>
              <c:strCache>
                <c:ptCount val="1"/>
                <c:pt idx="0">
                  <c:v>日照时数</c:v>
                </c:pt>
              </c:strCache>
            </c:strRef>
          </c:tx>
          <c:spPr>
            <a:solidFill>
              <a:srgbClr val="E07B2A"/>
            </a:solidFill>
            <a:effectLst/>
          </c:spPr>
          <c:invertIfNegative val="0"/>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42.4</c:v>
                </c:pt>
                <c:pt idx="1">
                  <c:v>53.8</c:v>
                </c:pt>
                <c:pt idx="2">
                  <c:v>92.3</c:v>
                </c:pt>
                <c:pt idx="3">
                  <c:v>126.5</c:v>
                </c:pt>
                <c:pt idx="4">
                  <c:v>126.1</c:v>
                </c:pt>
                <c:pt idx="5">
                  <c:v>109.4</c:v>
                </c:pt>
                <c:pt idx="6">
                  <c:v>133.6</c:v>
                </c:pt>
                <c:pt idx="7">
                  <c:v>142.6</c:v>
                </c:pt>
                <c:pt idx="8">
                  <c:v>74.6</c:v>
                </c:pt>
                <c:pt idx="9">
                  <c:v>51</c:v>
                </c:pt>
                <c:pt idx="10">
                  <c:v>55</c:v>
                </c:pt>
                <c:pt idx="11">
                  <c:v>40.3</c:v>
                </c:pt>
              </c:numCache>
            </c:numRef>
          </c:val>
        </c:ser>
        <c:dLbls>
          <c:numFmt formatCode="#,##0"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444444"/>
                </a:solidFill>
                <a:latin typeface="Microsoft YaHei"/>
              </a:defRPr>
            </a:pPr>
            <a:r>
              <a:rPr sz="1000" b="0" i="0" u="none" strike="noStrike">
                <a:solidFill>
                  <a:srgbClr val="444444"/>
                </a:solidFill>
                <a:latin typeface="Microsoft YaHei"/>
              </a:rPr>
              <a:t>各月相对湿度与降水日数</a:t>
            </a:r>
          </a:p>
        </c:rich>
      </c:tx>
      <c:layout/>
      <c:overlay val="0"/>
    </c:title>
    <c:autoTitleDeleted val="0"/>
    <c:plotArea>
      <c:layout/>
      <c:lineChart>
        <c:varyColors val="0"/>
        <c:ser>
          <c:idx val="0"/>
          <c:order val="0"/>
          <c:tx>
            <c:strRef>
              <c:f>Sheet1!$B$1</c:f>
              <c:strCache>
                <c:ptCount val="1"/>
                <c:pt idx="0">
                  <c:v>相对湿度（%）</c:v>
                </c:pt>
              </c:strCache>
            </c:strRef>
          </c:tx>
          <c:spPr>
            <a:solidFill>
              <a:srgbClr val="1F3F7A"/>
            </a:solidFill>
            <a:ln w="25400" cap="flat">
              <a:solidFill>
                <a:srgbClr val="1F3F7A"/>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1F3F7A"/>
              </a:solidFill>
              <a:ln w="9525" cap="flat">
                <a:solidFill>
                  <a:srgbClr val="1F3F7A"/>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77</c:v>
                </c:pt>
                <c:pt idx="1">
                  <c:v>74</c:v>
                </c:pt>
                <c:pt idx="2">
                  <c:v>70</c:v>
                </c:pt>
                <c:pt idx="3">
                  <c:v>69</c:v>
                </c:pt>
                <c:pt idx="4">
                  <c:v>67</c:v>
                </c:pt>
                <c:pt idx="5">
                  <c:v>75</c:v>
                </c:pt>
                <c:pt idx="6">
                  <c:v>78</c:v>
                </c:pt>
                <c:pt idx="7">
                  <c:v>77</c:v>
                </c:pt>
                <c:pt idx="8">
                  <c:v>80</c:v>
                </c:pt>
                <c:pt idx="9">
                  <c:v>81</c:v>
                </c:pt>
                <c:pt idx="10">
                  <c:v>78</c:v>
                </c:pt>
                <c:pt idx="11">
                  <c:v>78</c:v>
                </c:pt>
              </c:numCache>
            </c:numRef>
          </c:val>
          <c:smooth val="0"/>
        </c:ser>
        <c:ser>
          <c:idx val="1"/>
          <c:order val="1"/>
          <c:tx>
            <c:strRef>
              <c:f>Sheet1!$C$1</c:f>
              <c:strCache>
                <c:ptCount val="1"/>
                <c:pt idx="0">
                  <c:v>降水日数（d）</c:v>
                </c:pt>
              </c:strCache>
            </c:strRef>
          </c:tx>
          <c:spPr>
            <a:solidFill>
              <a:srgbClr val="4E8A3E"/>
            </a:solidFill>
            <a:ln w="25400" cap="flat">
              <a:solidFill>
                <a:srgbClr val="4E8A3E"/>
              </a:solidFill>
              <a:prstDash val="solid"/>
              <a:round/>
            </a:ln>
            <a:effectLst/>
          </c:spPr>
          <c:invertIfNegative val="0"/>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c:symbol val="circle"/>
            <c:size val="5"/>
            <c:spPr>
              <a:solidFill>
                <a:srgbClr val="4E8A3E"/>
              </a:solidFill>
              <a:ln w="9525" cap="flat">
                <a:solidFill>
                  <a:srgbClr val="4E8A3E"/>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7.8</c:v>
                </c:pt>
                <c:pt idx="1">
                  <c:v>7.8</c:v>
                </c:pt>
                <c:pt idx="2">
                  <c:v>10</c:v>
                </c:pt>
                <c:pt idx="3">
                  <c:v>12.1</c:v>
                </c:pt>
                <c:pt idx="4">
                  <c:v>13.2</c:v>
                </c:pt>
                <c:pt idx="5">
                  <c:v>14.5</c:v>
                </c:pt>
                <c:pt idx="6">
                  <c:v>14.6</c:v>
                </c:pt>
                <c:pt idx="7">
                  <c:v>13.8</c:v>
                </c:pt>
                <c:pt idx="8">
                  <c:v>14.7</c:v>
                </c:pt>
                <c:pt idx="9">
                  <c:v>14.1</c:v>
                </c:pt>
                <c:pt idx="10">
                  <c:v>7.4</c:v>
                </c:pt>
                <c:pt idx="11">
                  <c:v>7</c:v>
                </c:pt>
              </c:numCache>
            </c:numRef>
          </c:val>
          <c:smooth val="0"/>
        </c:ser>
        <c:dLbls>
          <c:numFmt formatCode="#,##0" sourceLinked="0"/>
          <c:txPr>
            <a:bodyPr/>
            <a:lstStyle/>
            <a:p>
              <a:pPr>
                <a:defRPr b="0" i="0" strike="noStrike" sz="700" u="none">
                  <a:solidFill>
                    <a:srgbClr val="00000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800" b="0" i="0" u="none" strike="noStrike">
                    <a:solidFill>
                      <a:srgbClr val="000000"/>
                    </a:solidFill>
                    <a:latin typeface="Microsoft YaHei"/>
                  </a:defRPr>
                </a:pPr>
                <a:r>
                  <a:rPr sz="800" b="0" i="0" u="none" strike="noStrike">
                    <a:solidFill>
                      <a:srgbClr val="000000"/>
                    </a:solidFill>
                    <a:latin typeface="Microsoft YaHei"/>
                  </a:rPr>
                  <a:t>月份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DDDD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latin typeface="Microsoft YaHei"/>
              <a:cs typeface="Microsoft YaHe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jpg"/><Relationship Id="rId3" Type="http://schemas.openxmlformats.org/officeDocument/2006/relationships/image" Target="../media/image-7-2.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image" Target="../media/image-32-3.jpg"/><Relationship Id="rId4" Type="http://schemas.openxmlformats.org/officeDocument/2006/relationships/image" Target="../media/image-32-4.jpg"/><Relationship Id="rId5" Type="http://schemas.openxmlformats.org/officeDocument/2006/relationships/image" Target="../media/image-32-5.jpg"/><Relationship Id="rId6" Type="http://schemas.openxmlformats.org/officeDocument/2006/relationships/image" Target="../media/image-32-6.jpg"/><Relationship Id="rId7" Type="http://schemas.openxmlformats.org/officeDocument/2006/relationships/image" Target="../media/image-32-7.jpg"/><Relationship Id="rId8" Type="http://schemas.openxmlformats.org/officeDocument/2006/relationships/image" Target="../media/image-32-8.jpg"/><Relationship Id="rId9" Type="http://schemas.openxmlformats.org/officeDocument/2006/relationships/image" Target="../media/image-32-9.jpg"/><Relationship Id="rId10" Type="http://schemas.openxmlformats.org/officeDocument/2006/relationships/image" Target="../media/image-32-10.jpg"/><Relationship Id="rId11" Type="http://schemas.openxmlformats.org/officeDocument/2006/relationships/image" Target="../media/image-32-11.jpg"/><Relationship Id="rId12" Type="http://schemas.openxmlformats.org/officeDocument/2006/relationships/image" Target="../media/image-32-12.jp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image" Target="../media/image-37-3.jp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image" Target="../media/image-39-3.jpg"/><Relationship Id="rId4" Type="http://schemas.openxmlformats.org/officeDocument/2006/relationships/image" Target="../media/image-39-4.jp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jpg"/><Relationship Id="rId3" Type="http://schemas.openxmlformats.org/officeDocument/2006/relationships/image" Target="../media/image-40-3.jp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image" Target="../media/image-41-2.jpg"/><Relationship Id="rId3" Type="http://schemas.openxmlformats.org/officeDocument/2006/relationships/image" Target="../media/image-41-3.jpg"/><Relationship Id="rId4" Type="http://schemas.openxmlformats.org/officeDocument/2006/relationships/image" Target="../media/image-41-4.jp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image" Target="../media/image-43-2.jp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image" Target="../media/image-47-3.jpg"/><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937760" cy="5143500"/>
          </a:xfrm>
          <a:prstGeom prst="rect">
            <a:avLst/>
          </a:prstGeom>
          <a:solidFill>
            <a:srgbClr val="1F3F7A"/>
          </a:solidFill>
          <a:ln w="12700">
            <a:solidFill>
              <a:srgbClr val="1F3F7A"/>
            </a:solidFill>
            <a:prstDash val="solid"/>
          </a:ln>
        </p:spPr>
      </p:sp>
      <p:sp>
        <p:nvSpPr>
          <p:cNvPr id="3" name="Shape 1"/>
          <p:cNvSpPr/>
          <p:nvPr/>
        </p:nvSpPr>
        <p:spPr>
          <a:xfrm>
            <a:off x="4937760" y="0"/>
            <a:ext cx="4206240" cy="5143500"/>
          </a:xfrm>
          <a:prstGeom prst="rect">
            <a:avLst/>
          </a:prstGeom>
          <a:solidFill>
            <a:srgbClr val="EEF2F8"/>
          </a:solidFill>
          <a:ln w="12700">
            <a:solidFill>
              <a:srgbClr val="EEF2F8"/>
            </a:solidFill>
            <a:prstDash val="solid"/>
          </a:ln>
        </p:spPr>
      </p:sp>
      <p:pic>
        <p:nvPicPr>
          <p:cNvPr id="4" name="Image 0" descr="/home/user/lxfs/pptx_build/figs/tf_5.jpg">    </p:cNvPr>
          <p:cNvPicPr>
            <a:picLocks noChangeAspect="1"/>
          </p:cNvPicPr>
          <p:nvPr/>
        </p:nvPicPr>
        <p:blipFill>
          <a:blip r:embed="rId1"/>
          <a:stretch>
            <a:fillRect/>
          </a:stretch>
        </p:blipFill>
        <p:spPr>
          <a:xfrm>
            <a:off x="5383302" y="320040"/>
            <a:ext cx="3315155" cy="2377440"/>
          </a:xfrm>
          <a:prstGeom prst="rect">
            <a:avLst/>
          </a:prstGeom>
        </p:spPr>
      </p:pic>
      <p:pic>
        <p:nvPicPr>
          <p:cNvPr id="5" name="Image 1" descr="/home/user/lxfs/pptx_build/figs/tf_1.jpg">    </p:cNvPr>
          <p:cNvPicPr>
            <a:picLocks noChangeAspect="1"/>
          </p:cNvPicPr>
          <p:nvPr/>
        </p:nvPicPr>
        <p:blipFill>
          <a:blip r:embed="rId2"/>
          <a:stretch>
            <a:fillRect/>
          </a:stretch>
        </p:blipFill>
        <p:spPr>
          <a:xfrm>
            <a:off x="5120640" y="2788920"/>
            <a:ext cx="1874520" cy="1403710"/>
          </a:xfrm>
          <a:prstGeom prst="rect">
            <a:avLst/>
          </a:prstGeom>
        </p:spPr>
      </p:pic>
      <p:pic>
        <p:nvPicPr>
          <p:cNvPr id="6" name="Image 2" descr="/home/user/lxfs/pptx_build/figs/ms_2.jpg">    </p:cNvPr>
          <p:cNvPicPr>
            <a:picLocks noChangeAspect="1"/>
          </p:cNvPicPr>
          <p:nvPr/>
        </p:nvPicPr>
        <p:blipFill>
          <a:blip r:embed="rId3"/>
          <a:stretch>
            <a:fillRect/>
          </a:stretch>
        </p:blipFill>
        <p:spPr>
          <a:xfrm>
            <a:off x="7086600" y="2788920"/>
            <a:ext cx="1874520" cy="1054991"/>
          </a:xfrm>
          <a:prstGeom prst="rect">
            <a:avLst/>
          </a:prstGeom>
        </p:spPr>
      </p:pic>
      <p:sp>
        <p:nvSpPr>
          <p:cNvPr id="7" name="Text 2"/>
          <p:cNvSpPr txBox="1"/>
          <p:nvPr/>
        </p:nvSpPr>
        <p:spPr>
          <a:xfrm>
            <a:off x="457200" y="548640"/>
            <a:ext cx="4206240" cy="274320"/>
          </a:xfrm>
          <a:prstGeom prst="rect">
            <a:avLst/>
          </a:prstGeom>
          <a:noFill/>
          <a:ln/>
        </p:spPr>
        <p:txBody>
          <a:bodyPr wrap="square" lIns="0" tIns="0" rIns="0" bIns="0" rtlCol="0" anchor="ctr"/>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风景园林专业毕业设计  开题报告</a:t>
            </a:r>
            <a:endParaRPr lang="en-US" sz="1100" dirty="0"/>
          </a:p>
        </p:txBody>
      </p:sp>
      <p:sp>
        <p:nvSpPr>
          <p:cNvPr id="8" name="Text 3"/>
          <p:cNvSpPr txBox="1"/>
          <p:nvPr/>
        </p:nvSpPr>
        <p:spPr>
          <a:xfrm>
            <a:off x="457200" y="1051560"/>
            <a:ext cx="4297680" cy="82296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跃动·栖园</a:t>
            </a:r>
            <a:endParaRPr lang="en-US" sz="4000" dirty="0"/>
          </a:p>
        </p:txBody>
      </p:sp>
      <p:sp>
        <p:nvSpPr>
          <p:cNvPr id="9" name="Text 4"/>
          <p:cNvSpPr txBox="1"/>
          <p:nvPr/>
        </p:nvSpPr>
        <p:spPr>
          <a:xfrm>
            <a:off x="457200" y="1920240"/>
            <a:ext cx="4297680" cy="685800"/>
          </a:xfrm>
          <a:prstGeom prst="rect">
            <a:avLst/>
          </a:prstGeom>
          <a:noFill/>
          <a:ln/>
        </p:spPr>
        <p:txBody>
          <a:bodyPr wrap="square" lIns="0" tIns="0" rIns="0" bIns="0" rtlCol="0" anchor="t"/>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全民健康视角下的眉山市仁寿县体育公园景观设计</a:t>
            </a:r>
            <a:endParaRPr lang="en-US" sz="1500" dirty="0"/>
          </a:p>
        </p:txBody>
      </p:sp>
      <p:sp>
        <p:nvSpPr>
          <p:cNvPr id="10" name="Text 5"/>
          <p:cNvSpPr txBox="1"/>
          <p:nvPr/>
        </p:nvSpPr>
        <p:spPr>
          <a:xfrm>
            <a:off x="457200" y="2606040"/>
            <a:ext cx="4297680" cy="502920"/>
          </a:xfrm>
          <a:prstGeom prst="rect">
            <a:avLst/>
          </a:prstGeom>
          <a:noFill/>
          <a:ln/>
        </p:spPr>
        <p:txBody>
          <a:bodyPr wrap="square" lIns="0" tIns="0" rIns="0" bIns="0" rtlCol="0" anchor="t"/>
          <a:lstStyle/>
          <a:p>
            <a:pPr indent="0" marL="0">
              <a:buNone/>
            </a:pPr>
            <a:r>
              <a:rPr lang="en-US" sz="900" dirty="0">
                <a:solidFill>
                  <a:srgbClr val="C9D6F0"/>
                </a:solidFill>
                <a:latin typeface="Arial" pitchFamily="34" charset="0"/>
                <a:ea typeface="Arial" pitchFamily="34" charset="-122"/>
                <a:cs typeface="Arial" pitchFamily="34" charset="-120"/>
              </a:rPr>
              <a:t>Landscape Design of Renshou Sports Park, Meishan from the Perspective of Health for All</a:t>
            </a:r>
            <a:endParaRPr lang="en-US" sz="900" dirty="0"/>
          </a:p>
        </p:txBody>
      </p:sp>
      <p:sp>
        <p:nvSpPr>
          <p:cNvPr id="11" name="Text 6"/>
          <p:cNvSpPr txBox="1"/>
          <p:nvPr/>
        </p:nvSpPr>
        <p:spPr>
          <a:xfrm>
            <a:off x="457200" y="3429000"/>
            <a:ext cx="4297680" cy="1188720"/>
          </a:xfrm>
          <a:prstGeom prst="rect">
            <a:avLst/>
          </a:prstGeom>
          <a:noFill/>
          <a:ln/>
        </p:spPr>
        <p:txBody>
          <a:bodyPr wrap="square" lIns="0" tIns="0" rIns="0" bIns="0" rtlCol="0" anchor="t"/>
          <a:lstStyle/>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学院：建筑学院        专业：风景园林</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学生姓名：                学号：</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指导教师：</a:t>
            </a:r>
            <a:endParaRPr lang="en-US" sz="1050" dirty="0"/>
          </a:p>
          <a:p>
            <a:pPr indent="0" marL="0">
              <a:lnSpc>
                <a:spcPct val="140000"/>
              </a:lnSpc>
              <a:buNone/>
            </a:pPr>
            <a:r>
              <a:rPr lang="en-US" sz="1050" dirty="0">
                <a:solidFill>
                  <a:srgbClr val="FFFFFF"/>
                </a:solidFill>
                <a:latin typeface="Microsoft YaHei" pitchFamily="34" charset="0"/>
                <a:ea typeface="Microsoft YaHei" pitchFamily="34" charset="-122"/>
                <a:cs typeface="Microsoft YaHei" pitchFamily="34" charset="-120"/>
              </a:rPr>
              <a:t>二〇二六年九月</a:t>
            </a:r>
            <a:endParaRPr lang="en-US" sz="1050" dirty="0"/>
          </a:p>
        </p:txBody>
      </p:sp>
      <p:sp>
        <p:nvSpPr>
          <p:cNvPr id="12" name="Text 7"/>
          <p:cNvSpPr txBox="1"/>
          <p:nvPr/>
        </p:nvSpPr>
        <p:spPr>
          <a:xfrm>
            <a:off x="457200" y="47091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lxfs/pptx_build/figs/ms_2.jpg">    </p:cNvPr>
          <p:cNvPicPr>
            <a:picLocks noChangeAspect="1"/>
          </p:cNvPicPr>
          <p:nvPr/>
        </p:nvPicPr>
        <p:blipFill>
          <a:blip r:embed="rId1"/>
          <a:stretch>
            <a:fillRect/>
          </a:stretch>
        </p:blipFill>
        <p:spPr>
          <a:xfrm>
            <a:off x="365760" y="365760"/>
            <a:ext cx="2377440" cy="1338037"/>
          </a:xfrm>
          <a:prstGeom prst="rect">
            <a:avLst/>
          </a:prstGeom>
        </p:spPr>
      </p:pic>
      <p:pic>
        <p:nvPicPr>
          <p:cNvPr id="3" name="Image 1" descr="/home/user/lxfs/pptx_build/figs/tf_5.jpg">    </p:cNvPr>
          <p:cNvPicPr>
            <a:picLocks noChangeAspect="1"/>
          </p:cNvPicPr>
          <p:nvPr/>
        </p:nvPicPr>
        <p:blipFill>
          <a:blip r:embed="rId2"/>
          <a:stretch>
            <a:fillRect/>
          </a:stretch>
        </p:blipFill>
        <p:spPr>
          <a:xfrm>
            <a:off x="365760" y="1828800"/>
            <a:ext cx="2377440" cy="1704964"/>
          </a:xfrm>
          <a:prstGeom prst="rect">
            <a:avLst/>
          </a:prstGeom>
        </p:spPr>
      </p:pic>
      <p:pic>
        <p:nvPicPr>
          <p:cNvPr id="4" name="Image 2" descr="/home/user/lxfs/pptx_build/figs/sz_4.jpg">    </p:cNvPr>
          <p:cNvPicPr>
            <a:picLocks noChangeAspect="1"/>
          </p:cNvPicPr>
          <p:nvPr/>
        </p:nvPicPr>
        <p:blipFill>
          <a:blip r:embed="rId3"/>
          <a:stretch>
            <a:fillRect/>
          </a:stretch>
        </p:blipFill>
        <p:spPr>
          <a:xfrm>
            <a:off x="365760" y="3657600"/>
            <a:ext cx="2377440" cy="1206761"/>
          </a:xfrm>
          <a:prstGeom prst="rect">
            <a:avLst/>
          </a:prstGeom>
        </p:spPr>
      </p:pic>
      <p:sp>
        <p:nvSpPr>
          <p:cNvPr id="5" name="Text 0"/>
          <p:cNvSpPr txBox="1"/>
          <p:nvPr/>
        </p:nvSpPr>
        <p:spPr>
          <a:xfrm>
            <a:off x="3383280" y="411480"/>
            <a:ext cx="2743200" cy="502920"/>
          </a:xfrm>
          <a:prstGeom prst="rect">
            <a:avLst/>
          </a:prstGeom>
          <a:noFill/>
          <a:ln/>
        </p:spPr>
        <p:txBody>
          <a:bodyPr wrap="square" lIns="0" tIns="0" rIns="0" bIns="0" rtlCol="0" anchor="ctr"/>
          <a:lstStyle/>
          <a:p>
            <a:pPr indent="0" marL="0">
              <a:buNone/>
            </a:pPr>
            <a:r>
              <a:rPr lang="en-US" sz="2600" b="1" dirty="0">
                <a:solidFill>
                  <a:srgbClr val="1F3F7A"/>
                </a:solidFill>
                <a:latin typeface="Microsoft YaHei" pitchFamily="34" charset="0"/>
                <a:ea typeface="Microsoft YaHei" pitchFamily="34" charset="-122"/>
                <a:cs typeface="Microsoft YaHei" pitchFamily="34" charset="-120"/>
              </a:rPr>
              <a:t>目  录</a:t>
            </a:r>
            <a:endParaRPr lang="en-US" sz="2600" dirty="0"/>
          </a:p>
        </p:txBody>
      </p:sp>
      <p:sp>
        <p:nvSpPr>
          <p:cNvPr id="6" name="Text 1"/>
          <p:cNvSpPr txBox="1"/>
          <p:nvPr/>
        </p:nvSpPr>
        <p:spPr>
          <a:xfrm>
            <a:off x="3383280" y="914400"/>
            <a:ext cx="2743200" cy="274320"/>
          </a:xfrm>
          <a:prstGeom prst="rect">
            <a:avLst/>
          </a:prstGeom>
          <a:noFill/>
          <a:ln/>
        </p:spPr>
        <p:txBody>
          <a:bodyPr wrap="square" lIns="0" tIns="0" rIns="0" bIns="0" rtlCol="0" anchor="ctr"/>
          <a:lstStyle/>
          <a:p>
            <a:pPr indent="0" marL="0">
              <a:buNone/>
            </a:pPr>
            <a:r>
              <a:rPr lang="en-US" sz="1000" spc="300" kern="0" dirty="0">
                <a:solidFill>
                  <a:srgbClr val="E07B2A"/>
                </a:solidFill>
                <a:latin typeface="Arial" pitchFamily="34" charset="0"/>
                <a:ea typeface="Arial" pitchFamily="34" charset="-122"/>
                <a:cs typeface="Arial" pitchFamily="34" charset="-120"/>
              </a:rPr>
              <a:t>CONTENT</a:t>
            </a:r>
            <a:endParaRPr lang="en-US" sz="1000" dirty="0"/>
          </a:p>
        </p:txBody>
      </p:sp>
      <p:sp>
        <p:nvSpPr>
          <p:cNvPr id="7" name="Text 2"/>
          <p:cNvSpPr txBox="1"/>
          <p:nvPr/>
        </p:nvSpPr>
        <p:spPr>
          <a:xfrm>
            <a:off x="338328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01 课题研究背景</a:t>
            </a:r>
            <a:endParaRPr lang="en-US" sz="1050" dirty="0"/>
          </a:p>
        </p:txBody>
      </p:sp>
      <p:sp>
        <p:nvSpPr>
          <p:cNvPr id="8" name="Text 3"/>
          <p:cNvSpPr txBox="1"/>
          <p:nvPr/>
        </p:nvSpPr>
        <p:spPr>
          <a:xfrm>
            <a:off x="338328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1.1 选题背景</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1.2 研究目的</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1.3 研究意义</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1.4 技术路线与研究方法</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1.5 相关概念</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1.6 国内外研究现状</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1.7 案例参考</a:t>
            </a:r>
            <a:endParaRPr lang="en-US" sz="850" dirty="0"/>
          </a:p>
        </p:txBody>
      </p:sp>
      <p:sp>
        <p:nvSpPr>
          <p:cNvPr id="9" name="Text 4"/>
          <p:cNvSpPr txBox="1"/>
          <p:nvPr/>
        </p:nvSpPr>
        <p:spPr>
          <a:xfrm>
            <a:off x="530352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02 项目研究概述</a:t>
            </a:r>
            <a:endParaRPr lang="en-US" sz="1050" dirty="0"/>
          </a:p>
        </p:txBody>
      </p:sp>
      <p:sp>
        <p:nvSpPr>
          <p:cNvPr id="10" name="Text 5"/>
          <p:cNvSpPr txBox="1"/>
          <p:nvPr/>
        </p:nvSpPr>
        <p:spPr>
          <a:xfrm>
            <a:off x="530352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
        <p:nvSpPr>
          <p:cNvPr id="11" name="Text 6"/>
          <p:cNvSpPr txBox="1"/>
          <p:nvPr/>
        </p:nvSpPr>
        <p:spPr>
          <a:xfrm>
            <a:off x="7223760" y="1417320"/>
            <a:ext cx="187452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03 场地规划分析</a:t>
            </a:r>
            <a:endParaRPr lang="en-US" sz="1050" dirty="0"/>
          </a:p>
        </p:txBody>
      </p:sp>
      <p:sp>
        <p:nvSpPr>
          <p:cNvPr id="12" name="Text 7"/>
          <p:cNvSpPr txBox="1"/>
          <p:nvPr/>
        </p:nvSpPr>
        <p:spPr>
          <a:xfrm>
            <a:off x="7223760" y="1737360"/>
            <a:ext cx="1874520" cy="3200400"/>
          </a:xfrm>
          <a:prstGeom prst="rect">
            <a:avLst/>
          </a:prstGeom>
          <a:noFill/>
          <a:ln/>
        </p:spPr>
        <p:txBody>
          <a:bodyPr wrap="square" lIns="0" tIns="0" rIns="0" bIns="0" rtlCol="0" anchor="t"/>
          <a:lstStyle/>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3.1 设计目标</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3.2 设计原则</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3.3 设计构思</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3.4 设计策略</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3.5 设计成果</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3.6 进度安排</a:t>
            </a:r>
            <a:endParaRPr lang="en-US" sz="850" dirty="0"/>
          </a:p>
          <a:p>
            <a:pPr indent="0" marL="0">
              <a:lnSpc>
                <a:spcPct val="135000"/>
              </a:lnSpc>
              <a:buNone/>
            </a:pPr>
            <a:r>
              <a:rPr lang="en-US" sz="850" dirty="0">
                <a:solidFill>
                  <a:srgbClr val="444444"/>
                </a:solidFill>
                <a:latin typeface="Microsoft YaHei" pitchFamily="34" charset="0"/>
                <a:ea typeface="Microsoft YaHei" pitchFamily="34" charset="-122"/>
                <a:cs typeface="Microsoft YaHei" pitchFamily="34" charset="-120"/>
              </a:rPr>
              <a:t>3.7 参考文献</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Background of the Research Topic</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01</a:t>
            </a:r>
            <a:endParaRPr lang="en-US" sz="900" dirty="0"/>
          </a:p>
        </p:txBody>
      </p:sp>
      <p:pic>
        <p:nvPicPr>
          <p:cNvPr id="6" name="Image 0" descr="/home/user/lxfs/pptx_build/figs/tf_1.jpg">    </p:cNvPr>
          <p:cNvPicPr>
            <a:picLocks noChangeAspect="1"/>
          </p:cNvPicPr>
          <p:nvPr/>
        </p:nvPicPr>
        <p:blipFill>
          <a:blip r:embed="rId1"/>
          <a:stretch>
            <a:fillRect/>
          </a:stretch>
        </p:blipFill>
        <p:spPr>
          <a:xfrm>
            <a:off x="5430883" y="822960"/>
            <a:ext cx="2808514" cy="2103120"/>
          </a:xfrm>
          <a:prstGeom prst="rect">
            <a:avLst/>
          </a:prstGeom>
        </p:spPr>
      </p:pic>
      <p:pic>
        <p:nvPicPr>
          <p:cNvPr id="7" name="Image 1" descr="/home/user/lxfs/pptx_build/figs/tf_3.jpg">    </p:cNvPr>
          <p:cNvPicPr>
            <a:picLocks noChangeAspect="1"/>
          </p:cNvPicPr>
          <p:nvPr/>
        </p:nvPicPr>
        <p:blipFill>
          <a:blip r:embed="rId2"/>
          <a:stretch>
            <a:fillRect/>
          </a:stretch>
        </p:blipFill>
        <p:spPr>
          <a:xfrm>
            <a:off x="5135016" y="3017520"/>
            <a:ext cx="1342848" cy="1691640"/>
          </a:xfrm>
          <a:prstGeom prst="rect">
            <a:avLst/>
          </a:prstGeom>
        </p:spPr>
      </p:pic>
      <p:pic>
        <p:nvPicPr>
          <p:cNvPr id="8" name="Image 2" descr="/home/user/lxfs/pptx_build/figs/sz_1.jpg">    </p:cNvPr>
          <p:cNvPicPr>
            <a:picLocks noChangeAspect="1"/>
          </p:cNvPicPr>
          <p:nvPr/>
        </p:nvPicPr>
        <p:blipFill>
          <a:blip r:embed="rId3"/>
          <a:stretch>
            <a:fillRect/>
          </a:stretch>
        </p:blipFill>
        <p:spPr>
          <a:xfrm>
            <a:off x="7063494" y="3017520"/>
            <a:ext cx="1600692" cy="1691640"/>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01</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课题研究背景</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1.1 选题背景</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1.2 研究目的</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1.3 研究意义</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1.4 技术路线与研究方法</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1.5 相关概念</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1.6 国内外研究现状</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1.7 案例参考</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Preface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前言</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02</a:t>
            </a:r>
            <a:endParaRPr lang="en-US" sz="900" dirty="0"/>
          </a:p>
        </p:txBody>
      </p:sp>
      <p:pic>
        <p:nvPicPr>
          <p:cNvPr id="7" name="Image 0" descr="/home/user/lxfs/pptx_build/figs/sz_2.jpg">    </p:cNvPr>
          <p:cNvPicPr>
            <a:picLocks noChangeAspect="1"/>
          </p:cNvPicPr>
          <p:nvPr/>
        </p:nvPicPr>
        <p:blipFill>
          <a:blip r:embed="rId1"/>
          <a:stretch>
            <a:fillRect/>
          </a:stretch>
        </p:blipFill>
        <p:spPr>
          <a:xfrm>
            <a:off x="457200" y="914400"/>
            <a:ext cx="4754880" cy="3169920"/>
          </a:xfrm>
          <a:prstGeom prst="rect">
            <a:avLst/>
          </a:prstGeom>
        </p:spPr>
      </p:pic>
      <p:sp>
        <p:nvSpPr>
          <p:cNvPr id="8" name="Shape 5"/>
          <p:cNvSpPr/>
          <p:nvPr/>
        </p:nvSpPr>
        <p:spPr>
          <a:xfrm>
            <a:off x="457200" y="3215640"/>
            <a:ext cx="4754880" cy="868680"/>
          </a:xfrm>
          <a:prstGeom prst="rect">
            <a:avLst/>
          </a:prstGeom>
          <a:solidFill>
            <a:srgbClr val="000000">
              <a:alpha val="55000"/>
            </a:srgbClr>
          </a:solidFill>
          <a:ln w="12700">
            <a:solidFill>
              <a:srgbClr val="000000"/>
            </a:solidFill>
            <a:prstDash val="solid"/>
          </a:ln>
        </p:spPr>
      </p:sp>
      <p:sp>
        <p:nvSpPr>
          <p:cNvPr id="9" name="Text 6"/>
          <p:cNvSpPr txBox="1"/>
          <p:nvPr/>
        </p:nvSpPr>
        <p:spPr>
          <a:xfrm>
            <a:off x="548640" y="3261360"/>
            <a:ext cx="4572000" cy="777240"/>
          </a:xfrm>
          <a:prstGeom prst="rect">
            <a:avLst/>
          </a:prstGeom>
          <a:noFill/>
          <a:ln/>
        </p:spPr>
        <p:txBody>
          <a:bodyPr wrap="square" lIns="0" tIns="0" rIns="0" bIns="0" rtlCol="0" anchor="ctr"/>
          <a:lstStyle/>
          <a:p>
            <a:pPr indent="0" marL="0">
              <a:buNone/>
            </a:pPr>
            <a:r>
              <a:rPr lang="en-US" sz="850" dirty="0">
                <a:solidFill>
                  <a:srgbClr val="FFFFFF"/>
                </a:solidFill>
                <a:latin typeface="Microsoft YaHei" pitchFamily="34" charset="0"/>
                <a:ea typeface="Microsoft YaHei" pitchFamily="34" charset="-122"/>
                <a:cs typeface="Microsoft YaHei" pitchFamily="34" charset="-120"/>
              </a:rPr>
              <a:t>我国城市人口老龄化加剧，高密度新城缺少运动与康养场所。如何为亚健康人群与老年人提供一个兼顾美观、实用，同时能休闲娱乐、锻炼身体、放松身心的场所，非常值得探究。</a:t>
            </a:r>
            <a:endParaRPr lang="en-US" sz="850" dirty="0"/>
          </a:p>
        </p:txBody>
      </p:sp>
      <p:sp>
        <p:nvSpPr>
          <p:cNvPr id="10" name="Text 7"/>
          <p:cNvSpPr txBox="1"/>
          <p:nvPr/>
        </p:nvSpPr>
        <p:spPr>
          <a:xfrm rot="20400000">
            <a:off x="731520" y="1737360"/>
            <a:ext cx="3291840" cy="548640"/>
          </a:xfrm>
          <a:prstGeom prst="rect">
            <a:avLst/>
          </a:prstGeom>
          <a:noFill/>
          <a:ln/>
          <a:effectLst>
            <a:outerShdw sx="100000" sy="100000" kx="0" ky="0" algn="bl" rotWithShape="0" blurRad="38100" dist="12700" dir="2700000">
              <a:srgbClr val="000000">
                <a:alpha val="60000"/>
              </a:srgbClr>
            </a:outerShdw>
          </a:effectLst>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压力！城市病！NO！</a:t>
            </a:r>
            <a:endParaRPr lang="en-US" sz="2400" dirty="0"/>
          </a:p>
        </p:txBody>
      </p:sp>
      <p:sp>
        <p:nvSpPr>
          <p:cNvPr id="11" name="Text 8"/>
          <p:cNvSpPr txBox="1"/>
          <p:nvPr/>
        </p:nvSpPr>
        <p:spPr>
          <a:xfrm>
            <a:off x="5394960" y="914400"/>
            <a:ext cx="3429000" cy="640080"/>
          </a:xfrm>
          <a:prstGeom prst="rect">
            <a:avLst/>
          </a:prstGeom>
          <a:noFill/>
          <a:ln/>
        </p:spPr>
        <p:txBody>
          <a:bodyPr wrap="square" lIns="0" tIns="0" rIns="0" bIns="0" rtlCol="0" anchor="ctr"/>
          <a:lstStyle/>
          <a:p>
            <a:pPr algn="r" indent="0" marL="0">
              <a:buNone/>
            </a:pPr>
            <a:r>
              <a:rPr lang="en-US" sz="3000" b="1" dirty="0">
                <a:solidFill>
                  <a:srgbClr val="444444"/>
                </a:solidFill>
                <a:latin typeface="Microsoft YaHei" pitchFamily="34" charset="0"/>
                <a:ea typeface="Microsoft YaHei" pitchFamily="34" charset="-122"/>
                <a:cs typeface="Microsoft YaHei" pitchFamily="34" charset="-120"/>
              </a:rPr>
              <a:t>心理健康状态</a:t>
            </a:r>
            <a:endParaRPr lang="en-US" sz="3000" dirty="0"/>
          </a:p>
        </p:txBody>
      </p:sp>
      <p:sp>
        <p:nvSpPr>
          <p:cNvPr id="12" name="Shape 9"/>
          <p:cNvSpPr/>
          <p:nvPr/>
        </p:nvSpPr>
        <p:spPr>
          <a:xfrm>
            <a:off x="5440680" y="1645920"/>
            <a:ext cx="502920" cy="256032"/>
          </a:xfrm>
          <a:prstGeom prst="rect">
            <a:avLst/>
          </a:prstGeom>
          <a:solidFill>
            <a:srgbClr val="D9DEE8"/>
          </a:solidFill>
          <a:ln w="12700">
            <a:solidFill>
              <a:srgbClr val="D9DEE8"/>
            </a:solidFill>
            <a:prstDash val="solid"/>
          </a:ln>
        </p:spPr>
      </p:sp>
      <p:sp>
        <p:nvSpPr>
          <p:cNvPr id="13" name="Shape 10"/>
          <p:cNvSpPr/>
          <p:nvPr/>
        </p:nvSpPr>
        <p:spPr>
          <a:xfrm>
            <a:off x="6007608" y="1645920"/>
            <a:ext cx="502920" cy="256032"/>
          </a:xfrm>
          <a:prstGeom prst="rect">
            <a:avLst/>
          </a:prstGeom>
          <a:solidFill>
            <a:srgbClr val="C5CDDC"/>
          </a:solidFill>
          <a:ln w="12700">
            <a:solidFill>
              <a:srgbClr val="C5CDDC"/>
            </a:solidFill>
            <a:prstDash val="solid"/>
          </a:ln>
        </p:spPr>
      </p:sp>
      <p:sp>
        <p:nvSpPr>
          <p:cNvPr id="14" name="Shape 11"/>
          <p:cNvSpPr/>
          <p:nvPr/>
        </p:nvSpPr>
        <p:spPr>
          <a:xfrm>
            <a:off x="6574536" y="1645920"/>
            <a:ext cx="502920" cy="256032"/>
          </a:xfrm>
          <a:prstGeom prst="rect">
            <a:avLst/>
          </a:prstGeom>
          <a:solidFill>
            <a:srgbClr val="AEB9CE"/>
          </a:solidFill>
          <a:ln w="12700">
            <a:solidFill>
              <a:srgbClr val="AEB9CE"/>
            </a:solidFill>
            <a:prstDash val="solid"/>
          </a:ln>
        </p:spPr>
      </p:sp>
      <p:sp>
        <p:nvSpPr>
          <p:cNvPr id="15" name="Shape 12"/>
          <p:cNvSpPr/>
          <p:nvPr/>
        </p:nvSpPr>
        <p:spPr>
          <a:xfrm>
            <a:off x="7141464" y="1645920"/>
            <a:ext cx="502920" cy="256032"/>
          </a:xfrm>
          <a:prstGeom prst="rect">
            <a:avLst/>
          </a:prstGeom>
          <a:solidFill>
            <a:srgbClr val="97A5C0"/>
          </a:solidFill>
          <a:ln w="12700">
            <a:solidFill>
              <a:srgbClr val="97A5C0"/>
            </a:solidFill>
            <a:prstDash val="solid"/>
          </a:ln>
        </p:spPr>
      </p:sp>
      <p:sp>
        <p:nvSpPr>
          <p:cNvPr id="16" name="Shape 13"/>
          <p:cNvSpPr/>
          <p:nvPr/>
        </p:nvSpPr>
        <p:spPr>
          <a:xfrm>
            <a:off x="7708392" y="1645920"/>
            <a:ext cx="502920" cy="256032"/>
          </a:xfrm>
          <a:prstGeom prst="rect">
            <a:avLst/>
          </a:prstGeom>
          <a:solidFill>
            <a:srgbClr val="7E90B2"/>
          </a:solidFill>
          <a:ln w="12700">
            <a:solidFill>
              <a:srgbClr val="7E90B2"/>
            </a:solidFill>
            <a:prstDash val="solid"/>
          </a:ln>
        </p:spPr>
      </p:sp>
      <p:sp>
        <p:nvSpPr>
          <p:cNvPr id="17" name="Shape 14"/>
          <p:cNvSpPr/>
          <p:nvPr/>
        </p:nvSpPr>
        <p:spPr>
          <a:xfrm>
            <a:off x="8275320" y="1645920"/>
            <a:ext cx="502920" cy="256032"/>
          </a:xfrm>
          <a:prstGeom prst="rect">
            <a:avLst/>
          </a:prstGeom>
          <a:solidFill>
            <a:srgbClr val="5B6F9C"/>
          </a:solidFill>
          <a:ln w="12700">
            <a:solidFill>
              <a:srgbClr val="5B6F9C"/>
            </a:solidFill>
            <a:prstDash val="solid"/>
          </a:ln>
        </p:spPr>
      </p:sp>
      <p:sp>
        <p:nvSpPr>
          <p:cNvPr id="18" name="Text 15"/>
          <p:cNvSpPr txBox="1"/>
          <p:nvPr/>
        </p:nvSpPr>
        <p:spPr>
          <a:xfrm>
            <a:off x="5394960" y="1965960"/>
            <a:ext cx="3429000" cy="411480"/>
          </a:xfrm>
          <a:prstGeom prst="rect">
            <a:avLst/>
          </a:prstGeom>
          <a:noFill/>
          <a:ln/>
        </p:spPr>
        <p:txBody>
          <a:bodyPr wrap="square" lIns="0" tIns="0" rIns="0" bIns="0" rtlCol="0" anchor="ctr"/>
          <a:lstStyle/>
          <a:p>
            <a:pPr algn="r" indent="0" marL="0">
              <a:buNone/>
            </a:pPr>
            <a:r>
              <a:rPr lang="en-US" sz="1600" b="1" dirty="0">
                <a:solidFill>
                  <a:srgbClr val="444444"/>
                </a:solidFill>
                <a:latin typeface="Microsoft YaHei" pitchFamily="34" charset="0"/>
                <a:ea typeface="Microsoft YaHei" pitchFamily="34" charset="-122"/>
                <a:cs typeface="Microsoft YaHei" pitchFamily="34" charset="-120"/>
              </a:rPr>
              <a:t>被忽略的亚健康群体</a:t>
            </a:r>
            <a:endParaRPr lang="en-US" sz="1600" dirty="0"/>
          </a:p>
        </p:txBody>
      </p:sp>
      <p:sp>
        <p:nvSpPr>
          <p:cNvPr id="19" name="Shape 16"/>
          <p:cNvSpPr/>
          <p:nvPr/>
        </p:nvSpPr>
        <p:spPr>
          <a:xfrm>
            <a:off x="5394960" y="2423160"/>
            <a:ext cx="1691640" cy="1691640"/>
          </a:xfrm>
          <a:prstGeom prst="rect">
            <a:avLst/>
          </a:prstGeom>
          <a:solidFill>
            <a:srgbClr val="3E5A3A"/>
          </a:solidFill>
          <a:ln w="12700">
            <a:solidFill>
              <a:srgbClr val="3E5A3A"/>
            </a:solidFill>
            <a:prstDash val="solid"/>
          </a:ln>
        </p:spPr>
      </p:sp>
      <p:sp>
        <p:nvSpPr>
          <p:cNvPr id="20" name="Text 17"/>
          <p:cNvSpPr txBox="1"/>
          <p:nvPr/>
        </p:nvSpPr>
        <p:spPr>
          <a:xfrm>
            <a:off x="5468112" y="2514600"/>
            <a:ext cx="1188720" cy="365760"/>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孤独感</a:t>
            </a:r>
            <a:endParaRPr lang="en-US" sz="1400" dirty="0"/>
          </a:p>
        </p:txBody>
      </p:sp>
      <p:sp>
        <p:nvSpPr>
          <p:cNvPr id="21" name="Text 18"/>
          <p:cNvSpPr txBox="1"/>
          <p:nvPr/>
        </p:nvSpPr>
        <p:spPr>
          <a:xfrm>
            <a:off x="6355080" y="2532888"/>
            <a:ext cx="1188720" cy="365760"/>
          </a:xfrm>
          <a:prstGeom prst="rect">
            <a:avLst/>
          </a:prstGeom>
          <a:noFill/>
          <a:ln/>
        </p:spPr>
        <p:txBody>
          <a:bodyPr wrap="square" lIns="0" tIns="0" rIns="0" bIns="0" rtlCol="0" anchor="ctr"/>
          <a:lstStyle/>
          <a:p>
            <a:pPr indent="0" marL="0">
              <a:buNone/>
            </a:pPr>
            <a:r>
              <a:rPr lang="en-US" sz="1200" b="1" dirty="0">
                <a:solidFill>
                  <a:srgbClr val="FFFFFF"/>
                </a:solidFill>
                <a:latin typeface="Microsoft YaHei" pitchFamily="34" charset="0"/>
                <a:ea typeface="Microsoft YaHei" pitchFamily="34" charset="-122"/>
                <a:cs typeface="Microsoft YaHei" pitchFamily="34" charset="-120"/>
              </a:rPr>
              <a:t>依赖</a:t>
            </a:r>
            <a:endParaRPr lang="en-US" sz="1200" dirty="0"/>
          </a:p>
        </p:txBody>
      </p:sp>
      <p:sp>
        <p:nvSpPr>
          <p:cNvPr id="22" name="Text 19"/>
          <p:cNvSpPr txBox="1"/>
          <p:nvPr/>
        </p:nvSpPr>
        <p:spPr>
          <a:xfrm>
            <a:off x="5504688" y="2926080"/>
            <a:ext cx="1188720" cy="365760"/>
          </a:xfrm>
          <a:prstGeom prst="rect">
            <a:avLst/>
          </a:prstGeom>
          <a:noFill/>
          <a:ln/>
        </p:spPr>
        <p:txBody>
          <a:bodyPr wrap="square" lIns="0" tIns="0" rIns="0" bIns="0" rtlCol="0" anchor="ctr"/>
          <a:lstStyle/>
          <a:p>
            <a:pPr indent="0" marL="0">
              <a:buNone/>
            </a:pPr>
            <a:r>
              <a:rPr lang="en-US" sz="1100" b="1" dirty="0">
                <a:solidFill>
                  <a:srgbClr val="FFFFFF"/>
                </a:solidFill>
                <a:latin typeface="Microsoft YaHei" pitchFamily="34" charset="0"/>
                <a:ea typeface="Microsoft YaHei" pitchFamily="34" charset="-122"/>
                <a:cs typeface="Microsoft YaHei" pitchFamily="34" charset="-120"/>
              </a:rPr>
              <a:t>关爱</a:t>
            </a:r>
            <a:endParaRPr lang="en-US" sz="1100" dirty="0"/>
          </a:p>
        </p:txBody>
      </p:sp>
      <p:sp>
        <p:nvSpPr>
          <p:cNvPr id="23" name="Text 20"/>
          <p:cNvSpPr txBox="1"/>
          <p:nvPr/>
        </p:nvSpPr>
        <p:spPr>
          <a:xfrm>
            <a:off x="6035040" y="3081528"/>
            <a:ext cx="1188720" cy="365760"/>
          </a:xfrm>
          <a:prstGeom prst="rect">
            <a:avLst/>
          </a:prstGeom>
          <a:noFill/>
          <a:ln/>
        </p:spPr>
        <p:txBody>
          <a:bodyPr wrap="square" lIns="0" tIns="0" rIns="0" bIns="0" rtlCol="0" anchor="ctr"/>
          <a:lstStyle/>
          <a:p>
            <a:pPr indent="0" marL="0">
              <a:buNone/>
            </a:pPr>
            <a:r>
              <a:rPr lang="en-US" sz="1000" b="1" dirty="0">
                <a:solidFill>
                  <a:srgbClr val="FFFFFF"/>
                </a:solidFill>
                <a:latin typeface="Microsoft YaHei" pitchFamily="34" charset="0"/>
                <a:ea typeface="Microsoft YaHei" pitchFamily="34" charset="-122"/>
                <a:cs typeface="Microsoft YaHei" pitchFamily="34" charset="-120"/>
              </a:rPr>
              <a:t>经济困扰</a:t>
            </a:r>
            <a:endParaRPr lang="en-US" sz="1000" dirty="0"/>
          </a:p>
        </p:txBody>
      </p:sp>
      <p:sp>
        <p:nvSpPr>
          <p:cNvPr id="24" name="Text 21"/>
          <p:cNvSpPr txBox="1"/>
          <p:nvPr/>
        </p:nvSpPr>
        <p:spPr>
          <a:xfrm>
            <a:off x="5468112" y="3474720"/>
            <a:ext cx="1188720" cy="365760"/>
          </a:xfrm>
          <a:prstGeom prst="rect">
            <a:avLst/>
          </a:prstGeom>
          <a:noFill/>
          <a:ln/>
        </p:spPr>
        <p:txBody>
          <a:bodyPr wrap="square" lIns="0" tIns="0" rIns="0" bIns="0" rtlCol="0" anchor="ctr"/>
          <a:lstStyle/>
          <a:p>
            <a:pPr indent="0" marL="0">
              <a:buNone/>
            </a:pPr>
            <a:r>
              <a:rPr lang="en-US" sz="900" b="1" dirty="0">
                <a:solidFill>
                  <a:srgbClr val="FFFFFF"/>
                </a:solidFill>
                <a:latin typeface="Microsoft YaHei" pitchFamily="34" charset="0"/>
                <a:ea typeface="Microsoft YaHei" pitchFamily="34" charset="-122"/>
                <a:cs typeface="Microsoft YaHei" pitchFamily="34" charset="-120"/>
              </a:rPr>
              <a:t>焦虑</a:t>
            </a:r>
            <a:endParaRPr lang="en-US" sz="900" dirty="0"/>
          </a:p>
        </p:txBody>
      </p:sp>
      <p:sp>
        <p:nvSpPr>
          <p:cNvPr id="25" name="Text 22"/>
          <p:cNvSpPr txBox="1"/>
          <p:nvPr/>
        </p:nvSpPr>
        <p:spPr>
          <a:xfrm>
            <a:off x="5897880" y="3611880"/>
            <a:ext cx="1188720" cy="365760"/>
          </a:xfrm>
          <a:prstGeom prst="rect">
            <a:avLst/>
          </a:prstGeom>
          <a:noFill/>
          <a:ln/>
        </p:spPr>
        <p:txBody>
          <a:bodyPr wrap="square" lIns="0" tIns="0" rIns="0" bIns="0" rtlCol="0" anchor="ctr"/>
          <a:lstStyle/>
          <a:p>
            <a:pPr indent="0" marL="0">
              <a:buNone/>
            </a:pPr>
            <a:r>
              <a:rPr lang="en-US" sz="1300" b="1" dirty="0">
                <a:solidFill>
                  <a:srgbClr val="FFFFFF"/>
                </a:solidFill>
                <a:latin typeface="Microsoft YaHei" pitchFamily="34" charset="0"/>
                <a:ea typeface="Microsoft YaHei" pitchFamily="34" charset="-122"/>
                <a:cs typeface="Microsoft YaHei" pitchFamily="34" charset="-120"/>
              </a:rPr>
              <a:t>健康担忧</a:t>
            </a:r>
            <a:endParaRPr lang="en-US" sz="1300" dirty="0"/>
          </a:p>
        </p:txBody>
      </p:sp>
      <p:sp>
        <p:nvSpPr>
          <p:cNvPr id="26" name="Shape 23"/>
          <p:cNvSpPr/>
          <p:nvPr/>
        </p:nvSpPr>
        <p:spPr>
          <a:xfrm>
            <a:off x="7223760" y="2423160"/>
            <a:ext cx="1600200" cy="1691640"/>
          </a:xfrm>
          <a:prstGeom prst="rect">
            <a:avLst/>
          </a:prstGeom>
          <a:solidFill>
            <a:srgbClr val="E4E6EA"/>
          </a:solidFill>
          <a:ln w="12700">
            <a:solidFill>
              <a:srgbClr val="E4E6EA"/>
            </a:solidFill>
            <a:prstDash val="solid"/>
          </a:ln>
        </p:spPr>
      </p:sp>
      <p:sp>
        <p:nvSpPr>
          <p:cNvPr id="27" name="Text 24"/>
          <p:cNvSpPr txBox="1"/>
          <p:nvPr/>
        </p:nvSpPr>
        <p:spPr>
          <a:xfrm>
            <a:off x="7269480" y="2468880"/>
            <a:ext cx="1508760" cy="1600200"/>
          </a:xfrm>
          <a:prstGeom prst="rect">
            <a:avLst/>
          </a:prstGeom>
          <a:noFill/>
          <a:ln/>
        </p:spPr>
        <p:txBody>
          <a:bodyPr wrap="square" lIns="25400" tIns="25400" rIns="25400" bIns="25400" rtlCol="0" anchor="ctr"/>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我国正处于高速发展时期，伴随而来的是快节奏生活，使人压力日益增加。据世界卫生组织统计，人群中亚健康人群已高达70%。</a:t>
            </a:r>
            <a:endParaRPr lang="en-US" sz="800" dirty="0"/>
          </a:p>
        </p:txBody>
      </p:sp>
      <p:sp>
        <p:nvSpPr>
          <p:cNvPr id="28" name="Text 25"/>
          <p:cNvSpPr txBox="1"/>
          <p:nvPr/>
        </p:nvSpPr>
        <p:spPr>
          <a:xfrm>
            <a:off x="457200" y="4206240"/>
            <a:ext cx="3291840" cy="457200"/>
          </a:xfrm>
          <a:prstGeom prst="rect">
            <a:avLst/>
          </a:prstGeom>
          <a:noFill/>
          <a:ln/>
        </p:spPr>
        <p:txBody>
          <a:bodyPr wrap="square" lIns="0" tIns="0" rIns="0" bIns="0" rtlCol="0" anchor="ctr"/>
          <a:lstStyle/>
          <a:p>
            <a:pPr indent="0" marL="0">
              <a:buNone/>
            </a:pPr>
            <a:r>
              <a:rPr lang="en-US" sz="2000" b="1" dirty="0">
                <a:solidFill>
                  <a:srgbClr val="3E5A3A"/>
                </a:solidFill>
                <a:latin typeface="Microsoft YaHei" pitchFamily="34" charset="0"/>
                <a:ea typeface="Microsoft YaHei" pitchFamily="34" charset="-122"/>
                <a:cs typeface="Microsoft YaHei" pitchFamily="34" charset="-120"/>
              </a:rPr>
              <a:t>亚！亚！健康！亚！</a:t>
            </a:r>
            <a:endParaRPr lang="en-US" sz="2000" dirty="0"/>
          </a:p>
        </p:txBody>
      </p:sp>
      <p:sp>
        <p:nvSpPr>
          <p:cNvPr id="29" name="Text 26"/>
          <p:cNvSpPr txBox="1"/>
          <p:nvPr/>
        </p:nvSpPr>
        <p:spPr>
          <a:xfrm>
            <a:off x="3840480" y="4251960"/>
            <a:ext cx="4983480" cy="365760"/>
          </a:xfrm>
          <a:prstGeom prst="rect">
            <a:avLst/>
          </a:prstGeom>
          <a:noFill/>
          <a:ln/>
        </p:spPr>
        <p:txBody>
          <a:bodyPr wrap="square" lIns="25400" tIns="25400" rIns="25400" bIns="25400" rtlCol="0" anchor="ctr"/>
          <a:lstStyle/>
          <a:p>
            <a:pPr algn="r" indent="0" marL="0">
              <a:lnSpc>
                <a:spcPct val="115000"/>
              </a:lnSpc>
              <a:buNone/>
            </a:pPr>
            <a:r>
              <a:rPr lang="en-US" sz="1000" dirty="0">
                <a:solidFill>
                  <a:srgbClr val="444444"/>
                </a:solidFill>
                <a:latin typeface="Microsoft YaHei" pitchFamily="34" charset="0"/>
                <a:ea typeface="Microsoft YaHei" pitchFamily="34" charset="-122"/>
                <a:cs typeface="Microsoft YaHei" pitchFamily="34" charset="-120"/>
              </a:rPr>
              <a:t>健康不是身体状况的问题，而是精神状况的问题。</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选题背景——时代需求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03</a:t>
            </a:r>
            <a:endParaRPr lang="en-US" sz="900" dirty="0"/>
          </a:p>
        </p:txBody>
      </p:sp>
      <p:sp>
        <p:nvSpPr>
          <p:cNvPr id="7" name="Text 5"/>
          <p:cNvSpPr txBox="1"/>
          <p:nvPr/>
        </p:nvSpPr>
        <p:spPr>
          <a:xfrm>
            <a:off x="457200" y="896112"/>
            <a:ext cx="8366760" cy="274320"/>
          </a:xfrm>
          <a:prstGeom prst="rect">
            <a:avLst/>
          </a:prstGeom>
          <a:noFill/>
          <a:ln/>
        </p:spPr>
        <p:txBody>
          <a:bodyPr wrap="square" lIns="0" tIns="0" rIns="0" bIns="0" rtlCol="0" anchor="ctr"/>
          <a:lstStyle/>
          <a:p>
            <a:pPr algn="ctr" indent="0" marL="0">
              <a:buNone/>
            </a:pPr>
            <a:r>
              <a:rPr lang="en-US" sz="1200" dirty="0">
                <a:solidFill>
                  <a:srgbClr val="444444"/>
                </a:solidFill>
                <a:latin typeface="Microsoft YaHei" pitchFamily="34" charset="0"/>
                <a:ea typeface="Microsoft YaHei" pitchFamily="34" charset="-122"/>
                <a:cs typeface="Microsoft YaHei" pitchFamily="34" charset="-120"/>
              </a:rPr>
              <a:t>70%中国人处于亚健康状态</a:t>
            </a:r>
            <a:endParaRPr lang="en-US" sz="1200" dirty="0"/>
          </a:p>
        </p:txBody>
      </p:sp>
      <p:sp>
        <p:nvSpPr>
          <p:cNvPr id="8" name="Text 6"/>
          <p:cNvSpPr txBox="1"/>
          <p:nvPr/>
        </p:nvSpPr>
        <p:spPr>
          <a:xfrm>
            <a:off x="457200" y="1170432"/>
            <a:ext cx="8366760" cy="256032"/>
          </a:xfrm>
          <a:prstGeom prst="rect">
            <a:avLst/>
          </a:prstGeom>
          <a:noFill/>
          <a:ln/>
        </p:spPr>
        <p:txBody>
          <a:bodyPr wrap="square" lIns="0" tIns="0" rIns="0" bIns="0" rtlCol="0" anchor="ctr"/>
          <a:lstStyle/>
          <a:p>
            <a:pPr algn="ctr" indent="0" marL="0">
              <a:buNone/>
            </a:pPr>
            <a:r>
              <a:rPr lang="en-US" sz="1000" dirty="0">
                <a:solidFill>
                  <a:srgbClr val="444444"/>
                </a:solidFill>
                <a:latin typeface="Microsoft YaHei" pitchFamily="34" charset="0"/>
                <a:ea typeface="Microsoft YaHei" pitchFamily="34" charset="-122"/>
                <a:cs typeface="Microsoft YaHei" pitchFamily="34" charset="-120"/>
              </a:rPr>
              <a:t>慢性病死亡人数占总死亡人数86.6%；2023年我国60岁以上人口占比21.1%，65岁以上占比15.4%</a:t>
            </a:r>
            <a:endParaRPr lang="en-US" sz="1000" dirty="0"/>
          </a:p>
        </p:txBody>
      </p:sp>
      <p:pic>
        <p:nvPicPr>
          <p:cNvPr id="9" name="Image 0" descr="/home/user/lxfs/pptx_build/figs/tf_2.jpg">    </p:cNvPr>
          <p:cNvPicPr>
            <a:picLocks noChangeAspect="1"/>
          </p:cNvPicPr>
          <p:nvPr/>
        </p:nvPicPr>
        <p:blipFill>
          <a:blip r:embed="rId1"/>
          <a:stretch>
            <a:fillRect/>
          </a:stretch>
        </p:blipFill>
        <p:spPr>
          <a:xfrm>
            <a:off x="502920" y="1481328"/>
            <a:ext cx="1965960" cy="2434531"/>
          </a:xfrm>
          <a:prstGeom prst="rect">
            <a:avLst/>
          </a:prstGeom>
        </p:spPr>
      </p:pic>
      <p:sp>
        <p:nvSpPr>
          <p:cNvPr id="10" name="Shape 7"/>
          <p:cNvSpPr/>
          <p:nvPr/>
        </p:nvSpPr>
        <p:spPr>
          <a:xfrm>
            <a:off x="502920" y="2455140"/>
            <a:ext cx="1965960" cy="868680"/>
          </a:xfrm>
          <a:prstGeom prst="rect">
            <a:avLst/>
          </a:prstGeom>
          <a:solidFill>
            <a:srgbClr val="1F3F7A">
              <a:alpha val="70000"/>
            </a:srgbClr>
          </a:solidFill>
          <a:ln w="12700">
            <a:solidFill>
              <a:srgbClr val="1F3F7A"/>
            </a:solidFill>
            <a:prstDash val="solid"/>
          </a:ln>
        </p:spPr>
      </p:sp>
      <p:sp>
        <p:nvSpPr>
          <p:cNvPr id="11" name="Text 8"/>
          <p:cNvSpPr txBox="1"/>
          <p:nvPr/>
        </p:nvSpPr>
        <p:spPr>
          <a:xfrm>
            <a:off x="557784" y="2455140"/>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截至2023年，我国60岁以上人口占比21.1%，65岁以上占比15.4%；仁寿县60岁以上人口达26.56%。</a:t>
            </a:r>
            <a:endParaRPr lang="en-US" sz="750" dirty="0"/>
          </a:p>
        </p:txBody>
      </p:sp>
      <p:sp>
        <p:nvSpPr>
          <p:cNvPr id="12" name="Text 9"/>
          <p:cNvSpPr txBox="1"/>
          <p:nvPr/>
        </p:nvSpPr>
        <p:spPr>
          <a:xfrm>
            <a:off x="50292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时代背景需求</a:t>
            </a:r>
            <a:endParaRPr lang="en-US" sz="1200" dirty="0"/>
          </a:p>
        </p:txBody>
      </p:sp>
      <p:pic>
        <p:nvPicPr>
          <p:cNvPr id="13" name="Image 1" descr="/home/user/lxfs/pptx_build/figs/tf_3.jpg">    </p:cNvPr>
          <p:cNvPicPr>
            <a:picLocks noChangeAspect="1"/>
          </p:cNvPicPr>
          <p:nvPr/>
        </p:nvPicPr>
        <p:blipFill>
          <a:blip r:embed="rId2"/>
          <a:stretch>
            <a:fillRect/>
          </a:stretch>
        </p:blipFill>
        <p:spPr>
          <a:xfrm>
            <a:off x="2606040" y="1481328"/>
            <a:ext cx="1965960" cy="2476599"/>
          </a:xfrm>
          <a:prstGeom prst="rect">
            <a:avLst/>
          </a:prstGeom>
        </p:spPr>
      </p:pic>
      <p:sp>
        <p:nvSpPr>
          <p:cNvPr id="14" name="Shape 10"/>
          <p:cNvSpPr/>
          <p:nvPr/>
        </p:nvSpPr>
        <p:spPr>
          <a:xfrm>
            <a:off x="2606040" y="2471968"/>
            <a:ext cx="1965960" cy="868680"/>
          </a:xfrm>
          <a:prstGeom prst="rect">
            <a:avLst/>
          </a:prstGeom>
          <a:solidFill>
            <a:srgbClr val="1F3F7A">
              <a:alpha val="70000"/>
            </a:srgbClr>
          </a:solidFill>
          <a:ln w="12700">
            <a:solidFill>
              <a:srgbClr val="1F3F7A"/>
            </a:solidFill>
            <a:prstDash val="solid"/>
          </a:ln>
        </p:spPr>
      </p:sp>
      <p:sp>
        <p:nvSpPr>
          <p:cNvPr id="15" name="Text 11"/>
          <p:cNvSpPr txBox="1"/>
          <p:nvPr/>
        </p:nvSpPr>
        <p:spPr>
          <a:xfrm>
            <a:off x="2660904" y="2471968"/>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70%国人处于亚健康状态，工作、生活、学习压力增大，作息不规律，缺乏日常运动与情绪释放场所。</a:t>
            </a:r>
            <a:endParaRPr lang="en-US" sz="750" dirty="0"/>
          </a:p>
        </p:txBody>
      </p:sp>
      <p:sp>
        <p:nvSpPr>
          <p:cNvPr id="16" name="Text 12"/>
          <p:cNvSpPr txBox="1"/>
          <p:nvPr/>
        </p:nvSpPr>
        <p:spPr>
          <a:xfrm>
            <a:off x="260604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全民健身需求</a:t>
            </a:r>
            <a:endParaRPr lang="en-US" sz="1200" dirty="0"/>
          </a:p>
        </p:txBody>
      </p:sp>
      <p:pic>
        <p:nvPicPr>
          <p:cNvPr id="17" name="Image 2" descr="/home/user/lxfs/pptx_build/figs/sz_3.jpg">    </p:cNvPr>
          <p:cNvPicPr>
            <a:picLocks noChangeAspect="1"/>
          </p:cNvPicPr>
          <p:nvPr/>
        </p:nvPicPr>
        <p:blipFill>
          <a:blip r:embed="rId3"/>
          <a:stretch>
            <a:fillRect/>
          </a:stretch>
        </p:blipFill>
        <p:spPr>
          <a:xfrm>
            <a:off x="4750157" y="1481328"/>
            <a:ext cx="1883967" cy="2514600"/>
          </a:xfrm>
          <a:prstGeom prst="rect">
            <a:avLst/>
          </a:prstGeom>
        </p:spPr>
      </p:pic>
      <p:sp>
        <p:nvSpPr>
          <p:cNvPr id="18" name="Shape 13"/>
          <p:cNvSpPr/>
          <p:nvPr/>
        </p:nvSpPr>
        <p:spPr>
          <a:xfrm>
            <a:off x="4750157" y="2487168"/>
            <a:ext cx="1883967" cy="868680"/>
          </a:xfrm>
          <a:prstGeom prst="rect">
            <a:avLst/>
          </a:prstGeom>
          <a:solidFill>
            <a:srgbClr val="1F3F7A">
              <a:alpha val="70000"/>
            </a:srgbClr>
          </a:solidFill>
          <a:ln w="12700">
            <a:solidFill>
              <a:srgbClr val="1F3F7A"/>
            </a:solidFill>
            <a:prstDash val="solid"/>
          </a:ln>
        </p:spPr>
      </p:sp>
      <p:sp>
        <p:nvSpPr>
          <p:cNvPr id="19" name="Text 14"/>
          <p:cNvSpPr txBox="1"/>
          <p:nvPr/>
        </p:nvSpPr>
        <p:spPr>
          <a:xfrm>
            <a:off x="4805021" y="2487168"/>
            <a:ext cx="1774239"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居民健康意识提升，全龄运动、亲子游憩、老年康养需求增长，推动体育公园与健康城市建设。</a:t>
            </a:r>
            <a:endParaRPr lang="en-US" sz="750" dirty="0"/>
          </a:p>
        </p:txBody>
      </p:sp>
      <p:sp>
        <p:nvSpPr>
          <p:cNvPr id="20" name="Text 15"/>
          <p:cNvSpPr txBox="1"/>
          <p:nvPr/>
        </p:nvSpPr>
        <p:spPr>
          <a:xfrm>
            <a:off x="470916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市场机遇人群</a:t>
            </a:r>
            <a:endParaRPr lang="en-US" sz="1200" dirty="0"/>
          </a:p>
        </p:txBody>
      </p:sp>
      <p:pic>
        <p:nvPicPr>
          <p:cNvPr id="21" name="Image 3" descr="/home/user/lxfs/pptx_build/figs/sz_1.jpg">    </p:cNvPr>
          <p:cNvPicPr>
            <a:picLocks noChangeAspect="1"/>
          </p:cNvPicPr>
          <p:nvPr/>
        </p:nvPicPr>
        <p:blipFill>
          <a:blip r:embed="rId4"/>
          <a:stretch>
            <a:fillRect/>
          </a:stretch>
        </p:blipFill>
        <p:spPr>
          <a:xfrm>
            <a:off x="6812280" y="1481328"/>
            <a:ext cx="1965960" cy="2077662"/>
          </a:xfrm>
          <a:prstGeom prst="rect">
            <a:avLst/>
          </a:prstGeom>
        </p:spPr>
      </p:pic>
      <p:sp>
        <p:nvSpPr>
          <p:cNvPr id="22" name="Shape 16"/>
          <p:cNvSpPr/>
          <p:nvPr/>
        </p:nvSpPr>
        <p:spPr>
          <a:xfrm>
            <a:off x="6812280" y="2312393"/>
            <a:ext cx="1965960" cy="868680"/>
          </a:xfrm>
          <a:prstGeom prst="rect">
            <a:avLst/>
          </a:prstGeom>
          <a:solidFill>
            <a:srgbClr val="1F3F7A">
              <a:alpha val="70000"/>
            </a:srgbClr>
          </a:solidFill>
          <a:ln w="12700">
            <a:solidFill>
              <a:srgbClr val="1F3F7A"/>
            </a:solidFill>
            <a:prstDash val="solid"/>
          </a:ln>
        </p:spPr>
      </p:sp>
      <p:sp>
        <p:nvSpPr>
          <p:cNvPr id="23" name="Text 17"/>
          <p:cNvSpPr txBox="1"/>
          <p:nvPr/>
        </p:nvSpPr>
        <p:spPr>
          <a:xfrm>
            <a:off x="6867144" y="2312393"/>
            <a:ext cx="1856232" cy="8686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国家全面推进“健康中国2030”与体育公园建设，仁寿县公园城市规划大力支持。</a:t>
            </a:r>
            <a:endParaRPr lang="en-US" sz="750" dirty="0"/>
          </a:p>
        </p:txBody>
      </p:sp>
      <p:sp>
        <p:nvSpPr>
          <p:cNvPr id="24" name="Text 18"/>
          <p:cNvSpPr txBox="1"/>
          <p:nvPr/>
        </p:nvSpPr>
        <p:spPr>
          <a:xfrm>
            <a:off x="6812280" y="4041648"/>
            <a:ext cx="1965960" cy="292608"/>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政策导向优势</a:t>
            </a:r>
            <a:endParaRPr lang="en-US" sz="1200" dirty="0"/>
          </a:p>
        </p:txBody>
      </p:sp>
      <p:sp>
        <p:nvSpPr>
          <p:cNvPr id="25" name="Text 19"/>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如今，因工作、生活、学习等带来的压力，导致人们生活作息不规律、熬夜、睡眠不足，身体状况变差。但我国缺少运动与疗愈场所，人们压力无处释放，导致许多年轻人处于亚健康状态。在全民健康、公园城市政策背景下，集运动健康、全龄游憩于一体的体育型综合公园成为化解上述矛盾的核心空间载体。</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选题背景——政策导向</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04</a:t>
            </a:r>
            <a:endParaRPr lang="en-US" sz="900" dirty="0"/>
          </a:p>
        </p:txBody>
      </p:sp>
      <p:sp>
        <p:nvSpPr>
          <p:cNvPr id="7" name="Shape 5"/>
          <p:cNvSpPr/>
          <p:nvPr/>
        </p:nvSpPr>
        <p:spPr>
          <a:xfrm>
            <a:off x="457200" y="1069848"/>
            <a:ext cx="868680" cy="384048"/>
          </a:xfrm>
          <a:prstGeom prst="rect">
            <a:avLst/>
          </a:prstGeom>
          <a:solidFill>
            <a:srgbClr val="1F3F7A"/>
          </a:solidFill>
          <a:ln w="12700">
            <a:solidFill>
              <a:srgbClr val="1F3F7A"/>
            </a:solidFill>
            <a:prstDash val="solid"/>
          </a:ln>
        </p:spPr>
      </p:sp>
      <p:sp>
        <p:nvSpPr>
          <p:cNvPr id="8" name="Text 6"/>
          <p:cNvSpPr txBox="1"/>
          <p:nvPr/>
        </p:nvSpPr>
        <p:spPr>
          <a:xfrm>
            <a:off x="457200" y="106984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国家战略</a:t>
            </a:r>
            <a:endParaRPr lang="en-US" sz="950" dirty="0"/>
          </a:p>
        </p:txBody>
      </p:sp>
      <p:sp>
        <p:nvSpPr>
          <p:cNvPr id="9" name="Text 7"/>
          <p:cNvSpPr txBox="1"/>
          <p:nvPr/>
        </p:nvSpPr>
        <p:spPr>
          <a:xfrm>
            <a:off x="1463040" y="96012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《“健康中国2030”规划纲要》</a:t>
            </a:r>
            <a:endParaRPr lang="en-US" sz="1050" dirty="0"/>
          </a:p>
        </p:txBody>
      </p:sp>
      <p:sp>
        <p:nvSpPr>
          <p:cNvPr id="10" name="Text 8"/>
          <p:cNvSpPr txBox="1"/>
          <p:nvPr/>
        </p:nvSpPr>
        <p:spPr>
          <a:xfrm>
            <a:off x="1463040" y="125272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健全城乡全民健身公共服务体系，完善社区体育配套设施</a:t>
            </a:r>
            <a:endParaRPr lang="en-US" sz="900" dirty="0"/>
          </a:p>
        </p:txBody>
      </p:sp>
      <p:sp>
        <p:nvSpPr>
          <p:cNvPr id="11" name="Shape 9"/>
          <p:cNvSpPr/>
          <p:nvPr/>
        </p:nvSpPr>
        <p:spPr>
          <a:xfrm>
            <a:off x="457200" y="1801368"/>
            <a:ext cx="868680" cy="384048"/>
          </a:xfrm>
          <a:prstGeom prst="rect">
            <a:avLst/>
          </a:prstGeom>
          <a:solidFill>
            <a:srgbClr val="1F3F7A"/>
          </a:solidFill>
          <a:ln w="12700">
            <a:solidFill>
              <a:srgbClr val="1F3F7A"/>
            </a:solidFill>
            <a:prstDash val="solid"/>
          </a:ln>
        </p:spPr>
      </p:sp>
      <p:sp>
        <p:nvSpPr>
          <p:cNvPr id="12" name="Text 10"/>
          <p:cNvSpPr txBox="1"/>
          <p:nvPr/>
        </p:nvSpPr>
        <p:spPr>
          <a:xfrm>
            <a:off x="457200" y="180136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规划标准</a:t>
            </a:r>
            <a:endParaRPr lang="en-US" sz="950" dirty="0"/>
          </a:p>
        </p:txBody>
      </p:sp>
      <p:sp>
        <p:nvSpPr>
          <p:cNvPr id="13" name="Text 11"/>
          <p:cNvSpPr txBox="1"/>
          <p:nvPr/>
        </p:nvSpPr>
        <p:spPr>
          <a:xfrm>
            <a:off x="1463040" y="169164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《城市居住区规划设计标准》GB 50180-2018</a:t>
            </a:r>
            <a:endParaRPr lang="en-US" sz="1050" dirty="0"/>
          </a:p>
        </p:txBody>
      </p:sp>
      <p:sp>
        <p:nvSpPr>
          <p:cNvPr id="14" name="Text 12"/>
          <p:cNvSpPr txBox="1"/>
          <p:nvPr/>
        </p:nvSpPr>
        <p:spPr>
          <a:xfrm>
            <a:off x="1463040" y="198424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构建15分钟生活圈绿地系统，保障片区级综合公园落地</a:t>
            </a:r>
            <a:endParaRPr lang="en-US" sz="900" dirty="0"/>
          </a:p>
        </p:txBody>
      </p:sp>
      <p:sp>
        <p:nvSpPr>
          <p:cNvPr id="15" name="Shape 13"/>
          <p:cNvSpPr/>
          <p:nvPr/>
        </p:nvSpPr>
        <p:spPr>
          <a:xfrm>
            <a:off x="457200" y="2532888"/>
            <a:ext cx="868680" cy="384048"/>
          </a:xfrm>
          <a:prstGeom prst="rect">
            <a:avLst/>
          </a:prstGeom>
          <a:solidFill>
            <a:srgbClr val="1F3F7A"/>
          </a:solidFill>
          <a:ln w="12700">
            <a:solidFill>
              <a:srgbClr val="1F3F7A"/>
            </a:solidFill>
            <a:prstDash val="solid"/>
          </a:ln>
        </p:spPr>
      </p:sp>
      <p:sp>
        <p:nvSpPr>
          <p:cNvPr id="16" name="Text 14"/>
          <p:cNvSpPr txBox="1"/>
          <p:nvPr/>
        </p:nvSpPr>
        <p:spPr>
          <a:xfrm>
            <a:off x="457200" y="253288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生态导向</a:t>
            </a:r>
            <a:endParaRPr lang="en-US" sz="950" dirty="0"/>
          </a:p>
        </p:txBody>
      </p:sp>
      <p:sp>
        <p:nvSpPr>
          <p:cNvPr id="17" name="Text 15"/>
          <p:cNvSpPr txBox="1"/>
          <p:nvPr/>
        </p:nvSpPr>
        <p:spPr>
          <a:xfrm>
            <a:off x="1463040" y="242316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《海绵城市建设技术指南》</a:t>
            </a:r>
            <a:endParaRPr lang="en-US" sz="1050" dirty="0"/>
          </a:p>
        </p:txBody>
      </p:sp>
      <p:sp>
        <p:nvSpPr>
          <p:cNvPr id="18" name="Text 16"/>
          <p:cNvSpPr txBox="1"/>
          <p:nvPr/>
        </p:nvSpPr>
        <p:spPr>
          <a:xfrm>
            <a:off x="1463040" y="271576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低影响开发，城市绿地兼顾生态缓冲、雨水调蓄、休闲游憩复合功能</a:t>
            </a:r>
            <a:endParaRPr lang="en-US" sz="900" dirty="0"/>
          </a:p>
        </p:txBody>
      </p:sp>
      <p:sp>
        <p:nvSpPr>
          <p:cNvPr id="19" name="Shape 17"/>
          <p:cNvSpPr/>
          <p:nvPr/>
        </p:nvSpPr>
        <p:spPr>
          <a:xfrm>
            <a:off x="457200" y="3264408"/>
            <a:ext cx="868680" cy="384048"/>
          </a:xfrm>
          <a:prstGeom prst="rect">
            <a:avLst/>
          </a:prstGeom>
          <a:solidFill>
            <a:srgbClr val="1F3F7A"/>
          </a:solidFill>
          <a:ln w="12700">
            <a:solidFill>
              <a:srgbClr val="1F3F7A"/>
            </a:solidFill>
            <a:prstDash val="solid"/>
          </a:ln>
        </p:spPr>
      </p:sp>
      <p:sp>
        <p:nvSpPr>
          <p:cNvPr id="20" name="Text 18"/>
          <p:cNvSpPr txBox="1"/>
          <p:nvPr/>
        </p:nvSpPr>
        <p:spPr>
          <a:xfrm>
            <a:off x="457200" y="326440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专项指导</a:t>
            </a:r>
            <a:endParaRPr lang="en-US" sz="950" dirty="0"/>
          </a:p>
        </p:txBody>
      </p:sp>
      <p:sp>
        <p:nvSpPr>
          <p:cNvPr id="21" name="Text 19"/>
          <p:cNvSpPr txBox="1"/>
          <p:nvPr/>
        </p:nvSpPr>
        <p:spPr>
          <a:xfrm>
            <a:off x="1463040" y="315468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七部委《关于推进体育公园建设的指导意见》</a:t>
            </a:r>
            <a:endParaRPr lang="en-US" sz="1050" dirty="0"/>
          </a:p>
        </p:txBody>
      </p:sp>
      <p:sp>
        <p:nvSpPr>
          <p:cNvPr id="22" name="Text 20"/>
          <p:cNvSpPr txBox="1"/>
          <p:nvPr/>
        </p:nvSpPr>
        <p:spPr>
          <a:xfrm>
            <a:off x="1463040" y="344728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以体育健身为核心、与自然生态融合，绿化用地占比不低于65%</a:t>
            </a:r>
            <a:endParaRPr lang="en-US" sz="900" dirty="0"/>
          </a:p>
        </p:txBody>
      </p:sp>
      <p:sp>
        <p:nvSpPr>
          <p:cNvPr id="23" name="Shape 21"/>
          <p:cNvSpPr/>
          <p:nvPr/>
        </p:nvSpPr>
        <p:spPr>
          <a:xfrm>
            <a:off x="457200" y="3995928"/>
            <a:ext cx="868680" cy="384048"/>
          </a:xfrm>
          <a:prstGeom prst="rect">
            <a:avLst/>
          </a:prstGeom>
          <a:solidFill>
            <a:srgbClr val="E07B2A"/>
          </a:solidFill>
          <a:ln w="12700">
            <a:solidFill>
              <a:srgbClr val="E07B2A"/>
            </a:solidFill>
            <a:prstDash val="solid"/>
          </a:ln>
        </p:spPr>
      </p:sp>
      <p:sp>
        <p:nvSpPr>
          <p:cNvPr id="24" name="Text 22"/>
          <p:cNvSpPr txBox="1"/>
          <p:nvPr/>
        </p:nvSpPr>
        <p:spPr>
          <a:xfrm>
            <a:off x="457200" y="3995928"/>
            <a:ext cx="86868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地方规划</a:t>
            </a:r>
            <a:endParaRPr lang="en-US" sz="950" dirty="0"/>
          </a:p>
        </p:txBody>
      </p:sp>
      <p:sp>
        <p:nvSpPr>
          <p:cNvPr id="25" name="Text 23"/>
          <p:cNvSpPr txBox="1"/>
          <p:nvPr/>
        </p:nvSpPr>
        <p:spPr>
          <a:xfrm>
            <a:off x="1463040" y="3886200"/>
            <a:ext cx="4297680" cy="292608"/>
          </a:xfrm>
          <a:prstGeom prst="rect">
            <a:avLst/>
          </a:prstGeom>
          <a:noFill/>
          <a:ln/>
        </p:spPr>
        <p:txBody>
          <a:bodyPr wrap="square" lIns="0" tIns="0" rIns="0" bIns="0" rtlCol="0" anchor="ctr"/>
          <a:lstStyle/>
          <a:p>
            <a:pPr indent="0" marL="0">
              <a:buNone/>
            </a:pPr>
            <a:r>
              <a:rPr lang="en-US" sz="1050" b="1" dirty="0">
                <a:solidFill>
                  <a:srgbClr val="444444"/>
                </a:solidFill>
                <a:latin typeface="Microsoft YaHei" pitchFamily="34" charset="0"/>
                <a:ea typeface="Microsoft YaHei" pitchFamily="34" charset="-122"/>
                <a:cs typeface="Microsoft YaHei" pitchFamily="34" charset="-120"/>
              </a:rPr>
              <a:t>《仁寿县国土空间总体规划(2021-2035)》</a:t>
            </a:r>
            <a:endParaRPr lang="en-US" sz="1050" dirty="0"/>
          </a:p>
        </p:txBody>
      </p:sp>
      <p:sp>
        <p:nvSpPr>
          <p:cNvPr id="26" name="Text 24"/>
          <p:cNvSpPr txBox="1"/>
          <p:nvPr/>
        </p:nvSpPr>
        <p:spPr>
          <a:xfrm>
            <a:off x="1463040" y="4178808"/>
            <a:ext cx="4297680" cy="365760"/>
          </a:xfrm>
          <a:prstGeom prst="rect">
            <a:avLst/>
          </a:prstGeom>
          <a:noFill/>
          <a:ln/>
        </p:spPr>
        <p:txBody>
          <a:bodyPr wrap="square" lIns="0" tIns="0" rIns="0" bIns="0" rtlCol="0" anchor="t"/>
          <a:lstStyle/>
          <a:p>
            <a:pPr indent="0" marL="0">
              <a:buNone/>
            </a:pPr>
            <a:r>
              <a:rPr lang="en-US" sz="900" dirty="0">
                <a:solidFill>
                  <a:srgbClr val="777777"/>
                </a:solidFill>
                <a:latin typeface="Microsoft YaHei" pitchFamily="34" charset="0"/>
                <a:ea typeface="Microsoft YaHei" pitchFamily="34" charset="-122"/>
                <a:cs typeface="Microsoft YaHei" pitchFamily="34" charset="-120"/>
              </a:rPr>
              <a:t>城北新城“三生融合、公园城市”目标，完善居住区集中绿地布局</a:t>
            </a:r>
            <a:endParaRPr lang="en-US" sz="900" dirty="0"/>
          </a:p>
        </p:txBody>
      </p:sp>
      <p:pic>
        <p:nvPicPr>
          <p:cNvPr id="27" name="Image 0" descr="/home/user/lxfs/pptx_build/figs/tf_2.jpg">    </p:cNvPr>
          <p:cNvPicPr>
            <a:picLocks noChangeAspect="1"/>
          </p:cNvPicPr>
          <p:nvPr/>
        </p:nvPicPr>
        <p:blipFill>
          <a:blip r:embed="rId1"/>
          <a:stretch>
            <a:fillRect/>
          </a:stretch>
        </p:blipFill>
        <p:spPr>
          <a:xfrm>
            <a:off x="6035040" y="932688"/>
            <a:ext cx="1325880" cy="1641893"/>
          </a:xfrm>
          <a:prstGeom prst="rect">
            <a:avLst/>
          </a:prstGeom>
        </p:spPr>
      </p:pic>
      <p:pic>
        <p:nvPicPr>
          <p:cNvPr id="28" name="Image 1" descr="/home/user/lxfs/pptx_build/figs/tf_3.jpg">    </p:cNvPr>
          <p:cNvPicPr>
            <a:picLocks noChangeAspect="1"/>
          </p:cNvPicPr>
          <p:nvPr/>
        </p:nvPicPr>
        <p:blipFill>
          <a:blip r:embed="rId2"/>
          <a:stretch>
            <a:fillRect/>
          </a:stretch>
        </p:blipFill>
        <p:spPr>
          <a:xfrm>
            <a:off x="7498080" y="932688"/>
            <a:ext cx="1325880" cy="1670264"/>
          </a:xfrm>
          <a:prstGeom prst="rect">
            <a:avLst/>
          </a:prstGeom>
        </p:spPr>
      </p:pic>
      <p:pic>
        <p:nvPicPr>
          <p:cNvPr id="29" name="Image 2" descr="/home/user/lxfs/pptx_build/figs/ms_4.jpg">    </p:cNvPr>
          <p:cNvPicPr>
            <a:picLocks noChangeAspect="1"/>
          </p:cNvPicPr>
          <p:nvPr/>
        </p:nvPicPr>
        <p:blipFill>
          <a:blip r:embed="rId3"/>
          <a:stretch>
            <a:fillRect/>
          </a:stretch>
        </p:blipFill>
        <p:spPr>
          <a:xfrm>
            <a:off x="6035040" y="2788920"/>
            <a:ext cx="2788920" cy="1567064"/>
          </a:xfrm>
          <a:prstGeom prst="rect">
            <a:avLst/>
          </a:prstGeom>
        </p:spPr>
      </p:pic>
      <p:sp>
        <p:nvSpPr>
          <p:cNvPr id="30" name="Text 25"/>
          <p:cNvSpPr txBox="1"/>
          <p:nvPr/>
        </p:nvSpPr>
        <p:spPr>
          <a:xfrm>
            <a:off x="6035040" y="4374272"/>
            <a:ext cx="27889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成都天府公园西区 / 牧山体育公园（案例照片）</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Topic Background</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1.1 选题背景——人口结构与地方需求</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05</a:t>
            </a:r>
            <a:endParaRPr lang="en-US" sz="900" dirty="0"/>
          </a:p>
        </p:txBody>
      </p:sp>
      <p:graphicFrame>
        <p:nvGraphicFramePr>
          <p:cNvPr id="7" name="Chart 0" descr=""/>
          <p:cNvGraphicFramePr/>
          <p:nvPr/>
        </p:nvGraphicFramePr>
        <p:xfrm>
          <a:off x="411480" y="91440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577840" y="914400"/>
            <a:ext cx="3246120" cy="1143000"/>
          </a:xfrm>
          <a:prstGeom prst="rect">
            <a:avLst/>
          </a:prstGeom>
          <a:solidFill>
            <a:srgbClr val="EEF2F8"/>
          </a:solidFill>
          <a:ln w="12700">
            <a:solidFill>
              <a:srgbClr val="EEF2F8"/>
            </a:solidFill>
            <a:prstDash val="solid"/>
          </a:ln>
        </p:spPr>
      </p:sp>
      <p:sp>
        <p:nvSpPr>
          <p:cNvPr id="9" name="Text 6"/>
          <p:cNvSpPr txBox="1"/>
          <p:nvPr/>
        </p:nvSpPr>
        <p:spPr>
          <a:xfrm>
            <a:off x="5715000" y="94183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仁寿县人口特征（2020年七普）</a:t>
            </a:r>
            <a:endParaRPr lang="en-US" sz="1000" dirty="0"/>
          </a:p>
        </p:txBody>
      </p:sp>
      <p:sp>
        <p:nvSpPr>
          <p:cNvPr id="10" name="Text 7"/>
          <p:cNvSpPr txBox="1"/>
          <p:nvPr/>
        </p:nvSpPr>
        <p:spPr>
          <a:xfrm>
            <a:off x="5669280" y="117043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常住人口111.0万人。60岁及以上占26.56%，65岁及以上占21.94%，分别高于全国7.86和8.44个百分点，已进入深度老龄化；0-14岁占15.31%。老年康养与亲子游憩需求突出。</a:t>
            </a:r>
            <a:endParaRPr lang="en-US" sz="800" dirty="0"/>
          </a:p>
        </p:txBody>
      </p:sp>
      <p:sp>
        <p:nvSpPr>
          <p:cNvPr id="11" name="Shape 8"/>
          <p:cNvSpPr/>
          <p:nvPr/>
        </p:nvSpPr>
        <p:spPr>
          <a:xfrm>
            <a:off x="5577840" y="2148840"/>
            <a:ext cx="3246120" cy="1143000"/>
          </a:xfrm>
          <a:prstGeom prst="rect">
            <a:avLst/>
          </a:prstGeom>
          <a:solidFill>
            <a:srgbClr val="EEF2F8"/>
          </a:solidFill>
          <a:ln w="12700">
            <a:solidFill>
              <a:srgbClr val="EEF2F8"/>
            </a:solidFill>
            <a:prstDash val="solid"/>
          </a:ln>
        </p:spPr>
      </p:sp>
      <p:sp>
        <p:nvSpPr>
          <p:cNvPr id="12" name="Text 9"/>
          <p:cNvSpPr txBox="1"/>
          <p:nvPr/>
        </p:nvSpPr>
        <p:spPr>
          <a:xfrm>
            <a:off x="5715000" y="2176272"/>
            <a:ext cx="3017520" cy="237744"/>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城北新城现状问题</a:t>
            </a:r>
            <a:endParaRPr lang="en-US" sz="1000" dirty="0"/>
          </a:p>
        </p:txBody>
      </p:sp>
      <p:sp>
        <p:nvSpPr>
          <p:cNvPr id="13" name="Text 10"/>
          <p:cNvSpPr txBox="1"/>
          <p:nvPr/>
        </p:nvSpPr>
        <p:spPr>
          <a:xfrm>
            <a:off x="5669280" y="2404872"/>
            <a:ext cx="3108960" cy="86868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成德眉资同城化片区，仁寿向北拓展核心宜居板块；大量商品住宅集中落地，居住密度持续提升。配套逐步完善，但集中型公共休闲绿地供给严重不足，缺少服务全龄、兼具生态运动休闲社交功能的综合公园。</a:t>
            </a:r>
            <a:endParaRPr lang="en-US" sz="800" dirty="0"/>
          </a:p>
        </p:txBody>
      </p:sp>
      <p:pic>
        <p:nvPicPr>
          <p:cNvPr id="14" name="Image 0" descr="/home/user/lxfs/pptx_build/figs/site_1.jpg">    </p:cNvPr>
          <p:cNvPicPr>
            <a:picLocks noChangeAspect="1"/>
          </p:cNvPicPr>
          <p:nvPr/>
        </p:nvPicPr>
        <p:blipFill>
          <a:blip r:embed="rId2"/>
          <a:stretch>
            <a:fillRect/>
          </a:stretch>
        </p:blipFill>
        <p:spPr>
          <a:xfrm>
            <a:off x="5577840" y="3383280"/>
            <a:ext cx="1572768" cy="892243"/>
          </a:xfrm>
          <a:prstGeom prst="rect">
            <a:avLst/>
          </a:prstGeom>
        </p:spPr>
      </p:pic>
      <p:pic>
        <p:nvPicPr>
          <p:cNvPr id="15" name="Image 1" descr="/home/user/lxfs/pptx_build/figs/site_3.jpg">    </p:cNvPr>
          <p:cNvPicPr>
            <a:picLocks noChangeAspect="1"/>
          </p:cNvPicPr>
          <p:nvPr/>
        </p:nvPicPr>
        <p:blipFill>
          <a:blip r:embed="rId3"/>
          <a:stretch>
            <a:fillRect/>
          </a:stretch>
        </p:blipFill>
        <p:spPr>
          <a:xfrm>
            <a:off x="7251192" y="3383280"/>
            <a:ext cx="1572768" cy="899442"/>
          </a:xfrm>
          <a:prstGeom prst="rect">
            <a:avLst/>
          </a:prstGeom>
        </p:spPr>
      </p:pic>
      <p:sp>
        <p:nvSpPr>
          <p:cNvPr id="16" name="Text 11"/>
          <p:cNvSpPr txBox="1"/>
          <p:nvPr/>
        </p:nvSpPr>
        <p:spPr>
          <a:xfrm>
            <a:off x="5577840" y="4315968"/>
            <a:ext cx="324612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城北新城场地周边现状</a:t>
            </a:r>
            <a:endParaRPr lang="en-US" sz="750" dirty="0"/>
          </a:p>
        </p:txBody>
      </p:sp>
      <p:sp>
        <p:nvSpPr>
          <p:cNvPr id="17" name="Text 12"/>
          <p:cNvSpPr txBox="1"/>
          <p:nvPr/>
        </p:nvSpPr>
        <p:spPr>
          <a:xfrm>
            <a:off x="457200" y="4206240"/>
            <a:ext cx="4937760" cy="50292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数据来源：国家统计局《第七次全国人口普查公报（第五号）》；四川省统计局《四川省第七次全国人口普查公报（第四号）》；仁寿县人民政府《仁寿县第七次全国人口普查公报（第三号）》。</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Purpose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1.2 研究目的</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06</a:t>
            </a:r>
            <a:endParaRPr lang="en-US" sz="900" dirty="0"/>
          </a:p>
        </p:txBody>
      </p:sp>
      <p:pic>
        <p:nvPicPr>
          <p:cNvPr id="7" name="Image 0" descr="/home/user/lxfs/pptx_build/figs/ms_4.jpg">    </p:cNvPr>
          <p:cNvPicPr>
            <a:picLocks noChangeAspect="1"/>
          </p:cNvPicPr>
          <p:nvPr/>
        </p:nvPicPr>
        <p:blipFill>
          <a:blip r:embed="rId1"/>
          <a:stretch>
            <a:fillRect/>
          </a:stretch>
        </p:blipFill>
        <p:spPr>
          <a:xfrm>
            <a:off x="544731" y="932688"/>
            <a:ext cx="2522419" cy="1417320"/>
          </a:xfrm>
          <a:prstGeom prst="rect">
            <a:avLst/>
          </a:prstGeom>
        </p:spPr>
      </p:pic>
      <p:sp>
        <p:nvSpPr>
          <p:cNvPr id="8" name="Shape 5"/>
          <p:cNvSpPr/>
          <p:nvPr/>
        </p:nvSpPr>
        <p:spPr>
          <a:xfrm>
            <a:off x="457200" y="2350008"/>
            <a:ext cx="2697480" cy="2331720"/>
          </a:xfrm>
          <a:prstGeom prst="rect">
            <a:avLst/>
          </a:prstGeom>
          <a:solidFill>
            <a:srgbClr val="EEF2F8"/>
          </a:solidFill>
          <a:ln w="12700">
            <a:solidFill>
              <a:srgbClr val="EEF2F8"/>
            </a:solidFill>
            <a:prstDash val="solid"/>
          </a:ln>
        </p:spPr>
      </p:sp>
      <p:sp>
        <p:nvSpPr>
          <p:cNvPr id="9" name="Shape 6"/>
          <p:cNvSpPr/>
          <p:nvPr/>
        </p:nvSpPr>
        <p:spPr>
          <a:xfrm>
            <a:off x="566928" y="2450592"/>
            <a:ext cx="347472" cy="347472"/>
          </a:xfrm>
          <a:prstGeom prst="ellipse">
            <a:avLst/>
          </a:prstGeom>
          <a:solidFill>
            <a:srgbClr val="E07B2A"/>
          </a:solidFill>
          <a:ln w="12700">
            <a:solidFill>
              <a:srgbClr val="E07B2A"/>
            </a:solidFill>
            <a:prstDash val="solid"/>
          </a:ln>
        </p:spPr>
      </p:sp>
      <p:sp>
        <p:nvSpPr>
          <p:cNvPr id="10" name="Text 7"/>
          <p:cNvSpPr txBox="1"/>
          <p:nvPr/>
        </p:nvSpPr>
        <p:spPr>
          <a:xfrm>
            <a:off x="566928" y="245059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8"/>
          <p:cNvSpPr txBox="1"/>
          <p:nvPr/>
        </p:nvSpPr>
        <p:spPr>
          <a:xfrm>
            <a:off x="987552" y="2432304"/>
            <a:ext cx="2103120" cy="384048"/>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营造适配全龄人群的多元运动游憩空间</a:t>
            </a:r>
            <a:endParaRPr lang="en-US" sz="950" dirty="0"/>
          </a:p>
        </p:txBody>
      </p:sp>
      <p:sp>
        <p:nvSpPr>
          <p:cNvPr id="12" name="Text 9"/>
          <p:cNvSpPr txBox="1"/>
          <p:nvPr/>
        </p:nvSpPr>
        <p:spPr>
          <a:xfrm>
            <a:off x="530352" y="2880360"/>
            <a:ext cx="2560320" cy="1783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立足全民健康发展背景，针对仁寿城北新城居住区户外健身场地不足的现实问题，结合场地现状条件，打造融合生态缓冲、运动健身、亲子游乐、邻里社交、乡土科普功能的公园空间，满足周边不同年龄居民日常健身休闲与社交活动需求。</a:t>
            </a:r>
            <a:endParaRPr lang="en-US" sz="850" dirty="0"/>
          </a:p>
        </p:txBody>
      </p:sp>
      <p:pic>
        <p:nvPicPr>
          <p:cNvPr id="13" name="Image 1" descr="/home/user/lxfs/pptx_build/figs/tf_4.jpg">    </p:cNvPr>
          <p:cNvPicPr>
            <a:picLocks noChangeAspect="1"/>
          </p:cNvPicPr>
          <p:nvPr/>
        </p:nvPicPr>
        <p:blipFill>
          <a:blip r:embed="rId2"/>
          <a:stretch>
            <a:fillRect/>
          </a:stretch>
        </p:blipFill>
        <p:spPr>
          <a:xfrm>
            <a:off x="3692099" y="932688"/>
            <a:ext cx="1896962" cy="1417320"/>
          </a:xfrm>
          <a:prstGeom prst="rect">
            <a:avLst/>
          </a:prstGeom>
        </p:spPr>
      </p:pic>
      <p:sp>
        <p:nvSpPr>
          <p:cNvPr id="14" name="Shape 10"/>
          <p:cNvSpPr/>
          <p:nvPr/>
        </p:nvSpPr>
        <p:spPr>
          <a:xfrm>
            <a:off x="3291840" y="2350008"/>
            <a:ext cx="2697480" cy="2331720"/>
          </a:xfrm>
          <a:prstGeom prst="rect">
            <a:avLst/>
          </a:prstGeom>
          <a:solidFill>
            <a:srgbClr val="EEF2F8"/>
          </a:solidFill>
          <a:ln w="12700">
            <a:solidFill>
              <a:srgbClr val="EEF2F8"/>
            </a:solidFill>
            <a:prstDash val="solid"/>
          </a:ln>
        </p:spPr>
      </p:sp>
      <p:sp>
        <p:nvSpPr>
          <p:cNvPr id="15" name="Shape 11"/>
          <p:cNvSpPr/>
          <p:nvPr/>
        </p:nvSpPr>
        <p:spPr>
          <a:xfrm>
            <a:off x="3401568" y="2450592"/>
            <a:ext cx="347472" cy="347472"/>
          </a:xfrm>
          <a:prstGeom prst="ellipse">
            <a:avLst/>
          </a:prstGeom>
          <a:solidFill>
            <a:srgbClr val="E07B2A"/>
          </a:solidFill>
          <a:ln w="12700">
            <a:solidFill>
              <a:srgbClr val="E07B2A"/>
            </a:solidFill>
            <a:prstDash val="solid"/>
          </a:ln>
        </p:spPr>
      </p:sp>
      <p:sp>
        <p:nvSpPr>
          <p:cNvPr id="16" name="Text 12"/>
          <p:cNvSpPr txBox="1"/>
          <p:nvPr/>
        </p:nvSpPr>
        <p:spPr>
          <a:xfrm>
            <a:off x="3401568" y="245059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3"/>
          <p:cNvSpPr txBox="1"/>
          <p:nvPr/>
        </p:nvSpPr>
        <p:spPr>
          <a:xfrm>
            <a:off x="3822192" y="2432304"/>
            <a:ext cx="2103120" cy="384048"/>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形成多目标统筹的可落地综合规划方案</a:t>
            </a:r>
            <a:endParaRPr lang="en-US" sz="950" dirty="0"/>
          </a:p>
        </p:txBody>
      </p:sp>
      <p:sp>
        <p:nvSpPr>
          <p:cNvPr id="18" name="Text 14"/>
          <p:cNvSpPr txBox="1"/>
          <p:nvPr/>
        </p:nvSpPr>
        <p:spPr>
          <a:xfrm>
            <a:off x="3364992" y="2880360"/>
            <a:ext cx="2560320" cy="1783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统筹城市主干道噪声防护、全龄活动场地布置、海绵雨水调蓄、乡土植物群落营造四大核心功能，形成兼顾生态效益、民生需求、建设成本的可落地方案；以城北新城8.6公顷闲置绿地为实践载体，为川南同类新建居住区集中绿地、体育公园建设提供参考案例。</a:t>
            </a:r>
            <a:endParaRPr lang="en-US" sz="850" dirty="0"/>
          </a:p>
        </p:txBody>
      </p:sp>
      <p:pic>
        <p:nvPicPr>
          <p:cNvPr id="19" name="Image 2" descr="/home/user/lxfs/pptx_build/figs/tf_3.jpg">    </p:cNvPr>
          <p:cNvPicPr>
            <a:picLocks noChangeAspect="1"/>
          </p:cNvPicPr>
          <p:nvPr/>
        </p:nvPicPr>
        <p:blipFill>
          <a:blip r:embed="rId3"/>
          <a:stretch>
            <a:fillRect/>
          </a:stretch>
        </p:blipFill>
        <p:spPr>
          <a:xfrm>
            <a:off x="6912675" y="932688"/>
            <a:ext cx="1125089" cy="1417320"/>
          </a:xfrm>
          <a:prstGeom prst="rect">
            <a:avLst/>
          </a:prstGeom>
        </p:spPr>
      </p:pic>
      <p:sp>
        <p:nvSpPr>
          <p:cNvPr id="20" name="Shape 15"/>
          <p:cNvSpPr/>
          <p:nvPr/>
        </p:nvSpPr>
        <p:spPr>
          <a:xfrm>
            <a:off x="6126480" y="2350008"/>
            <a:ext cx="2697480" cy="2331720"/>
          </a:xfrm>
          <a:prstGeom prst="rect">
            <a:avLst/>
          </a:prstGeom>
          <a:solidFill>
            <a:srgbClr val="EEF2F8"/>
          </a:solidFill>
          <a:ln w="12700">
            <a:solidFill>
              <a:srgbClr val="EEF2F8"/>
            </a:solidFill>
            <a:prstDash val="solid"/>
          </a:ln>
        </p:spPr>
      </p:sp>
      <p:sp>
        <p:nvSpPr>
          <p:cNvPr id="21" name="Shape 16"/>
          <p:cNvSpPr/>
          <p:nvPr/>
        </p:nvSpPr>
        <p:spPr>
          <a:xfrm>
            <a:off x="6236208" y="2450592"/>
            <a:ext cx="347472" cy="347472"/>
          </a:xfrm>
          <a:prstGeom prst="ellipse">
            <a:avLst/>
          </a:prstGeom>
          <a:solidFill>
            <a:srgbClr val="E07B2A"/>
          </a:solidFill>
          <a:ln w="12700">
            <a:solidFill>
              <a:srgbClr val="E07B2A"/>
            </a:solidFill>
            <a:prstDash val="solid"/>
          </a:ln>
        </p:spPr>
      </p:sp>
      <p:sp>
        <p:nvSpPr>
          <p:cNvPr id="22" name="Text 17"/>
          <p:cNvSpPr txBox="1"/>
          <p:nvPr/>
        </p:nvSpPr>
        <p:spPr>
          <a:xfrm>
            <a:off x="6236208" y="245059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18"/>
          <p:cNvSpPr txBox="1"/>
          <p:nvPr/>
        </p:nvSpPr>
        <p:spPr>
          <a:xfrm>
            <a:off x="6656832" y="2432304"/>
            <a:ext cx="2103120" cy="384048"/>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探索适用于西南城市的体育公园景观营造方法</a:t>
            </a:r>
            <a:endParaRPr lang="en-US" sz="950" dirty="0"/>
          </a:p>
        </p:txBody>
      </p:sp>
      <p:sp>
        <p:nvSpPr>
          <p:cNvPr id="24" name="Text 19"/>
          <p:cNvSpPr txBox="1"/>
          <p:nvPr/>
        </p:nvSpPr>
        <p:spPr>
          <a:xfrm>
            <a:off x="6199632" y="2880360"/>
            <a:ext cx="2560320" cy="178308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结合西南地区丘陵地貌、亚热带气候特征以及山地城市建设特点，充分运用乡土植物、海绵设施与低维护景观材料，构建适应性强、易管理、生态效益显著的运动景观环境，探索适合西南山地城市体育公园建设的景观营造思路。</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Significance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1.3 研究意义</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07</a:t>
            </a:r>
            <a:endParaRPr lang="en-US" sz="900" dirty="0"/>
          </a:p>
        </p:txBody>
      </p:sp>
      <p:sp>
        <p:nvSpPr>
          <p:cNvPr id="7" name="Shape 5"/>
          <p:cNvSpPr/>
          <p:nvPr/>
        </p:nvSpPr>
        <p:spPr>
          <a:xfrm>
            <a:off x="457200" y="914400"/>
            <a:ext cx="2148840" cy="502920"/>
          </a:xfrm>
          <a:prstGeom prst="rect">
            <a:avLst/>
          </a:prstGeom>
          <a:solidFill>
            <a:srgbClr val="E6E8DF"/>
          </a:solidFill>
          <a:ln w="12700">
            <a:solidFill>
              <a:srgbClr val="E6E8DF"/>
            </a:solidFill>
            <a:prstDash val="solid"/>
          </a:ln>
        </p:spPr>
      </p:sp>
      <p:sp>
        <p:nvSpPr>
          <p:cNvPr id="8" name="Text 6"/>
          <p:cNvSpPr txBox="1"/>
          <p:nvPr/>
        </p:nvSpPr>
        <p:spPr>
          <a:xfrm>
            <a:off x="45720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“预防疾病”</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Prevent illness</a:t>
            </a:r>
            <a:endParaRPr lang="en-US" sz="1200" dirty="0"/>
          </a:p>
        </p:txBody>
      </p:sp>
      <p:sp>
        <p:nvSpPr>
          <p:cNvPr id="9" name="Shape 7"/>
          <p:cNvSpPr/>
          <p:nvPr/>
        </p:nvSpPr>
        <p:spPr>
          <a:xfrm>
            <a:off x="457200" y="1536192"/>
            <a:ext cx="2148840" cy="502920"/>
          </a:xfrm>
          <a:prstGeom prst="rect">
            <a:avLst/>
          </a:prstGeom>
          <a:solidFill>
            <a:srgbClr val="E6E8DF"/>
          </a:solidFill>
          <a:ln w="12700">
            <a:solidFill>
              <a:srgbClr val="E6E8DF"/>
            </a:solidFill>
            <a:prstDash val="solid"/>
          </a:ln>
        </p:spPr>
      </p:sp>
      <p:sp>
        <p:nvSpPr>
          <p:cNvPr id="10" name="Text 8"/>
          <p:cNvSpPr txBox="1"/>
          <p:nvPr/>
        </p:nvSpPr>
        <p:spPr>
          <a:xfrm>
            <a:off x="45720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“改善心理”</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Improve psychological health</a:t>
            </a:r>
            <a:endParaRPr lang="en-US" sz="1200" dirty="0"/>
          </a:p>
        </p:txBody>
      </p:sp>
      <p:sp>
        <p:nvSpPr>
          <p:cNvPr id="11" name="Shape 9"/>
          <p:cNvSpPr/>
          <p:nvPr/>
        </p:nvSpPr>
        <p:spPr>
          <a:xfrm>
            <a:off x="457200" y="2157984"/>
            <a:ext cx="2148840" cy="502920"/>
          </a:xfrm>
          <a:prstGeom prst="rect">
            <a:avLst/>
          </a:prstGeom>
          <a:solidFill>
            <a:srgbClr val="E6E8DF"/>
          </a:solidFill>
          <a:ln w="12700">
            <a:solidFill>
              <a:srgbClr val="E6E8DF"/>
            </a:solidFill>
            <a:prstDash val="solid"/>
          </a:ln>
        </p:spPr>
      </p:sp>
      <p:sp>
        <p:nvSpPr>
          <p:cNvPr id="12" name="Text 10"/>
          <p:cNvSpPr txBox="1"/>
          <p:nvPr/>
        </p:nvSpPr>
        <p:spPr>
          <a:xfrm>
            <a:off x="45720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“调节身心”</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Adjust body and mind</a:t>
            </a:r>
            <a:endParaRPr lang="en-US" sz="1200" dirty="0"/>
          </a:p>
        </p:txBody>
      </p:sp>
      <p:sp>
        <p:nvSpPr>
          <p:cNvPr id="13" name="Shape 11"/>
          <p:cNvSpPr/>
          <p:nvPr/>
        </p:nvSpPr>
        <p:spPr>
          <a:xfrm>
            <a:off x="6675120" y="914400"/>
            <a:ext cx="2148840" cy="502920"/>
          </a:xfrm>
          <a:prstGeom prst="rect">
            <a:avLst/>
          </a:prstGeom>
          <a:solidFill>
            <a:srgbClr val="E6E8DF"/>
          </a:solidFill>
          <a:ln w="12700">
            <a:solidFill>
              <a:srgbClr val="E6E8DF"/>
            </a:solidFill>
            <a:prstDash val="solid"/>
          </a:ln>
        </p:spPr>
      </p:sp>
      <p:sp>
        <p:nvSpPr>
          <p:cNvPr id="14" name="Text 12"/>
          <p:cNvSpPr txBox="1"/>
          <p:nvPr/>
        </p:nvSpPr>
        <p:spPr>
          <a:xfrm>
            <a:off x="6675120" y="914400"/>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“老年康养”</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Health care for the aged</a:t>
            </a:r>
            <a:endParaRPr lang="en-US" sz="1200" dirty="0"/>
          </a:p>
        </p:txBody>
      </p:sp>
      <p:sp>
        <p:nvSpPr>
          <p:cNvPr id="15" name="Shape 13"/>
          <p:cNvSpPr/>
          <p:nvPr/>
        </p:nvSpPr>
        <p:spPr>
          <a:xfrm>
            <a:off x="6675120" y="1536192"/>
            <a:ext cx="2148840" cy="502920"/>
          </a:xfrm>
          <a:prstGeom prst="rect">
            <a:avLst/>
          </a:prstGeom>
          <a:solidFill>
            <a:srgbClr val="E6E8DF"/>
          </a:solidFill>
          <a:ln w="12700">
            <a:solidFill>
              <a:srgbClr val="E6E8DF"/>
            </a:solidFill>
            <a:prstDash val="solid"/>
          </a:ln>
        </p:spPr>
      </p:sp>
      <p:sp>
        <p:nvSpPr>
          <p:cNvPr id="16" name="Text 14"/>
          <p:cNvSpPr txBox="1"/>
          <p:nvPr/>
        </p:nvSpPr>
        <p:spPr>
          <a:xfrm>
            <a:off x="6675120" y="1536192"/>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“社区运动”</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Community sports</a:t>
            </a:r>
            <a:endParaRPr lang="en-US" sz="1200" dirty="0"/>
          </a:p>
        </p:txBody>
      </p:sp>
      <p:sp>
        <p:nvSpPr>
          <p:cNvPr id="17" name="Shape 15"/>
          <p:cNvSpPr/>
          <p:nvPr/>
        </p:nvSpPr>
        <p:spPr>
          <a:xfrm>
            <a:off x="6675120" y="2157984"/>
            <a:ext cx="2148840" cy="502920"/>
          </a:xfrm>
          <a:prstGeom prst="rect">
            <a:avLst/>
          </a:prstGeom>
          <a:solidFill>
            <a:srgbClr val="E6E8DF"/>
          </a:solidFill>
          <a:ln w="12700">
            <a:solidFill>
              <a:srgbClr val="E6E8DF"/>
            </a:solidFill>
            <a:prstDash val="solid"/>
          </a:ln>
        </p:spPr>
      </p:sp>
      <p:sp>
        <p:nvSpPr>
          <p:cNvPr id="18" name="Text 16"/>
          <p:cNvSpPr txBox="1"/>
          <p:nvPr/>
        </p:nvSpPr>
        <p:spPr>
          <a:xfrm>
            <a:off x="6675120" y="2157984"/>
            <a:ext cx="2148840" cy="502920"/>
          </a:xfrm>
          <a:prstGeom prst="rect">
            <a:avLst/>
          </a:prstGeom>
          <a:noFill/>
          <a:ln/>
        </p:spPr>
        <p:txBody>
          <a:bodyPr wrap="square" lIns="0" tIns="0" rIns="0" bIns="0" rtlCol="0" anchor="ctr"/>
          <a:lstStyle/>
          <a:p>
            <a:pPr algn="ctr" indent="0" marL="0">
              <a:buNone/>
            </a:pPr>
            <a:r>
              <a:rPr lang="en-US" sz="1200" b="1" dirty="0">
                <a:solidFill>
                  <a:srgbClr val="444444"/>
                </a:solidFill>
                <a:latin typeface="Microsoft YaHei" pitchFamily="34" charset="0"/>
                <a:ea typeface="Microsoft YaHei" pitchFamily="34" charset="-122"/>
                <a:cs typeface="Microsoft YaHei" pitchFamily="34" charset="-120"/>
              </a:rPr>
              <a:t>“邻里社交”</a:t>
            </a:r>
            <a:endParaRPr lang="en-US" sz="1200" dirty="0"/>
          </a:p>
          <a:p>
            <a:pPr algn="ctr" indent="0" marL="0">
              <a:buNone/>
            </a:pPr>
            <a:r>
              <a:rPr lang="en-US" sz="700" dirty="0">
                <a:solidFill>
                  <a:srgbClr val="777777"/>
                </a:solidFill>
                <a:latin typeface="Arial" pitchFamily="34" charset="0"/>
                <a:ea typeface="Arial" pitchFamily="34" charset="-122"/>
                <a:cs typeface="Arial" pitchFamily="34" charset="-120"/>
              </a:rPr>
              <a:t>Neighborhood interaction</a:t>
            </a:r>
            <a:endParaRPr lang="en-US" sz="1200" dirty="0"/>
          </a:p>
        </p:txBody>
      </p:sp>
      <p:sp>
        <p:nvSpPr>
          <p:cNvPr id="19" name="Text 17"/>
          <p:cNvSpPr txBox="1"/>
          <p:nvPr/>
        </p:nvSpPr>
        <p:spPr>
          <a:xfrm>
            <a:off x="2743200" y="96012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第一阶段：疗愈亚健康人群身心</a:t>
            </a:r>
            <a:endParaRPr lang="en-US" sz="1400" dirty="0"/>
          </a:p>
        </p:txBody>
      </p:sp>
      <p:sp>
        <p:nvSpPr>
          <p:cNvPr id="20" name="Text 18"/>
          <p:cNvSpPr txBox="1"/>
          <p:nvPr/>
        </p:nvSpPr>
        <p:spPr>
          <a:xfrm>
            <a:off x="2743200" y="2148840"/>
            <a:ext cx="3794760" cy="548640"/>
          </a:xfrm>
          <a:prstGeom prst="rect">
            <a:avLst/>
          </a:prstGeom>
          <a:noFill/>
          <a:ln/>
        </p:spPr>
        <p:txBody>
          <a:bodyPr wrap="square" lIns="0" tIns="0" rIns="0" bIns="0" rtlCol="0" anchor="ctr"/>
          <a:lstStyle/>
          <a:p>
            <a:pPr algn="ctr" indent="0" marL="0">
              <a:buNone/>
            </a:pPr>
            <a:r>
              <a:rPr lang="en-US" sz="1400" b="1" dirty="0">
                <a:solidFill>
                  <a:srgbClr val="444444"/>
                </a:solidFill>
                <a:latin typeface="Microsoft YaHei" pitchFamily="34" charset="0"/>
                <a:ea typeface="Microsoft YaHei" pitchFamily="34" charset="-122"/>
                <a:cs typeface="Microsoft YaHei" pitchFamily="34" charset="-120"/>
              </a:rPr>
              <a:t>第二阶段：全龄健身·康养·社交</a:t>
            </a:r>
            <a:endParaRPr lang="en-US" sz="1400" dirty="0"/>
          </a:p>
        </p:txBody>
      </p:sp>
      <p:sp>
        <p:nvSpPr>
          <p:cNvPr id="21" name="Shape 19"/>
          <p:cNvSpPr/>
          <p:nvPr/>
        </p:nvSpPr>
        <p:spPr>
          <a:xfrm>
            <a:off x="3108960" y="1828800"/>
            <a:ext cx="3063240" cy="0"/>
          </a:xfrm>
          <a:prstGeom prst="line">
            <a:avLst/>
          </a:prstGeom>
          <a:noFill/>
          <a:ln w="9525">
            <a:solidFill>
              <a:srgbClr val="A9B4CC"/>
            </a:solidFill>
            <a:prstDash val="dash"/>
          </a:ln>
        </p:spPr>
      </p:sp>
      <p:pic>
        <p:nvPicPr>
          <p:cNvPr id="22" name="Image 0" descr="/home/user/lxfs/pptx_build/figs/ms_4.jpg">    </p:cNvPr>
          <p:cNvPicPr>
            <a:picLocks noChangeAspect="1"/>
          </p:cNvPicPr>
          <p:nvPr/>
        </p:nvPicPr>
        <p:blipFill>
          <a:blip r:embed="rId1"/>
          <a:stretch>
            <a:fillRect/>
          </a:stretch>
        </p:blipFill>
        <p:spPr>
          <a:xfrm>
            <a:off x="457200" y="2880360"/>
            <a:ext cx="2117651" cy="1189885"/>
          </a:xfrm>
          <a:prstGeom prst="rect">
            <a:avLst/>
          </a:prstGeom>
        </p:spPr>
      </p:pic>
      <p:pic>
        <p:nvPicPr>
          <p:cNvPr id="23" name="Image 1" descr="/home/user/lxfs/pptx_build/figs/sz_3.jpg">    </p:cNvPr>
          <p:cNvPicPr>
            <a:picLocks noChangeAspect="1"/>
          </p:cNvPicPr>
          <p:nvPr/>
        </p:nvPicPr>
        <p:blipFill>
          <a:blip r:embed="rId2"/>
          <a:stretch>
            <a:fillRect/>
          </a:stretch>
        </p:blipFill>
        <p:spPr>
          <a:xfrm>
            <a:off x="2648003" y="2880360"/>
            <a:ext cx="945839" cy="1262446"/>
          </a:xfrm>
          <a:prstGeom prst="rect">
            <a:avLst/>
          </a:prstGeom>
        </p:spPr>
      </p:pic>
      <p:pic>
        <p:nvPicPr>
          <p:cNvPr id="24" name="Image 2" descr="/home/user/lxfs/pptx_build/figs/tf_3.jpg">    </p:cNvPr>
          <p:cNvPicPr>
            <a:picLocks noChangeAspect="1"/>
          </p:cNvPicPr>
          <p:nvPr/>
        </p:nvPicPr>
        <p:blipFill>
          <a:blip r:embed="rId3"/>
          <a:stretch>
            <a:fillRect/>
          </a:stretch>
        </p:blipFill>
        <p:spPr>
          <a:xfrm>
            <a:off x="3666994" y="2880360"/>
            <a:ext cx="1002148" cy="1262446"/>
          </a:xfrm>
          <a:prstGeom prst="rect">
            <a:avLst/>
          </a:prstGeom>
        </p:spPr>
      </p:pic>
      <p:pic>
        <p:nvPicPr>
          <p:cNvPr id="25" name="Image 3" descr="/home/user/lxfs/pptx_build/figs/sz_4.jpg">    </p:cNvPr>
          <p:cNvPicPr>
            <a:picLocks noChangeAspect="1"/>
          </p:cNvPicPr>
          <p:nvPr/>
        </p:nvPicPr>
        <p:blipFill>
          <a:blip r:embed="rId4"/>
          <a:stretch>
            <a:fillRect/>
          </a:stretch>
        </p:blipFill>
        <p:spPr>
          <a:xfrm>
            <a:off x="4742294" y="2880360"/>
            <a:ext cx="2117651" cy="1074895"/>
          </a:xfrm>
          <a:prstGeom prst="rect">
            <a:avLst/>
          </a:prstGeom>
        </p:spPr>
      </p:pic>
      <p:pic>
        <p:nvPicPr>
          <p:cNvPr id="26" name="Image 4" descr="/home/user/lxfs/pptx_build/figs/wh_1.jpg">    </p:cNvPr>
          <p:cNvPicPr>
            <a:picLocks noChangeAspect="1"/>
          </p:cNvPicPr>
          <p:nvPr/>
        </p:nvPicPr>
        <p:blipFill>
          <a:blip r:embed="rId5"/>
          <a:stretch>
            <a:fillRect/>
          </a:stretch>
        </p:blipFill>
        <p:spPr>
          <a:xfrm>
            <a:off x="6933097" y="2880360"/>
            <a:ext cx="1890863" cy="1262446"/>
          </a:xfrm>
          <a:prstGeom prst="rect">
            <a:avLst/>
          </a:prstGeom>
        </p:spPr>
      </p:pic>
      <p:sp>
        <p:nvSpPr>
          <p:cNvPr id="27" name="Text 20"/>
          <p:cNvSpPr txBox="1"/>
          <p:nvPr/>
        </p:nvSpPr>
        <p:spPr>
          <a:xfrm>
            <a:off x="457200" y="4370832"/>
            <a:ext cx="83667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随着国家发展和社会进步，健康观念已深入人心，要让居民认识到体育公园的重要性并积极走入公园运动。理论上，本研究丰富川南县域新城高密度居住区体育公园设计研究；实践上，城市层面盘活闲置绿地、补齐城北新城体育设施短板，民生层面满足全龄康养、游乐、运动、社交需求，生态层面削弱主干道噪声粉尘、缓解热岛效应，实现全民健康是本次设计的主要意义。</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Technical Route and Methods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1.4 技术路线与研究方法</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08</a:t>
            </a:r>
            <a:endParaRPr lang="en-US" sz="900" dirty="0"/>
          </a:p>
        </p:txBody>
      </p:sp>
      <p:pic>
        <p:nvPicPr>
          <p:cNvPr id="7" name="Image 0" descr="/home/user/lxfs/pptx_build/figs/route.jpg">    </p:cNvPr>
          <p:cNvPicPr>
            <a:picLocks noChangeAspect="1"/>
          </p:cNvPicPr>
          <p:nvPr/>
        </p:nvPicPr>
        <p:blipFill>
          <a:blip r:embed="rId1"/>
          <a:stretch>
            <a:fillRect/>
          </a:stretch>
        </p:blipFill>
        <p:spPr>
          <a:xfrm>
            <a:off x="411480" y="896112"/>
            <a:ext cx="3703320" cy="3913632"/>
          </a:xfrm>
          <a:prstGeom prst="rect">
            <a:avLst/>
          </a:prstGeom>
        </p:spPr>
      </p:pic>
      <p:sp>
        <p:nvSpPr>
          <p:cNvPr id="8" name="Text 5"/>
          <p:cNvSpPr txBox="1"/>
          <p:nvPr/>
        </p:nvSpPr>
        <p:spPr>
          <a:xfrm>
            <a:off x="4434840" y="914400"/>
            <a:ext cx="2743200" cy="274320"/>
          </a:xfrm>
          <a:prstGeom prst="rect">
            <a:avLst/>
          </a:prstGeom>
          <a:noFill/>
          <a:ln/>
        </p:spPr>
        <p:txBody>
          <a:bodyPr wrap="square" lIns="0" tIns="0" rIns="0" bIns="0" rtlCol="0" anchor="ctr"/>
          <a:lstStyle/>
          <a:p>
            <a:pPr indent="0" marL="0">
              <a:buNone/>
            </a:pPr>
            <a:r>
              <a:rPr lang="en-US" sz="1200" b="1" dirty="0">
                <a:solidFill>
                  <a:srgbClr val="1F3F7A"/>
                </a:solidFill>
                <a:latin typeface="Microsoft YaHei" pitchFamily="34" charset="0"/>
                <a:ea typeface="Microsoft YaHei" pitchFamily="34" charset="-122"/>
                <a:cs typeface="Microsoft YaHei" pitchFamily="34" charset="-120"/>
              </a:rPr>
              <a:t>研究方法</a:t>
            </a:r>
            <a:endParaRPr lang="en-US" sz="1200" dirty="0"/>
          </a:p>
        </p:txBody>
      </p:sp>
      <p:sp>
        <p:nvSpPr>
          <p:cNvPr id="9" name="Shape 6"/>
          <p:cNvSpPr/>
          <p:nvPr/>
        </p:nvSpPr>
        <p:spPr>
          <a:xfrm>
            <a:off x="4434840" y="1280160"/>
            <a:ext cx="4389120" cy="603504"/>
          </a:xfrm>
          <a:prstGeom prst="rect">
            <a:avLst/>
          </a:prstGeom>
          <a:solidFill>
            <a:srgbClr val="EEF2F8"/>
          </a:solidFill>
          <a:ln w="12700">
            <a:solidFill>
              <a:srgbClr val="EEF2F8"/>
            </a:solidFill>
            <a:prstDash val="solid"/>
          </a:ln>
        </p:spPr>
      </p:sp>
      <p:sp>
        <p:nvSpPr>
          <p:cNvPr id="10" name="Shape 7"/>
          <p:cNvSpPr/>
          <p:nvPr/>
        </p:nvSpPr>
        <p:spPr>
          <a:xfrm>
            <a:off x="4526280" y="1408176"/>
            <a:ext cx="960120" cy="347472"/>
          </a:xfrm>
          <a:prstGeom prst="rect">
            <a:avLst/>
          </a:prstGeom>
          <a:solidFill>
            <a:srgbClr val="1F3F7A"/>
          </a:solidFill>
          <a:ln w="12700">
            <a:solidFill>
              <a:srgbClr val="1F3F7A"/>
            </a:solidFill>
            <a:prstDash val="solid"/>
          </a:ln>
        </p:spPr>
      </p:sp>
      <p:sp>
        <p:nvSpPr>
          <p:cNvPr id="11" name="Text 8"/>
          <p:cNvSpPr txBox="1"/>
          <p:nvPr/>
        </p:nvSpPr>
        <p:spPr>
          <a:xfrm>
            <a:off x="4526280" y="1408176"/>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文献查阅法</a:t>
            </a:r>
            <a:endParaRPr lang="en-US" sz="950" dirty="0"/>
          </a:p>
        </p:txBody>
      </p:sp>
      <p:sp>
        <p:nvSpPr>
          <p:cNvPr id="12" name="Text 9"/>
          <p:cNvSpPr txBox="1"/>
          <p:nvPr/>
        </p:nvSpPr>
        <p:spPr>
          <a:xfrm>
            <a:off x="5577840" y="1325880"/>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检索知网、万方等，研读《公园设计规范》《居住区规划设计标准》及全龄景观专著</a:t>
            </a:r>
            <a:endParaRPr lang="en-US" sz="850" dirty="0"/>
          </a:p>
        </p:txBody>
      </p:sp>
      <p:sp>
        <p:nvSpPr>
          <p:cNvPr id="13" name="Shape 10"/>
          <p:cNvSpPr/>
          <p:nvPr/>
        </p:nvSpPr>
        <p:spPr>
          <a:xfrm>
            <a:off x="4434840" y="1975104"/>
            <a:ext cx="4389120" cy="603504"/>
          </a:xfrm>
          <a:prstGeom prst="rect">
            <a:avLst/>
          </a:prstGeom>
          <a:solidFill>
            <a:srgbClr val="F6F7FA"/>
          </a:solidFill>
          <a:ln w="12700">
            <a:solidFill>
              <a:srgbClr val="F6F7FA"/>
            </a:solidFill>
            <a:prstDash val="solid"/>
          </a:ln>
        </p:spPr>
      </p:sp>
      <p:sp>
        <p:nvSpPr>
          <p:cNvPr id="14" name="Shape 11"/>
          <p:cNvSpPr/>
          <p:nvPr/>
        </p:nvSpPr>
        <p:spPr>
          <a:xfrm>
            <a:off x="4526280" y="2103120"/>
            <a:ext cx="960120" cy="347472"/>
          </a:xfrm>
          <a:prstGeom prst="rect">
            <a:avLst/>
          </a:prstGeom>
          <a:solidFill>
            <a:srgbClr val="1F3F7A"/>
          </a:solidFill>
          <a:ln w="12700">
            <a:solidFill>
              <a:srgbClr val="1F3F7A"/>
            </a:solidFill>
            <a:prstDash val="solid"/>
          </a:ln>
        </p:spPr>
      </p:sp>
      <p:sp>
        <p:nvSpPr>
          <p:cNvPr id="15" name="Text 12"/>
          <p:cNvSpPr txBox="1"/>
          <p:nvPr/>
        </p:nvSpPr>
        <p:spPr>
          <a:xfrm>
            <a:off x="4526280" y="2103120"/>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实地调研法</a:t>
            </a:r>
            <a:endParaRPr lang="en-US" sz="950" dirty="0"/>
          </a:p>
        </p:txBody>
      </p:sp>
      <p:sp>
        <p:nvSpPr>
          <p:cNvPr id="16" name="Text 13"/>
          <p:cNvSpPr txBox="1"/>
          <p:nvPr/>
        </p:nvSpPr>
        <p:spPr>
          <a:xfrm>
            <a:off x="5577840" y="2020824"/>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现场踏勘地形、道路、住宅分布、植被；走访小区观察居民户外行为</a:t>
            </a:r>
            <a:endParaRPr lang="en-US" sz="850" dirty="0"/>
          </a:p>
        </p:txBody>
      </p:sp>
      <p:sp>
        <p:nvSpPr>
          <p:cNvPr id="17" name="Shape 14"/>
          <p:cNvSpPr/>
          <p:nvPr/>
        </p:nvSpPr>
        <p:spPr>
          <a:xfrm>
            <a:off x="4434840" y="2670048"/>
            <a:ext cx="4389120" cy="603504"/>
          </a:xfrm>
          <a:prstGeom prst="rect">
            <a:avLst/>
          </a:prstGeom>
          <a:solidFill>
            <a:srgbClr val="EEF2F8"/>
          </a:solidFill>
          <a:ln w="12700">
            <a:solidFill>
              <a:srgbClr val="EEF2F8"/>
            </a:solidFill>
            <a:prstDash val="solid"/>
          </a:ln>
        </p:spPr>
      </p:sp>
      <p:sp>
        <p:nvSpPr>
          <p:cNvPr id="18" name="Shape 15"/>
          <p:cNvSpPr/>
          <p:nvPr/>
        </p:nvSpPr>
        <p:spPr>
          <a:xfrm>
            <a:off x="4526280" y="2798064"/>
            <a:ext cx="960120" cy="347472"/>
          </a:xfrm>
          <a:prstGeom prst="rect">
            <a:avLst/>
          </a:prstGeom>
          <a:solidFill>
            <a:srgbClr val="1F3F7A"/>
          </a:solidFill>
          <a:ln w="12700">
            <a:solidFill>
              <a:srgbClr val="1F3F7A"/>
            </a:solidFill>
            <a:prstDash val="solid"/>
          </a:ln>
        </p:spPr>
      </p:sp>
      <p:sp>
        <p:nvSpPr>
          <p:cNvPr id="19" name="Text 16"/>
          <p:cNvSpPr txBox="1"/>
          <p:nvPr/>
        </p:nvSpPr>
        <p:spPr>
          <a:xfrm>
            <a:off x="4526280" y="2798064"/>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问卷调查法</a:t>
            </a:r>
            <a:endParaRPr lang="en-US" sz="950" dirty="0"/>
          </a:p>
        </p:txBody>
      </p:sp>
      <p:sp>
        <p:nvSpPr>
          <p:cNvPr id="20" name="Text 17"/>
          <p:cNvSpPr txBox="1"/>
          <p:nvPr/>
        </p:nvSpPr>
        <p:spPr>
          <a:xfrm>
            <a:off x="5577840" y="2715768"/>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面向老人、家长、青少年发放问卷，统计场地、设施、风格需求偏好</a:t>
            </a:r>
            <a:endParaRPr lang="en-US" sz="850" dirty="0"/>
          </a:p>
        </p:txBody>
      </p:sp>
      <p:sp>
        <p:nvSpPr>
          <p:cNvPr id="21" name="Shape 18"/>
          <p:cNvSpPr/>
          <p:nvPr/>
        </p:nvSpPr>
        <p:spPr>
          <a:xfrm>
            <a:off x="4434840" y="3364992"/>
            <a:ext cx="4389120" cy="603504"/>
          </a:xfrm>
          <a:prstGeom prst="rect">
            <a:avLst/>
          </a:prstGeom>
          <a:solidFill>
            <a:srgbClr val="F6F7FA"/>
          </a:solidFill>
          <a:ln w="12700">
            <a:solidFill>
              <a:srgbClr val="F6F7FA"/>
            </a:solidFill>
            <a:prstDash val="solid"/>
          </a:ln>
        </p:spPr>
      </p:sp>
      <p:sp>
        <p:nvSpPr>
          <p:cNvPr id="22" name="Shape 19"/>
          <p:cNvSpPr/>
          <p:nvPr/>
        </p:nvSpPr>
        <p:spPr>
          <a:xfrm>
            <a:off x="4526280" y="3493008"/>
            <a:ext cx="960120" cy="347472"/>
          </a:xfrm>
          <a:prstGeom prst="rect">
            <a:avLst/>
          </a:prstGeom>
          <a:solidFill>
            <a:srgbClr val="1F3F7A"/>
          </a:solidFill>
          <a:ln w="12700">
            <a:solidFill>
              <a:srgbClr val="1F3F7A"/>
            </a:solidFill>
            <a:prstDash val="solid"/>
          </a:ln>
        </p:spPr>
      </p:sp>
      <p:sp>
        <p:nvSpPr>
          <p:cNvPr id="23" name="Text 20"/>
          <p:cNvSpPr txBox="1"/>
          <p:nvPr/>
        </p:nvSpPr>
        <p:spPr>
          <a:xfrm>
            <a:off x="4526280" y="3493008"/>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案例分析法</a:t>
            </a:r>
            <a:endParaRPr lang="en-US" sz="950" dirty="0"/>
          </a:p>
        </p:txBody>
      </p:sp>
      <p:sp>
        <p:nvSpPr>
          <p:cNvPr id="24" name="Text 21"/>
          <p:cNvSpPr txBox="1"/>
          <p:nvPr/>
        </p:nvSpPr>
        <p:spPr>
          <a:xfrm>
            <a:off x="5577840" y="3410712"/>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收集西南地区居住区综合公园案例，对比布局、分区、植物配置</a:t>
            </a:r>
            <a:endParaRPr lang="en-US" sz="850" dirty="0"/>
          </a:p>
        </p:txBody>
      </p:sp>
      <p:sp>
        <p:nvSpPr>
          <p:cNvPr id="25" name="Shape 22"/>
          <p:cNvSpPr/>
          <p:nvPr/>
        </p:nvSpPr>
        <p:spPr>
          <a:xfrm>
            <a:off x="4434840" y="4059936"/>
            <a:ext cx="4389120" cy="603504"/>
          </a:xfrm>
          <a:prstGeom prst="rect">
            <a:avLst/>
          </a:prstGeom>
          <a:solidFill>
            <a:srgbClr val="EEF2F8"/>
          </a:solidFill>
          <a:ln w="12700">
            <a:solidFill>
              <a:srgbClr val="EEF2F8"/>
            </a:solidFill>
            <a:prstDash val="solid"/>
          </a:ln>
        </p:spPr>
      </p:sp>
      <p:sp>
        <p:nvSpPr>
          <p:cNvPr id="26" name="Shape 23"/>
          <p:cNvSpPr/>
          <p:nvPr/>
        </p:nvSpPr>
        <p:spPr>
          <a:xfrm>
            <a:off x="4526280" y="4187952"/>
            <a:ext cx="960120" cy="347472"/>
          </a:xfrm>
          <a:prstGeom prst="rect">
            <a:avLst/>
          </a:prstGeom>
          <a:solidFill>
            <a:srgbClr val="1F3F7A"/>
          </a:solidFill>
          <a:ln w="12700">
            <a:solidFill>
              <a:srgbClr val="1F3F7A"/>
            </a:solidFill>
            <a:prstDash val="solid"/>
          </a:ln>
        </p:spPr>
      </p:sp>
      <p:sp>
        <p:nvSpPr>
          <p:cNvPr id="27" name="Text 24"/>
          <p:cNvSpPr txBox="1"/>
          <p:nvPr/>
        </p:nvSpPr>
        <p:spPr>
          <a:xfrm>
            <a:off x="4526280" y="4187952"/>
            <a:ext cx="960120" cy="347472"/>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图解分析法</a:t>
            </a:r>
            <a:endParaRPr lang="en-US" sz="950" dirty="0"/>
          </a:p>
        </p:txBody>
      </p:sp>
      <p:sp>
        <p:nvSpPr>
          <p:cNvPr id="28" name="Text 25"/>
          <p:cNvSpPr txBox="1"/>
          <p:nvPr/>
        </p:nvSpPr>
        <p:spPr>
          <a:xfrm>
            <a:off x="5577840" y="4105656"/>
            <a:ext cx="3200400" cy="548640"/>
          </a:xfrm>
          <a:prstGeom prst="rect">
            <a:avLst/>
          </a:prstGeom>
          <a:noFill/>
          <a:ln/>
        </p:spPr>
        <p:txBody>
          <a:bodyPr wrap="square" lIns="25400" tIns="25400" rIns="25400" bIns="25400" rtlCol="0" anchor="ctr"/>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CAD、GIS完成区位、交通、人流、日照、用地分析，推导总平面</a:t>
            </a:r>
            <a:endParaRPr lang="en-US" sz="850" dirty="0"/>
          </a:p>
        </p:txBody>
      </p:sp>
      <p:sp>
        <p:nvSpPr>
          <p:cNvPr id="29" name="Text 26"/>
          <p:cNvSpPr txBox="1"/>
          <p:nvPr/>
        </p:nvSpPr>
        <p:spPr>
          <a:xfrm>
            <a:off x="4434840" y="4754880"/>
            <a:ext cx="4389120" cy="228600"/>
          </a:xfrm>
          <a:prstGeom prst="rect">
            <a:avLst/>
          </a:prstGeom>
          <a:noFill/>
          <a:ln/>
        </p:spPr>
        <p:txBody>
          <a:bodyPr wrap="square" lIns="25400" tIns="25400" rIns="25400" bIns="25400" rtlCol="0" anchor="t"/>
          <a:lstStyle/>
          <a:p>
            <a:pP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技术路线：提出问题—理论支撑—分析方案—解决问题—总结问题</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Key Concepts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1.5 相关概念</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09</a:t>
            </a:r>
            <a:endParaRPr lang="en-US" sz="900" dirty="0"/>
          </a:p>
        </p:txBody>
      </p:sp>
      <p:pic>
        <p:nvPicPr>
          <p:cNvPr id="7" name="Image 0" descr="/home/user/lxfs/pptx_build/figs/tf_4.jpg">    </p:cNvPr>
          <p:cNvPicPr>
            <a:picLocks noChangeAspect="1"/>
          </p:cNvPicPr>
          <p:nvPr/>
        </p:nvPicPr>
        <p:blipFill>
          <a:blip r:embed="rId1"/>
          <a:stretch>
            <a:fillRect/>
          </a:stretch>
        </p:blipFill>
        <p:spPr>
          <a:xfrm>
            <a:off x="888055" y="932688"/>
            <a:ext cx="1835770" cy="1371600"/>
          </a:xfrm>
          <a:prstGeom prst="rect">
            <a:avLst/>
          </a:prstGeom>
        </p:spPr>
      </p:pic>
      <p:sp>
        <p:nvSpPr>
          <p:cNvPr id="8" name="Shape 5"/>
          <p:cNvSpPr/>
          <p:nvPr/>
        </p:nvSpPr>
        <p:spPr>
          <a:xfrm>
            <a:off x="457200" y="2304288"/>
            <a:ext cx="2697480" cy="384048"/>
          </a:xfrm>
          <a:prstGeom prst="rect">
            <a:avLst/>
          </a:prstGeom>
          <a:solidFill>
            <a:srgbClr val="1F3F7A"/>
          </a:solidFill>
          <a:ln w="12700">
            <a:solidFill>
              <a:srgbClr val="1F3F7A"/>
            </a:solidFill>
            <a:prstDash val="solid"/>
          </a:ln>
        </p:spPr>
      </p:sp>
      <p:sp>
        <p:nvSpPr>
          <p:cNvPr id="9" name="Text 6"/>
          <p:cNvSpPr txBox="1"/>
          <p:nvPr/>
        </p:nvSpPr>
        <p:spPr>
          <a:xfrm>
            <a:off x="457200" y="2304288"/>
            <a:ext cx="2697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体育公园</a:t>
            </a:r>
            <a:endParaRPr lang="en-US" sz="1100" dirty="0"/>
          </a:p>
        </p:txBody>
      </p:sp>
      <p:sp>
        <p:nvSpPr>
          <p:cNvPr id="10" name="Shape 7"/>
          <p:cNvSpPr/>
          <p:nvPr/>
        </p:nvSpPr>
        <p:spPr>
          <a:xfrm>
            <a:off x="457200" y="2688336"/>
            <a:ext cx="2697480" cy="2011680"/>
          </a:xfrm>
          <a:prstGeom prst="rect">
            <a:avLst/>
          </a:prstGeom>
          <a:solidFill>
            <a:srgbClr val="EEF2F8"/>
          </a:solidFill>
          <a:ln w="12700">
            <a:solidFill>
              <a:srgbClr val="EEF2F8"/>
            </a:solidFill>
            <a:prstDash val="solid"/>
          </a:ln>
        </p:spPr>
      </p:sp>
      <p:sp>
        <p:nvSpPr>
          <p:cNvPr id="11" name="Text 8"/>
          <p:cNvSpPr txBox="1"/>
          <p:nvPr/>
        </p:nvSpPr>
        <p:spPr>
          <a:xfrm>
            <a:off x="530352" y="2743200"/>
            <a:ext cx="256032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依据七部委《关于推进体育公园建设的指导意见》：以体育健身为核心要素、与自然生态融合的城市绿色公共空间，兼具生态美化、全民健身、休闲游憩、防灾避险等功能，绿化用地占比不低于65%。社区型综合体育公园依托城市集中绿地建设，面向周边成片居住区开放，区别于小区健身角和单一竞技场馆。</a:t>
            </a:r>
            <a:endParaRPr lang="en-US" sz="850" dirty="0"/>
          </a:p>
        </p:txBody>
      </p:sp>
      <p:pic>
        <p:nvPicPr>
          <p:cNvPr id="12" name="Image 1" descr="/home/user/lxfs/pptx_build/figs/ms_4.jpg">    </p:cNvPr>
          <p:cNvPicPr>
            <a:picLocks noChangeAspect="1"/>
          </p:cNvPicPr>
          <p:nvPr/>
        </p:nvPicPr>
        <p:blipFill>
          <a:blip r:embed="rId2"/>
          <a:stretch>
            <a:fillRect/>
          </a:stretch>
        </p:blipFill>
        <p:spPr>
          <a:xfrm>
            <a:off x="3420055" y="932688"/>
            <a:ext cx="2441050" cy="1371600"/>
          </a:xfrm>
          <a:prstGeom prst="rect">
            <a:avLst/>
          </a:prstGeom>
        </p:spPr>
      </p:pic>
      <p:sp>
        <p:nvSpPr>
          <p:cNvPr id="13" name="Shape 9"/>
          <p:cNvSpPr/>
          <p:nvPr/>
        </p:nvSpPr>
        <p:spPr>
          <a:xfrm>
            <a:off x="3291840" y="2304288"/>
            <a:ext cx="2697480" cy="384048"/>
          </a:xfrm>
          <a:prstGeom prst="rect">
            <a:avLst/>
          </a:prstGeom>
          <a:solidFill>
            <a:srgbClr val="E07B2A"/>
          </a:solidFill>
          <a:ln w="12700">
            <a:solidFill>
              <a:srgbClr val="E07B2A"/>
            </a:solidFill>
            <a:prstDash val="solid"/>
          </a:ln>
        </p:spPr>
      </p:sp>
      <p:sp>
        <p:nvSpPr>
          <p:cNvPr id="14" name="Text 10"/>
          <p:cNvSpPr txBox="1"/>
          <p:nvPr/>
        </p:nvSpPr>
        <p:spPr>
          <a:xfrm>
            <a:off x="3291840" y="2304288"/>
            <a:ext cx="2697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全民健康视角</a:t>
            </a:r>
            <a:endParaRPr lang="en-US" sz="1100" dirty="0"/>
          </a:p>
        </p:txBody>
      </p:sp>
      <p:sp>
        <p:nvSpPr>
          <p:cNvPr id="15" name="Shape 11"/>
          <p:cNvSpPr/>
          <p:nvPr/>
        </p:nvSpPr>
        <p:spPr>
          <a:xfrm>
            <a:off x="3291840" y="2688336"/>
            <a:ext cx="2697480" cy="2011680"/>
          </a:xfrm>
          <a:prstGeom prst="rect">
            <a:avLst/>
          </a:prstGeom>
          <a:solidFill>
            <a:srgbClr val="EEF2F8"/>
          </a:solidFill>
          <a:ln w="12700">
            <a:solidFill>
              <a:srgbClr val="EEF2F8"/>
            </a:solidFill>
            <a:prstDash val="solid"/>
          </a:ln>
        </p:spPr>
      </p:sp>
      <p:sp>
        <p:nvSpPr>
          <p:cNvPr id="16" name="Text 12"/>
          <p:cNvSpPr txBox="1"/>
          <p:nvPr/>
        </p:nvSpPr>
        <p:spPr>
          <a:xfrm>
            <a:off x="3364992" y="2743200"/>
            <a:ext cx="256032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以全民健康为核心导向，将全民健身理念融入公园整体空间设计，兼顾婴幼儿、学龄儿童、中青年、老年人、残障群体的生理运动需求；在场地尺度、运动设施、无障碍通行、休憩配套上分层适配，划分动静分区，实现“人人可运动、处处能休憩”。</a:t>
            </a:r>
            <a:endParaRPr lang="en-US" sz="850" dirty="0"/>
          </a:p>
        </p:txBody>
      </p:sp>
      <p:pic>
        <p:nvPicPr>
          <p:cNvPr id="17" name="Image 2" descr="/home/user/lxfs/pptx_build/figs/sz_3.jpg">    </p:cNvPr>
          <p:cNvPicPr>
            <a:picLocks noChangeAspect="1"/>
          </p:cNvPicPr>
          <p:nvPr/>
        </p:nvPicPr>
        <p:blipFill>
          <a:blip r:embed="rId3"/>
          <a:stretch>
            <a:fillRect/>
          </a:stretch>
        </p:blipFill>
        <p:spPr>
          <a:xfrm>
            <a:off x="6961411" y="932688"/>
            <a:ext cx="1027618" cy="1371600"/>
          </a:xfrm>
          <a:prstGeom prst="rect">
            <a:avLst/>
          </a:prstGeom>
        </p:spPr>
      </p:pic>
      <p:sp>
        <p:nvSpPr>
          <p:cNvPr id="18" name="Shape 13"/>
          <p:cNvSpPr/>
          <p:nvPr/>
        </p:nvSpPr>
        <p:spPr>
          <a:xfrm>
            <a:off x="6126480" y="2304288"/>
            <a:ext cx="2697480" cy="384048"/>
          </a:xfrm>
          <a:prstGeom prst="rect">
            <a:avLst/>
          </a:prstGeom>
          <a:solidFill>
            <a:srgbClr val="4E8A3E"/>
          </a:solidFill>
          <a:ln w="12700">
            <a:solidFill>
              <a:srgbClr val="4E8A3E"/>
            </a:solidFill>
            <a:prstDash val="solid"/>
          </a:ln>
        </p:spPr>
      </p:sp>
      <p:sp>
        <p:nvSpPr>
          <p:cNvPr id="19" name="Text 14"/>
          <p:cNvSpPr txBox="1"/>
          <p:nvPr/>
        </p:nvSpPr>
        <p:spPr>
          <a:xfrm>
            <a:off x="6126480" y="2304288"/>
            <a:ext cx="2697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全龄友好型景观</a:t>
            </a:r>
            <a:endParaRPr lang="en-US" sz="1100" dirty="0"/>
          </a:p>
        </p:txBody>
      </p:sp>
      <p:sp>
        <p:nvSpPr>
          <p:cNvPr id="20" name="Shape 15"/>
          <p:cNvSpPr/>
          <p:nvPr/>
        </p:nvSpPr>
        <p:spPr>
          <a:xfrm>
            <a:off x="6126480" y="2688336"/>
            <a:ext cx="2697480" cy="2011680"/>
          </a:xfrm>
          <a:prstGeom prst="rect">
            <a:avLst/>
          </a:prstGeom>
          <a:solidFill>
            <a:srgbClr val="EEF2F8"/>
          </a:solidFill>
          <a:ln w="12700">
            <a:solidFill>
              <a:srgbClr val="EEF2F8"/>
            </a:solidFill>
            <a:prstDash val="solid"/>
          </a:ln>
        </p:spPr>
      </p:sp>
      <p:sp>
        <p:nvSpPr>
          <p:cNvPr id="21" name="Text 16"/>
          <p:cNvSpPr txBox="1"/>
          <p:nvPr/>
        </p:nvSpPr>
        <p:spPr>
          <a:xfrm>
            <a:off x="6199632" y="2743200"/>
            <a:ext cx="256032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在公园空间布局、设施配置、尺度设计上兼顾不同人群生理与行为需求，分区设置适配活动场地，完善无障碍通行、休憩、安全防护配套，实现一座公园满足全年龄段居民日常户外需求。</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Research Status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457200" y="932688"/>
            <a:ext cx="731520" cy="274320"/>
          </a:xfrm>
          <a:prstGeom prst="rect">
            <a:avLst/>
          </a:prstGeom>
          <a:solidFill>
            <a:srgbClr val="1F3F7A"/>
          </a:solidFill>
          <a:ln w="12700">
            <a:solidFill>
              <a:srgbClr val="1F3F7A"/>
            </a:solidFill>
            <a:prstDash val="solid"/>
          </a:ln>
        </p:spPr>
      </p:sp>
      <p:sp>
        <p:nvSpPr>
          <p:cNvPr id="8" name="Text 6"/>
          <p:cNvSpPr txBox="1"/>
          <p:nvPr/>
        </p:nvSpPr>
        <p:spPr>
          <a:xfrm>
            <a:off x="45720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国外</a:t>
            </a:r>
            <a:endParaRPr lang="en-US" sz="1000" dirty="0"/>
          </a:p>
        </p:txBody>
      </p:sp>
      <p:sp>
        <p:nvSpPr>
          <p:cNvPr id="9" name="Text 7"/>
          <p:cNvSpPr txBox="1"/>
          <p:nvPr/>
        </p:nvSpPr>
        <p:spPr>
          <a:xfrm>
            <a:off x="45720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奥姆斯特德城市公园体系提出“绿地+运动”融合模式；简·雅各布斯强调高密度社区分散布局中小型运动场地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德国分级体育绿地规划；法国社区体育公园24小时开放与智能预约；丹麦、温哥华连续健身绿道网络</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日本居住区体育公园分龄分区、全域无障碍、低维护乡土绿化与简易雨水调蓄；新加坡Active SG社区体育公园：模块化球类场地、全天候遮阳健身区、多层次林下空间</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研究热点：体育公园可达性与配套对全年龄段日常运动量、慢性病与焦虑发生率的正向影响（Kaczynski et al., 2008；Warburton et al., 2006；WHO, 2022）</a:t>
            </a:r>
            <a:endParaRPr lang="en-US" sz="850" dirty="0"/>
          </a:p>
        </p:txBody>
      </p:sp>
      <p:sp>
        <p:nvSpPr>
          <p:cNvPr id="10" name="Shape 8"/>
          <p:cNvSpPr/>
          <p:nvPr/>
        </p:nvSpPr>
        <p:spPr>
          <a:xfrm>
            <a:off x="4754880" y="932688"/>
            <a:ext cx="731520" cy="274320"/>
          </a:xfrm>
          <a:prstGeom prst="rect">
            <a:avLst/>
          </a:prstGeom>
          <a:solidFill>
            <a:srgbClr val="E07B2A"/>
          </a:solidFill>
          <a:ln w="12700">
            <a:solidFill>
              <a:srgbClr val="E07B2A"/>
            </a:solidFill>
            <a:prstDash val="solid"/>
          </a:ln>
        </p:spPr>
      </p:sp>
      <p:sp>
        <p:nvSpPr>
          <p:cNvPr id="11" name="Text 9"/>
          <p:cNvSpPr txBox="1"/>
          <p:nvPr/>
        </p:nvSpPr>
        <p:spPr>
          <a:xfrm>
            <a:off x="4754880" y="932688"/>
            <a:ext cx="7315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国内</a:t>
            </a:r>
            <a:endParaRPr lang="en-US" sz="1000" dirty="0"/>
          </a:p>
        </p:txBody>
      </p:sp>
      <p:sp>
        <p:nvSpPr>
          <p:cNvPr id="12" name="Text 10"/>
          <p:cNvSpPr txBox="1"/>
          <p:nvPr/>
        </p:nvSpPr>
        <p:spPr>
          <a:xfrm>
            <a:off x="4754880" y="1261872"/>
            <a:ext cx="4069080" cy="201168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全民健身与15分钟社区生活圈推进下，体育公园成为风景园林热点方向</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规范出台：《公园设计规范》GB 51192-2016、《社区体育公园规划建设指南》T/CSUS 18-2021</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成渝西南片区实践：浅丘地貌土方优化、乡土植物应用、海绵设施整合、动静分区</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现有研究多聚焦大中型城市综合体育公园，面向县域新城尺度、服务高密度居住区的中小型体育公园研究薄弱，缺乏适配县域人群结构、建设投资条件的成熟设计范式——本研究的探索空间</a:t>
            </a:r>
            <a:endParaRPr lang="en-US" sz="850" dirty="0"/>
          </a:p>
        </p:txBody>
      </p:sp>
      <p:pic>
        <p:nvPicPr>
          <p:cNvPr id="13" name="Image 0" descr="/home/user/lxfs/pptx_build/figs/wh_1.jpg">    </p:cNvPr>
          <p:cNvPicPr>
            <a:picLocks noChangeAspect="1"/>
          </p:cNvPicPr>
          <p:nvPr/>
        </p:nvPicPr>
        <p:blipFill>
          <a:blip r:embed="rId1"/>
          <a:stretch>
            <a:fillRect/>
          </a:stretch>
        </p:blipFill>
        <p:spPr>
          <a:xfrm>
            <a:off x="457200" y="3154680"/>
            <a:ext cx="2011680" cy="1343110"/>
          </a:xfrm>
          <a:prstGeom prst="rect">
            <a:avLst/>
          </a:prstGeom>
        </p:spPr>
      </p:pic>
      <p:sp>
        <p:nvSpPr>
          <p:cNvPr id="14" name="Text 11"/>
          <p:cNvSpPr txBox="1"/>
          <p:nvPr/>
        </p:nvSpPr>
        <p:spPr>
          <a:xfrm>
            <a:off x="457200" y="451607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全天候遮阳运动空间（芜湖）</a:t>
            </a:r>
            <a:endParaRPr lang="en-US" sz="800" dirty="0"/>
          </a:p>
        </p:txBody>
      </p:sp>
      <p:pic>
        <p:nvPicPr>
          <p:cNvPr id="15" name="Image 1" descr="/home/user/lxfs/pptx_build/figs/sz_1.jpg">    </p:cNvPr>
          <p:cNvPicPr>
            <a:picLocks noChangeAspect="1"/>
          </p:cNvPicPr>
          <p:nvPr/>
        </p:nvPicPr>
        <p:blipFill>
          <a:blip r:embed="rId2"/>
          <a:stretch>
            <a:fillRect/>
          </a:stretch>
        </p:blipFill>
        <p:spPr>
          <a:xfrm>
            <a:off x="2935519" y="3154680"/>
            <a:ext cx="1297858" cy="1371600"/>
          </a:xfrm>
          <a:prstGeom prst="rect">
            <a:avLst/>
          </a:prstGeom>
        </p:spPr>
      </p:pic>
      <p:sp>
        <p:nvSpPr>
          <p:cNvPr id="16" name="Text 12"/>
          <p:cNvSpPr txBox="1"/>
          <p:nvPr/>
        </p:nvSpPr>
        <p:spPr>
          <a:xfrm>
            <a:off x="2578608"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极限运动场地（苏州相城）</a:t>
            </a:r>
            <a:endParaRPr lang="en-US" sz="800" dirty="0"/>
          </a:p>
        </p:txBody>
      </p:sp>
      <p:pic>
        <p:nvPicPr>
          <p:cNvPr id="17" name="Image 2" descr="/home/user/lxfs/pptx_build/figs/ms_2.jpg">    </p:cNvPr>
          <p:cNvPicPr>
            <a:picLocks noChangeAspect="1"/>
          </p:cNvPicPr>
          <p:nvPr/>
        </p:nvPicPr>
        <p:blipFill>
          <a:blip r:embed="rId3"/>
          <a:stretch>
            <a:fillRect/>
          </a:stretch>
        </p:blipFill>
        <p:spPr>
          <a:xfrm>
            <a:off x="4700016" y="3154680"/>
            <a:ext cx="2011680" cy="1132185"/>
          </a:xfrm>
          <a:prstGeom prst="rect">
            <a:avLst/>
          </a:prstGeom>
        </p:spPr>
      </p:pic>
      <p:sp>
        <p:nvSpPr>
          <p:cNvPr id="18" name="Text 13"/>
          <p:cNvSpPr txBox="1"/>
          <p:nvPr/>
        </p:nvSpPr>
        <p:spPr>
          <a:xfrm>
            <a:off x="4700016" y="4305153"/>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留白绿地新建公园（成都牧山）</a:t>
            </a:r>
            <a:endParaRPr lang="en-US" sz="800" dirty="0"/>
          </a:p>
        </p:txBody>
      </p:sp>
      <p:pic>
        <p:nvPicPr>
          <p:cNvPr id="19" name="Image 3" descr="/home/user/lxfs/pptx_build/figs/tf_3.jpg">    </p:cNvPr>
          <p:cNvPicPr>
            <a:picLocks noChangeAspect="1"/>
          </p:cNvPicPr>
          <p:nvPr/>
        </p:nvPicPr>
        <p:blipFill>
          <a:blip r:embed="rId4"/>
          <a:stretch>
            <a:fillRect/>
          </a:stretch>
        </p:blipFill>
        <p:spPr>
          <a:xfrm>
            <a:off x="7282866" y="3154680"/>
            <a:ext cx="1088796" cy="1371600"/>
          </a:xfrm>
          <a:prstGeom prst="rect">
            <a:avLst/>
          </a:prstGeom>
        </p:spPr>
      </p:pic>
      <p:sp>
        <p:nvSpPr>
          <p:cNvPr id="20" name="Text 14"/>
          <p:cNvSpPr txBox="1"/>
          <p:nvPr/>
        </p:nvSpPr>
        <p:spPr>
          <a:xfrm>
            <a:off x="6821424" y="4544568"/>
            <a:ext cx="20116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林荫健身步道（成都天府公园西区）</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Development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1.6 国内外研究现状——发展脉络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11</a:t>
            </a:r>
            <a:endParaRPr lang="en-US" sz="900" dirty="0"/>
          </a:p>
        </p:txBody>
      </p:sp>
      <p:sp>
        <p:nvSpPr>
          <p:cNvPr id="7" name="Shape 5"/>
          <p:cNvSpPr/>
          <p:nvPr/>
        </p:nvSpPr>
        <p:spPr>
          <a:xfrm rot="20757825">
            <a:off x="424815" y="2551176"/>
            <a:ext cx="8294369" cy="201168"/>
          </a:xfrm>
          <a:prstGeom prst="rect">
            <a:avLst/>
          </a:prstGeom>
          <a:solidFill>
            <a:srgbClr val="C9D6C1"/>
          </a:solidFill>
          <a:ln w="12700">
            <a:solidFill>
              <a:srgbClr val="C9D6C1"/>
            </a:solidFill>
            <a:prstDash val="solid"/>
          </a:ln>
        </p:spPr>
      </p:sp>
      <p:sp>
        <p:nvSpPr>
          <p:cNvPr id="8" name="Shape 6"/>
          <p:cNvSpPr/>
          <p:nvPr/>
        </p:nvSpPr>
        <p:spPr>
          <a:xfrm rot="20757825">
            <a:off x="424815" y="2624328"/>
            <a:ext cx="8294369" cy="54864"/>
          </a:xfrm>
          <a:prstGeom prst="rect">
            <a:avLst/>
          </a:prstGeom>
          <a:solidFill>
            <a:srgbClr val="4E6B3A"/>
          </a:solidFill>
          <a:ln w="12700">
            <a:solidFill>
              <a:srgbClr val="4E6B3A"/>
            </a:solidFill>
            <a:prstDash val="solid"/>
          </a:ln>
        </p:spPr>
      </p:sp>
      <p:sp>
        <p:nvSpPr>
          <p:cNvPr id="9" name="Text 7"/>
          <p:cNvSpPr txBox="1"/>
          <p:nvPr/>
        </p:nvSpPr>
        <p:spPr>
          <a:xfrm rot="20757825">
            <a:off x="793699" y="2979115"/>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萌芽期</a:t>
            </a:r>
            <a:endParaRPr lang="en-US" sz="900" dirty="0"/>
          </a:p>
        </p:txBody>
      </p:sp>
      <p:sp>
        <p:nvSpPr>
          <p:cNvPr id="10" name="Text 8"/>
          <p:cNvSpPr txBox="1"/>
          <p:nvPr/>
        </p:nvSpPr>
        <p:spPr>
          <a:xfrm rot="20757825">
            <a:off x="3931920" y="2194560"/>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发展期</a:t>
            </a:r>
            <a:endParaRPr lang="en-US" sz="900" dirty="0"/>
          </a:p>
        </p:txBody>
      </p:sp>
      <p:sp>
        <p:nvSpPr>
          <p:cNvPr id="11" name="Text 9"/>
          <p:cNvSpPr txBox="1"/>
          <p:nvPr/>
        </p:nvSpPr>
        <p:spPr>
          <a:xfrm rot="20757825">
            <a:off x="6989674" y="1430122"/>
            <a:ext cx="1280160" cy="274320"/>
          </a:xfrm>
          <a:prstGeom prst="rect">
            <a:avLst/>
          </a:prstGeom>
          <a:noFill/>
          <a:ln/>
        </p:spPr>
        <p:txBody>
          <a:bodyPr wrap="square" lIns="0" tIns="0" rIns="0" bIns="0" rtlCol="0" anchor="ctr"/>
          <a:lstStyle/>
          <a:p>
            <a:pPr algn="ctr" indent="0" marL="0">
              <a:buNone/>
            </a:pPr>
            <a:r>
              <a:rPr lang="en-US" sz="900" b="1" dirty="0">
                <a:solidFill>
                  <a:srgbClr val="4E6B3A"/>
                </a:solidFill>
                <a:latin typeface="Microsoft YaHei" pitchFamily="34" charset="0"/>
                <a:ea typeface="Microsoft YaHei" pitchFamily="34" charset="-122"/>
                <a:cs typeface="Microsoft YaHei" pitchFamily="34" charset="-120"/>
              </a:rPr>
              <a:t>创新成熟期</a:t>
            </a:r>
            <a:endParaRPr lang="en-US" sz="900" dirty="0"/>
          </a:p>
        </p:txBody>
      </p:sp>
      <p:sp>
        <p:nvSpPr>
          <p:cNvPr id="12" name="Shape 10"/>
          <p:cNvSpPr/>
          <p:nvPr/>
        </p:nvSpPr>
        <p:spPr>
          <a:xfrm>
            <a:off x="797357" y="3503981"/>
            <a:ext cx="146304" cy="146304"/>
          </a:xfrm>
          <a:prstGeom prst="ellipse">
            <a:avLst/>
          </a:prstGeom>
          <a:solidFill>
            <a:srgbClr val="1F3F7A"/>
          </a:solidFill>
          <a:ln w="12700">
            <a:solidFill>
              <a:srgbClr val="FFFFFF"/>
            </a:solidFill>
            <a:prstDash val="solid"/>
          </a:ln>
        </p:spPr>
      </p:sp>
      <p:sp>
        <p:nvSpPr>
          <p:cNvPr id="13" name="Text 11"/>
          <p:cNvSpPr txBox="1"/>
          <p:nvPr/>
        </p:nvSpPr>
        <p:spPr>
          <a:xfrm>
            <a:off x="413309" y="3686861"/>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1858</a:t>
            </a:r>
            <a:endParaRPr lang="en-US" sz="900" dirty="0"/>
          </a:p>
        </p:txBody>
      </p:sp>
      <p:sp>
        <p:nvSpPr>
          <p:cNvPr id="14" name="Shape 12"/>
          <p:cNvSpPr/>
          <p:nvPr/>
        </p:nvSpPr>
        <p:spPr>
          <a:xfrm>
            <a:off x="870509" y="3302813"/>
            <a:ext cx="0" cy="274320"/>
          </a:xfrm>
          <a:prstGeom prst="line">
            <a:avLst/>
          </a:prstGeom>
          <a:noFill/>
          <a:ln w="12700">
            <a:solidFill>
              <a:srgbClr val="1F3F7A"/>
            </a:solidFill>
            <a:prstDash val="dash"/>
          </a:ln>
        </p:spPr>
      </p:sp>
      <p:sp>
        <p:nvSpPr>
          <p:cNvPr id="15" name="Shape 13"/>
          <p:cNvSpPr/>
          <p:nvPr/>
        </p:nvSpPr>
        <p:spPr>
          <a:xfrm>
            <a:off x="411480" y="2644445"/>
            <a:ext cx="1572768" cy="658368"/>
          </a:xfrm>
          <a:prstGeom prst="rect">
            <a:avLst/>
          </a:prstGeom>
          <a:solidFill>
            <a:srgbClr val="EEF2F8"/>
          </a:solidFill>
          <a:ln w="12700">
            <a:solidFill>
              <a:srgbClr val="EEF2F8"/>
            </a:solidFill>
            <a:prstDash val="solid"/>
          </a:ln>
        </p:spPr>
      </p:sp>
      <p:sp>
        <p:nvSpPr>
          <p:cNvPr id="16" name="Text 14"/>
          <p:cNvSpPr txBox="1"/>
          <p:nvPr/>
        </p:nvSpPr>
        <p:spPr>
          <a:xfrm>
            <a:off x="457200" y="2681021"/>
            <a:ext cx="1481328" cy="59436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奥姆斯特德中央公园：城市公园体系提出“绿地+运动”融合</a:t>
            </a:r>
            <a:endParaRPr lang="en-US" sz="650" dirty="0"/>
          </a:p>
        </p:txBody>
      </p:sp>
      <p:sp>
        <p:nvSpPr>
          <p:cNvPr id="17" name="Shape 15"/>
          <p:cNvSpPr/>
          <p:nvPr/>
        </p:nvSpPr>
        <p:spPr>
          <a:xfrm>
            <a:off x="1843430" y="3242462"/>
            <a:ext cx="146304" cy="146304"/>
          </a:xfrm>
          <a:prstGeom prst="ellipse">
            <a:avLst/>
          </a:prstGeom>
          <a:solidFill>
            <a:srgbClr val="1F3F7A"/>
          </a:solidFill>
          <a:ln w="12700">
            <a:solidFill>
              <a:srgbClr val="FFFFFF"/>
            </a:solidFill>
            <a:prstDash val="solid"/>
          </a:ln>
        </p:spPr>
      </p:sp>
      <p:sp>
        <p:nvSpPr>
          <p:cNvPr id="18" name="Text 16"/>
          <p:cNvSpPr txBox="1"/>
          <p:nvPr/>
        </p:nvSpPr>
        <p:spPr>
          <a:xfrm>
            <a:off x="1459382" y="2968142"/>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1961</a:t>
            </a:r>
            <a:endParaRPr lang="en-US" sz="900" dirty="0"/>
          </a:p>
        </p:txBody>
      </p:sp>
      <p:sp>
        <p:nvSpPr>
          <p:cNvPr id="19" name="Shape 17"/>
          <p:cNvSpPr/>
          <p:nvPr/>
        </p:nvSpPr>
        <p:spPr>
          <a:xfrm>
            <a:off x="1916582" y="3315614"/>
            <a:ext cx="0" cy="274320"/>
          </a:xfrm>
          <a:prstGeom prst="line">
            <a:avLst/>
          </a:prstGeom>
          <a:noFill/>
          <a:ln w="12700">
            <a:solidFill>
              <a:srgbClr val="1F3F7A"/>
            </a:solidFill>
            <a:prstDash val="dash"/>
          </a:ln>
        </p:spPr>
      </p:sp>
      <p:sp>
        <p:nvSpPr>
          <p:cNvPr id="20" name="Shape 18"/>
          <p:cNvSpPr/>
          <p:nvPr/>
        </p:nvSpPr>
        <p:spPr>
          <a:xfrm>
            <a:off x="1130198" y="3589934"/>
            <a:ext cx="1572768" cy="658368"/>
          </a:xfrm>
          <a:prstGeom prst="rect">
            <a:avLst/>
          </a:prstGeom>
          <a:solidFill>
            <a:srgbClr val="EEF2F8"/>
          </a:solidFill>
          <a:ln w="12700">
            <a:solidFill>
              <a:srgbClr val="EEF2F8"/>
            </a:solidFill>
            <a:prstDash val="solid"/>
          </a:ln>
        </p:spPr>
      </p:sp>
      <p:sp>
        <p:nvSpPr>
          <p:cNvPr id="21" name="Text 19"/>
          <p:cNvSpPr txBox="1"/>
          <p:nvPr/>
        </p:nvSpPr>
        <p:spPr>
          <a:xfrm>
            <a:off x="1175918" y="3626510"/>
            <a:ext cx="1481328" cy="59436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美国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简·雅各布斯《美国大城市的死与生》：高密度社区分散布局中小型运动场地</a:t>
            </a:r>
            <a:endParaRPr lang="en-US" sz="650" dirty="0"/>
          </a:p>
        </p:txBody>
      </p:sp>
      <p:sp>
        <p:nvSpPr>
          <p:cNvPr id="22" name="Shape 20"/>
          <p:cNvSpPr/>
          <p:nvPr/>
        </p:nvSpPr>
        <p:spPr>
          <a:xfrm>
            <a:off x="2889504" y="2980944"/>
            <a:ext cx="146304" cy="146304"/>
          </a:xfrm>
          <a:prstGeom prst="ellipse">
            <a:avLst/>
          </a:prstGeom>
          <a:solidFill>
            <a:srgbClr val="E07B2A"/>
          </a:solidFill>
          <a:ln w="12700">
            <a:solidFill>
              <a:srgbClr val="FFFFFF"/>
            </a:solidFill>
            <a:prstDash val="solid"/>
          </a:ln>
        </p:spPr>
      </p:sp>
      <p:sp>
        <p:nvSpPr>
          <p:cNvPr id="23" name="Text 21"/>
          <p:cNvSpPr txBox="1"/>
          <p:nvPr/>
        </p:nvSpPr>
        <p:spPr>
          <a:xfrm>
            <a:off x="2505456" y="3163824"/>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1995</a:t>
            </a:r>
            <a:endParaRPr lang="en-US" sz="900" dirty="0"/>
          </a:p>
        </p:txBody>
      </p:sp>
      <p:sp>
        <p:nvSpPr>
          <p:cNvPr id="24" name="Shape 22"/>
          <p:cNvSpPr/>
          <p:nvPr/>
        </p:nvSpPr>
        <p:spPr>
          <a:xfrm>
            <a:off x="2962656" y="2779776"/>
            <a:ext cx="0" cy="274320"/>
          </a:xfrm>
          <a:prstGeom prst="line">
            <a:avLst/>
          </a:prstGeom>
          <a:noFill/>
          <a:ln w="12700">
            <a:solidFill>
              <a:srgbClr val="E07B2A"/>
            </a:solidFill>
            <a:prstDash val="dash"/>
          </a:ln>
        </p:spPr>
      </p:sp>
      <p:sp>
        <p:nvSpPr>
          <p:cNvPr id="25" name="Shape 23"/>
          <p:cNvSpPr/>
          <p:nvPr/>
        </p:nvSpPr>
        <p:spPr>
          <a:xfrm>
            <a:off x="2176272" y="2121408"/>
            <a:ext cx="1572768" cy="658368"/>
          </a:xfrm>
          <a:prstGeom prst="rect">
            <a:avLst/>
          </a:prstGeom>
          <a:solidFill>
            <a:srgbClr val="EEF2F8"/>
          </a:solidFill>
          <a:ln w="12700">
            <a:solidFill>
              <a:srgbClr val="EEF2F8"/>
            </a:solidFill>
            <a:prstDash val="solid"/>
          </a:ln>
        </p:spPr>
      </p:sp>
      <p:sp>
        <p:nvSpPr>
          <p:cNvPr id="26" name="Text 24"/>
          <p:cNvSpPr txBox="1"/>
          <p:nvPr/>
        </p:nvSpPr>
        <p:spPr>
          <a:xfrm>
            <a:off x="2221992" y="2157984"/>
            <a:ext cx="1481328" cy="59436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《全民健身计划纲要》颁布，全民健身上升为国家计划</a:t>
            </a:r>
            <a:endParaRPr lang="en-US" sz="650" dirty="0"/>
          </a:p>
        </p:txBody>
      </p:sp>
      <p:sp>
        <p:nvSpPr>
          <p:cNvPr id="27" name="Shape 25"/>
          <p:cNvSpPr/>
          <p:nvPr/>
        </p:nvSpPr>
        <p:spPr>
          <a:xfrm>
            <a:off x="3935578" y="2719426"/>
            <a:ext cx="146304" cy="146304"/>
          </a:xfrm>
          <a:prstGeom prst="ellipse">
            <a:avLst/>
          </a:prstGeom>
          <a:solidFill>
            <a:srgbClr val="1F3F7A"/>
          </a:solidFill>
          <a:ln w="12700">
            <a:solidFill>
              <a:srgbClr val="FFFFFF"/>
            </a:solidFill>
            <a:prstDash val="solid"/>
          </a:ln>
        </p:spPr>
      </p:sp>
      <p:sp>
        <p:nvSpPr>
          <p:cNvPr id="28" name="Text 26"/>
          <p:cNvSpPr txBox="1"/>
          <p:nvPr/>
        </p:nvSpPr>
        <p:spPr>
          <a:xfrm>
            <a:off x="3551530" y="2445106"/>
            <a:ext cx="914400" cy="237744"/>
          </a:xfrm>
          <a:prstGeom prst="rect">
            <a:avLst/>
          </a:prstGeom>
          <a:noFill/>
          <a:ln/>
        </p:spPr>
        <p:txBody>
          <a:bodyPr wrap="square" lIns="0" tIns="0" rIns="0" bIns="0" rtlCol="0" anchor="ctr"/>
          <a:lstStyle/>
          <a:p>
            <a:pPr algn="ctr" indent="0" marL="0">
              <a:buNone/>
            </a:pPr>
            <a:r>
              <a:rPr lang="en-US" sz="900" b="1" dirty="0">
                <a:solidFill>
                  <a:srgbClr val="1F3F7A"/>
                </a:solidFill>
                <a:latin typeface="Arial" pitchFamily="34" charset="0"/>
                <a:ea typeface="Arial" pitchFamily="34" charset="-122"/>
                <a:cs typeface="Arial" pitchFamily="34" charset="-120"/>
              </a:rPr>
              <a:t>2014</a:t>
            </a:r>
            <a:endParaRPr lang="en-US" sz="900" dirty="0"/>
          </a:p>
        </p:txBody>
      </p:sp>
      <p:sp>
        <p:nvSpPr>
          <p:cNvPr id="29" name="Shape 27"/>
          <p:cNvSpPr/>
          <p:nvPr/>
        </p:nvSpPr>
        <p:spPr>
          <a:xfrm>
            <a:off x="4008730" y="2792578"/>
            <a:ext cx="0" cy="274320"/>
          </a:xfrm>
          <a:prstGeom prst="line">
            <a:avLst/>
          </a:prstGeom>
          <a:noFill/>
          <a:ln w="12700">
            <a:solidFill>
              <a:srgbClr val="1F3F7A"/>
            </a:solidFill>
            <a:prstDash val="dash"/>
          </a:ln>
        </p:spPr>
      </p:sp>
      <p:sp>
        <p:nvSpPr>
          <p:cNvPr id="30" name="Shape 28"/>
          <p:cNvSpPr/>
          <p:nvPr/>
        </p:nvSpPr>
        <p:spPr>
          <a:xfrm>
            <a:off x="3222346" y="3066898"/>
            <a:ext cx="1572768" cy="658368"/>
          </a:xfrm>
          <a:prstGeom prst="rect">
            <a:avLst/>
          </a:prstGeom>
          <a:solidFill>
            <a:srgbClr val="EEF2F8"/>
          </a:solidFill>
          <a:ln w="12700">
            <a:solidFill>
              <a:srgbClr val="EEF2F8"/>
            </a:solidFill>
            <a:prstDash val="solid"/>
          </a:ln>
        </p:spPr>
      </p:sp>
      <p:sp>
        <p:nvSpPr>
          <p:cNvPr id="31" name="Text 29"/>
          <p:cNvSpPr txBox="1"/>
          <p:nvPr/>
        </p:nvSpPr>
        <p:spPr>
          <a:xfrm>
            <a:off x="3268066" y="3103474"/>
            <a:ext cx="1481328" cy="594360"/>
          </a:xfrm>
          <a:prstGeom prst="rect">
            <a:avLst/>
          </a:prstGeom>
          <a:noFill/>
          <a:ln/>
        </p:spPr>
        <p:txBody>
          <a:bodyPr wrap="square" lIns="0" tIns="0" rIns="0" bIns="0" rtlCol="0" anchor="t"/>
          <a:lstStyle/>
          <a:p>
            <a:pPr indent="0" marL="0">
              <a:lnSpc>
                <a:spcPct val="105000"/>
              </a:lnSpc>
              <a:buNone/>
            </a:pPr>
            <a:r>
              <a:rPr lang="en-US" sz="650" b="1" dirty="0">
                <a:solidFill>
                  <a:srgbClr val="1F3F7A"/>
                </a:solidFill>
                <a:latin typeface="Microsoft YaHei" pitchFamily="34" charset="0"/>
                <a:ea typeface="Microsoft YaHei" pitchFamily="34" charset="-122"/>
                <a:cs typeface="Microsoft YaHei" pitchFamily="34" charset="-120"/>
              </a:rPr>
              <a:t>新加坡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ActiveSG计划：社区体育公园模块化球场、全天候遮阳健身区</a:t>
            </a:r>
            <a:endParaRPr lang="en-US" sz="650" dirty="0"/>
          </a:p>
        </p:txBody>
      </p:sp>
      <p:sp>
        <p:nvSpPr>
          <p:cNvPr id="32" name="Shape 30"/>
          <p:cNvSpPr/>
          <p:nvPr/>
        </p:nvSpPr>
        <p:spPr>
          <a:xfrm>
            <a:off x="4981651" y="2457907"/>
            <a:ext cx="146304" cy="146304"/>
          </a:xfrm>
          <a:prstGeom prst="ellipse">
            <a:avLst/>
          </a:prstGeom>
          <a:solidFill>
            <a:srgbClr val="E07B2A"/>
          </a:solidFill>
          <a:ln w="12700">
            <a:solidFill>
              <a:srgbClr val="FFFFFF"/>
            </a:solidFill>
            <a:prstDash val="solid"/>
          </a:ln>
        </p:spPr>
      </p:sp>
      <p:sp>
        <p:nvSpPr>
          <p:cNvPr id="33" name="Text 31"/>
          <p:cNvSpPr txBox="1"/>
          <p:nvPr/>
        </p:nvSpPr>
        <p:spPr>
          <a:xfrm>
            <a:off x="4597603" y="2640787"/>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2016</a:t>
            </a:r>
            <a:endParaRPr lang="en-US" sz="900" dirty="0"/>
          </a:p>
        </p:txBody>
      </p:sp>
      <p:sp>
        <p:nvSpPr>
          <p:cNvPr id="34" name="Shape 32"/>
          <p:cNvSpPr/>
          <p:nvPr/>
        </p:nvSpPr>
        <p:spPr>
          <a:xfrm>
            <a:off x="5054803" y="2256739"/>
            <a:ext cx="0" cy="274320"/>
          </a:xfrm>
          <a:prstGeom prst="line">
            <a:avLst/>
          </a:prstGeom>
          <a:noFill/>
          <a:ln w="12700">
            <a:solidFill>
              <a:srgbClr val="E07B2A"/>
            </a:solidFill>
            <a:prstDash val="dash"/>
          </a:ln>
        </p:spPr>
      </p:sp>
      <p:sp>
        <p:nvSpPr>
          <p:cNvPr id="35" name="Shape 33"/>
          <p:cNvSpPr/>
          <p:nvPr/>
        </p:nvSpPr>
        <p:spPr>
          <a:xfrm>
            <a:off x="4268419" y="1022299"/>
            <a:ext cx="1572768" cy="1234440"/>
          </a:xfrm>
          <a:prstGeom prst="rect">
            <a:avLst/>
          </a:prstGeom>
          <a:solidFill>
            <a:srgbClr val="EEF2F8"/>
          </a:solidFill>
          <a:ln w="12700">
            <a:solidFill>
              <a:srgbClr val="EEF2F8"/>
            </a:solidFill>
            <a:prstDash val="solid"/>
          </a:ln>
        </p:spPr>
      </p:sp>
      <p:pic>
        <p:nvPicPr>
          <p:cNvPr id="36" name="Image 0" descr="/home/user/lxfs/pptx_build/figs/ms_2.jpg">    </p:cNvPr>
          <p:cNvPicPr>
            <a:picLocks noChangeAspect="1"/>
          </p:cNvPicPr>
          <p:nvPr/>
        </p:nvPicPr>
        <p:blipFill>
          <a:blip r:embed="rId1"/>
          <a:stretch>
            <a:fillRect/>
          </a:stretch>
        </p:blipFill>
        <p:spPr>
          <a:xfrm>
            <a:off x="4551141" y="1068019"/>
            <a:ext cx="1007324" cy="566928"/>
          </a:xfrm>
          <a:prstGeom prst="rect">
            <a:avLst/>
          </a:prstGeom>
        </p:spPr>
      </p:pic>
      <p:sp>
        <p:nvSpPr>
          <p:cNvPr id="37" name="Text 34"/>
          <p:cNvSpPr txBox="1"/>
          <p:nvPr/>
        </p:nvSpPr>
        <p:spPr>
          <a:xfrm>
            <a:off x="4314139" y="1653235"/>
            <a:ext cx="1481328" cy="576072"/>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《“健康中国2030”规划纲要》；《公园设计规范》GB 51192-2016</a:t>
            </a:r>
            <a:endParaRPr lang="en-US" sz="650" dirty="0"/>
          </a:p>
        </p:txBody>
      </p:sp>
      <p:sp>
        <p:nvSpPr>
          <p:cNvPr id="38" name="Shape 35"/>
          <p:cNvSpPr/>
          <p:nvPr/>
        </p:nvSpPr>
        <p:spPr>
          <a:xfrm>
            <a:off x="6027725" y="2196389"/>
            <a:ext cx="146304" cy="146304"/>
          </a:xfrm>
          <a:prstGeom prst="ellipse">
            <a:avLst/>
          </a:prstGeom>
          <a:solidFill>
            <a:srgbClr val="E07B2A"/>
          </a:solidFill>
          <a:ln w="12700">
            <a:solidFill>
              <a:srgbClr val="FFFFFF"/>
            </a:solidFill>
            <a:prstDash val="solid"/>
          </a:ln>
        </p:spPr>
      </p:sp>
      <p:sp>
        <p:nvSpPr>
          <p:cNvPr id="39" name="Text 36"/>
          <p:cNvSpPr txBox="1"/>
          <p:nvPr/>
        </p:nvSpPr>
        <p:spPr>
          <a:xfrm>
            <a:off x="5643677" y="1922069"/>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2018</a:t>
            </a:r>
            <a:endParaRPr lang="en-US" sz="900" dirty="0"/>
          </a:p>
        </p:txBody>
      </p:sp>
      <p:sp>
        <p:nvSpPr>
          <p:cNvPr id="40" name="Shape 37"/>
          <p:cNvSpPr/>
          <p:nvPr/>
        </p:nvSpPr>
        <p:spPr>
          <a:xfrm>
            <a:off x="6100877" y="2269541"/>
            <a:ext cx="0" cy="274320"/>
          </a:xfrm>
          <a:prstGeom prst="line">
            <a:avLst/>
          </a:prstGeom>
          <a:noFill/>
          <a:ln w="12700">
            <a:solidFill>
              <a:srgbClr val="E07B2A"/>
            </a:solidFill>
            <a:prstDash val="dash"/>
          </a:ln>
        </p:spPr>
      </p:sp>
      <p:sp>
        <p:nvSpPr>
          <p:cNvPr id="41" name="Shape 38"/>
          <p:cNvSpPr/>
          <p:nvPr/>
        </p:nvSpPr>
        <p:spPr>
          <a:xfrm>
            <a:off x="5314493" y="2543861"/>
            <a:ext cx="1572768" cy="1234440"/>
          </a:xfrm>
          <a:prstGeom prst="rect">
            <a:avLst/>
          </a:prstGeom>
          <a:solidFill>
            <a:srgbClr val="EEF2F8"/>
          </a:solidFill>
          <a:ln w="12700">
            <a:solidFill>
              <a:srgbClr val="EEF2F8"/>
            </a:solidFill>
            <a:prstDash val="solid"/>
          </a:ln>
        </p:spPr>
      </p:sp>
      <p:pic>
        <p:nvPicPr>
          <p:cNvPr id="42" name="Image 1" descr="/home/user/lxfs/pptx_build/figs/sz_2.jpg">    </p:cNvPr>
          <p:cNvPicPr>
            <a:picLocks noChangeAspect="1"/>
          </p:cNvPicPr>
          <p:nvPr/>
        </p:nvPicPr>
        <p:blipFill>
          <a:blip r:embed="rId2"/>
          <a:stretch>
            <a:fillRect/>
          </a:stretch>
        </p:blipFill>
        <p:spPr>
          <a:xfrm>
            <a:off x="5675681" y="2589581"/>
            <a:ext cx="850392" cy="566928"/>
          </a:xfrm>
          <a:prstGeom prst="rect">
            <a:avLst/>
          </a:prstGeom>
        </p:spPr>
      </p:pic>
      <p:sp>
        <p:nvSpPr>
          <p:cNvPr id="43" name="Text 39"/>
          <p:cNvSpPr txBox="1"/>
          <p:nvPr/>
        </p:nvSpPr>
        <p:spPr>
          <a:xfrm>
            <a:off x="5360213" y="3174797"/>
            <a:ext cx="1481328" cy="576072"/>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《城市居住区规划设计标准》GB 50180-2018：15分钟生活圈绿地系统</a:t>
            </a:r>
            <a:endParaRPr lang="en-US" sz="650" dirty="0"/>
          </a:p>
        </p:txBody>
      </p:sp>
      <p:sp>
        <p:nvSpPr>
          <p:cNvPr id="44" name="Shape 40"/>
          <p:cNvSpPr/>
          <p:nvPr/>
        </p:nvSpPr>
        <p:spPr>
          <a:xfrm>
            <a:off x="7073798" y="1934870"/>
            <a:ext cx="146304" cy="146304"/>
          </a:xfrm>
          <a:prstGeom prst="ellipse">
            <a:avLst/>
          </a:prstGeom>
          <a:solidFill>
            <a:srgbClr val="E07B2A"/>
          </a:solidFill>
          <a:ln w="12700">
            <a:solidFill>
              <a:srgbClr val="FFFFFF"/>
            </a:solidFill>
            <a:prstDash val="solid"/>
          </a:ln>
        </p:spPr>
      </p:sp>
      <p:sp>
        <p:nvSpPr>
          <p:cNvPr id="45" name="Text 41"/>
          <p:cNvSpPr txBox="1"/>
          <p:nvPr/>
        </p:nvSpPr>
        <p:spPr>
          <a:xfrm>
            <a:off x="6689750" y="2117750"/>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46" name="Shape 42"/>
          <p:cNvSpPr/>
          <p:nvPr/>
        </p:nvSpPr>
        <p:spPr>
          <a:xfrm>
            <a:off x="7146950" y="1733702"/>
            <a:ext cx="0" cy="274320"/>
          </a:xfrm>
          <a:prstGeom prst="line">
            <a:avLst/>
          </a:prstGeom>
          <a:noFill/>
          <a:ln w="12700">
            <a:solidFill>
              <a:srgbClr val="E07B2A"/>
            </a:solidFill>
            <a:prstDash val="dash"/>
          </a:ln>
        </p:spPr>
      </p:sp>
      <p:sp>
        <p:nvSpPr>
          <p:cNvPr id="47" name="Shape 43"/>
          <p:cNvSpPr/>
          <p:nvPr/>
        </p:nvSpPr>
        <p:spPr>
          <a:xfrm>
            <a:off x="6360566" y="1075334"/>
            <a:ext cx="1572768" cy="658368"/>
          </a:xfrm>
          <a:prstGeom prst="rect">
            <a:avLst/>
          </a:prstGeom>
          <a:solidFill>
            <a:srgbClr val="EEF2F8"/>
          </a:solidFill>
          <a:ln w="12700">
            <a:solidFill>
              <a:srgbClr val="EEF2F8"/>
            </a:solidFill>
            <a:prstDash val="solid"/>
          </a:ln>
        </p:spPr>
      </p:sp>
      <p:sp>
        <p:nvSpPr>
          <p:cNvPr id="48" name="Text 44"/>
          <p:cNvSpPr txBox="1"/>
          <p:nvPr/>
        </p:nvSpPr>
        <p:spPr>
          <a:xfrm>
            <a:off x="6406286" y="1111910"/>
            <a:ext cx="1481328" cy="594360"/>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中国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七部委《关于推进体育公园建设的指导意见》；《社区体育公园规划建设指南》T/CSUS 18-2021</a:t>
            </a:r>
            <a:endParaRPr lang="en-US" sz="650" dirty="0"/>
          </a:p>
        </p:txBody>
      </p:sp>
      <p:sp>
        <p:nvSpPr>
          <p:cNvPr id="49" name="Shape 45"/>
          <p:cNvSpPr/>
          <p:nvPr/>
        </p:nvSpPr>
        <p:spPr>
          <a:xfrm>
            <a:off x="8119872" y="1673352"/>
            <a:ext cx="146304" cy="146304"/>
          </a:xfrm>
          <a:prstGeom prst="ellipse">
            <a:avLst/>
          </a:prstGeom>
          <a:solidFill>
            <a:srgbClr val="E07B2A"/>
          </a:solidFill>
          <a:ln w="12700">
            <a:solidFill>
              <a:srgbClr val="FFFFFF"/>
            </a:solidFill>
            <a:prstDash val="solid"/>
          </a:ln>
        </p:spPr>
      </p:sp>
      <p:sp>
        <p:nvSpPr>
          <p:cNvPr id="50" name="Text 46"/>
          <p:cNvSpPr txBox="1"/>
          <p:nvPr/>
        </p:nvSpPr>
        <p:spPr>
          <a:xfrm>
            <a:off x="7735824" y="1399032"/>
            <a:ext cx="914400" cy="237744"/>
          </a:xfrm>
          <a:prstGeom prst="rect">
            <a:avLst/>
          </a:prstGeom>
          <a:noFill/>
          <a:ln/>
        </p:spPr>
        <p:txBody>
          <a:bodyPr wrap="square" lIns="0" tIns="0" rIns="0" bIns="0" rtlCol="0" anchor="ctr"/>
          <a:lstStyle/>
          <a:p>
            <a:pPr algn="ctr" indent="0" marL="0">
              <a:buNone/>
            </a:pPr>
            <a:r>
              <a:rPr lang="en-US" sz="900" b="1" dirty="0">
                <a:solidFill>
                  <a:srgbClr val="E07B2A"/>
                </a:solidFill>
                <a:latin typeface="Arial" pitchFamily="34" charset="0"/>
                <a:ea typeface="Arial" pitchFamily="34" charset="-122"/>
                <a:cs typeface="Arial" pitchFamily="34" charset="-120"/>
              </a:rPr>
              <a:t>2021</a:t>
            </a:r>
            <a:endParaRPr lang="en-US" sz="900" dirty="0"/>
          </a:p>
        </p:txBody>
      </p:sp>
      <p:sp>
        <p:nvSpPr>
          <p:cNvPr id="51" name="Shape 47"/>
          <p:cNvSpPr/>
          <p:nvPr/>
        </p:nvSpPr>
        <p:spPr>
          <a:xfrm>
            <a:off x="8193024" y="1746504"/>
            <a:ext cx="0" cy="274320"/>
          </a:xfrm>
          <a:prstGeom prst="line">
            <a:avLst/>
          </a:prstGeom>
          <a:noFill/>
          <a:ln w="12700">
            <a:solidFill>
              <a:srgbClr val="E07B2A"/>
            </a:solidFill>
            <a:prstDash val="dash"/>
          </a:ln>
        </p:spPr>
      </p:sp>
      <p:sp>
        <p:nvSpPr>
          <p:cNvPr id="52" name="Shape 48"/>
          <p:cNvSpPr/>
          <p:nvPr/>
        </p:nvSpPr>
        <p:spPr>
          <a:xfrm>
            <a:off x="7251192" y="2020824"/>
            <a:ext cx="1572768" cy="1234440"/>
          </a:xfrm>
          <a:prstGeom prst="rect">
            <a:avLst/>
          </a:prstGeom>
          <a:solidFill>
            <a:srgbClr val="EEF2F8"/>
          </a:solidFill>
          <a:ln w="12700">
            <a:solidFill>
              <a:srgbClr val="EEF2F8"/>
            </a:solidFill>
            <a:prstDash val="solid"/>
          </a:ln>
        </p:spPr>
      </p:sp>
      <p:pic>
        <p:nvPicPr>
          <p:cNvPr id="53" name="Image 2" descr="/home/user/lxfs/pptx_build/figs/satellite.jpg">    </p:cNvPr>
          <p:cNvPicPr>
            <a:picLocks noChangeAspect="1"/>
          </p:cNvPicPr>
          <p:nvPr/>
        </p:nvPicPr>
        <p:blipFill>
          <a:blip r:embed="rId3"/>
          <a:stretch>
            <a:fillRect/>
          </a:stretch>
        </p:blipFill>
        <p:spPr>
          <a:xfrm>
            <a:off x="7678003" y="2066544"/>
            <a:ext cx="719146" cy="566928"/>
          </a:xfrm>
          <a:prstGeom prst="rect">
            <a:avLst/>
          </a:prstGeom>
        </p:spPr>
      </p:pic>
      <p:sp>
        <p:nvSpPr>
          <p:cNvPr id="54" name="Text 49"/>
          <p:cNvSpPr txBox="1"/>
          <p:nvPr/>
        </p:nvSpPr>
        <p:spPr>
          <a:xfrm>
            <a:off x="7296912" y="2651760"/>
            <a:ext cx="1481328" cy="576072"/>
          </a:xfrm>
          <a:prstGeom prst="rect">
            <a:avLst/>
          </a:prstGeom>
          <a:noFill/>
          <a:ln/>
        </p:spPr>
        <p:txBody>
          <a:bodyPr wrap="square" lIns="0" tIns="0" rIns="0" bIns="0" rtlCol="0" anchor="t"/>
          <a:lstStyle/>
          <a:p>
            <a:pPr indent="0" marL="0">
              <a:lnSpc>
                <a:spcPct val="105000"/>
              </a:lnSpc>
              <a:buNone/>
            </a:pPr>
            <a:r>
              <a:rPr lang="en-US" sz="650" b="1" dirty="0">
                <a:solidFill>
                  <a:srgbClr val="E07B2A"/>
                </a:solidFill>
                <a:latin typeface="Microsoft YaHei" pitchFamily="34" charset="0"/>
                <a:ea typeface="Microsoft YaHei" pitchFamily="34" charset="-122"/>
                <a:cs typeface="Microsoft YaHei" pitchFamily="34" charset="-120"/>
              </a:rPr>
              <a:t>仁寿 </a:t>
            </a:r>
            <a:pPr indent="0" marL="0">
              <a:lnSpc>
                <a:spcPct val="105000"/>
              </a:lnSpc>
              <a:buNone/>
            </a:pPr>
            <a:r>
              <a:rPr lang="en-US" sz="650" dirty="0">
                <a:solidFill>
                  <a:srgbClr val="444444"/>
                </a:solidFill>
                <a:latin typeface="Microsoft YaHei" pitchFamily="34" charset="0"/>
                <a:ea typeface="Microsoft YaHei" pitchFamily="34" charset="-122"/>
                <a:cs typeface="Microsoft YaHei" pitchFamily="34" charset="-120"/>
              </a:rPr>
              <a:t>《仁寿县国土空间总体规划(2021-2035)》：城北新城公园城市目标</a:t>
            </a:r>
            <a:endParaRPr lang="en-US" sz="650" dirty="0"/>
          </a:p>
        </p:txBody>
      </p:sp>
      <p:sp>
        <p:nvSpPr>
          <p:cNvPr id="55" name="Text 50"/>
          <p:cNvSpPr txBox="1"/>
          <p:nvPr/>
        </p:nvSpPr>
        <p:spPr>
          <a:xfrm>
            <a:off x="457200" y="4828032"/>
            <a:ext cx="5486400" cy="228600"/>
          </a:xfrm>
          <a:prstGeom prst="rect">
            <a:avLst/>
          </a:prstGeom>
          <a:noFill/>
          <a:ln/>
        </p:spPr>
        <p:txBody>
          <a:bodyPr wrap="square" lIns="25400" tIns="25400" rIns="25400" bIns="25400" rtlCol="0" anchor="t"/>
          <a:lstStyle/>
          <a:p>
            <a:pP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蓝色：国外；橙色：国内与地方。配图为本文案例照片及场地卫星影像。</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案例参考（一）成都天府公园西区</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12</a:t>
            </a:r>
            <a:endParaRPr lang="en-US" sz="900" dirty="0"/>
          </a:p>
        </p:txBody>
      </p:sp>
      <p:pic>
        <p:nvPicPr>
          <p:cNvPr id="7" name="Image 0" descr="/home/user/lxfs/pptx_build/figs/tf_5.jpg">    </p:cNvPr>
          <p:cNvPicPr>
            <a:picLocks noChangeAspect="1"/>
          </p:cNvPicPr>
          <p:nvPr/>
        </p:nvPicPr>
        <p:blipFill>
          <a:blip r:embed="rId1"/>
          <a:stretch>
            <a:fillRect/>
          </a:stretch>
        </p:blipFill>
        <p:spPr>
          <a:xfrm>
            <a:off x="793269" y="932688"/>
            <a:ext cx="3442661"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建筑鸟瞰图</a:t>
            </a:r>
            <a:endParaRPr lang="en-US" sz="800" dirty="0"/>
          </a:p>
        </p:txBody>
      </p:sp>
      <p:pic>
        <p:nvPicPr>
          <p:cNvPr id="9" name="Image 1" descr="/home/user/lxfs/pptx_build/figs/tf_1.jpg">    </p:cNvPr>
          <p:cNvPicPr>
            <a:picLocks noChangeAspect="1"/>
          </p:cNvPicPr>
          <p:nvPr/>
        </p:nvPicPr>
        <p:blipFill>
          <a:blip r:embed="rId2"/>
          <a:stretch>
            <a:fillRect/>
          </a:stretch>
        </p:blipFill>
        <p:spPr>
          <a:xfrm>
            <a:off x="457200" y="3675888"/>
            <a:ext cx="960120" cy="718974"/>
          </a:xfrm>
          <a:prstGeom prst="rect">
            <a:avLst/>
          </a:prstGeom>
        </p:spPr>
      </p:pic>
      <p:sp>
        <p:nvSpPr>
          <p:cNvPr id="10" name="Text 6"/>
          <p:cNvSpPr txBox="1"/>
          <p:nvPr/>
        </p:nvSpPr>
        <p:spPr>
          <a:xfrm>
            <a:off x="457200" y="4413150"/>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公园河流</a:t>
            </a:r>
            <a:endParaRPr lang="en-US" sz="800" dirty="0"/>
          </a:p>
        </p:txBody>
      </p:sp>
      <p:pic>
        <p:nvPicPr>
          <p:cNvPr id="11" name="Image 2" descr="/home/user/lxfs/pptx_build/figs/tf_2.jpg">    </p:cNvPr>
          <p:cNvPicPr>
            <a:picLocks noChangeAspect="1"/>
          </p:cNvPicPr>
          <p:nvPr/>
        </p:nvPicPr>
        <p:blipFill>
          <a:blip r:embed="rId3"/>
          <a:stretch>
            <a:fillRect/>
          </a:stretch>
        </p:blipFill>
        <p:spPr>
          <a:xfrm>
            <a:off x="1638077" y="3675888"/>
            <a:ext cx="701486" cy="868680"/>
          </a:xfrm>
          <a:prstGeom prst="rect">
            <a:avLst/>
          </a:prstGeom>
        </p:spPr>
      </p:pic>
      <p:sp>
        <p:nvSpPr>
          <p:cNvPr id="12" name="Text 7"/>
          <p:cNvSpPr txBox="1"/>
          <p:nvPr/>
        </p:nvSpPr>
        <p:spPr>
          <a:xfrm>
            <a:off x="150876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河流植物</a:t>
            </a:r>
            <a:endParaRPr lang="en-US" sz="800" dirty="0"/>
          </a:p>
        </p:txBody>
      </p:sp>
      <p:pic>
        <p:nvPicPr>
          <p:cNvPr id="13" name="Image 3" descr="/home/user/lxfs/pptx_build/figs/tf_3.jpg">    </p:cNvPr>
          <p:cNvPicPr>
            <a:picLocks noChangeAspect="1"/>
          </p:cNvPicPr>
          <p:nvPr/>
        </p:nvPicPr>
        <p:blipFill>
          <a:blip r:embed="rId4"/>
          <a:stretch>
            <a:fillRect/>
          </a:stretch>
        </p:blipFill>
        <p:spPr>
          <a:xfrm>
            <a:off x="2695595" y="3675888"/>
            <a:ext cx="689571" cy="868680"/>
          </a:xfrm>
          <a:prstGeom prst="rect">
            <a:avLst/>
          </a:prstGeom>
        </p:spPr>
      </p:pic>
      <p:sp>
        <p:nvSpPr>
          <p:cNvPr id="14" name="Text 8"/>
          <p:cNvSpPr txBox="1"/>
          <p:nvPr/>
        </p:nvSpPr>
        <p:spPr>
          <a:xfrm>
            <a:off x="2560320" y="4562856"/>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道路小品</a:t>
            </a:r>
            <a:endParaRPr lang="en-US" sz="800" dirty="0"/>
          </a:p>
        </p:txBody>
      </p:sp>
      <p:pic>
        <p:nvPicPr>
          <p:cNvPr id="15" name="Image 4" descr="/home/user/lxfs/pptx_build/figs/tf_4.jpg">    </p:cNvPr>
          <p:cNvPicPr>
            <a:picLocks noChangeAspect="1"/>
          </p:cNvPicPr>
          <p:nvPr/>
        </p:nvPicPr>
        <p:blipFill>
          <a:blip r:embed="rId5"/>
          <a:stretch>
            <a:fillRect/>
          </a:stretch>
        </p:blipFill>
        <p:spPr>
          <a:xfrm>
            <a:off x="3611880" y="3675888"/>
            <a:ext cx="960120" cy="717356"/>
          </a:xfrm>
          <a:prstGeom prst="rect">
            <a:avLst/>
          </a:prstGeom>
        </p:spPr>
      </p:pic>
      <p:sp>
        <p:nvSpPr>
          <p:cNvPr id="16" name="Text 9"/>
          <p:cNvSpPr txBox="1"/>
          <p:nvPr/>
        </p:nvSpPr>
        <p:spPr>
          <a:xfrm>
            <a:off x="3611880" y="4411532"/>
            <a:ext cx="960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公园周围交通状况</a:t>
            </a:r>
            <a:endParaRPr lang="en-US" sz="800" dirty="0"/>
          </a:p>
        </p:txBody>
      </p:sp>
      <p:sp>
        <p:nvSpPr>
          <p:cNvPr id="17" name="Text 10"/>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8" name="Text 11"/>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项目位于天府新区高密度住宅组团之间，用地7.2公顷，服务周边20余个居住小区。设计采用“一轴多组团”布局，沿城市主干道设置宽幅生态林带降噪；内部划分老年康养区、儿童分龄游乐区、青少年运动区、自然科普区；大量采用香樟、桢楠、细叶桢楠等四川乡土树种，搭配下凹式雨水花园实现海绵功能。</a:t>
            </a:r>
            <a:endParaRPr lang="en-US" sz="900" dirty="0"/>
          </a:p>
        </p:txBody>
      </p:sp>
      <p:sp>
        <p:nvSpPr>
          <p:cNvPr id="19" name="Shape 12"/>
          <p:cNvSpPr/>
          <p:nvPr/>
        </p:nvSpPr>
        <p:spPr>
          <a:xfrm>
            <a:off x="4800600" y="3017520"/>
            <a:ext cx="822960" cy="274320"/>
          </a:xfrm>
          <a:prstGeom prst="rect">
            <a:avLst/>
          </a:prstGeom>
          <a:solidFill>
            <a:srgbClr val="E07B2A"/>
          </a:solidFill>
          <a:ln w="12700">
            <a:solidFill>
              <a:srgbClr val="E07B2A"/>
            </a:solidFill>
            <a:prstDash val="solid"/>
          </a:ln>
        </p:spPr>
      </p:sp>
      <p:sp>
        <p:nvSpPr>
          <p:cNvPr id="20" name="Text 13"/>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21" name="Text 14"/>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主干道连续多层生态缓冲林带布局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全龄分段运动场地划分模式</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多层乡土植物复层群落配置手法</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案例参考（二）成都天府牧山活力体育公园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13</a:t>
            </a:r>
            <a:endParaRPr lang="en-US" sz="900" dirty="0"/>
          </a:p>
        </p:txBody>
      </p:sp>
      <p:pic>
        <p:nvPicPr>
          <p:cNvPr id="7" name="Image 0" descr="/home/user/lxfs/pptx_build/figs/ms_2.jpg">    </p:cNvPr>
          <p:cNvPicPr>
            <a:picLocks noChangeAspect="1"/>
          </p:cNvPicPr>
          <p:nvPr/>
        </p:nvPicPr>
        <p:blipFill>
          <a:blip r:embed="rId1"/>
          <a:stretch>
            <a:fillRect/>
          </a:stretch>
        </p:blipFill>
        <p:spPr>
          <a:xfrm>
            <a:off x="457200" y="932688"/>
            <a:ext cx="4114800" cy="2315834"/>
          </a:xfrm>
          <a:prstGeom prst="rect">
            <a:avLst/>
          </a:prstGeom>
        </p:spPr>
      </p:pic>
      <p:sp>
        <p:nvSpPr>
          <p:cNvPr id="8" name="Text 5"/>
          <p:cNvSpPr txBox="1"/>
          <p:nvPr/>
        </p:nvSpPr>
        <p:spPr>
          <a:xfrm>
            <a:off x="457200" y="3266810"/>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公园总平面鸟瞰图</a:t>
            </a:r>
            <a:endParaRPr lang="en-US" sz="800" dirty="0"/>
          </a:p>
        </p:txBody>
      </p:sp>
      <p:pic>
        <p:nvPicPr>
          <p:cNvPr id="9" name="Image 1" descr="/home/user/lxfs/pptx_build/figs/ms_1.jpg">    </p:cNvPr>
          <p:cNvPicPr>
            <a:picLocks noChangeAspect="1"/>
          </p:cNvPicPr>
          <p:nvPr/>
        </p:nvPicPr>
        <p:blipFill>
          <a:blip r:embed="rId2"/>
          <a:stretch>
            <a:fillRect/>
          </a:stretch>
        </p:blipFill>
        <p:spPr>
          <a:xfrm>
            <a:off x="457200" y="3675888"/>
            <a:ext cx="1310640" cy="736113"/>
          </a:xfrm>
          <a:prstGeom prst="rect">
            <a:avLst/>
          </a:prstGeom>
        </p:spPr>
      </p:pic>
      <p:sp>
        <p:nvSpPr>
          <p:cNvPr id="10" name="Text 6"/>
          <p:cNvSpPr txBox="1"/>
          <p:nvPr/>
        </p:nvSpPr>
        <p:spPr>
          <a:xfrm>
            <a:off x="457200" y="4430289"/>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球类集中区效果图</a:t>
            </a:r>
            <a:endParaRPr lang="en-US" sz="800" dirty="0"/>
          </a:p>
        </p:txBody>
      </p:sp>
      <p:pic>
        <p:nvPicPr>
          <p:cNvPr id="11" name="Image 2" descr="/home/user/lxfs/pptx_build/figs/ms_3.jpg">    </p:cNvPr>
          <p:cNvPicPr>
            <a:picLocks noChangeAspect="1"/>
          </p:cNvPicPr>
          <p:nvPr/>
        </p:nvPicPr>
        <p:blipFill>
          <a:blip r:embed="rId3"/>
          <a:stretch>
            <a:fillRect/>
          </a:stretch>
        </p:blipFill>
        <p:spPr>
          <a:xfrm>
            <a:off x="1859280" y="3675888"/>
            <a:ext cx="1310640" cy="795016"/>
          </a:xfrm>
          <a:prstGeom prst="rect">
            <a:avLst/>
          </a:prstGeom>
        </p:spPr>
      </p:pic>
      <p:sp>
        <p:nvSpPr>
          <p:cNvPr id="12" name="Text 7"/>
          <p:cNvSpPr txBox="1"/>
          <p:nvPr/>
        </p:nvSpPr>
        <p:spPr>
          <a:xfrm>
            <a:off x="1859280" y="448919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室内运动场地</a:t>
            </a:r>
            <a:endParaRPr lang="en-US" sz="800" dirty="0"/>
          </a:p>
        </p:txBody>
      </p:sp>
      <p:pic>
        <p:nvPicPr>
          <p:cNvPr id="13" name="Image 3" descr="/home/user/lxfs/pptx_build/figs/ms_4.jpg">    </p:cNvPr>
          <p:cNvPicPr>
            <a:picLocks noChangeAspect="1"/>
          </p:cNvPicPr>
          <p:nvPr/>
        </p:nvPicPr>
        <p:blipFill>
          <a:blip r:embed="rId4"/>
          <a:stretch>
            <a:fillRect/>
          </a:stretch>
        </p:blipFill>
        <p:spPr>
          <a:xfrm>
            <a:off x="3261360" y="3675888"/>
            <a:ext cx="1310640" cy="736435"/>
          </a:xfrm>
          <a:prstGeom prst="rect">
            <a:avLst/>
          </a:prstGeom>
        </p:spPr>
      </p:pic>
      <p:sp>
        <p:nvSpPr>
          <p:cNvPr id="14" name="Text 8"/>
          <p:cNvSpPr txBox="1"/>
          <p:nvPr/>
        </p:nvSpPr>
        <p:spPr>
          <a:xfrm>
            <a:off x="3261360" y="4430611"/>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阳光草坪区</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位于成都市新津区花源街道，地处新城成片居住组团核心腹地，占地6.39公顷，为城市规划留白绿地全新营建，区位、平缓场地基底与本课题仁寿8.6公顷地块高度匹配。采用“一轴一环五组团”结构，外围彩色环形健康步道串联轻量化户外运动场地，内部划分青少年潮流运动区、分龄儿童游乐区、老年康养林荫区、共享阳光草坪、乡土海绵花境；北侧紧邻主干道设置多层乡土乔木降噪防护林，四面分设人行出入口，造价适配川南县域建设标准。</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县域留白绿地体育公园整体规划模式，“跃动健身+生态栖居”一体化</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依托日照条件分区布局全龄活动场地</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主干道多层乡土植物降噪隔离林带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轻量化设施适配县城低成本落地</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案例参考（三）苏州相城活力体育公园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14</a:t>
            </a:r>
            <a:endParaRPr lang="en-US" sz="900" dirty="0"/>
          </a:p>
        </p:txBody>
      </p:sp>
      <p:pic>
        <p:nvPicPr>
          <p:cNvPr id="7" name="Image 0" descr="/home/user/lxfs/pptx_build/figs/sz_2.jpg">    </p:cNvPr>
          <p:cNvPicPr>
            <a:picLocks noChangeAspect="1"/>
          </p:cNvPicPr>
          <p:nvPr/>
        </p:nvPicPr>
        <p:blipFill>
          <a:blip r:embed="rId1"/>
          <a:stretch>
            <a:fillRect/>
          </a:stretch>
        </p:blipFill>
        <p:spPr>
          <a:xfrm>
            <a:off x="662940" y="932688"/>
            <a:ext cx="3703320"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公园周围交通情况</a:t>
            </a:r>
            <a:endParaRPr lang="en-US" sz="800" dirty="0"/>
          </a:p>
        </p:txBody>
      </p:sp>
      <p:pic>
        <p:nvPicPr>
          <p:cNvPr id="9" name="Image 1" descr="/home/user/lxfs/pptx_build/figs/sz_1.jpg">    </p:cNvPr>
          <p:cNvPicPr>
            <a:picLocks noChangeAspect="1"/>
          </p:cNvPicPr>
          <p:nvPr/>
        </p:nvPicPr>
        <p:blipFill>
          <a:blip r:embed="rId2"/>
          <a:stretch>
            <a:fillRect/>
          </a:stretch>
        </p:blipFill>
        <p:spPr>
          <a:xfrm>
            <a:off x="701532" y="3675888"/>
            <a:ext cx="821977" cy="868680"/>
          </a:xfrm>
          <a:prstGeom prst="rect">
            <a:avLst/>
          </a:prstGeom>
        </p:spPr>
      </p:pic>
      <p:sp>
        <p:nvSpPr>
          <p:cNvPr id="10" name="Text 6"/>
          <p:cNvSpPr txBox="1"/>
          <p:nvPr/>
        </p:nvSpPr>
        <p:spPr>
          <a:xfrm>
            <a:off x="45720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极限运动区</a:t>
            </a:r>
            <a:endParaRPr lang="en-US" sz="800" dirty="0"/>
          </a:p>
        </p:txBody>
      </p:sp>
      <p:pic>
        <p:nvPicPr>
          <p:cNvPr id="11" name="Image 2" descr="/home/user/lxfs/pptx_build/figs/sz_3.jpg">    </p:cNvPr>
          <p:cNvPicPr>
            <a:picLocks noChangeAspect="1"/>
          </p:cNvPicPr>
          <p:nvPr/>
        </p:nvPicPr>
        <p:blipFill>
          <a:blip r:embed="rId3"/>
          <a:stretch>
            <a:fillRect/>
          </a:stretch>
        </p:blipFill>
        <p:spPr>
          <a:xfrm>
            <a:off x="2189188" y="3675888"/>
            <a:ext cx="650825" cy="868680"/>
          </a:xfrm>
          <a:prstGeom prst="rect">
            <a:avLst/>
          </a:prstGeom>
        </p:spPr>
      </p:pic>
      <p:sp>
        <p:nvSpPr>
          <p:cNvPr id="12" name="Text 7"/>
          <p:cNvSpPr txBox="1"/>
          <p:nvPr/>
        </p:nvSpPr>
        <p:spPr>
          <a:xfrm>
            <a:off x="1859280" y="4562856"/>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儿童娱乐区域</a:t>
            </a:r>
            <a:endParaRPr lang="en-US" sz="800" dirty="0"/>
          </a:p>
        </p:txBody>
      </p:sp>
      <p:pic>
        <p:nvPicPr>
          <p:cNvPr id="13" name="Image 3" descr="/home/user/lxfs/pptx_build/figs/sz_4.jpg">    </p:cNvPr>
          <p:cNvPicPr>
            <a:picLocks noChangeAspect="1"/>
          </p:cNvPicPr>
          <p:nvPr/>
        </p:nvPicPr>
        <p:blipFill>
          <a:blip r:embed="rId4"/>
          <a:stretch>
            <a:fillRect/>
          </a:stretch>
        </p:blipFill>
        <p:spPr>
          <a:xfrm>
            <a:off x="3261360" y="3675888"/>
            <a:ext cx="1310640" cy="665266"/>
          </a:xfrm>
          <a:prstGeom prst="rect">
            <a:avLst/>
          </a:prstGeom>
        </p:spPr>
      </p:pic>
      <p:sp>
        <p:nvSpPr>
          <p:cNvPr id="14" name="Text 8"/>
          <p:cNvSpPr txBox="1"/>
          <p:nvPr/>
        </p:nvSpPr>
        <p:spPr>
          <a:xfrm>
            <a:off x="3261360" y="4359442"/>
            <a:ext cx="13106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植物小品</a:t>
            </a:r>
            <a:endParaRPr lang="en-US" sz="800" dirty="0"/>
          </a:p>
        </p:txBody>
      </p:sp>
      <p:sp>
        <p:nvSpPr>
          <p:cNvPr id="15" name="Text 9"/>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6" name="Text 10"/>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城市新区规划绿地全新建设，总面积13.6公顷，面积接近本设计地块，场地有平缓台地与低洼地块。依托地势打造海绵水景，步道串联运动场地与林下休憩空间，主干道沿线设置连续绿化隔离带，形成“动可健身，静可栖林”的格局。每一处球类、游乐运动组团就近配套林下廊架、休闲平台；海绵调蓄空间与林下栖居景观一体化设计，四季分层乡土乔灌搭配，高度契合“跃动·栖园”设计主题。</a:t>
            </a:r>
            <a:endParaRPr lang="en-US" sz="900" dirty="0"/>
          </a:p>
        </p:txBody>
      </p:sp>
      <p:sp>
        <p:nvSpPr>
          <p:cNvPr id="17" name="Shape 11"/>
          <p:cNvSpPr/>
          <p:nvPr/>
        </p:nvSpPr>
        <p:spPr>
          <a:xfrm>
            <a:off x="4800600" y="3017520"/>
            <a:ext cx="822960" cy="274320"/>
          </a:xfrm>
          <a:prstGeom prst="rect">
            <a:avLst/>
          </a:prstGeom>
          <a:solidFill>
            <a:srgbClr val="E07B2A"/>
          </a:solidFill>
          <a:ln w="12700">
            <a:solidFill>
              <a:srgbClr val="E07B2A"/>
            </a:solidFill>
            <a:prstDash val="solid"/>
          </a:ln>
        </p:spPr>
      </p:sp>
      <p:sp>
        <p:nvSpPr>
          <p:cNvPr id="18" name="Text 12"/>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9" name="Text 13"/>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海绵雨水景观与林下休憩空间融合</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每个运动组团就近配套便民栖居节点</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连续式主干道降噪隔离林带</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多点分散休憩构筑物，多层次林下栖居场景</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01 课题研究背景</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Case Study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1.7 案例参考（四）芜湖长江三桥桥下体育公园</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15</a:t>
            </a:r>
            <a:endParaRPr lang="en-US" sz="900" dirty="0"/>
          </a:p>
        </p:txBody>
      </p:sp>
      <p:pic>
        <p:nvPicPr>
          <p:cNvPr id="7" name="Image 0" descr="/home/user/lxfs/pptx_build/figs/wh_2.jpg">    </p:cNvPr>
          <p:cNvPicPr>
            <a:picLocks noChangeAspect="1"/>
          </p:cNvPicPr>
          <p:nvPr/>
        </p:nvPicPr>
        <p:blipFill>
          <a:blip r:embed="rId1"/>
          <a:stretch>
            <a:fillRect/>
          </a:stretch>
        </p:blipFill>
        <p:spPr>
          <a:xfrm>
            <a:off x="846359" y="932688"/>
            <a:ext cx="3336482" cy="2468880"/>
          </a:xfrm>
          <a:prstGeom prst="rect">
            <a:avLst/>
          </a:prstGeom>
        </p:spPr>
      </p:pic>
      <p:sp>
        <p:nvSpPr>
          <p:cNvPr id="8" name="Text 5"/>
          <p:cNvSpPr txBox="1"/>
          <p:nvPr/>
        </p:nvSpPr>
        <p:spPr>
          <a:xfrm>
            <a:off x="457200" y="3419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周围交通情况</a:t>
            </a:r>
            <a:endParaRPr lang="en-US" sz="800" dirty="0"/>
          </a:p>
        </p:txBody>
      </p:sp>
      <p:pic>
        <p:nvPicPr>
          <p:cNvPr id="9" name="Image 1" descr="/home/user/lxfs/pptx_build/figs/wh_1.jpg">    </p:cNvPr>
          <p:cNvPicPr>
            <a:picLocks noChangeAspect="1"/>
          </p:cNvPicPr>
          <p:nvPr/>
        </p:nvPicPr>
        <p:blipFill>
          <a:blip r:embed="rId2"/>
          <a:stretch>
            <a:fillRect/>
          </a:stretch>
        </p:blipFill>
        <p:spPr>
          <a:xfrm>
            <a:off x="1864055" y="3675888"/>
            <a:ext cx="1301090" cy="868680"/>
          </a:xfrm>
          <a:prstGeom prst="rect">
            <a:avLst/>
          </a:prstGeom>
        </p:spPr>
      </p:pic>
      <p:sp>
        <p:nvSpPr>
          <p:cNvPr id="10" name="Text 6"/>
          <p:cNvSpPr txBox="1"/>
          <p:nvPr/>
        </p:nvSpPr>
        <p:spPr>
          <a:xfrm>
            <a:off x="457200" y="4562856"/>
            <a:ext cx="4114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公园跑道（桥下全天候运动空间）</a:t>
            </a:r>
            <a:endParaRPr lang="en-US" sz="800" dirty="0"/>
          </a:p>
        </p:txBody>
      </p:sp>
      <p:sp>
        <p:nvSpPr>
          <p:cNvPr id="11" name="Text 7"/>
          <p:cNvSpPr txBox="1"/>
          <p:nvPr/>
        </p:nvSpPr>
        <p:spPr>
          <a:xfrm>
            <a:off x="48006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项目简介</a:t>
            </a:r>
            <a:endParaRPr lang="en-US" sz="1100" dirty="0"/>
          </a:p>
        </p:txBody>
      </p:sp>
      <p:sp>
        <p:nvSpPr>
          <p:cNvPr id="12" name="Text 8"/>
          <p:cNvSpPr txBox="1"/>
          <p:nvPr/>
        </p:nvSpPr>
        <p:spPr>
          <a:xfrm>
            <a:off x="4754880" y="1207008"/>
            <a:ext cx="4069080" cy="17373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总用地15.5公顷，利用高架桥下闲置灰色空间改造而成，场地天然形成大面积遮阳区域，配套4片篮球场、2片五人制足球场、羽毛球场、门球、轮滑场地与多处老年健身路径、分龄儿童乐园，贯穿彩色透水健身环线，搭配沿线雨水花园，服务周边7个大型社区居民。依托桥体天然遮阴打造全天候运动空间，全场采用彩色透水塑胶铺装，搭配线性生态植草沟构建简易海绵体系；运动场地模块化划分，人群互不干扰。</a:t>
            </a:r>
            <a:endParaRPr lang="en-US" sz="900" dirty="0"/>
          </a:p>
        </p:txBody>
      </p:sp>
      <p:sp>
        <p:nvSpPr>
          <p:cNvPr id="13" name="Shape 9"/>
          <p:cNvSpPr/>
          <p:nvPr/>
        </p:nvSpPr>
        <p:spPr>
          <a:xfrm>
            <a:off x="4800600" y="3017520"/>
            <a:ext cx="822960" cy="274320"/>
          </a:xfrm>
          <a:prstGeom prst="rect">
            <a:avLst/>
          </a:prstGeom>
          <a:solidFill>
            <a:srgbClr val="E07B2A"/>
          </a:solidFill>
          <a:ln w="12700">
            <a:solidFill>
              <a:srgbClr val="E07B2A"/>
            </a:solidFill>
            <a:prstDash val="solid"/>
          </a:ln>
        </p:spPr>
      </p:sp>
      <p:sp>
        <p:nvSpPr>
          <p:cNvPr id="14" name="Text 10"/>
          <p:cNvSpPr txBox="1"/>
          <p:nvPr/>
        </p:nvSpPr>
        <p:spPr>
          <a:xfrm>
            <a:off x="4800600" y="3017520"/>
            <a:ext cx="82296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可借鉴</a:t>
            </a:r>
            <a:endParaRPr lang="en-US" sz="950" dirty="0"/>
          </a:p>
        </p:txBody>
      </p:sp>
      <p:sp>
        <p:nvSpPr>
          <p:cNvPr id="15" name="Text 11"/>
          <p:cNvSpPr txBox="1"/>
          <p:nvPr/>
        </p:nvSpPr>
        <p:spPr>
          <a:xfrm>
            <a:off x="4754880" y="3337560"/>
            <a:ext cx="406908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全天候遮阳运动场地设计思路，适配仁寿夏季高温</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模块化球类场地集约布局</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透水铺装+植草沟一体化海绵做法</a:t>
            </a:r>
            <a:endParaRPr lang="en-US" sz="900" dirty="0"/>
          </a:p>
          <a:p>
            <a:pPr marL="342900" indent="-342900">
              <a:spcAft>
                <a:spcPts val="300"/>
              </a:spcAft>
              <a:buSzPct val="100000"/>
              <a:buChar char="•"/>
            </a:pPr>
            <a:r>
              <a:rPr lang="en-US" sz="900" dirty="0">
                <a:solidFill>
                  <a:srgbClr val="444444"/>
                </a:solidFill>
                <a:latin typeface="Microsoft YaHei" pitchFamily="34" charset="0"/>
                <a:ea typeface="Microsoft YaHei" pitchFamily="34" charset="-122"/>
                <a:cs typeface="Microsoft YaHei" pitchFamily="34" charset="-120"/>
              </a:rPr>
              <a:t>全年龄段运动设施均衡配置</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Overview of Project Research</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16</a:t>
            </a:r>
            <a:endParaRPr lang="en-US" sz="900" dirty="0"/>
          </a:p>
        </p:txBody>
      </p:sp>
      <p:pic>
        <p:nvPicPr>
          <p:cNvPr id="6" name="Image 0" descr="/home/user/lxfs/pptx_build/figs/satellite.jpg">    </p:cNvPr>
          <p:cNvPicPr>
            <a:picLocks noChangeAspect="1"/>
          </p:cNvPicPr>
          <p:nvPr/>
        </p:nvPicPr>
        <p:blipFill>
          <a:blip r:embed="rId1"/>
          <a:stretch>
            <a:fillRect/>
          </a:stretch>
        </p:blipFill>
        <p:spPr>
          <a:xfrm>
            <a:off x="5501240" y="822960"/>
            <a:ext cx="2667800" cy="2103120"/>
          </a:xfrm>
          <a:prstGeom prst="rect">
            <a:avLst/>
          </a:prstGeom>
        </p:spPr>
      </p:pic>
      <p:pic>
        <p:nvPicPr>
          <p:cNvPr id="7" name="Image 1" descr="/home/user/lxfs/pptx_build/figs/site_2.jpg">    </p:cNvPr>
          <p:cNvPicPr>
            <a:picLocks noChangeAspect="1"/>
          </p:cNvPicPr>
          <p:nvPr/>
        </p:nvPicPr>
        <p:blipFill>
          <a:blip r:embed="rId2"/>
          <a:stretch>
            <a:fillRect/>
          </a:stretch>
        </p:blipFill>
        <p:spPr>
          <a:xfrm>
            <a:off x="4846320" y="3017520"/>
            <a:ext cx="1920240" cy="1098156"/>
          </a:xfrm>
          <a:prstGeom prst="rect">
            <a:avLst/>
          </a:prstGeom>
        </p:spPr>
      </p:pic>
      <p:pic>
        <p:nvPicPr>
          <p:cNvPr id="8" name="Image 2" descr="/home/user/lxfs/pptx_build/figs/site_4.jpg">    </p:cNvPr>
          <p:cNvPicPr>
            <a:picLocks noChangeAspect="1"/>
          </p:cNvPicPr>
          <p:nvPr/>
        </p:nvPicPr>
        <p:blipFill>
          <a:blip r:embed="rId3"/>
          <a:stretch>
            <a:fillRect/>
          </a:stretch>
        </p:blipFill>
        <p:spPr>
          <a:xfrm>
            <a:off x="6903720" y="3017520"/>
            <a:ext cx="1920240" cy="1094659"/>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02</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项目研究概述</a:t>
            </a:r>
            <a:endParaRPr lang="en-US" sz="2200" dirty="0"/>
          </a:p>
        </p:txBody>
      </p:sp>
      <p:sp>
        <p:nvSpPr>
          <p:cNvPr id="11" name="Text 6"/>
          <p:cNvSpPr txBox="1"/>
          <p:nvPr/>
        </p:nvSpPr>
        <p:spPr>
          <a:xfrm>
            <a:off x="54864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 上位规划</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2.2 区位分析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2.3 气候分析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2.4 植物分析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2.5 历史文化分析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2.6 周边道路分析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2.7 周边交通分析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2.8 周边人行流线分析</a:t>
            </a:r>
            <a:endParaRPr lang="en-US" sz="850" dirty="0"/>
          </a:p>
        </p:txBody>
      </p:sp>
      <p:sp>
        <p:nvSpPr>
          <p:cNvPr id="12" name="Text 7"/>
          <p:cNvSpPr txBox="1"/>
          <p:nvPr/>
        </p:nvSpPr>
        <p:spPr>
          <a:xfrm>
            <a:off x="2697480" y="2423160"/>
            <a:ext cx="2103120" cy="2194560"/>
          </a:xfrm>
          <a:prstGeom prst="rect">
            <a:avLst/>
          </a:prstGeom>
          <a:noFill/>
          <a:ln/>
        </p:spPr>
        <p:txBody>
          <a:bodyPr wrap="square" lIns="0" tIns="0" rIns="0" bIns="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2.9 周边用地分析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2.10 地形地貌分析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2.11 场地现状分析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2.12 人群结构分析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2.13 主要人群需求分析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2.14 光照分析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2.15 SWOT分析</a:t>
            </a: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2.16 问题梳理</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Upper-level Planning</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 上位规划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17</a:t>
            </a:r>
            <a:endParaRPr lang="en-US" sz="900" dirty="0"/>
          </a:p>
        </p:txBody>
      </p:sp>
      <p:pic>
        <p:nvPicPr>
          <p:cNvPr id="7" name="Image 0" descr="/home/user/lxfs/pptx_build/figs/map.jpg">    </p:cNvPr>
          <p:cNvPicPr>
            <a:picLocks noChangeAspect="1"/>
          </p:cNvPicPr>
          <p:nvPr/>
        </p:nvPicPr>
        <p:blipFill>
          <a:blip r:embed="rId1"/>
          <a:stretch>
            <a:fillRect/>
          </a:stretch>
        </p:blipFill>
        <p:spPr>
          <a:xfrm>
            <a:off x="489677" y="932688"/>
            <a:ext cx="2038166" cy="3657600"/>
          </a:xfrm>
          <a:prstGeom prst="rect">
            <a:avLst/>
          </a:prstGeom>
        </p:spPr>
      </p:pic>
      <p:sp>
        <p:nvSpPr>
          <p:cNvPr id="8" name="Text 5"/>
          <p:cNvSpPr txBox="1"/>
          <p:nvPr/>
        </p:nvSpPr>
        <p:spPr>
          <a:xfrm>
            <a:off x="457200" y="4608576"/>
            <a:ext cx="2103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场地及周边现状地图</a:t>
            </a:r>
            <a:endParaRPr lang="en-US" sz="800" dirty="0"/>
          </a:p>
        </p:txBody>
      </p:sp>
      <p:sp>
        <p:nvSpPr>
          <p:cNvPr id="9" name="Text 6"/>
          <p:cNvSpPr txBox="1"/>
          <p:nvPr/>
        </p:nvSpPr>
        <p:spPr>
          <a:xfrm>
            <a:off x="283464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规划要点</a:t>
            </a:r>
            <a:endParaRPr lang="en-US" sz="1100" dirty="0"/>
          </a:p>
        </p:txBody>
      </p:sp>
      <p:sp>
        <p:nvSpPr>
          <p:cNvPr id="10" name="Shape 7"/>
          <p:cNvSpPr/>
          <p:nvPr/>
        </p:nvSpPr>
        <p:spPr>
          <a:xfrm>
            <a:off x="2834640" y="1325880"/>
            <a:ext cx="329184" cy="329184"/>
          </a:xfrm>
          <a:prstGeom prst="ellipse">
            <a:avLst/>
          </a:prstGeom>
          <a:solidFill>
            <a:srgbClr val="1F3F7A"/>
          </a:solidFill>
          <a:ln w="12700">
            <a:solidFill>
              <a:srgbClr val="1F3F7A"/>
            </a:solidFill>
            <a:prstDash val="solid"/>
          </a:ln>
        </p:spPr>
      </p:sp>
      <p:sp>
        <p:nvSpPr>
          <p:cNvPr id="11" name="Text 8"/>
          <p:cNvSpPr txBox="1"/>
          <p:nvPr/>
        </p:nvSpPr>
        <p:spPr>
          <a:xfrm>
            <a:off x="2834640" y="13258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9"/>
          <p:cNvSpPr txBox="1"/>
          <p:nvPr/>
        </p:nvSpPr>
        <p:spPr>
          <a:xfrm>
            <a:off x="3246120" y="128016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城北新城定位</a:t>
            </a:r>
            <a:endParaRPr lang="en-US" sz="1000" dirty="0"/>
          </a:p>
        </p:txBody>
      </p:sp>
      <p:sp>
        <p:nvSpPr>
          <p:cNvPr id="13" name="Text 10"/>
          <p:cNvSpPr txBox="1"/>
          <p:nvPr/>
        </p:nvSpPr>
        <p:spPr>
          <a:xfrm>
            <a:off x="3200400" y="153619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仁寿向北拓展核心宜居板块，衔接成德眉资同城化片区</a:t>
            </a:r>
            <a:endParaRPr lang="en-US" sz="850" dirty="0"/>
          </a:p>
        </p:txBody>
      </p:sp>
      <p:sp>
        <p:nvSpPr>
          <p:cNvPr id="14" name="Shape 11"/>
          <p:cNvSpPr/>
          <p:nvPr/>
        </p:nvSpPr>
        <p:spPr>
          <a:xfrm>
            <a:off x="2834640" y="2148840"/>
            <a:ext cx="329184" cy="329184"/>
          </a:xfrm>
          <a:prstGeom prst="ellipse">
            <a:avLst/>
          </a:prstGeom>
          <a:solidFill>
            <a:srgbClr val="1F3F7A"/>
          </a:solidFill>
          <a:ln w="12700">
            <a:solidFill>
              <a:srgbClr val="1F3F7A"/>
            </a:solidFill>
            <a:prstDash val="solid"/>
          </a:ln>
        </p:spPr>
      </p:sp>
      <p:sp>
        <p:nvSpPr>
          <p:cNvPr id="15" name="Text 12"/>
          <p:cNvSpPr txBox="1"/>
          <p:nvPr/>
        </p:nvSpPr>
        <p:spPr>
          <a:xfrm>
            <a:off x="2834640" y="2148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3246120" y="210312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建设目标</a:t>
            </a:r>
            <a:endParaRPr lang="en-US" sz="1000" dirty="0"/>
          </a:p>
        </p:txBody>
      </p:sp>
      <p:sp>
        <p:nvSpPr>
          <p:cNvPr id="17" name="Text 14"/>
          <p:cNvSpPr txBox="1"/>
          <p:nvPr/>
        </p:nvSpPr>
        <p:spPr>
          <a:xfrm>
            <a:off x="3200400" y="235915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三生融合辐射周边、公园城市</a:t>
            </a:r>
            <a:endParaRPr lang="en-US" sz="850" dirty="0"/>
          </a:p>
        </p:txBody>
      </p:sp>
      <p:sp>
        <p:nvSpPr>
          <p:cNvPr id="18" name="Shape 15"/>
          <p:cNvSpPr/>
          <p:nvPr/>
        </p:nvSpPr>
        <p:spPr>
          <a:xfrm>
            <a:off x="2834640" y="2971800"/>
            <a:ext cx="329184" cy="329184"/>
          </a:xfrm>
          <a:prstGeom prst="ellipse">
            <a:avLst/>
          </a:prstGeom>
          <a:solidFill>
            <a:srgbClr val="1F3F7A"/>
          </a:solidFill>
          <a:ln w="12700">
            <a:solidFill>
              <a:srgbClr val="1F3F7A"/>
            </a:solidFill>
            <a:prstDash val="solid"/>
          </a:ln>
        </p:spPr>
      </p:sp>
      <p:sp>
        <p:nvSpPr>
          <p:cNvPr id="19" name="Text 16"/>
          <p:cNvSpPr txBox="1"/>
          <p:nvPr/>
        </p:nvSpPr>
        <p:spPr>
          <a:xfrm>
            <a:off x="2834640" y="2971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0" name="Text 17"/>
          <p:cNvSpPr txBox="1"/>
          <p:nvPr/>
        </p:nvSpPr>
        <p:spPr>
          <a:xfrm>
            <a:off x="3246120" y="292608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绿地要求</a:t>
            </a:r>
            <a:endParaRPr lang="en-US" sz="1000" dirty="0"/>
          </a:p>
        </p:txBody>
      </p:sp>
      <p:sp>
        <p:nvSpPr>
          <p:cNvPr id="21" name="Text 18"/>
          <p:cNvSpPr txBox="1"/>
          <p:nvPr/>
        </p:nvSpPr>
        <p:spPr>
          <a:xfrm>
            <a:off x="3200400" y="318211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完善居住区集中绿地布局，补齐城市绿色公共空间短板</a:t>
            </a:r>
            <a:endParaRPr lang="en-US" sz="850" dirty="0"/>
          </a:p>
        </p:txBody>
      </p:sp>
      <p:sp>
        <p:nvSpPr>
          <p:cNvPr id="22" name="Shape 19"/>
          <p:cNvSpPr/>
          <p:nvPr/>
        </p:nvSpPr>
        <p:spPr>
          <a:xfrm>
            <a:off x="2834640" y="3794760"/>
            <a:ext cx="329184" cy="329184"/>
          </a:xfrm>
          <a:prstGeom prst="ellipse">
            <a:avLst/>
          </a:prstGeom>
          <a:solidFill>
            <a:srgbClr val="E07B2A"/>
          </a:solidFill>
          <a:ln w="12700">
            <a:solidFill>
              <a:srgbClr val="E07B2A"/>
            </a:solidFill>
            <a:prstDash val="solid"/>
          </a:ln>
        </p:spPr>
      </p:sp>
      <p:sp>
        <p:nvSpPr>
          <p:cNvPr id="23" name="Text 20"/>
          <p:cNvSpPr txBox="1"/>
          <p:nvPr/>
        </p:nvSpPr>
        <p:spPr>
          <a:xfrm>
            <a:off x="2834640" y="3794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4" name="Text 21"/>
          <p:cNvSpPr txBox="1"/>
          <p:nvPr/>
        </p:nvSpPr>
        <p:spPr>
          <a:xfrm>
            <a:off x="3246120" y="3749040"/>
            <a:ext cx="2377440" cy="256032"/>
          </a:xfrm>
          <a:prstGeom prst="rect">
            <a:avLst/>
          </a:prstGeom>
          <a:noFill/>
          <a:ln/>
        </p:spPr>
        <p:txBody>
          <a:bodyPr wrap="square" lIns="0" tIns="0" rIns="0" bIns="0" rtlCol="0" anchor="ctr"/>
          <a:lstStyle/>
          <a:p>
            <a:pPr indent="0" marL="0">
              <a:buNone/>
            </a:pPr>
            <a:r>
              <a:rPr lang="en-US" sz="1000" b="1" dirty="0">
                <a:solidFill>
                  <a:srgbClr val="444444"/>
                </a:solidFill>
                <a:latin typeface="Microsoft YaHei" pitchFamily="34" charset="0"/>
                <a:ea typeface="Microsoft YaHei" pitchFamily="34" charset="-122"/>
                <a:cs typeface="Microsoft YaHei" pitchFamily="34" charset="-120"/>
              </a:rPr>
              <a:t>本地块</a:t>
            </a:r>
            <a:endParaRPr lang="en-US" sz="1000" dirty="0"/>
          </a:p>
        </p:txBody>
      </p:sp>
      <p:sp>
        <p:nvSpPr>
          <p:cNvPr id="25" name="Text 22"/>
          <p:cNvSpPr txBox="1"/>
          <p:nvPr/>
        </p:nvSpPr>
        <p:spPr>
          <a:xfrm>
            <a:off x="3200400" y="4005072"/>
            <a:ext cx="2514600" cy="5486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规划预留集中绿地，承担片区级综合公园功能，服务周边高密度居住区</a:t>
            </a:r>
            <a:endParaRPr lang="en-US" sz="850" dirty="0"/>
          </a:p>
        </p:txBody>
      </p:sp>
      <p:pic>
        <p:nvPicPr>
          <p:cNvPr id="26" name="Image 1" descr="/home/user/lxfs/pptx_build/figs/satellite.jpg">    </p:cNvPr>
          <p:cNvPicPr>
            <a:picLocks noChangeAspect="1"/>
          </p:cNvPicPr>
          <p:nvPr/>
        </p:nvPicPr>
        <p:blipFill>
          <a:blip r:embed="rId2"/>
          <a:stretch>
            <a:fillRect/>
          </a:stretch>
        </p:blipFill>
        <p:spPr>
          <a:xfrm>
            <a:off x="5946164" y="932688"/>
            <a:ext cx="2783792" cy="2194560"/>
          </a:xfrm>
          <a:prstGeom prst="rect">
            <a:avLst/>
          </a:prstGeom>
        </p:spPr>
      </p:pic>
      <p:sp>
        <p:nvSpPr>
          <p:cNvPr id="27" name="Text 23"/>
          <p:cNvSpPr txBox="1"/>
          <p:nvPr/>
        </p:nvSpPr>
        <p:spPr>
          <a:xfrm>
            <a:off x="5852160" y="3145536"/>
            <a:ext cx="2971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场地卫星影像（规划预留集中绿地）</a:t>
            </a:r>
            <a:endParaRPr lang="en-US" sz="800" dirty="0"/>
          </a:p>
        </p:txBody>
      </p:sp>
      <p:sp>
        <p:nvSpPr>
          <p:cNvPr id="28" name="Shape 24"/>
          <p:cNvSpPr/>
          <p:nvPr/>
        </p:nvSpPr>
        <p:spPr>
          <a:xfrm>
            <a:off x="5852160" y="3429000"/>
            <a:ext cx="2971800" cy="1325880"/>
          </a:xfrm>
          <a:prstGeom prst="rect">
            <a:avLst/>
          </a:prstGeom>
          <a:solidFill>
            <a:srgbClr val="EEF2F8"/>
          </a:solidFill>
          <a:ln w="12700">
            <a:solidFill>
              <a:srgbClr val="EEF2F8"/>
            </a:solidFill>
            <a:prstDash val="solid"/>
          </a:ln>
        </p:spPr>
      </p:sp>
      <p:sp>
        <p:nvSpPr>
          <p:cNvPr id="29" name="Text 25"/>
          <p:cNvSpPr txBox="1"/>
          <p:nvPr/>
        </p:nvSpPr>
        <p:spPr>
          <a:xfrm>
            <a:off x="5897880" y="3474720"/>
            <a:ext cx="2880360" cy="1261872"/>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仁寿县国土空间总体规划(2021-2035)》明确城北新城“三生融合辐射周边、公园城市”建设目标，要求完善居住区集中绿地布局，补齐城市绿色公共空间短板。本地块为规划预留的集中绿地，承担片区级综合公园功能。</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Location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2.2 区位分析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18</a:t>
            </a:r>
            <a:endParaRPr lang="en-US" sz="900" dirty="0"/>
          </a:p>
        </p:txBody>
      </p:sp>
      <p:pic>
        <p:nvPicPr>
          <p:cNvPr id="7" name="Image 0" descr="/home/user/lxfs/pptx_build/figs/location.jpg">    </p:cNvPr>
          <p:cNvPicPr>
            <a:picLocks noChangeAspect="1"/>
          </p:cNvPicPr>
          <p:nvPr/>
        </p:nvPicPr>
        <p:blipFill>
          <a:blip r:embed="rId1"/>
          <a:stretch>
            <a:fillRect/>
          </a:stretch>
        </p:blipFill>
        <p:spPr>
          <a:xfrm>
            <a:off x="490384" y="932688"/>
            <a:ext cx="2631112" cy="3657600"/>
          </a:xfrm>
          <a:prstGeom prst="rect">
            <a:avLst/>
          </a:prstGeom>
        </p:spPr>
      </p:pic>
      <p:sp>
        <p:nvSpPr>
          <p:cNvPr id="8" name="Text 5"/>
          <p:cNvSpPr txBox="1"/>
          <p:nvPr/>
        </p:nvSpPr>
        <p:spPr>
          <a:xfrm>
            <a:off x="457200" y="4608576"/>
            <a:ext cx="2697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区位分析图（中国—四川—眉山—仁寿）</a:t>
            </a:r>
            <a:endParaRPr lang="en-US" sz="800" dirty="0"/>
          </a:p>
        </p:txBody>
      </p:sp>
      <p:sp>
        <p:nvSpPr>
          <p:cNvPr id="9" name="Text 6"/>
          <p:cNvSpPr txBox="1"/>
          <p:nvPr/>
        </p:nvSpPr>
        <p:spPr>
          <a:xfrm>
            <a:off x="3429000" y="932688"/>
            <a:ext cx="2743200" cy="27432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场地概括</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429000" y="1280160"/>
          <a:ext cx="5394960" cy="914400"/>
        </p:xfrm>
        <a:graphic>
          <a:graphicData uri="http://schemas.openxmlformats.org/drawingml/2006/table">
            <a:tbl>
              <a:tblPr/>
              <a:tblGrid>
                <a:gridCol w="1188720"/>
                <a:gridCol w="4206240"/>
              </a:tblGrid>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场地位置</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眉山市仁寿县城北新城核心居住区</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场地面积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约8.6公顷</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普宁大道（城市主干道，车流量大）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南侧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里仁路（城市支路）</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东侧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黑龙滩路（次干道）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西侧</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青冈路 / 陵州大道</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用地性质</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indent="0" marL="0">
                        <a:buNone/>
                      </a:pPr>
                      <a:r>
                        <a:rPr lang="en-US" sz="900" dirty="0">
                          <a:solidFill>
                            <a:srgbClr val="444444"/>
                          </a:solidFill>
                          <a:latin typeface="Microsoft YaHei" pitchFamily="34" charset="0"/>
                          <a:ea typeface="Microsoft YaHei" pitchFamily="34" charset="-122"/>
                          <a:cs typeface="Microsoft YaHei" pitchFamily="34" charset="-120"/>
                        </a:rPr>
                        <a:t>政府规划预留集中绿地</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bl>
          </a:graphicData>
        </a:graphic>
      </p:graphicFrame>
      <p:sp>
        <p:nvSpPr>
          <p:cNvPr id="11" name="Text 7"/>
          <p:cNvSpPr txBox="1"/>
          <p:nvPr/>
        </p:nvSpPr>
        <p:spPr>
          <a:xfrm>
            <a:off x="3429000" y="4069080"/>
            <a:ext cx="5394960" cy="45720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场地四至边界清晰：北侧为城市主干道普宁大道，车流量大，存在噪声、粉尘干扰；南侧里仁路、东侧黑龙滩路、西侧道路均为城市次级道路，人行通达性良好。</a:t>
            </a:r>
            <a:endParaRPr lang="en-US" sz="850" dirty="0"/>
          </a:p>
        </p:txBody>
      </p:sp>
      <p:sp>
        <p:nvSpPr>
          <p:cNvPr id="12" name="Text 8"/>
          <p:cNvSpPr txBox="1"/>
          <p:nvPr/>
        </p:nvSpPr>
        <p:spPr>
          <a:xfrm>
            <a:off x="3429000" y="4553712"/>
            <a:ext cx="539496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注：开题报告中西侧道路名称出现“青冈路”与“陵州大道”两种表述，需统一。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气候分析——气温与降水</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19</a:t>
            </a:r>
            <a:endParaRPr lang="en-US" sz="900" dirty="0"/>
          </a:p>
        </p:txBody>
      </p:sp>
      <p:pic>
        <p:nvPicPr>
          <p:cNvPr id="7" name="Image 0" descr="/home/user/lxfs/pptx_build/figs/clim_temp.jpg">    </p:cNvPr>
          <p:cNvPicPr>
            <a:picLocks noChangeAspect="1"/>
          </p:cNvPicPr>
          <p:nvPr/>
        </p:nvPicPr>
        <p:blipFill>
          <a:blip r:embed="rId1"/>
          <a:stretch>
            <a:fillRect/>
          </a:stretch>
        </p:blipFill>
        <p:spPr>
          <a:xfrm>
            <a:off x="457200" y="932688"/>
            <a:ext cx="4160520" cy="2121674"/>
          </a:xfrm>
          <a:prstGeom prst="rect">
            <a:avLst/>
          </a:prstGeom>
        </p:spPr>
      </p:pic>
      <p:sp>
        <p:nvSpPr>
          <p:cNvPr id="8" name="Text 5"/>
          <p:cNvSpPr txBox="1"/>
          <p:nvPr/>
        </p:nvSpPr>
        <p:spPr>
          <a:xfrm>
            <a:off x="457200" y="3072650"/>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仁寿县气温分析（开题报告）</a:t>
            </a:r>
            <a:endParaRPr lang="en-US" sz="800" dirty="0"/>
          </a:p>
        </p:txBody>
      </p:sp>
      <p:pic>
        <p:nvPicPr>
          <p:cNvPr id="9" name="Image 1" descr="/home/user/lxfs/pptx_build/figs/clim_rain.jpg">    </p:cNvPr>
          <p:cNvPicPr>
            <a:picLocks noChangeAspect="1"/>
          </p:cNvPicPr>
          <p:nvPr/>
        </p:nvPicPr>
        <p:blipFill>
          <a:blip r:embed="rId2"/>
          <a:stretch>
            <a:fillRect/>
          </a:stretch>
        </p:blipFill>
        <p:spPr>
          <a:xfrm>
            <a:off x="4934228" y="932688"/>
            <a:ext cx="3618945" cy="2286000"/>
          </a:xfrm>
          <a:prstGeom prst="rect">
            <a:avLst/>
          </a:prstGeom>
        </p:spPr>
      </p:pic>
      <p:sp>
        <p:nvSpPr>
          <p:cNvPr id="10" name="Text 6"/>
          <p:cNvSpPr txBox="1"/>
          <p:nvPr/>
        </p:nvSpPr>
        <p:spPr>
          <a:xfrm>
            <a:off x="4663440" y="3236976"/>
            <a:ext cx="41605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仁寿县降水率分析（开题报告）</a:t>
            </a:r>
            <a:endParaRPr lang="en-US" sz="800" dirty="0"/>
          </a:p>
        </p:txBody>
      </p:sp>
      <p:sp>
        <p:nvSpPr>
          <p:cNvPr id="11" name="Text 7"/>
          <p:cNvSpPr txBox="1"/>
          <p:nvPr/>
        </p:nvSpPr>
        <p:spPr>
          <a:xfrm>
            <a:off x="45720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年均温 17.8℃</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1月 7.0℃ / 7月 26.8℃</a:t>
            </a:r>
            <a:endParaRPr lang="en-US" sz="1200" dirty="0"/>
          </a:p>
        </p:txBody>
      </p:sp>
      <p:sp>
        <p:nvSpPr>
          <p:cNvPr id="12" name="Text 8"/>
          <p:cNvSpPr txBox="1"/>
          <p:nvPr/>
        </p:nvSpPr>
        <p:spPr>
          <a:xfrm>
            <a:off x="2560320" y="3310128"/>
            <a:ext cx="2103120" cy="502920"/>
          </a:xfrm>
          <a:prstGeom prst="rect">
            <a:avLst/>
          </a:prstGeom>
          <a:noFill/>
          <a:ln/>
        </p:spPr>
        <p:txBody>
          <a:bodyPr wrap="square" lIns="0" tIns="0" rIns="0" bIns="0" rtlCol="0" anchor="ctr"/>
          <a:lstStyle/>
          <a:p>
            <a:pPr algn="ctr" indent="0" marL="0">
              <a:buNone/>
            </a:pPr>
            <a:r>
              <a:rPr lang="en-US" sz="1200" b="1" dirty="0">
                <a:solidFill>
                  <a:srgbClr val="1F3F7A"/>
                </a:solidFill>
                <a:latin typeface="Microsoft YaHei" pitchFamily="34" charset="0"/>
                <a:ea typeface="Microsoft YaHei" pitchFamily="34" charset="-122"/>
                <a:cs typeface="Microsoft YaHei" pitchFamily="34" charset="-120"/>
              </a:rPr>
              <a:t>年降水 881.8mm</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6—9月占70%以上，8月最多</a:t>
            </a:r>
            <a:endParaRPr lang="en-US" sz="1200" dirty="0"/>
          </a:p>
        </p:txBody>
      </p:sp>
      <p:sp>
        <p:nvSpPr>
          <p:cNvPr id="13" name="Text 9"/>
          <p:cNvSpPr txBox="1"/>
          <p:nvPr/>
        </p:nvSpPr>
        <p:spPr>
          <a:xfrm>
            <a:off x="4754880" y="3310128"/>
            <a:ext cx="2011680" cy="502920"/>
          </a:xfrm>
          <a:prstGeom prst="rect">
            <a:avLst/>
          </a:prstGeom>
          <a:noFill/>
          <a:ln/>
        </p:spPr>
        <p:txBody>
          <a:bodyPr wrap="square" lIns="0" tIns="0" rIns="0" bIns="0" rtlCol="0" anchor="ctr"/>
          <a:lstStyle/>
          <a:p>
            <a:pPr algn="ctr" indent="0" marL="0">
              <a:buNone/>
            </a:pPr>
            <a:r>
              <a:rPr lang="en-US" sz="1200" b="1" dirty="0">
                <a:solidFill>
                  <a:srgbClr val="4E8A3E"/>
                </a:solidFill>
                <a:latin typeface="Microsoft YaHei" pitchFamily="34" charset="0"/>
                <a:ea typeface="Microsoft YaHei" pitchFamily="34" charset="-122"/>
                <a:cs typeface="Microsoft YaHei" pitchFamily="34" charset="-120"/>
              </a:rPr>
              <a:t>雨热同季</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夏季高温多雨，冬季温和少霜</a:t>
            </a:r>
            <a:endParaRPr lang="en-US" sz="1200" dirty="0"/>
          </a:p>
        </p:txBody>
      </p:sp>
      <p:sp>
        <p:nvSpPr>
          <p:cNvPr id="14" name="Text 10"/>
          <p:cNvSpPr txBox="1"/>
          <p:nvPr/>
        </p:nvSpPr>
        <p:spPr>
          <a:xfrm>
            <a:off x="6812280" y="3310128"/>
            <a:ext cx="2011680" cy="502920"/>
          </a:xfrm>
          <a:prstGeom prst="rect">
            <a:avLst/>
          </a:prstGeom>
          <a:noFill/>
          <a:ln/>
        </p:spPr>
        <p:txBody>
          <a:bodyPr wrap="square" lIns="0" tIns="0" rIns="0" bIns="0" rtlCol="0" anchor="ctr"/>
          <a:lstStyle/>
          <a:p>
            <a:pPr algn="ctr" indent="0" marL="0">
              <a:buNone/>
            </a:pPr>
            <a:r>
              <a:rPr lang="en-US" sz="1200" b="1" dirty="0">
                <a:solidFill>
                  <a:srgbClr val="E07B2A"/>
                </a:solidFill>
                <a:latin typeface="Microsoft YaHei" pitchFamily="34" charset="0"/>
                <a:ea typeface="Microsoft YaHei" pitchFamily="34" charset="-122"/>
                <a:cs typeface="Microsoft YaHei" pitchFamily="34" charset="-120"/>
              </a:rPr>
              <a:t>亚热带湿润季风</a:t>
            </a:r>
            <a:endParaRPr lang="en-US" sz="1200" dirty="0"/>
          </a:p>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四季分明，雨量充沛</a:t>
            </a:r>
            <a:endParaRPr lang="en-US" sz="1200" dirty="0"/>
          </a:p>
        </p:txBody>
      </p:sp>
      <p:sp>
        <p:nvSpPr>
          <p:cNvPr id="15" name="Shape 11"/>
          <p:cNvSpPr/>
          <p:nvPr/>
        </p:nvSpPr>
        <p:spPr>
          <a:xfrm>
            <a:off x="457200" y="3840480"/>
            <a:ext cx="8366760" cy="777240"/>
          </a:xfrm>
          <a:prstGeom prst="rect">
            <a:avLst/>
          </a:prstGeom>
          <a:solidFill>
            <a:srgbClr val="EEF2F8"/>
          </a:solidFill>
          <a:ln w="12700">
            <a:solidFill>
              <a:srgbClr val="EEF2F8"/>
            </a:solidFill>
            <a:prstDash val="solid"/>
          </a:ln>
        </p:spPr>
      </p:sp>
      <p:sp>
        <p:nvSpPr>
          <p:cNvPr id="16" name="Text 12"/>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亚热带湿润季风气候，四季分明，雨热同季。年均温17.8℃，1月最冷（7.0℃），7月最热（26.8℃）；年降水881.8mm，集中于6—9月（占70%以上），8月最多。设计需重点应对夏季高温暴晒（乔木林荫、遮阳构筑）与夏季集中降雨（海绵调蓄、场地排水）。</a:t>
            </a:r>
            <a:endParaRPr lang="en-US" sz="900" dirty="0"/>
          </a:p>
        </p:txBody>
      </p:sp>
      <p:sp>
        <p:nvSpPr>
          <p:cNvPr id="17" name="Text 13"/>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数据来源：中国气象局1991—2020年气候标准值（仁寿站）。开题报告写为年均温17.2℃，与此处17.8℃口径不同，建议统一。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Climate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2.3 气候分析——日照、湿度与雨日</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20</a:t>
            </a:r>
            <a:endParaRPr lang="en-US" sz="900" dirty="0"/>
          </a:p>
        </p:txBody>
      </p:sp>
      <p:graphicFrame>
        <p:nvGraphicFramePr>
          <p:cNvPr id="7" name="Chart 0" descr=""/>
          <p:cNvGraphicFramePr/>
          <p:nvPr/>
        </p:nvGraphicFramePr>
        <p:xfrm>
          <a:off x="411480" y="914400"/>
          <a:ext cx="416052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4663440" y="914400"/>
          <a:ext cx="4160520" cy="283464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457200" y="3840480"/>
            <a:ext cx="8366760" cy="777240"/>
          </a:xfrm>
          <a:prstGeom prst="rect">
            <a:avLst/>
          </a:prstGeom>
          <a:solidFill>
            <a:srgbClr val="EEF2F8"/>
          </a:solidFill>
          <a:ln w="12700">
            <a:solidFill>
              <a:srgbClr val="EEF2F8"/>
            </a:solidFill>
            <a:prstDash val="solid"/>
          </a:ln>
        </p:spPr>
      </p:sp>
      <p:sp>
        <p:nvSpPr>
          <p:cNvPr id="10" name="Text 6"/>
          <p:cNvSpPr txBox="1"/>
          <p:nvPr/>
        </p:nvSpPr>
        <p:spPr>
          <a:xfrm>
            <a:off x="548640" y="3886200"/>
            <a:ext cx="8183880" cy="7315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年日照仅1047.6小时（日照百分率23%），冬季多雾寡照；全年湿度70%—81%，秋季最高。全年降水日137天，4—10月每月13天以上。启示：夏季需遮阳，但全年整体阴湿，场地应以开敞向阳草坪和运动场地为主体，配合可透光的疏林，避免过度郁闭；铺装选用透水、防滑材料。</a:t>
            </a:r>
            <a:endParaRPr lang="en-US" sz="900" dirty="0"/>
          </a:p>
        </p:txBody>
      </p:sp>
      <p:sp>
        <p:nvSpPr>
          <p:cNvPr id="11" name="Text 7"/>
          <p:cNvSpPr txBox="1"/>
          <p:nvPr/>
        </p:nvSpPr>
        <p:spPr>
          <a:xfrm>
            <a:off x="457200" y="4645152"/>
            <a:ext cx="77724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数据来源：中国气象局1991—2020年气候标准值（仁寿站）。</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Plant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2.4 植物分析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21</a:t>
            </a:r>
            <a:endParaRPr lang="en-US" sz="900" dirty="0"/>
          </a:p>
        </p:txBody>
      </p:sp>
      <p:pic>
        <p:nvPicPr>
          <p:cNvPr id="7" name="Image 0" descr="/home/user/lxfs/pptx_build/figs/plants.jpg">    </p:cNvPr>
          <p:cNvPicPr>
            <a:picLocks noChangeAspect="1"/>
          </p:cNvPicPr>
          <p:nvPr/>
        </p:nvPicPr>
        <p:blipFill>
          <a:blip r:embed="rId1"/>
          <a:stretch>
            <a:fillRect/>
          </a:stretch>
        </p:blipFill>
        <p:spPr>
          <a:xfrm>
            <a:off x="459731" y="932688"/>
            <a:ext cx="5527057" cy="3035808"/>
          </a:xfrm>
          <a:prstGeom prst="rect">
            <a:avLst/>
          </a:prstGeom>
        </p:spPr>
      </p:pic>
      <p:sp>
        <p:nvSpPr>
          <p:cNvPr id="8" name="Text 5"/>
          <p:cNvSpPr txBox="1"/>
          <p:nvPr/>
        </p:nvSpPr>
        <p:spPr>
          <a:xfrm>
            <a:off x="457200" y="3986784"/>
            <a:ext cx="55321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仁寿县植物配置分析图</a:t>
            </a:r>
            <a:endParaRPr lang="en-US" sz="800" dirty="0"/>
          </a:p>
        </p:txBody>
      </p:sp>
      <p:sp>
        <p:nvSpPr>
          <p:cNvPr id="9" name="Shape 6"/>
          <p:cNvSpPr/>
          <p:nvPr/>
        </p:nvSpPr>
        <p:spPr>
          <a:xfrm>
            <a:off x="6217920" y="932688"/>
            <a:ext cx="868680" cy="292608"/>
          </a:xfrm>
          <a:prstGeom prst="rect">
            <a:avLst/>
          </a:prstGeom>
          <a:solidFill>
            <a:srgbClr val="4E8A3E"/>
          </a:solidFill>
          <a:ln w="12700">
            <a:solidFill>
              <a:srgbClr val="4E8A3E"/>
            </a:solidFill>
            <a:prstDash val="solid"/>
          </a:ln>
        </p:spPr>
      </p:sp>
      <p:sp>
        <p:nvSpPr>
          <p:cNvPr id="10" name="Text 7"/>
          <p:cNvSpPr txBox="1"/>
          <p:nvPr/>
        </p:nvSpPr>
        <p:spPr>
          <a:xfrm>
            <a:off x="6217920" y="93268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优势乔木</a:t>
            </a:r>
            <a:endParaRPr lang="en-US" sz="950" dirty="0"/>
          </a:p>
        </p:txBody>
      </p:sp>
      <p:sp>
        <p:nvSpPr>
          <p:cNvPr id="11" name="Text 8"/>
          <p:cNvSpPr txBox="1"/>
          <p:nvPr/>
        </p:nvSpPr>
        <p:spPr>
          <a:xfrm>
            <a:off x="6172200" y="124358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桢楠、香樟、黄葛树、二球悬铃木、桂花、小叶榕</a:t>
            </a:r>
            <a:endParaRPr lang="en-US" sz="900" dirty="0"/>
          </a:p>
        </p:txBody>
      </p:sp>
      <p:sp>
        <p:nvSpPr>
          <p:cNvPr id="12" name="Shape 9"/>
          <p:cNvSpPr/>
          <p:nvPr/>
        </p:nvSpPr>
        <p:spPr>
          <a:xfrm>
            <a:off x="6217920" y="1801368"/>
            <a:ext cx="868680" cy="292608"/>
          </a:xfrm>
          <a:prstGeom prst="rect">
            <a:avLst/>
          </a:prstGeom>
          <a:solidFill>
            <a:srgbClr val="E07B2A"/>
          </a:solidFill>
          <a:ln w="12700">
            <a:solidFill>
              <a:srgbClr val="E07B2A"/>
            </a:solidFill>
            <a:prstDash val="solid"/>
          </a:ln>
        </p:spPr>
      </p:sp>
      <p:sp>
        <p:nvSpPr>
          <p:cNvPr id="13" name="Text 10"/>
          <p:cNvSpPr txBox="1"/>
          <p:nvPr/>
        </p:nvSpPr>
        <p:spPr>
          <a:xfrm>
            <a:off x="6217920" y="180136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花灌木</a:t>
            </a:r>
            <a:endParaRPr lang="en-US" sz="950" dirty="0"/>
          </a:p>
        </p:txBody>
      </p:sp>
      <p:sp>
        <p:nvSpPr>
          <p:cNvPr id="14" name="Text 11"/>
          <p:cNvSpPr txBox="1"/>
          <p:nvPr/>
        </p:nvSpPr>
        <p:spPr>
          <a:xfrm>
            <a:off x="6172200" y="211226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紫薇、木芙蓉、蜡梅、红花檵木</a:t>
            </a:r>
            <a:endParaRPr lang="en-US" sz="900" dirty="0"/>
          </a:p>
        </p:txBody>
      </p:sp>
      <p:sp>
        <p:nvSpPr>
          <p:cNvPr id="15" name="Shape 12"/>
          <p:cNvSpPr/>
          <p:nvPr/>
        </p:nvSpPr>
        <p:spPr>
          <a:xfrm>
            <a:off x="6217920" y="2670048"/>
            <a:ext cx="868680" cy="292608"/>
          </a:xfrm>
          <a:prstGeom prst="rect">
            <a:avLst/>
          </a:prstGeom>
          <a:solidFill>
            <a:srgbClr val="1F3F7A"/>
          </a:solidFill>
          <a:ln w="12700">
            <a:solidFill>
              <a:srgbClr val="1F3F7A"/>
            </a:solidFill>
            <a:prstDash val="solid"/>
          </a:ln>
        </p:spPr>
      </p:sp>
      <p:sp>
        <p:nvSpPr>
          <p:cNvPr id="16" name="Text 13"/>
          <p:cNvSpPr txBox="1"/>
          <p:nvPr/>
        </p:nvSpPr>
        <p:spPr>
          <a:xfrm>
            <a:off x="6217920" y="2670048"/>
            <a:ext cx="86868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地被</a:t>
            </a:r>
            <a:endParaRPr lang="en-US" sz="950" dirty="0"/>
          </a:p>
        </p:txBody>
      </p:sp>
      <p:sp>
        <p:nvSpPr>
          <p:cNvPr id="17" name="Text 14"/>
          <p:cNvSpPr txBox="1"/>
          <p:nvPr/>
        </p:nvSpPr>
        <p:spPr>
          <a:xfrm>
            <a:off x="6172200" y="2980944"/>
            <a:ext cx="2651760" cy="5029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麦冬、沿阶草、野花组合</a:t>
            </a:r>
            <a:endParaRPr lang="en-US" sz="900" dirty="0"/>
          </a:p>
        </p:txBody>
      </p:sp>
      <p:sp>
        <p:nvSpPr>
          <p:cNvPr id="18" name="Shape 15"/>
          <p:cNvSpPr/>
          <p:nvPr/>
        </p:nvSpPr>
        <p:spPr>
          <a:xfrm>
            <a:off x="6217920" y="3520440"/>
            <a:ext cx="2606040" cy="1188720"/>
          </a:xfrm>
          <a:prstGeom prst="rect">
            <a:avLst/>
          </a:prstGeom>
          <a:solidFill>
            <a:srgbClr val="EEF2F8"/>
          </a:solidFill>
          <a:ln w="12700">
            <a:solidFill>
              <a:srgbClr val="EEF2F8"/>
            </a:solidFill>
            <a:prstDash val="solid"/>
          </a:ln>
        </p:spPr>
      </p:sp>
      <p:sp>
        <p:nvSpPr>
          <p:cNvPr id="19" name="Text 16"/>
          <p:cNvSpPr txBox="1"/>
          <p:nvPr/>
        </p:nvSpPr>
        <p:spPr>
          <a:xfrm>
            <a:off x="6309360" y="3547872"/>
            <a:ext cx="2468880" cy="237744"/>
          </a:xfrm>
          <a:prstGeom prst="rect">
            <a:avLst/>
          </a:prstGeom>
          <a:noFill/>
          <a:ln/>
        </p:spPr>
        <p:txBody>
          <a:bodyPr wrap="square" lIns="0" tIns="0" rIns="0" bIns="0" rtlCol="0" anchor="ctr"/>
          <a:lstStyle/>
          <a:p>
            <a:pPr indent="0" marL="0">
              <a:buNone/>
            </a:pPr>
            <a:r>
              <a:rPr lang="en-US" sz="950" b="1" dirty="0">
                <a:solidFill>
                  <a:srgbClr val="1F3F7A"/>
                </a:solidFill>
                <a:latin typeface="Microsoft YaHei" pitchFamily="34" charset="0"/>
                <a:ea typeface="Microsoft YaHei" pitchFamily="34" charset="-122"/>
                <a:cs typeface="Microsoft YaHei" pitchFamily="34" charset="-120"/>
              </a:rPr>
              <a:t>气候适生性</a:t>
            </a:r>
            <a:endParaRPr lang="en-US" sz="950" dirty="0"/>
          </a:p>
        </p:txBody>
      </p:sp>
      <p:sp>
        <p:nvSpPr>
          <p:cNvPr id="20" name="Text 17"/>
          <p:cNvSpPr txBox="1"/>
          <p:nvPr/>
        </p:nvSpPr>
        <p:spPr>
          <a:xfrm>
            <a:off x="6263640" y="3785616"/>
            <a:ext cx="2514600" cy="9144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亚热带湿润季风气候，冬季温和少霜，适宜桢楠、香樟、小叶榕、紫薇、木芙蓉等川南乡土常绿与观花植物生长，均耐粗放养护，为本项目植物配置核心选材。</a:t>
            </a:r>
            <a:endParaRPr lang="en-US" sz="800" dirty="0"/>
          </a:p>
        </p:txBody>
      </p:sp>
      <p:sp>
        <p:nvSpPr>
          <p:cNvPr id="21" name="Shape 18"/>
          <p:cNvSpPr/>
          <p:nvPr/>
        </p:nvSpPr>
        <p:spPr>
          <a:xfrm>
            <a:off x="457200" y="4224528"/>
            <a:ext cx="5532120" cy="530352"/>
          </a:xfrm>
          <a:prstGeom prst="rect">
            <a:avLst/>
          </a:prstGeom>
          <a:solidFill>
            <a:srgbClr val="EEF2F8"/>
          </a:solidFill>
          <a:ln w="12700">
            <a:solidFill>
              <a:srgbClr val="EEF2F8"/>
            </a:solidFill>
            <a:prstDash val="solid"/>
          </a:ln>
        </p:spPr>
      </p:sp>
      <p:sp>
        <p:nvSpPr>
          <p:cNvPr id="22" name="Text 19"/>
          <p:cNvSpPr txBox="1"/>
          <p:nvPr/>
        </p:nvSpPr>
        <p:spPr>
          <a:xfrm>
            <a:off x="530352" y="4242816"/>
            <a:ext cx="53949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配置策略：北侧沿普宁大道以桢楠、香樟、黄葛树构建多层降噪防护林带；运动场地周边以高大乔木形成连片林荫休憩；低洼区结合雨水花园配置耐湿地被；四季分层乡土乔灌搭配，实现全年可游。</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Historical and Cultural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2.5 历史文化分析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22</a:t>
            </a:r>
            <a:endParaRPr lang="en-US" sz="900" dirty="0"/>
          </a:p>
        </p:txBody>
      </p:sp>
      <p:pic>
        <p:nvPicPr>
          <p:cNvPr id="7" name="Image 0" descr="/home/user/lxfs/pptx_build/figs/culture.jpg">    </p:cNvPr>
          <p:cNvPicPr>
            <a:picLocks noChangeAspect="1"/>
          </p:cNvPicPr>
          <p:nvPr/>
        </p:nvPicPr>
        <p:blipFill>
          <a:blip r:embed="rId1"/>
          <a:stretch>
            <a:fillRect/>
          </a:stretch>
        </p:blipFill>
        <p:spPr>
          <a:xfrm>
            <a:off x="457200" y="932688"/>
            <a:ext cx="4206240" cy="3151815"/>
          </a:xfrm>
          <a:prstGeom prst="rect">
            <a:avLst/>
          </a:prstGeom>
        </p:spPr>
      </p:pic>
      <p:sp>
        <p:nvSpPr>
          <p:cNvPr id="8" name="Text 5"/>
          <p:cNvSpPr txBox="1"/>
          <p:nvPr/>
        </p:nvSpPr>
        <p:spPr>
          <a:xfrm>
            <a:off x="457200" y="4102791"/>
            <a:ext cx="42062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仁寿历史文化分析图</a:t>
            </a:r>
            <a:endParaRPr lang="en-US" sz="800" dirty="0"/>
          </a:p>
        </p:txBody>
      </p:sp>
      <p:sp>
        <p:nvSpPr>
          <p:cNvPr id="9" name="Shape 6"/>
          <p:cNvSpPr/>
          <p:nvPr/>
        </p:nvSpPr>
        <p:spPr>
          <a:xfrm>
            <a:off x="4892040" y="932688"/>
            <a:ext cx="3931920" cy="987552"/>
          </a:xfrm>
          <a:prstGeom prst="rect">
            <a:avLst/>
          </a:prstGeom>
          <a:solidFill>
            <a:srgbClr val="EEF2F8"/>
          </a:solidFill>
          <a:ln w="12700">
            <a:solidFill>
              <a:srgbClr val="EEF2F8"/>
            </a:solidFill>
            <a:prstDash val="solid"/>
          </a:ln>
        </p:spPr>
      </p:sp>
      <p:sp>
        <p:nvSpPr>
          <p:cNvPr id="10" name="Shape 7"/>
          <p:cNvSpPr/>
          <p:nvPr/>
        </p:nvSpPr>
        <p:spPr>
          <a:xfrm>
            <a:off x="4892040" y="932688"/>
            <a:ext cx="73152" cy="987552"/>
          </a:xfrm>
          <a:prstGeom prst="rect">
            <a:avLst/>
          </a:prstGeom>
          <a:solidFill>
            <a:srgbClr val="1F3F7A"/>
          </a:solidFill>
          <a:ln w="12700">
            <a:solidFill>
              <a:srgbClr val="1F3F7A"/>
            </a:solidFill>
            <a:prstDash val="solid"/>
          </a:ln>
        </p:spPr>
      </p:sp>
      <p:sp>
        <p:nvSpPr>
          <p:cNvPr id="11" name="Text 8"/>
          <p:cNvSpPr txBox="1"/>
          <p:nvPr/>
        </p:nvSpPr>
        <p:spPr>
          <a:xfrm>
            <a:off x="5074920" y="978408"/>
            <a:ext cx="36576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陵州人文历史文化</a:t>
            </a:r>
            <a:endParaRPr lang="en-US" sz="1000" dirty="0"/>
          </a:p>
        </p:txBody>
      </p:sp>
      <p:sp>
        <p:nvSpPr>
          <p:cNvPr id="12" name="Text 9"/>
          <p:cNvSpPr txBox="1"/>
          <p:nvPr/>
        </p:nvSpPr>
        <p:spPr>
          <a:xfrm>
            <a:off x="5029200" y="1234440"/>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自隋代置陵州，唐宋文风兴盛，留存古陵城街巷、文庙、书院历史脉络，崇文重教是本土精神内核。</a:t>
            </a:r>
            <a:endParaRPr lang="en-US" sz="850" dirty="0"/>
          </a:p>
        </p:txBody>
      </p:sp>
      <p:sp>
        <p:nvSpPr>
          <p:cNvPr id="13" name="Shape 10"/>
          <p:cNvSpPr/>
          <p:nvPr/>
        </p:nvSpPr>
        <p:spPr>
          <a:xfrm>
            <a:off x="4892040" y="2011680"/>
            <a:ext cx="3931920" cy="987552"/>
          </a:xfrm>
          <a:prstGeom prst="rect">
            <a:avLst/>
          </a:prstGeom>
          <a:solidFill>
            <a:srgbClr val="EEF2F8"/>
          </a:solidFill>
          <a:ln w="12700">
            <a:solidFill>
              <a:srgbClr val="EEF2F8"/>
            </a:solidFill>
            <a:prstDash val="solid"/>
          </a:ln>
        </p:spPr>
      </p:sp>
      <p:sp>
        <p:nvSpPr>
          <p:cNvPr id="14" name="Shape 11"/>
          <p:cNvSpPr/>
          <p:nvPr/>
        </p:nvSpPr>
        <p:spPr>
          <a:xfrm>
            <a:off x="4892040" y="2011680"/>
            <a:ext cx="73152" cy="987552"/>
          </a:xfrm>
          <a:prstGeom prst="rect">
            <a:avLst/>
          </a:prstGeom>
          <a:solidFill>
            <a:srgbClr val="E07B2A"/>
          </a:solidFill>
          <a:ln w="12700">
            <a:solidFill>
              <a:srgbClr val="E07B2A"/>
            </a:solidFill>
            <a:prstDash val="solid"/>
          </a:ln>
        </p:spPr>
      </p:sp>
      <p:sp>
        <p:nvSpPr>
          <p:cNvPr id="15" name="Text 12"/>
          <p:cNvSpPr txBox="1"/>
          <p:nvPr/>
        </p:nvSpPr>
        <p:spPr>
          <a:xfrm>
            <a:off x="5074920" y="2057400"/>
            <a:ext cx="3657600" cy="256032"/>
          </a:xfrm>
          <a:prstGeom prst="rect">
            <a:avLst/>
          </a:prstGeom>
          <a:noFill/>
          <a:ln/>
        </p:spPr>
        <p:txBody>
          <a:bodyPr wrap="square" lIns="0" tIns="0" rIns="0" bIns="0" rtlCol="0" anchor="ctr"/>
          <a:lstStyle/>
          <a:p>
            <a:pPr indent="0" marL="0">
              <a:buNone/>
            </a:pPr>
            <a:r>
              <a:rPr lang="en-US" sz="1000" b="1" dirty="0">
                <a:solidFill>
                  <a:srgbClr val="E07B2A"/>
                </a:solidFill>
                <a:latin typeface="Microsoft YaHei" pitchFamily="34" charset="0"/>
                <a:ea typeface="Microsoft YaHei" pitchFamily="34" charset="-122"/>
                <a:cs typeface="Microsoft YaHei" pitchFamily="34" charset="-120"/>
              </a:rPr>
              <a:t>黑龙滩水利建设文化</a:t>
            </a:r>
            <a:endParaRPr lang="en-US" sz="1000" dirty="0"/>
          </a:p>
        </p:txBody>
      </p:sp>
      <p:sp>
        <p:nvSpPr>
          <p:cNvPr id="16" name="Text 13"/>
          <p:cNvSpPr txBox="1"/>
          <p:nvPr/>
        </p:nvSpPr>
        <p:spPr>
          <a:xfrm>
            <a:off x="5029200" y="2313432"/>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20世纪70年代十万群众开山筑库建成西南大型人工湖黑龙滩，孕育艰苦奋斗、治水兴农的时代记忆。</a:t>
            </a:r>
            <a:endParaRPr lang="en-US" sz="850" dirty="0"/>
          </a:p>
        </p:txBody>
      </p:sp>
      <p:sp>
        <p:nvSpPr>
          <p:cNvPr id="17" name="Shape 14"/>
          <p:cNvSpPr/>
          <p:nvPr/>
        </p:nvSpPr>
        <p:spPr>
          <a:xfrm>
            <a:off x="4892040" y="3090672"/>
            <a:ext cx="3931920" cy="987552"/>
          </a:xfrm>
          <a:prstGeom prst="rect">
            <a:avLst/>
          </a:prstGeom>
          <a:solidFill>
            <a:srgbClr val="EEF2F8"/>
          </a:solidFill>
          <a:ln w="12700">
            <a:solidFill>
              <a:srgbClr val="EEF2F8"/>
            </a:solidFill>
            <a:prstDash val="solid"/>
          </a:ln>
        </p:spPr>
      </p:sp>
      <p:sp>
        <p:nvSpPr>
          <p:cNvPr id="18" name="Shape 15"/>
          <p:cNvSpPr/>
          <p:nvPr/>
        </p:nvSpPr>
        <p:spPr>
          <a:xfrm>
            <a:off x="4892040" y="3090672"/>
            <a:ext cx="73152" cy="987552"/>
          </a:xfrm>
          <a:prstGeom prst="rect">
            <a:avLst/>
          </a:prstGeom>
          <a:solidFill>
            <a:srgbClr val="4E8A3E"/>
          </a:solidFill>
          <a:ln w="12700">
            <a:solidFill>
              <a:srgbClr val="4E8A3E"/>
            </a:solidFill>
            <a:prstDash val="solid"/>
          </a:ln>
        </p:spPr>
      </p:sp>
      <p:sp>
        <p:nvSpPr>
          <p:cNvPr id="19" name="Text 16"/>
          <p:cNvSpPr txBox="1"/>
          <p:nvPr/>
        </p:nvSpPr>
        <p:spPr>
          <a:xfrm>
            <a:off x="5074920" y="3136392"/>
            <a:ext cx="3657600" cy="256032"/>
          </a:xfrm>
          <a:prstGeom prst="rect">
            <a:avLst/>
          </a:prstGeom>
          <a:noFill/>
          <a:ln/>
        </p:spPr>
        <p:txBody>
          <a:bodyPr wrap="square" lIns="0" tIns="0" rIns="0" bIns="0" rtlCol="0" anchor="ctr"/>
          <a:lstStyle/>
          <a:p>
            <a:pPr indent="0" marL="0">
              <a:buNone/>
            </a:pPr>
            <a:r>
              <a:rPr lang="en-US" sz="1000" b="1" dirty="0">
                <a:solidFill>
                  <a:srgbClr val="4E8A3E"/>
                </a:solidFill>
                <a:latin typeface="Microsoft YaHei" pitchFamily="34" charset="0"/>
                <a:ea typeface="Microsoft YaHei" pitchFamily="34" charset="-122"/>
                <a:cs typeface="Microsoft YaHei" pitchFamily="34" charset="-120"/>
              </a:rPr>
              <a:t>川南浅丘农耕民俗文化</a:t>
            </a:r>
            <a:endParaRPr lang="en-US" sz="1000" dirty="0"/>
          </a:p>
        </p:txBody>
      </p:sp>
      <p:sp>
        <p:nvSpPr>
          <p:cNvPr id="20" name="Text 17"/>
          <p:cNvSpPr txBox="1"/>
          <p:nvPr/>
        </p:nvSpPr>
        <p:spPr>
          <a:xfrm>
            <a:off x="5029200" y="3392424"/>
            <a:ext cx="3749040" cy="658368"/>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水田农耕、果林种植、民俗节庆构成居民生活底色，田园乡土气息浓厚。</a:t>
            </a:r>
            <a:endParaRPr lang="en-US" sz="850" dirty="0"/>
          </a:p>
        </p:txBody>
      </p:sp>
      <p:sp>
        <p:nvSpPr>
          <p:cNvPr id="21" name="Text 18"/>
          <p:cNvSpPr txBox="1"/>
          <p:nvPr/>
        </p:nvSpPr>
        <p:spPr>
          <a:xfrm>
            <a:off x="457200" y="4315968"/>
            <a:ext cx="8366760" cy="5029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片区文化基底：城北新城以新建商品房为主，缺少历史建筑与文化景观载体；周边居民多为老城搬迁居民和本地农村进城住户，对黑龙滩水利记忆、陵州文脉、农耕田园有深厚情感共鸣。场地作为片区唯一大型集中绿地，通过轻量化景观载体植入文化符号，弥补新城文化空间缺失。</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Road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2.6 周边道路分析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23</a:t>
            </a:r>
            <a:endParaRPr lang="en-US" sz="900" dirty="0"/>
          </a:p>
        </p:txBody>
      </p:sp>
      <p:pic>
        <p:nvPicPr>
          <p:cNvPr id="7" name="Image 0" descr="/home/user/lxfs/pptx_build/figs/roads.jpg">    </p:cNvPr>
          <p:cNvPicPr>
            <a:picLocks noChangeAspect="1"/>
          </p:cNvPicPr>
          <p:nvPr/>
        </p:nvPicPr>
        <p:blipFill>
          <a:blip r:embed="rId1"/>
          <a:stretch>
            <a:fillRect/>
          </a:stretch>
        </p:blipFill>
        <p:spPr>
          <a:xfrm>
            <a:off x="555662" y="932688"/>
            <a:ext cx="3643556" cy="1783080"/>
          </a:xfrm>
          <a:prstGeom prst="rect">
            <a:avLst/>
          </a:prstGeom>
        </p:spPr>
      </p:pic>
      <p:sp>
        <p:nvSpPr>
          <p:cNvPr id="8" name="Text 5"/>
          <p:cNvSpPr txBox="1"/>
          <p:nvPr/>
        </p:nvSpPr>
        <p:spPr>
          <a:xfrm>
            <a:off x="457200" y="2734056"/>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场地周边道路分析图</a:t>
            </a:r>
            <a:endParaRPr lang="en-US" sz="800" dirty="0"/>
          </a:p>
        </p:txBody>
      </p:sp>
      <p:pic>
        <p:nvPicPr>
          <p:cNvPr id="9" name="Image 1" descr="/home/user/lxfs/pptx_build/figs/roadcond.jpg">    </p:cNvPr>
          <p:cNvPicPr>
            <a:picLocks noChangeAspect="1"/>
          </p:cNvPicPr>
          <p:nvPr/>
        </p:nvPicPr>
        <p:blipFill>
          <a:blip r:embed="rId2"/>
          <a:stretch>
            <a:fillRect/>
          </a:stretch>
        </p:blipFill>
        <p:spPr>
          <a:xfrm>
            <a:off x="539926" y="2971800"/>
            <a:ext cx="3675028" cy="1783080"/>
          </a:xfrm>
          <a:prstGeom prst="rect">
            <a:avLst/>
          </a:prstGeom>
        </p:spPr>
      </p:pic>
      <p:sp>
        <p:nvSpPr>
          <p:cNvPr id="10" name="Text 6"/>
          <p:cNvSpPr txBox="1"/>
          <p:nvPr/>
        </p:nvSpPr>
        <p:spPr>
          <a:xfrm>
            <a:off x="457200" y="4773168"/>
            <a:ext cx="38404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场地周边路况分析图</a:t>
            </a:r>
            <a:endParaRPr lang="en-US" sz="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26280" y="932688"/>
          <a:ext cx="4297680" cy="914400"/>
        </p:xfrm>
        <a:graphic>
          <a:graphicData uri="http://schemas.openxmlformats.org/drawingml/2006/table">
            <a:tbl>
              <a:tblPr/>
              <a:tblGrid>
                <a:gridCol w="502920"/>
                <a:gridCol w="1234440"/>
                <a:gridCol w="914400"/>
                <a:gridCol w="1645920"/>
              </a:tblGrid>
              <a:tr h="384048">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方位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道路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等级</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影响</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普宁大道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城市主干道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车流大，噪声粉尘干扰，需防护林带</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西</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陵州大道 / 青冈路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车行出入优先</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东</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黑龙滩路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次干道</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人行通达性好</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384048">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南</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里仁路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城市支路</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50" dirty="0">
                          <a:solidFill>
                            <a:srgbClr val="444444"/>
                          </a:solidFill>
                          <a:latin typeface="Microsoft YaHei" pitchFamily="34" charset="0"/>
                          <a:ea typeface="Microsoft YaHei" pitchFamily="34" charset="-122"/>
                          <a:cs typeface="Microsoft YaHei" pitchFamily="34" charset="-120"/>
                        </a:rPr>
                        <a:t>慢行辅助出入口</a:t>
                      </a:r>
                      <a:endParaRPr lang="en-US" sz="85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12" name="Shape 7"/>
          <p:cNvSpPr/>
          <p:nvPr/>
        </p:nvSpPr>
        <p:spPr>
          <a:xfrm>
            <a:off x="4526280" y="3063240"/>
            <a:ext cx="4297680" cy="1691640"/>
          </a:xfrm>
          <a:prstGeom prst="rect">
            <a:avLst/>
          </a:prstGeom>
          <a:solidFill>
            <a:srgbClr val="EEF2F8"/>
          </a:solidFill>
          <a:ln w="12700">
            <a:solidFill>
              <a:srgbClr val="EEF2F8"/>
            </a:solidFill>
            <a:prstDash val="solid"/>
          </a:ln>
        </p:spPr>
      </p:sp>
      <p:sp>
        <p:nvSpPr>
          <p:cNvPr id="13" name="Text 8"/>
          <p:cNvSpPr txBox="1"/>
          <p:nvPr/>
        </p:nvSpPr>
        <p:spPr>
          <a:xfrm>
            <a:off x="4617720" y="3127248"/>
            <a:ext cx="4114800" cy="1554480"/>
          </a:xfrm>
          <a:prstGeom prst="rect">
            <a:avLst/>
          </a:prstGeom>
          <a:noFill/>
          <a:ln/>
        </p:spPr>
        <p:txBody>
          <a:bodyPr wrap="square" lIns="25400" tIns="25400" rIns="25400" bIns="25400" rtlCol="0" anchor="t"/>
          <a:lstStyle/>
          <a:p>
            <a:pPr indent="0" marL="0">
              <a:lnSpc>
                <a:spcPct val="130000"/>
              </a:lnSpc>
              <a:buNone/>
            </a:pPr>
            <a:r>
              <a:rPr lang="en-US" sz="900" dirty="0">
                <a:solidFill>
                  <a:srgbClr val="444444"/>
                </a:solidFill>
                <a:latin typeface="Microsoft YaHei" pitchFamily="34" charset="0"/>
                <a:ea typeface="Microsoft YaHei" pitchFamily="34" charset="-122"/>
                <a:cs typeface="Microsoft YaHei" pitchFamily="34" charset="-120"/>
              </a:rPr>
              <a:t>路网层级完善，涵盖主干道、次干道、支路，四面临路。临近天府仁寿大道，属城区发展重点板块，道路路面宽敞，沿线绿化配套完善。平峰时段通行顺畅，节假日休闲客流上升，依托方格路网可有效疏解。</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Traffic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2.7 周边交通分析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24</a:t>
            </a:r>
            <a:endParaRPr lang="en-US" sz="900" dirty="0"/>
          </a:p>
        </p:txBody>
      </p:sp>
      <p:pic>
        <p:nvPicPr>
          <p:cNvPr id="7" name="Image 0" descr="/home/user/lxfs/pptx_build/figs/traffic.jpg">    </p:cNvPr>
          <p:cNvPicPr>
            <a:picLocks noChangeAspect="1"/>
          </p:cNvPicPr>
          <p:nvPr/>
        </p:nvPicPr>
        <p:blipFill>
          <a:blip r:embed="rId1"/>
          <a:stretch>
            <a:fillRect/>
          </a:stretch>
        </p:blipFill>
        <p:spPr>
          <a:xfrm>
            <a:off x="461465" y="932688"/>
            <a:ext cx="5203550" cy="2606040"/>
          </a:xfrm>
          <a:prstGeom prst="rect">
            <a:avLst/>
          </a:prstGeom>
        </p:spPr>
      </p:pic>
      <p:sp>
        <p:nvSpPr>
          <p:cNvPr id="8" name="Text 5"/>
          <p:cNvSpPr txBox="1"/>
          <p:nvPr/>
        </p:nvSpPr>
        <p:spPr>
          <a:xfrm>
            <a:off x="457200" y="3557016"/>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场地周边交通分析图</a:t>
            </a:r>
            <a:endParaRPr lang="en-US" sz="800" dirty="0"/>
          </a:p>
        </p:txBody>
      </p:sp>
      <p:sp>
        <p:nvSpPr>
          <p:cNvPr id="9" name="Shape 6"/>
          <p:cNvSpPr/>
          <p:nvPr/>
        </p:nvSpPr>
        <p:spPr>
          <a:xfrm>
            <a:off x="5897880" y="932688"/>
            <a:ext cx="2926080" cy="1170432"/>
          </a:xfrm>
          <a:prstGeom prst="rect">
            <a:avLst/>
          </a:prstGeom>
          <a:solidFill>
            <a:srgbClr val="EEF2F8"/>
          </a:solidFill>
          <a:ln w="12700">
            <a:solidFill>
              <a:srgbClr val="EEF2F8"/>
            </a:solidFill>
            <a:prstDash val="solid"/>
          </a:ln>
        </p:spPr>
      </p:sp>
      <p:sp>
        <p:nvSpPr>
          <p:cNvPr id="10" name="Shape 7"/>
          <p:cNvSpPr/>
          <p:nvPr/>
        </p:nvSpPr>
        <p:spPr>
          <a:xfrm>
            <a:off x="5989320" y="1024128"/>
            <a:ext cx="914400" cy="274320"/>
          </a:xfrm>
          <a:prstGeom prst="rect">
            <a:avLst/>
          </a:prstGeom>
          <a:solidFill>
            <a:srgbClr val="1F3F7A"/>
          </a:solidFill>
          <a:ln w="12700">
            <a:solidFill>
              <a:srgbClr val="1F3F7A"/>
            </a:solidFill>
            <a:prstDash val="solid"/>
          </a:ln>
        </p:spPr>
      </p:sp>
      <p:sp>
        <p:nvSpPr>
          <p:cNvPr id="11" name="Text 8"/>
          <p:cNvSpPr txBox="1"/>
          <p:nvPr/>
        </p:nvSpPr>
        <p:spPr>
          <a:xfrm>
            <a:off x="5989320" y="102412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公共交通</a:t>
            </a:r>
            <a:endParaRPr lang="en-US" sz="900" dirty="0"/>
          </a:p>
        </p:txBody>
      </p:sp>
      <p:sp>
        <p:nvSpPr>
          <p:cNvPr id="12" name="Text 9"/>
          <p:cNvSpPr txBox="1"/>
          <p:nvPr/>
        </p:nvSpPr>
        <p:spPr>
          <a:xfrm>
            <a:off x="5943600" y="131673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场地周围分布多处公交停靠点，覆盖多条城区公交线路，具备基础公共交通条件，但近距离公交接驳仍有提升空间。</a:t>
            </a:r>
            <a:endParaRPr lang="en-US" sz="850" dirty="0"/>
          </a:p>
        </p:txBody>
      </p:sp>
      <p:sp>
        <p:nvSpPr>
          <p:cNvPr id="13" name="Shape 10"/>
          <p:cNvSpPr/>
          <p:nvPr/>
        </p:nvSpPr>
        <p:spPr>
          <a:xfrm>
            <a:off x="5897880" y="2212848"/>
            <a:ext cx="2926080" cy="1170432"/>
          </a:xfrm>
          <a:prstGeom prst="rect">
            <a:avLst/>
          </a:prstGeom>
          <a:solidFill>
            <a:srgbClr val="EEF2F8"/>
          </a:solidFill>
          <a:ln w="12700">
            <a:solidFill>
              <a:srgbClr val="EEF2F8"/>
            </a:solidFill>
            <a:prstDash val="solid"/>
          </a:ln>
        </p:spPr>
      </p:sp>
      <p:sp>
        <p:nvSpPr>
          <p:cNvPr id="14" name="Shape 11"/>
          <p:cNvSpPr/>
          <p:nvPr/>
        </p:nvSpPr>
        <p:spPr>
          <a:xfrm>
            <a:off x="5989320" y="2304288"/>
            <a:ext cx="914400" cy="274320"/>
          </a:xfrm>
          <a:prstGeom prst="rect">
            <a:avLst/>
          </a:prstGeom>
          <a:solidFill>
            <a:srgbClr val="E07B2A"/>
          </a:solidFill>
          <a:ln w="12700">
            <a:solidFill>
              <a:srgbClr val="E07B2A"/>
            </a:solidFill>
            <a:prstDash val="solid"/>
          </a:ln>
        </p:spPr>
      </p:sp>
      <p:sp>
        <p:nvSpPr>
          <p:cNvPr id="15" name="Text 12"/>
          <p:cNvSpPr txBox="1"/>
          <p:nvPr/>
        </p:nvSpPr>
        <p:spPr>
          <a:xfrm>
            <a:off x="5989320" y="230428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机动车交通</a:t>
            </a:r>
            <a:endParaRPr lang="en-US" sz="900" dirty="0"/>
          </a:p>
        </p:txBody>
      </p:sp>
      <p:sp>
        <p:nvSpPr>
          <p:cNvPr id="16" name="Text 13"/>
          <p:cNvSpPr txBox="1"/>
          <p:nvPr/>
        </p:nvSpPr>
        <p:spPr>
          <a:xfrm>
            <a:off x="5943600" y="259689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地块被主次干道合围，车行条件良好。车行出入优先考虑西侧、北侧道路开口。</a:t>
            </a:r>
            <a:endParaRPr lang="en-US" sz="850" dirty="0"/>
          </a:p>
        </p:txBody>
      </p:sp>
      <p:sp>
        <p:nvSpPr>
          <p:cNvPr id="17" name="Shape 14"/>
          <p:cNvSpPr/>
          <p:nvPr/>
        </p:nvSpPr>
        <p:spPr>
          <a:xfrm>
            <a:off x="5897880" y="3493008"/>
            <a:ext cx="2926080" cy="1170432"/>
          </a:xfrm>
          <a:prstGeom prst="rect">
            <a:avLst/>
          </a:prstGeom>
          <a:solidFill>
            <a:srgbClr val="EEF2F8"/>
          </a:solidFill>
          <a:ln w="12700">
            <a:solidFill>
              <a:srgbClr val="EEF2F8"/>
            </a:solidFill>
            <a:prstDash val="solid"/>
          </a:ln>
        </p:spPr>
      </p:sp>
      <p:sp>
        <p:nvSpPr>
          <p:cNvPr id="18" name="Shape 15"/>
          <p:cNvSpPr/>
          <p:nvPr/>
        </p:nvSpPr>
        <p:spPr>
          <a:xfrm>
            <a:off x="5989320" y="3584448"/>
            <a:ext cx="914400" cy="274320"/>
          </a:xfrm>
          <a:prstGeom prst="rect">
            <a:avLst/>
          </a:prstGeom>
          <a:solidFill>
            <a:srgbClr val="4E8A3E"/>
          </a:solidFill>
          <a:ln w="12700">
            <a:solidFill>
              <a:srgbClr val="4E8A3E"/>
            </a:solidFill>
            <a:prstDash val="solid"/>
          </a:ln>
        </p:spPr>
      </p:sp>
      <p:sp>
        <p:nvSpPr>
          <p:cNvPr id="19" name="Text 16"/>
          <p:cNvSpPr txBox="1"/>
          <p:nvPr/>
        </p:nvSpPr>
        <p:spPr>
          <a:xfrm>
            <a:off x="5989320" y="3584448"/>
            <a:ext cx="9144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慢行交通</a:t>
            </a:r>
            <a:endParaRPr lang="en-US" sz="900" dirty="0"/>
          </a:p>
        </p:txBody>
      </p:sp>
      <p:sp>
        <p:nvSpPr>
          <p:cNvPr id="20" name="Text 17"/>
          <p:cNvSpPr txBox="1"/>
          <p:nvPr/>
        </p:nvSpPr>
        <p:spPr>
          <a:xfrm>
            <a:off x="5943600" y="3877056"/>
            <a:ext cx="2834640" cy="777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南侧里仁路为城市支路，作为慢行辅助出入口；四面设人行入口，居民下楼直达。</a:t>
            </a:r>
            <a:endParaRPr lang="en-US" sz="850" dirty="0"/>
          </a:p>
        </p:txBody>
      </p:sp>
      <p:pic>
        <p:nvPicPr>
          <p:cNvPr id="21" name="Image 1" descr="/home/user/lxfs/pptx_build/figs/site_2.jpg">    </p:cNvPr>
          <p:cNvPicPr>
            <a:picLocks noChangeAspect="1"/>
          </p:cNvPicPr>
          <p:nvPr/>
        </p:nvPicPr>
        <p:blipFill>
          <a:blip r:embed="rId2"/>
          <a:stretch>
            <a:fillRect/>
          </a:stretch>
        </p:blipFill>
        <p:spPr>
          <a:xfrm>
            <a:off x="897925" y="3767328"/>
            <a:ext cx="1678869" cy="960120"/>
          </a:xfrm>
          <a:prstGeom prst="rect">
            <a:avLst/>
          </a:prstGeom>
        </p:spPr>
      </p:pic>
      <p:pic>
        <p:nvPicPr>
          <p:cNvPr id="22" name="Image 2" descr="/home/user/lxfs/pptx_build/figs/site_3.jpg">    </p:cNvPr>
          <p:cNvPicPr>
            <a:picLocks noChangeAspect="1"/>
          </p:cNvPicPr>
          <p:nvPr/>
        </p:nvPicPr>
        <p:blipFill>
          <a:blip r:embed="rId3"/>
          <a:stretch>
            <a:fillRect/>
          </a:stretch>
        </p:blipFill>
        <p:spPr>
          <a:xfrm>
            <a:off x="3549685" y="3767328"/>
            <a:ext cx="1678869" cy="960120"/>
          </a:xfrm>
          <a:prstGeom prst="rect">
            <a:avLst/>
          </a:prstGeom>
        </p:spPr>
      </p:pic>
      <p:sp>
        <p:nvSpPr>
          <p:cNvPr id="23" name="Text 18"/>
          <p:cNvSpPr txBox="1"/>
          <p:nvPr/>
        </p:nvSpPr>
        <p:spPr>
          <a:xfrm>
            <a:off x="457200" y="4736592"/>
            <a:ext cx="521208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场地周边道路现状照片</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Pedestrian Flow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2.8 周边人行流线分析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25</a:t>
            </a:r>
            <a:endParaRPr lang="en-US" sz="900" dirty="0"/>
          </a:p>
        </p:txBody>
      </p:sp>
      <p:pic>
        <p:nvPicPr>
          <p:cNvPr id="7" name="Image 0" descr="/home/user/lxfs/pptx_build/figs/flow.jpg">    </p:cNvPr>
          <p:cNvPicPr>
            <a:picLocks noChangeAspect="1"/>
          </p:cNvPicPr>
          <p:nvPr/>
        </p:nvPicPr>
        <p:blipFill>
          <a:blip r:embed="rId1"/>
          <a:stretch>
            <a:fillRect/>
          </a:stretch>
        </p:blipFill>
        <p:spPr>
          <a:xfrm>
            <a:off x="457200" y="932688"/>
            <a:ext cx="5212080" cy="2576522"/>
          </a:xfrm>
          <a:prstGeom prst="rect">
            <a:avLst/>
          </a:prstGeom>
        </p:spPr>
      </p:pic>
      <p:sp>
        <p:nvSpPr>
          <p:cNvPr id="8" name="Text 5"/>
          <p:cNvSpPr txBox="1"/>
          <p:nvPr/>
        </p:nvSpPr>
        <p:spPr>
          <a:xfrm>
            <a:off x="457200" y="3527498"/>
            <a:ext cx="5212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周边人行流线分析图（蓝：居民聚集点；红：进入聚集点）</a:t>
            </a:r>
            <a:endParaRPr lang="en-US" sz="800" dirty="0"/>
          </a:p>
        </p:txBody>
      </p:sp>
      <p:sp>
        <p:nvSpPr>
          <p:cNvPr id="9" name="Text 6"/>
          <p:cNvSpPr txBox="1"/>
          <p:nvPr/>
        </p:nvSpPr>
        <p:spPr>
          <a:xfrm>
            <a:off x="5897880" y="932688"/>
            <a:ext cx="2926080" cy="214884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场地被居住区环绕，紧邻星光幼儿园、文镇小学、文镇幼儿园、仁寿实验中学，人流量大</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主要人流来源：东西两侧小区（最强）、南北两侧小区、四所学校（上下学潮汐）、北侧商务配套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上学时段学生穿越场地形成通道型流线；晨晚居民从四向就近进入</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设计启示：四向人行入口与小区、学校出入口对应；主流线连续无障碍；通道流线与活动场地分离</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人群构成与行为特征见2.12、2.13</a:t>
            </a:r>
            <a:endParaRPr lang="en-US" sz="850" dirty="0"/>
          </a:p>
        </p:txBody>
      </p:sp>
      <p:pic>
        <p:nvPicPr>
          <p:cNvPr id="10" name="Image 1" descr="/home/user/lxfs/pptx_build/figs/site_4.jpg">    </p:cNvPr>
          <p:cNvPicPr>
            <a:picLocks noChangeAspect="1"/>
          </p:cNvPicPr>
          <p:nvPr/>
        </p:nvPicPr>
        <p:blipFill>
          <a:blip r:embed="rId2"/>
          <a:stretch>
            <a:fillRect/>
          </a:stretch>
        </p:blipFill>
        <p:spPr>
          <a:xfrm>
            <a:off x="6077695" y="3108960"/>
            <a:ext cx="2566450" cy="1463040"/>
          </a:xfrm>
          <a:prstGeom prst="rect">
            <a:avLst/>
          </a:prstGeom>
        </p:spPr>
      </p:pic>
      <p:sp>
        <p:nvSpPr>
          <p:cNvPr id="11" name="Text 7"/>
          <p:cNvSpPr txBox="1"/>
          <p:nvPr/>
        </p:nvSpPr>
        <p:spPr>
          <a:xfrm>
            <a:off x="5897880" y="4590288"/>
            <a:ext cx="29260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场地南侧居住区与现状</a:t>
            </a:r>
            <a:endParaRPr lang="en-US" sz="800" dirty="0"/>
          </a:p>
        </p:txBody>
      </p:sp>
      <p:sp>
        <p:nvSpPr>
          <p:cNvPr id="12" name="Shape 8"/>
          <p:cNvSpPr/>
          <p:nvPr/>
        </p:nvSpPr>
        <p:spPr>
          <a:xfrm>
            <a:off x="457200" y="3840480"/>
            <a:ext cx="5212080" cy="868680"/>
          </a:xfrm>
          <a:prstGeom prst="rect">
            <a:avLst/>
          </a:prstGeom>
          <a:solidFill>
            <a:srgbClr val="EEF2F8"/>
          </a:solidFill>
          <a:ln w="12700">
            <a:solidFill>
              <a:srgbClr val="EEF2F8"/>
            </a:solidFill>
            <a:prstDash val="solid"/>
          </a:ln>
        </p:spPr>
      </p:sp>
      <p:sp>
        <p:nvSpPr>
          <p:cNvPr id="13" name="Text 9"/>
          <p:cNvSpPr txBox="1"/>
          <p:nvPr/>
        </p:nvSpPr>
        <p:spPr>
          <a:xfrm>
            <a:off x="530352" y="3867912"/>
            <a:ext cx="5074920" cy="8229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周边居住区常住居民中老年群体占比较高，包含家庭亲子群体、文镇小学师生群体；本地居民以周边小区家庭住户为主。青少年主要开展户外游玩、体育运动；中老年人偏向散步、休闲社交；外来游客多短途停留，偏好生态休闲活动。</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Peripheral Land Use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2.9 周边用地分析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26</a:t>
            </a:r>
            <a:endParaRPr lang="en-US" sz="900" dirty="0"/>
          </a:p>
        </p:txBody>
      </p:sp>
      <p:pic>
        <p:nvPicPr>
          <p:cNvPr id="7" name="Image 0" descr="/home/user/lxfs/pptx_build/figs/landuse.jpg">    </p:cNvPr>
          <p:cNvPicPr>
            <a:picLocks noChangeAspect="1"/>
          </p:cNvPicPr>
          <p:nvPr/>
        </p:nvPicPr>
        <p:blipFill>
          <a:blip r:embed="rId1"/>
          <a:stretch>
            <a:fillRect/>
          </a:stretch>
        </p:blipFill>
        <p:spPr>
          <a:xfrm>
            <a:off x="457200" y="932688"/>
            <a:ext cx="4846320" cy="2874480"/>
          </a:xfrm>
          <a:prstGeom prst="rect">
            <a:avLst/>
          </a:prstGeom>
        </p:spPr>
      </p:pic>
      <p:sp>
        <p:nvSpPr>
          <p:cNvPr id="8" name="Text 5"/>
          <p:cNvSpPr txBox="1"/>
          <p:nvPr/>
        </p:nvSpPr>
        <p:spPr>
          <a:xfrm>
            <a:off x="457200" y="3825456"/>
            <a:ext cx="48463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场地周边用地性质分析图</a:t>
            </a:r>
            <a:endParaRPr lang="en-US" sz="800" dirty="0"/>
          </a:p>
        </p:txBody>
      </p:sp>
      <p:sp>
        <p:nvSpPr>
          <p:cNvPr id="9" name="Shape 6"/>
          <p:cNvSpPr/>
          <p:nvPr/>
        </p:nvSpPr>
        <p:spPr>
          <a:xfrm>
            <a:off x="5577840" y="1005840"/>
            <a:ext cx="274320" cy="201168"/>
          </a:xfrm>
          <a:prstGeom prst="rect">
            <a:avLst/>
          </a:prstGeom>
          <a:solidFill>
            <a:srgbClr val="F2D24B"/>
          </a:solidFill>
          <a:ln w="12700">
            <a:solidFill>
              <a:srgbClr val="F2D24B"/>
            </a:solidFill>
            <a:prstDash val="solid"/>
          </a:ln>
        </p:spPr>
      </p:sp>
      <p:sp>
        <p:nvSpPr>
          <p:cNvPr id="10" name="Text 7"/>
          <p:cNvSpPr txBox="1"/>
          <p:nvPr/>
        </p:nvSpPr>
        <p:spPr>
          <a:xfrm>
            <a:off x="5943600" y="96012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住宅用地</a:t>
            </a:r>
            <a:endParaRPr lang="en-US" sz="950" dirty="0"/>
          </a:p>
        </p:txBody>
      </p:sp>
      <p:sp>
        <p:nvSpPr>
          <p:cNvPr id="11" name="Shape 8"/>
          <p:cNvSpPr/>
          <p:nvPr/>
        </p:nvSpPr>
        <p:spPr>
          <a:xfrm>
            <a:off x="5577840" y="1371600"/>
            <a:ext cx="274320" cy="201168"/>
          </a:xfrm>
          <a:prstGeom prst="rect">
            <a:avLst/>
          </a:prstGeom>
          <a:solidFill>
            <a:srgbClr val="E58EC0"/>
          </a:solidFill>
          <a:ln w="12700">
            <a:solidFill>
              <a:srgbClr val="E58EC0"/>
            </a:solidFill>
            <a:prstDash val="solid"/>
          </a:ln>
        </p:spPr>
      </p:sp>
      <p:sp>
        <p:nvSpPr>
          <p:cNvPr id="12" name="Text 9"/>
          <p:cNvSpPr txBox="1"/>
          <p:nvPr/>
        </p:nvSpPr>
        <p:spPr>
          <a:xfrm>
            <a:off x="5943600" y="132588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教育用地</a:t>
            </a:r>
            <a:endParaRPr lang="en-US" sz="950" dirty="0"/>
          </a:p>
        </p:txBody>
      </p:sp>
      <p:sp>
        <p:nvSpPr>
          <p:cNvPr id="13" name="Shape 10"/>
          <p:cNvSpPr/>
          <p:nvPr/>
        </p:nvSpPr>
        <p:spPr>
          <a:xfrm>
            <a:off x="5577840" y="1737360"/>
            <a:ext cx="274320" cy="201168"/>
          </a:xfrm>
          <a:prstGeom prst="rect">
            <a:avLst/>
          </a:prstGeom>
          <a:solidFill>
            <a:srgbClr val="E8542E"/>
          </a:solidFill>
          <a:ln w="12700">
            <a:solidFill>
              <a:srgbClr val="E8542E"/>
            </a:solidFill>
            <a:prstDash val="solid"/>
          </a:ln>
        </p:spPr>
      </p:sp>
      <p:sp>
        <p:nvSpPr>
          <p:cNvPr id="14" name="Text 11"/>
          <p:cNvSpPr txBox="1"/>
          <p:nvPr/>
        </p:nvSpPr>
        <p:spPr>
          <a:xfrm>
            <a:off x="5943600" y="169164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商业用地</a:t>
            </a:r>
            <a:endParaRPr lang="en-US" sz="950" dirty="0"/>
          </a:p>
        </p:txBody>
      </p:sp>
      <p:sp>
        <p:nvSpPr>
          <p:cNvPr id="15" name="Shape 12"/>
          <p:cNvSpPr/>
          <p:nvPr/>
        </p:nvSpPr>
        <p:spPr>
          <a:xfrm>
            <a:off x="5577840" y="2103120"/>
            <a:ext cx="274320" cy="201168"/>
          </a:xfrm>
          <a:prstGeom prst="rect">
            <a:avLst/>
          </a:prstGeom>
          <a:solidFill>
            <a:srgbClr val="5DBA4A"/>
          </a:solidFill>
          <a:ln w="12700">
            <a:solidFill>
              <a:srgbClr val="5DBA4A"/>
            </a:solidFill>
            <a:prstDash val="solid"/>
          </a:ln>
        </p:spPr>
      </p:sp>
      <p:sp>
        <p:nvSpPr>
          <p:cNvPr id="16" name="Text 13"/>
          <p:cNvSpPr txBox="1"/>
          <p:nvPr/>
        </p:nvSpPr>
        <p:spPr>
          <a:xfrm>
            <a:off x="5943600" y="205740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公园用地</a:t>
            </a:r>
            <a:endParaRPr lang="en-US" sz="950" dirty="0"/>
          </a:p>
        </p:txBody>
      </p:sp>
      <p:sp>
        <p:nvSpPr>
          <p:cNvPr id="17" name="Shape 14"/>
          <p:cNvSpPr/>
          <p:nvPr/>
        </p:nvSpPr>
        <p:spPr>
          <a:xfrm>
            <a:off x="5577840" y="2468880"/>
            <a:ext cx="274320" cy="201168"/>
          </a:xfrm>
          <a:prstGeom prst="rect">
            <a:avLst/>
          </a:prstGeom>
          <a:solidFill>
            <a:srgbClr val="8EC6F0"/>
          </a:solidFill>
          <a:ln w="12700">
            <a:solidFill>
              <a:srgbClr val="8EC6F0"/>
            </a:solidFill>
            <a:prstDash val="solid"/>
          </a:ln>
        </p:spPr>
      </p:sp>
      <p:sp>
        <p:nvSpPr>
          <p:cNvPr id="18" name="Text 15"/>
          <p:cNvSpPr txBox="1"/>
          <p:nvPr/>
        </p:nvSpPr>
        <p:spPr>
          <a:xfrm>
            <a:off x="5943600" y="2423160"/>
            <a:ext cx="1280160" cy="292608"/>
          </a:xfrm>
          <a:prstGeom prst="rect">
            <a:avLst/>
          </a:prstGeom>
          <a:noFill/>
          <a:ln/>
        </p:spPr>
        <p:txBody>
          <a:bodyPr wrap="square" lIns="0" tIns="0" rIns="0" bIns="0" rtlCol="0" anchor="ctr"/>
          <a:lstStyle/>
          <a:p>
            <a:pPr indent="0" marL="0">
              <a:buNone/>
            </a:pPr>
            <a:r>
              <a:rPr lang="en-US" sz="950" dirty="0">
                <a:solidFill>
                  <a:srgbClr val="444444"/>
                </a:solidFill>
                <a:latin typeface="Microsoft YaHei" pitchFamily="34" charset="0"/>
                <a:ea typeface="Microsoft YaHei" pitchFamily="34" charset="-122"/>
                <a:cs typeface="Microsoft YaHei" pitchFamily="34" charset="-120"/>
              </a:rPr>
              <a:t>医疗/服务</a:t>
            </a:r>
            <a:endParaRPr lang="en-US" sz="950" dirty="0"/>
          </a:p>
        </p:txBody>
      </p:sp>
      <p:pic>
        <p:nvPicPr>
          <p:cNvPr id="19" name="Image 1" descr="/home/user/lxfs/pptx_build/figs/map.jpg">    </p:cNvPr>
          <p:cNvPicPr>
            <a:picLocks noChangeAspect="1"/>
          </p:cNvPicPr>
          <p:nvPr/>
        </p:nvPicPr>
        <p:blipFill>
          <a:blip r:embed="rId2"/>
          <a:stretch>
            <a:fillRect/>
          </a:stretch>
        </p:blipFill>
        <p:spPr>
          <a:xfrm>
            <a:off x="7330745" y="960120"/>
            <a:ext cx="1477670" cy="2651760"/>
          </a:xfrm>
          <a:prstGeom prst="rect">
            <a:avLst/>
          </a:prstGeom>
        </p:spPr>
      </p:pic>
      <p:sp>
        <p:nvSpPr>
          <p:cNvPr id="20" name="Text 16"/>
          <p:cNvSpPr txBox="1"/>
          <p:nvPr/>
        </p:nvSpPr>
        <p:spPr>
          <a:xfrm>
            <a:off x="7315200" y="3630168"/>
            <a:ext cx="15087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现状地图</a:t>
            </a:r>
            <a:endParaRPr lang="en-US" sz="800" dirty="0"/>
          </a:p>
        </p:txBody>
      </p:sp>
      <p:sp>
        <p:nvSpPr>
          <p:cNvPr id="21" name="Shape 17"/>
          <p:cNvSpPr/>
          <p:nvPr/>
        </p:nvSpPr>
        <p:spPr>
          <a:xfrm>
            <a:off x="5577840" y="3886200"/>
            <a:ext cx="3246120" cy="868680"/>
          </a:xfrm>
          <a:prstGeom prst="rect">
            <a:avLst/>
          </a:prstGeom>
          <a:solidFill>
            <a:srgbClr val="EEF2F8"/>
          </a:solidFill>
          <a:ln w="12700">
            <a:solidFill>
              <a:srgbClr val="EEF2F8"/>
            </a:solidFill>
            <a:prstDash val="solid"/>
          </a:ln>
        </p:spPr>
      </p:sp>
      <p:sp>
        <p:nvSpPr>
          <p:cNvPr id="22" name="Text 18"/>
          <p:cNvSpPr txBox="1"/>
          <p:nvPr/>
        </p:nvSpPr>
        <p:spPr>
          <a:xfrm>
            <a:off x="5623560" y="3904488"/>
            <a:ext cx="3154680" cy="82296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场地四周以二类居住用地为主，周边配套社区幼儿园、小学、沿街商业、小型社区卫生服务站；北侧普宁大道对面为城市商务配套用地。整体人居环境纯粹，公园服务人群以常住居民为主。</a:t>
            </a:r>
            <a:endParaRPr lang="en-US" sz="800" dirty="0"/>
          </a:p>
        </p:txBody>
      </p:sp>
      <p:sp>
        <p:nvSpPr>
          <p:cNvPr id="23" name="Text 19"/>
          <p:cNvSpPr txBox="1"/>
          <p:nvPr/>
        </p:nvSpPr>
        <p:spPr>
          <a:xfrm>
            <a:off x="457200" y="4114800"/>
            <a:ext cx="4846320" cy="274320"/>
          </a:xfrm>
          <a:prstGeom prst="rect">
            <a:avLst/>
          </a:prstGeom>
          <a:noFill/>
          <a:ln/>
        </p:spPr>
        <p:txBody>
          <a:bodyPr wrap="square" lIns="25400" tIns="25400" rIns="25400" bIns="25400" rtlCol="0" anchor="t"/>
          <a:lstStyle/>
          <a:p>
            <a:pPr indent="0" marL="0">
              <a:lnSpc>
                <a:spcPct val="115000"/>
              </a:lnSpc>
              <a:buNone/>
            </a:pPr>
            <a:r>
              <a:rPr lang="en-US" sz="850" b="1" dirty="0">
                <a:solidFill>
                  <a:srgbClr val="1F3F7A"/>
                </a:solidFill>
                <a:latin typeface="Microsoft YaHei" pitchFamily="34" charset="0"/>
                <a:ea typeface="Microsoft YaHei" pitchFamily="34" charset="-122"/>
                <a:cs typeface="Microsoft YaHei" pitchFamily="34" charset="-120"/>
              </a:rPr>
              <a:t>周边学校：星光幼儿园、文镇小学、文镇幼儿园、仁寿实验中学</a:t>
            </a:r>
            <a:endParaRPr lang="en-US" sz="850" dirty="0"/>
          </a:p>
        </p:txBody>
      </p:sp>
      <p:sp>
        <p:nvSpPr>
          <p:cNvPr id="24" name="Text 20"/>
          <p:cNvSpPr txBox="1"/>
          <p:nvPr/>
        </p:nvSpPr>
        <p:spPr>
          <a:xfrm>
            <a:off x="5577840" y="2880360"/>
            <a:ext cx="173736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图例颜色为示意，以分析图中标注为准。</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Landscape and Landform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2.10 地形地貌分析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27</a:t>
            </a:r>
            <a:endParaRPr lang="en-US" sz="900" dirty="0"/>
          </a:p>
        </p:txBody>
      </p:sp>
      <p:pic>
        <p:nvPicPr>
          <p:cNvPr id="7" name="Image 0" descr="/home/user/lxfs/pptx_build/figs/satellite.jpg">    </p:cNvPr>
          <p:cNvPicPr>
            <a:picLocks noChangeAspect="1"/>
          </p:cNvPicPr>
          <p:nvPr/>
        </p:nvPicPr>
        <p:blipFill>
          <a:blip r:embed="rId1"/>
          <a:stretch>
            <a:fillRect/>
          </a:stretch>
        </p:blipFill>
        <p:spPr>
          <a:xfrm>
            <a:off x="457200" y="932688"/>
            <a:ext cx="4023360" cy="3171755"/>
          </a:xfrm>
          <a:prstGeom prst="rect">
            <a:avLst/>
          </a:prstGeom>
        </p:spPr>
      </p:pic>
      <p:sp>
        <p:nvSpPr>
          <p:cNvPr id="8" name="Text 5"/>
          <p:cNvSpPr txBox="1"/>
          <p:nvPr/>
        </p:nvSpPr>
        <p:spPr>
          <a:xfrm>
            <a:off x="457200" y="4122731"/>
            <a:ext cx="402336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场地卫星影像（红线范围内为设计地块）</a:t>
            </a:r>
            <a:endParaRPr lang="en-US" sz="800" dirty="0"/>
          </a:p>
        </p:txBody>
      </p:sp>
      <p:pic>
        <p:nvPicPr>
          <p:cNvPr id="9" name="Image 1" descr="/home/user/lxfs/pptx_build/figs/site_4.jpg">    </p:cNvPr>
          <p:cNvPicPr>
            <a:picLocks noChangeAspect="1"/>
          </p:cNvPicPr>
          <p:nvPr/>
        </p:nvPicPr>
        <p:blipFill>
          <a:blip r:embed="rId2"/>
          <a:stretch>
            <a:fillRect/>
          </a:stretch>
        </p:blipFill>
        <p:spPr>
          <a:xfrm>
            <a:off x="4709160" y="932688"/>
            <a:ext cx="2011680" cy="1146786"/>
          </a:xfrm>
          <a:prstGeom prst="rect">
            <a:avLst/>
          </a:prstGeom>
        </p:spPr>
      </p:pic>
      <p:pic>
        <p:nvPicPr>
          <p:cNvPr id="10" name="Image 2" descr="/home/user/lxfs/pptx_build/figs/site_1.jpg">    </p:cNvPr>
          <p:cNvPicPr>
            <a:picLocks noChangeAspect="1"/>
          </p:cNvPicPr>
          <p:nvPr/>
        </p:nvPicPr>
        <p:blipFill>
          <a:blip r:embed="rId3"/>
          <a:stretch>
            <a:fillRect/>
          </a:stretch>
        </p:blipFill>
        <p:spPr>
          <a:xfrm>
            <a:off x="6812280" y="932688"/>
            <a:ext cx="2011680" cy="1141242"/>
          </a:xfrm>
          <a:prstGeom prst="rect">
            <a:avLst/>
          </a:prstGeom>
        </p:spPr>
      </p:pic>
      <p:sp>
        <p:nvSpPr>
          <p:cNvPr id="11" name="Text 6"/>
          <p:cNvSpPr txBox="1"/>
          <p:nvPr/>
        </p:nvSpPr>
        <p:spPr>
          <a:xfrm>
            <a:off x="4709160" y="2103120"/>
            <a:ext cx="411480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场地现状地形照片（局部小土坡、裸土空地）</a:t>
            </a:r>
            <a:endParaRPr lang="en-US" sz="800" dirty="0"/>
          </a:p>
        </p:txBody>
      </p:sp>
      <p:sp>
        <p:nvSpPr>
          <p:cNvPr id="12" name="Shape 7"/>
          <p:cNvSpPr/>
          <p:nvPr/>
        </p:nvSpPr>
        <p:spPr>
          <a:xfrm>
            <a:off x="4709160" y="2423160"/>
            <a:ext cx="2011680" cy="2286000"/>
          </a:xfrm>
          <a:prstGeom prst="rect">
            <a:avLst/>
          </a:prstGeom>
          <a:solidFill>
            <a:srgbClr val="EEF2F8"/>
          </a:solidFill>
          <a:ln w="12700">
            <a:solidFill>
              <a:srgbClr val="EEF2F8"/>
            </a:solidFill>
            <a:prstDash val="solid"/>
          </a:ln>
        </p:spPr>
      </p:sp>
      <p:sp>
        <p:nvSpPr>
          <p:cNvPr id="13" name="Text 8"/>
          <p:cNvSpPr txBox="1"/>
          <p:nvPr/>
        </p:nvSpPr>
        <p:spPr>
          <a:xfrm>
            <a:off x="480060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区域地貌</a:t>
            </a:r>
            <a:endParaRPr lang="en-US" sz="1000" dirty="0"/>
          </a:p>
        </p:txBody>
      </p:sp>
      <p:sp>
        <p:nvSpPr>
          <p:cNvPr id="14" name="Text 9"/>
          <p:cNvSpPr txBox="1"/>
          <p:nvPr/>
        </p:nvSpPr>
        <p:spPr>
          <a:xfrm>
            <a:off x="475488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仁寿地处四川盆地中部，以浅丘、丘陵为主，地势总体平坦。地质稳定，土壤以紫色土为主。</a:t>
            </a:r>
            <a:endParaRPr lang="en-US" sz="850" dirty="0"/>
          </a:p>
        </p:txBody>
      </p:sp>
      <p:sp>
        <p:nvSpPr>
          <p:cNvPr id="15" name="Shape 10"/>
          <p:cNvSpPr/>
          <p:nvPr/>
        </p:nvSpPr>
        <p:spPr>
          <a:xfrm>
            <a:off x="6812280" y="2423160"/>
            <a:ext cx="2011680" cy="2286000"/>
          </a:xfrm>
          <a:prstGeom prst="rect">
            <a:avLst/>
          </a:prstGeom>
          <a:solidFill>
            <a:srgbClr val="EEF2F8"/>
          </a:solidFill>
          <a:ln w="12700">
            <a:solidFill>
              <a:srgbClr val="EEF2F8"/>
            </a:solidFill>
            <a:prstDash val="solid"/>
          </a:ln>
        </p:spPr>
      </p:sp>
      <p:sp>
        <p:nvSpPr>
          <p:cNvPr id="16" name="Text 11"/>
          <p:cNvSpPr txBox="1"/>
          <p:nvPr/>
        </p:nvSpPr>
        <p:spPr>
          <a:xfrm>
            <a:off x="6903720" y="2450592"/>
            <a:ext cx="18288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场地地形</a:t>
            </a:r>
            <a:endParaRPr lang="en-US" sz="1000" dirty="0"/>
          </a:p>
        </p:txBody>
      </p:sp>
      <p:sp>
        <p:nvSpPr>
          <p:cNvPr id="17" name="Text 12"/>
          <p:cNvSpPr txBox="1"/>
          <p:nvPr/>
        </p:nvSpPr>
        <p:spPr>
          <a:xfrm>
            <a:off x="6858000" y="2715768"/>
            <a:ext cx="1920240" cy="192024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整体平缓，无高差突变；局部有小土坡起伏，无废弃构筑物、无土壤污染。适合土方场内平衡，利用微高差布置线性雨水花园。</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Current Condition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2.11 场地现状分析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28</a:t>
            </a:r>
            <a:endParaRPr lang="en-US" sz="900" dirty="0"/>
          </a:p>
        </p:txBody>
      </p:sp>
      <p:pic>
        <p:nvPicPr>
          <p:cNvPr id="7" name="Image 0" descr="/home/user/lxfs/pptx_build/figs/siteplan.jpg">    </p:cNvPr>
          <p:cNvPicPr>
            <a:picLocks noChangeAspect="1"/>
          </p:cNvPicPr>
          <p:nvPr/>
        </p:nvPicPr>
        <p:blipFill>
          <a:blip r:embed="rId1"/>
          <a:stretch>
            <a:fillRect/>
          </a:stretch>
        </p:blipFill>
        <p:spPr>
          <a:xfrm>
            <a:off x="458645" y="932688"/>
            <a:ext cx="2054510" cy="3611880"/>
          </a:xfrm>
          <a:prstGeom prst="rect">
            <a:avLst/>
          </a:prstGeom>
        </p:spPr>
      </p:pic>
      <p:sp>
        <p:nvSpPr>
          <p:cNvPr id="8" name="Text 5"/>
          <p:cNvSpPr txBox="1"/>
          <p:nvPr/>
        </p:nvSpPr>
        <p:spPr>
          <a:xfrm>
            <a:off x="457200" y="4562856"/>
            <a:ext cx="20574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场地现状平面图</a:t>
            </a:r>
            <a:endParaRPr lang="en-US" sz="800" dirty="0"/>
          </a:p>
        </p:txBody>
      </p:sp>
      <p:pic>
        <p:nvPicPr>
          <p:cNvPr id="9" name="Image 1" descr="/home/user/lxfs/pptx_build/figs/site_1.jpg">    </p:cNvPr>
          <p:cNvPicPr>
            <a:picLocks noChangeAspect="1"/>
          </p:cNvPicPr>
          <p:nvPr/>
        </p:nvPicPr>
        <p:blipFill>
          <a:blip r:embed="rId2"/>
          <a:stretch>
            <a:fillRect/>
          </a:stretch>
        </p:blipFill>
        <p:spPr>
          <a:xfrm>
            <a:off x="2697480" y="932688"/>
            <a:ext cx="1828800" cy="1037492"/>
          </a:xfrm>
          <a:prstGeom prst="rect">
            <a:avLst/>
          </a:prstGeom>
        </p:spPr>
      </p:pic>
      <p:pic>
        <p:nvPicPr>
          <p:cNvPr id="10" name="Image 2" descr="/home/user/lxfs/pptx_build/figs/site_2.jpg">    </p:cNvPr>
          <p:cNvPicPr>
            <a:picLocks noChangeAspect="1"/>
          </p:cNvPicPr>
          <p:nvPr/>
        </p:nvPicPr>
        <p:blipFill>
          <a:blip r:embed="rId3"/>
          <a:stretch>
            <a:fillRect/>
          </a:stretch>
        </p:blipFill>
        <p:spPr>
          <a:xfrm>
            <a:off x="4617720" y="932688"/>
            <a:ext cx="1828800" cy="1045863"/>
          </a:xfrm>
          <a:prstGeom prst="rect">
            <a:avLst/>
          </a:prstGeom>
        </p:spPr>
      </p:pic>
      <p:pic>
        <p:nvPicPr>
          <p:cNvPr id="11" name="Image 3" descr="/home/user/lxfs/pptx_build/figs/site_3.jpg">    </p:cNvPr>
          <p:cNvPicPr>
            <a:picLocks noChangeAspect="1"/>
          </p:cNvPicPr>
          <p:nvPr/>
        </p:nvPicPr>
        <p:blipFill>
          <a:blip r:embed="rId4"/>
          <a:stretch>
            <a:fillRect/>
          </a:stretch>
        </p:blipFill>
        <p:spPr>
          <a:xfrm>
            <a:off x="2697480" y="2057400"/>
            <a:ext cx="1828800" cy="1045863"/>
          </a:xfrm>
          <a:prstGeom prst="rect">
            <a:avLst/>
          </a:prstGeom>
        </p:spPr>
      </p:pic>
      <p:pic>
        <p:nvPicPr>
          <p:cNvPr id="12" name="Image 4" descr="/home/user/lxfs/pptx_build/figs/site_4.jpg">    </p:cNvPr>
          <p:cNvPicPr>
            <a:picLocks noChangeAspect="1"/>
          </p:cNvPicPr>
          <p:nvPr/>
        </p:nvPicPr>
        <p:blipFill>
          <a:blip r:embed="rId5"/>
          <a:stretch>
            <a:fillRect/>
          </a:stretch>
        </p:blipFill>
        <p:spPr>
          <a:xfrm>
            <a:off x="4617720" y="2057400"/>
            <a:ext cx="1828800" cy="1042532"/>
          </a:xfrm>
          <a:prstGeom prst="rect">
            <a:avLst/>
          </a:prstGeom>
        </p:spPr>
      </p:pic>
      <p:sp>
        <p:nvSpPr>
          <p:cNvPr id="13" name="Text 6"/>
          <p:cNvSpPr txBox="1"/>
          <p:nvPr/>
        </p:nvSpPr>
        <p:spPr>
          <a:xfrm>
            <a:off x="2697480" y="3127248"/>
            <a:ext cx="3749040" cy="182880"/>
          </a:xfrm>
          <a:prstGeom prst="rect">
            <a:avLst/>
          </a:prstGeom>
          <a:noFill/>
          <a:ln/>
        </p:spPr>
        <p:txBody>
          <a:bodyPr wrap="square" lIns="25400" tIns="25400" rIns="25400" bIns="25400" rtlCol="0" anchor="t"/>
          <a:lstStyle/>
          <a:p>
            <a:pPr algn="ct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场地现状照片（裸土空地、原生林地与周边住宅）</a:t>
            </a:r>
            <a:endParaRPr lang="en-US" sz="750" dirty="0"/>
          </a:p>
        </p:txBody>
      </p:sp>
      <p:pic>
        <p:nvPicPr>
          <p:cNvPr id="14" name="Image 5" descr="/home/user/lxfs/pptx_build/figs/satellite.jpg">    </p:cNvPr>
          <p:cNvPicPr>
            <a:picLocks noChangeAspect="1"/>
          </p:cNvPicPr>
          <p:nvPr/>
        </p:nvPicPr>
        <p:blipFill>
          <a:blip r:embed="rId6"/>
          <a:stretch>
            <a:fillRect/>
          </a:stretch>
        </p:blipFill>
        <p:spPr>
          <a:xfrm>
            <a:off x="3789059" y="3364992"/>
            <a:ext cx="1565883" cy="1234440"/>
          </a:xfrm>
          <a:prstGeom prst="rect">
            <a:avLst/>
          </a:prstGeom>
        </p:spPr>
      </p:pic>
      <p:sp>
        <p:nvSpPr>
          <p:cNvPr id="15" name="Text 7"/>
          <p:cNvSpPr txBox="1"/>
          <p:nvPr/>
        </p:nvSpPr>
        <p:spPr>
          <a:xfrm>
            <a:off x="2697480" y="4617720"/>
            <a:ext cx="37490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a:t>
            </a:r>
            <a:endParaRPr lang="en-US" sz="800" dirty="0"/>
          </a:p>
        </p:txBody>
      </p:sp>
      <p:sp>
        <p:nvSpPr>
          <p:cNvPr id="16" name="Shape 8"/>
          <p:cNvSpPr/>
          <p:nvPr/>
        </p:nvSpPr>
        <p:spPr>
          <a:xfrm>
            <a:off x="6629400" y="932688"/>
            <a:ext cx="2194560" cy="1188720"/>
          </a:xfrm>
          <a:prstGeom prst="rect">
            <a:avLst/>
          </a:prstGeom>
          <a:solidFill>
            <a:srgbClr val="EEF2F8"/>
          </a:solidFill>
          <a:ln w="12700">
            <a:solidFill>
              <a:srgbClr val="EEF2F8"/>
            </a:solidFill>
            <a:prstDash val="solid"/>
          </a:ln>
        </p:spPr>
      </p:sp>
      <p:sp>
        <p:nvSpPr>
          <p:cNvPr id="17" name="Shape 9"/>
          <p:cNvSpPr/>
          <p:nvPr/>
        </p:nvSpPr>
        <p:spPr>
          <a:xfrm>
            <a:off x="6702552" y="1005840"/>
            <a:ext cx="914400" cy="256032"/>
          </a:xfrm>
          <a:prstGeom prst="rect">
            <a:avLst/>
          </a:prstGeom>
          <a:solidFill>
            <a:srgbClr val="4E8A3E"/>
          </a:solidFill>
          <a:ln w="12700">
            <a:solidFill>
              <a:srgbClr val="4E8A3E"/>
            </a:solidFill>
            <a:prstDash val="solid"/>
          </a:ln>
        </p:spPr>
      </p:sp>
      <p:sp>
        <p:nvSpPr>
          <p:cNvPr id="18" name="Text 10"/>
          <p:cNvSpPr txBox="1"/>
          <p:nvPr/>
        </p:nvSpPr>
        <p:spPr>
          <a:xfrm>
            <a:off x="6702552" y="1005840"/>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原生林地</a:t>
            </a:r>
            <a:endParaRPr lang="en-US" sz="900" dirty="0"/>
          </a:p>
        </p:txBody>
      </p:sp>
      <p:sp>
        <p:nvSpPr>
          <p:cNvPr id="19" name="Text 11"/>
          <p:cNvSpPr txBox="1"/>
          <p:nvPr/>
        </p:nvSpPr>
        <p:spPr>
          <a:xfrm>
            <a:off x="6656832" y="1280160"/>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东北部、中部成片原生乡土乔木群落，长势较好，是核心自然资源，可作为公园生态基底保留利用，减少绿化造价。</a:t>
            </a:r>
            <a:endParaRPr lang="en-US" sz="750" dirty="0"/>
          </a:p>
        </p:txBody>
      </p:sp>
      <p:sp>
        <p:nvSpPr>
          <p:cNvPr id="20" name="Shape 12"/>
          <p:cNvSpPr/>
          <p:nvPr/>
        </p:nvSpPr>
        <p:spPr>
          <a:xfrm>
            <a:off x="6629400" y="2194560"/>
            <a:ext cx="2194560" cy="1188720"/>
          </a:xfrm>
          <a:prstGeom prst="rect">
            <a:avLst/>
          </a:prstGeom>
          <a:solidFill>
            <a:srgbClr val="EEF2F8"/>
          </a:solidFill>
          <a:ln w="12700">
            <a:solidFill>
              <a:srgbClr val="EEF2F8"/>
            </a:solidFill>
            <a:prstDash val="solid"/>
          </a:ln>
        </p:spPr>
      </p:sp>
      <p:sp>
        <p:nvSpPr>
          <p:cNvPr id="21" name="Shape 13"/>
          <p:cNvSpPr/>
          <p:nvPr/>
        </p:nvSpPr>
        <p:spPr>
          <a:xfrm>
            <a:off x="6702552" y="2267712"/>
            <a:ext cx="914400" cy="256032"/>
          </a:xfrm>
          <a:prstGeom prst="rect">
            <a:avLst/>
          </a:prstGeom>
          <a:solidFill>
            <a:srgbClr val="E07B2A"/>
          </a:solidFill>
          <a:ln w="12700">
            <a:solidFill>
              <a:srgbClr val="E07B2A"/>
            </a:solidFill>
            <a:prstDash val="solid"/>
          </a:ln>
        </p:spPr>
      </p:sp>
      <p:sp>
        <p:nvSpPr>
          <p:cNvPr id="22" name="Text 14"/>
          <p:cNvSpPr txBox="1"/>
          <p:nvPr/>
        </p:nvSpPr>
        <p:spPr>
          <a:xfrm>
            <a:off x="6702552" y="2267712"/>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裸土空地</a:t>
            </a:r>
            <a:endParaRPr lang="en-US" sz="900" dirty="0"/>
          </a:p>
        </p:txBody>
      </p:sp>
      <p:sp>
        <p:nvSpPr>
          <p:cNvPr id="23" name="Text 15"/>
          <p:cNvSpPr txBox="1"/>
          <p:nvPr/>
        </p:nvSpPr>
        <p:spPr>
          <a:xfrm>
            <a:off x="6656832" y="2542032"/>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其余大片区域为裸露待开发土地，平整程度一般，局部小土坡，杂草零散；土壤条件一般，需改良后再营造植物景观。</a:t>
            </a:r>
            <a:endParaRPr lang="en-US" sz="750" dirty="0"/>
          </a:p>
        </p:txBody>
      </p:sp>
      <p:sp>
        <p:nvSpPr>
          <p:cNvPr id="24" name="Shape 16"/>
          <p:cNvSpPr/>
          <p:nvPr/>
        </p:nvSpPr>
        <p:spPr>
          <a:xfrm>
            <a:off x="6629400" y="3456432"/>
            <a:ext cx="2194560" cy="1188720"/>
          </a:xfrm>
          <a:prstGeom prst="rect">
            <a:avLst/>
          </a:prstGeom>
          <a:solidFill>
            <a:srgbClr val="EEF2F8"/>
          </a:solidFill>
          <a:ln w="12700">
            <a:solidFill>
              <a:srgbClr val="EEF2F8"/>
            </a:solidFill>
            <a:prstDash val="solid"/>
          </a:ln>
        </p:spPr>
      </p:sp>
      <p:sp>
        <p:nvSpPr>
          <p:cNvPr id="25" name="Shape 17"/>
          <p:cNvSpPr/>
          <p:nvPr/>
        </p:nvSpPr>
        <p:spPr>
          <a:xfrm>
            <a:off x="6702552" y="3529584"/>
            <a:ext cx="914400" cy="256032"/>
          </a:xfrm>
          <a:prstGeom prst="rect">
            <a:avLst/>
          </a:prstGeom>
          <a:solidFill>
            <a:srgbClr val="1F3F7A"/>
          </a:solidFill>
          <a:ln w="12700">
            <a:solidFill>
              <a:srgbClr val="1F3F7A"/>
            </a:solidFill>
            <a:prstDash val="solid"/>
          </a:ln>
        </p:spPr>
      </p:sp>
      <p:sp>
        <p:nvSpPr>
          <p:cNvPr id="26" name="Text 18"/>
          <p:cNvSpPr txBox="1"/>
          <p:nvPr/>
        </p:nvSpPr>
        <p:spPr>
          <a:xfrm>
            <a:off x="6702552" y="3529584"/>
            <a:ext cx="9144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水体与构筑</a:t>
            </a:r>
            <a:endParaRPr lang="en-US" sz="900" dirty="0"/>
          </a:p>
        </p:txBody>
      </p:sp>
      <p:sp>
        <p:nvSpPr>
          <p:cNvPr id="27" name="Text 19"/>
          <p:cNvSpPr txBox="1"/>
          <p:nvPr/>
        </p:nvSpPr>
        <p:spPr>
          <a:xfrm>
            <a:off x="6656832" y="3803904"/>
            <a:ext cx="2139696" cy="822960"/>
          </a:xfrm>
          <a:prstGeom prst="rect">
            <a:avLst/>
          </a:prstGeom>
          <a:noFill/>
          <a:ln/>
        </p:spPr>
        <p:txBody>
          <a:bodyPr wrap="square" lIns="25400" tIns="25400" rIns="25400" bIns="25400" rtlCol="0" anchor="t"/>
          <a:lstStyle/>
          <a:p>
            <a:pPr indent="0" marL="0">
              <a:lnSpc>
                <a:spcPct val="115000"/>
              </a:lnSpc>
              <a:buNone/>
            </a:pPr>
            <a:r>
              <a:rPr lang="en-US" sz="750" dirty="0">
                <a:solidFill>
                  <a:srgbClr val="444444"/>
                </a:solidFill>
                <a:latin typeface="Microsoft YaHei" pitchFamily="34" charset="0"/>
                <a:ea typeface="Microsoft YaHei" pitchFamily="34" charset="-122"/>
                <a:cs typeface="Microsoft YaHei" pitchFamily="34" charset="-120"/>
              </a:rPr>
              <a:t>场地无水体，属旱地型地块，需人工营造海绵水景；无大型建筑遗存，拆迁工程量小，适合公园开发建设。</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Population Structure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2.12 人群结构分析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29</a:t>
            </a:r>
            <a:endParaRPr lang="en-US" sz="900" dirty="0"/>
          </a:p>
        </p:txBody>
      </p:sp>
      <p:pic>
        <p:nvPicPr>
          <p:cNvPr id="7" name="Image 0" descr="/home/user/lxfs/pptx_build/figs/pie_src.jpg">    </p:cNvPr>
          <p:cNvPicPr>
            <a:picLocks noChangeAspect="1"/>
          </p:cNvPicPr>
          <p:nvPr/>
        </p:nvPicPr>
        <p:blipFill>
          <a:blip r:embed="rId1"/>
          <a:stretch>
            <a:fillRect/>
          </a:stretch>
        </p:blipFill>
        <p:spPr>
          <a:xfrm>
            <a:off x="457200" y="914400"/>
            <a:ext cx="1828800" cy="1828800"/>
          </a:xfrm>
          <a:prstGeom prst="rect">
            <a:avLst/>
          </a:prstGeom>
        </p:spPr>
      </p:pic>
      <p:sp>
        <p:nvSpPr>
          <p:cNvPr id="8" name="Text 5"/>
          <p:cNvSpPr txBox="1"/>
          <p:nvPr/>
        </p:nvSpPr>
        <p:spPr>
          <a:xfrm>
            <a:off x="457200" y="2761488"/>
            <a:ext cx="1828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使用人群来源构成</a:t>
            </a:r>
            <a:endParaRPr lang="en-US" sz="800" dirty="0"/>
          </a:p>
        </p:txBody>
      </p:sp>
      <p:pic>
        <p:nvPicPr>
          <p:cNvPr id="9" name="Image 1" descr="/home/user/lxfs/pptx_build/figs/pie_age.jpg">    </p:cNvPr>
          <p:cNvPicPr>
            <a:picLocks noChangeAspect="1"/>
          </p:cNvPicPr>
          <p:nvPr/>
        </p:nvPicPr>
        <p:blipFill>
          <a:blip r:embed="rId2"/>
          <a:stretch>
            <a:fillRect/>
          </a:stretch>
        </p:blipFill>
        <p:spPr>
          <a:xfrm>
            <a:off x="2377440" y="914400"/>
            <a:ext cx="1828800" cy="1607736"/>
          </a:xfrm>
          <a:prstGeom prst="rect">
            <a:avLst/>
          </a:prstGeom>
        </p:spPr>
      </p:pic>
      <p:sp>
        <p:nvSpPr>
          <p:cNvPr id="10" name="Text 6"/>
          <p:cNvSpPr txBox="1"/>
          <p:nvPr/>
        </p:nvSpPr>
        <p:spPr>
          <a:xfrm>
            <a:off x="2377440" y="2540424"/>
            <a:ext cx="1828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使用人群年龄构成</a:t>
            </a:r>
            <a:endParaRPr lang="en-US" sz="800" dirty="0"/>
          </a:p>
        </p:txBody>
      </p:sp>
      <p:pic>
        <p:nvPicPr>
          <p:cNvPr id="11" name="Image 2" descr="/home/user/lxfs/pptx_build/figs/pie_sex.jpg">    </p:cNvPr>
          <p:cNvPicPr>
            <a:picLocks noChangeAspect="1"/>
          </p:cNvPicPr>
          <p:nvPr/>
        </p:nvPicPr>
        <p:blipFill>
          <a:blip r:embed="rId3"/>
          <a:stretch>
            <a:fillRect/>
          </a:stretch>
        </p:blipFill>
        <p:spPr>
          <a:xfrm>
            <a:off x="4297680" y="914400"/>
            <a:ext cx="1828800" cy="1828800"/>
          </a:xfrm>
          <a:prstGeom prst="rect">
            <a:avLst/>
          </a:prstGeom>
        </p:spPr>
      </p:pic>
      <p:sp>
        <p:nvSpPr>
          <p:cNvPr id="12" name="Text 7"/>
          <p:cNvSpPr txBox="1"/>
          <p:nvPr/>
        </p:nvSpPr>
        <p:spPr>
          <a:xfrm>
            <a:off x="4297680" y="2761488"/>
            <a:ext cx="18288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使用人群性别构成</a:t>
            </a:r>
            <a:endParaRPr lang="en-US" sz="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5669280" cy="914400"/>
        </p:xfrm>
        <a:graphic>
          <a:graphicData uri="http://schemas.openxmlformats.org/drawingml/2006/table">
            <a:tbl>
              <a:tblPr/>
              <a:tblGrid>
                <a:gridCol w="1188720"/>
                <a:gridCol w="2377440"/>
                <a:gridCol w="2103120"/>
              </a:tblGrid>
              <a:tr h="24688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人群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空间需求</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老年人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散步、晨练、休憩闲谈、社交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康养步道、器械、林荫座椅</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家庭亲子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儿童攀爬游乐、家长陪护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分龄儿童游乐区、看护休憩</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青少年/学生</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跑步、球类、骑行</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球类场地、环形跑道</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中青年</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跑步、健身</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健身器械区、夜间照明</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外来游客</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短途停留、生态休闲</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阳光草坪、景观节点</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bl>
          </a:graphicData>
        </a:graphic>
      </p:graphicFrame>
      <p:sp>
        <p:nvSpPr>
          <p:cNvPr id="14" name="Shape 8"/>
          <p:cNvSpPr/>
          <p:nvPr/>
        </p:nvSpPr>
        <p:spPr>
          <a:xfrm>
            <a:off x="6217920" y="914400"/>
            <a:ext cx="2606040" cy="3840480"/>
          </a:xfrm>
          <a:prstGeom prst="rect">
            <a:avLst/>
          </a:prstGeom>
          <a:solidFill>
            <a:srgbClr val="EEF2F8"/>
          </a:solidFill>
          <a:ln w="12700">
            <a:solidFill>
              <a:srgbClr val="EEF2F8"/>
            </a:solidFill>
            <a:prstDash val="solid"/>
          </a:ln>
        </p:spPr>
      </p:sp>
      <p:sp>
        <p:nvSpPr>
          <p:cNvPr id="15" name="Text 9"/>
          <p:cNvSpPr txBox="1"/>
          <p:nvPr/>
        </p:nvSpPr>
        <p:spPr>
          <a:xfrm>
            <a:off x="6309360" y="960120"/>
            <a:ext cx="2377440" cy="274320"/>
          </a:xfrm>
          <a:prstGeom prst="rect">
            <a:avLst/>
          </a:prstGeom>
          <a:noFill/>
          <a:ln/>
        </p:spPr>
        <p:txBody>
          <a:bodyPr wrap="square" lIns="0" tIns="0" rIns="0" bIns="0" rtlCol="0" anchor="ctr"/>
          <a:lstStyle/>
          <a:p>
            <a:pPr indent="0" marL="0">
              <a:buNone/>
            </a:pPr>
            <a:r>
              <a:rPr lang="en-US" sz="1050" b="1" dirty="0">
                <a:solidFill>
                  <a:srgbClr val="1F3F7A"/>
                </a:solidFill>
                <a:latin typeface="Microsoft YaHei" pitchFamily="34" charset="0"/>
                <a:ea typeface="Microsoft YaHei" pitchFamily="34" charset="-122"/>
                <a:cs typeface="Microsoft YaHei" pitchFamily="34" charset="-120"/>
              </a:rPr>
              <a:t>人群结构特征</a:t>
            </a:r>
            <a:endParaRPr lang="en-US" sz="1050" dirty="0"/>
          </a:p>
        </p:txBody>
      </p:sp>
      <p:sp>
        <p:nvSpPr>
          <p:cNvPr id="16" name="Text 10"/>
          <p:cNvSpPr txBox="1"/>
          <p:nvPr/>
        </p:nvSpPr>
        <p:spPr>
          <a:xfrm>
            <a:off x="6263640" y="1261872"/>
            <a:ext cx="2514600" cy="2743200"/>
          </a:xfrm>
          <a:prstGeom prst="rect">
            <a:avLst/>
          </a:prstGeom>
          <a:noFill/>
          <a:ln/>
        </p:spPr>
        <p:txBody>
          <a:bodyPr wrap="square" lIns="25400" tIns="25400" rIns="25400" bIns="25400" rtlCol="0" anchor="t"/>
          <a:lstStyle/>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仁寿县60岁及以上人口占26.56%，明显高于全国（18.70%）与四川（21.71%）。片区周边居民中老年占比高，并含家庭亲子群体与文镇小学等学校师生。</a:t>
            </a:r>
            <a:endParaRPr lang="en-US" sz="850" dirty="0"/>
          </a:p>
          <a:p>
            <a:pPr indent="0" marL="0">
              <a:lnSpc>
                <a:spcPct val="130000"/>
              </a:lnSpc>
              <a:buNone/>
            </a:pPr>
            <a:endParaRPr lang="en-US" sz="850" dirty="0"/>
          </a:p>
          <a:p>
            <a:pPr indent="0" marL="0">
              <a:lnSpc>
                <a:spcPct val="130000"/>
              </a:lnSpc>
              <a:buNone/>
            </a:pPr>
            <a:r>
              <a:rPr lang="en-US" sz="850" dirty="0">
                <a:solidFill>
                  <a:srgbClr val="444444"/>
                </a:solidFill>
                <a:latin typeface="Microsoft YaHei" pitchFamily="34" charset="0"/>
                <a:ea typeface="Microsoft YaHei" pitchFamily="34" charset="-122"/>
                <a:cs typeface="Microsoft YaHei" pitchFamily="34" charset="-120"/>
              </a:rPr>
              <a:t>年龄结构呈中老年、青少年占比偏高、青壮年通勤人群为辅的特征；性别构成男50.62%、女49.38%，基本均衡。</a:t>
            </a:r>
            <a:endParaRPr lang="en-US" sz="850" dirty="0"/>
          </a:p>
        </p:txBody>
      </p:sp>
      <p:sp>
        <p:nvSpPr>
          <p:cNvPr id="17" name="Text 11"/>
          <p:cNvSpPr txBox="1"/>
          <p:nvPr/>
        </p:nvSpPr>
        <p:spPr>
          <a:xfrm>
            <a:off x="6263640" y="4023360"/>
            <a:ext cx="2514600" cy="6858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数据来源：《仁寿县第七次全国人口普查公报（第三号）》；饼图为开题报告调研预测数据。</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30</a:t>
            </a:r>
            <a:endParaRPr lang="en-US" sz="900" dirty="0"/>
          </a:p>
        </p:txBody>
      </p:sp>
      <p:sp>
        <p:nvSpPr>
          <p:cNvPr id="7" name="Text 5"/>
          <p:cNvSpPr txBox="1"/>
          <p:nvPr/>
        </p:nvSpPr>
        <p:spPr>
          <a:xfrm>
            <a:off x="457200" y="1051560"/>
            <a:ext cx="2011680" cy="2743200"/>
          </a:xfrm>
          <a:prstGeom prst="rect">
            <a:avLst/>
          </a:prstGeom>
          <a:noFill/>
          <a:ln/>
        </p:spPr>
        <p:txBody>
          <a:bodyPr wrap="square" lIns="25400" tIns="25400" rIns="25400" bIns="25400" rtlCol="0" anchor="t"/>
          <a:lstStyle/>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室外除了“树”，好像并没有什么期待。场地功能单一，功能设置没有吸引力，景观没有特征容易视觉疲劳。</a:t>
            </a:r>
            <a:endParaRPr lang="en-US" sz="850" dirty="0"/>
          </a:p>
          <a:p>
            <a:pPr indent="0" marL="0">
              <a:lnSpc>
                <a:spcPct val="130000"/>
              </a:lnSpc>
              <a:buNone/>
            </a:pPr>
            <a:endParaRPr lang="en-US" sz="850" dirty="0"/>
          </a:p>
          <a:p>
            <a:pPr indent="0" marL="0">
              <a:lnSpc>
                <a:spcPct val="130000"/>
              </a:lnSpc>
              <a:buNone/>
            </a:pPr>
            <a:r>
              <a:rPr lang="en-US" sz="850" dirty="0">
                <a:solidFill>
                  <a:srgbClr val="777777"/>
                </a:solidFill>
                <a:latin typeface="Microsoft YaHei" pitchFamily="34" charset="0"/>
                <a:ea typeface="Microsoft YaHei" pitchFamily="34" charset="-122"/>
                <a:cs typeface="Microsoft YaHei" pitchFamily="34" charset="-120"/>
              </a:rPr>
              <a:t>周边居民以中老年、家庭亲子与学生为主：出行、日晒、休憩、体锻是基本需求；情感、兴趣、社交、理疗是进阶需求。真正的需求在空间中得以实现，是主宰力的完美表现。</a:t>
            </a:r>
            <a:endParaRPr lang="en-US" sz="850" dirty="0"/>
          </a:p>
        </p:txBody>
      </p:sp>
      <p:sp>
        <p:nvSpPr>
          <p:cNvPr id="8" name="Text 6"/>
          <p:cNvSpPr txBox="1"/>
          <p:nvPr/>
        </p:nvSpPr>
        <p:spPr>
          <a:xfrm>
            <a:off x="2377440" y="96012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基本需求</a:t>
            </a:r>
            <a:endParaRPr lang="en-US" sz="900" dirty="0"/>
          </a:p>
        </p:txBody>
      </p:sp>
      <p:sp>
        <p:nvSpPr>
          <p:cNvPr id="9" name="Text 7"/>
          <p:cNvSpPr txBox="1"/>
          <p:nvPr/>
        </p:nvSpPr>
        <p:spPr>
          <a:xfrm>
            <a:off x="2377440" y="3520440"/>
            <a:ext cx="822960" cy="274320"/>
          </a:xfrm>
          <a:prstGeom prst="rect">
            <a:avLst/>
          </a:prstGeom>
          <a:noFill/>
          <a:ln/>
        </p:spPr>
        <p:txBody>
          <a:bodyPr wrap="square" lIns="0" tIns="0" rIns="0" bIns="0" rtlCol="0" anchor="ctr"/>
          <a:lstStyle/>
          <a:p>
            <a:pPr algn="r" indent="0" marL="0">
              <a:buNone/>
            </a:pPr>
            <a:r>
              <a:rPr lang="en-US" sz="900" b="1" dirty="0">
                <a:solidFill>
                  <a:srgbClr val="444444"/>
                </a:solidFill>
                <a:latin typeface="Microsoft YaHei" pitchFamily="34" charset="0"/>
                <a:ea typeface="Microsoft YaHei" pitchFamily="34" charset="-122"/>
                <a:cs typeface="Microsoft YaHei" pitchFamily="34" charset="-120"/>
              </a:rPr>
              <a:t>进阶需求</a:t>
            </a:r>
            <a:endParaRPr lang="en-US" sz="900" dirty="0"/>
          </a:p>
        </p:txBody>
      </p:sp>
      <p:sp>
        <p:nvSpPr>
          <p:cNvPr id="10" name="Shape 8"/>
          <p:cNvSpPr/>
          <p:nvPr/>
        </p:nvSpPr>
        <p:spPr>
          <a:xfrm>
            <a:off x="3264408" y="1051560"/>
            <a:ext cx="64008" cy="338328"/>
          </a:xfrm>
          <a:prstGeom prst="rect">
            <a:avLst/>
          </a:prstGeom>
          <a:solidFill>
            <a:srgbClr val="E07B2A"/>
          </a:solidFill>
          <a:ln w="12700">
            <a:solidFill>
              <a:srgbClr val="E07B2A"/>
            </a:solidFill>
            <a:prstDash val="solid"/>
          </a:ln>
        </p:spPr>
      </p:sp>
      <p:sp>
        <p:nvSpPr>
          <p:cNvPr id="11" name="Shape 9"/>
          <p:cNvSpPr/>
          <p:nvPr/>
        </p:nvSpPr>
        <p:spPr>
          <a:xfrm>
            <a:off x="3264408" y="1389888"/>
            <a:ext cx="64008" cy="338328"/>
          </a:xfrm>
          <a:prstGeom prst="rect">
            <a:avLst/>
          </a:prstGeom>
          <a:solidFill>
            <a:srgbClr val="E58A45"/>
          </a:solidFill>
          <a:ln w="12700">
            <a:solidFill>
              <a:srgbClr val="E58A45"/>
            </a:solidFill>
            <a:prstDash val="solid"/>
          </a:ln>
        </p:spPr>
      </p:sp>
      <p:sp>
        <p:nvSpPr>
          <p:cNvPr id="12" name="Shape 10"/>
          <p:cNvSpPr/>
          <p:nvPr/>
        </p:nvSpPr>
        <p:spPr>
          <a:xfrm>
            <a:off x="3264408" y="1728216"/>
            <a:ext cx="64008" cy="338328"/>
          </a:xfrm>
          <a:prstGeom prst="rect">
            <a:avLst/>
          </a:prstGeom>
          <a:solidFill>
            <a:srgbClr val="EA9A60"/>
          </a:solidFill>
          <a:ln w="12700">
            <a:solidFill>
              <a:srgbClr val="EA9A60"/>
            </a:solidFill>
            <a:prstDash val="solid"/>
          </a:ln>
        </p:spPr>
      </p:sp>
      <p:sp>
        <p:nvSpPr>
          <p:cNvPr id="13" name="Shape 11"/>
          <p:cNvSpPr/>
          <p:nvPr/>
        </p:nvSpPr>
        <p:spPr>
          <a:xfrm>
            <a:off x="3264408" y="2066544"/>
            <a:ext cx="64008" cy="338328"/>
          </a:xfrm>
          <a:prstGeom prst="rect">
            <a:avLst/>
          </a:prstGeom>
          <a:solidFill>
            <a:srgbClr val="EEA97A"/>
          </a:solidFill>
          <a:ln w="12700">
            <a:solidFill>
              <a:srgbClr val="EEA97A"/>
            </a:solidFill>
            <a:prstDash val="solid"/>
          </a:ln>
        </p:spPr>
      </p:sp>
      <p:sp>
        <p:nvSpPr>
          <p:cNvPr id="14" name="Shape 12"/>
          <p:cNvSpPr/>
          <p:nvPr/>
        </p:nvSpPr>
        <p:spPr>
          <a:xfrm>
            <a:off x="3264408" y="2404872"/>
            <a:ext cx="64008" cy="338328"/>
          </a:xfrm>
          <a:prstGeom prst="rect">
            <a:avLst/>
          </a:prstGeom>
          <a:solidFill>
            <a:srgbClr val="F2B995"/>
          </a:solidFill>
          <a:ln w="12700">
            <a:solidFill>
              <a:srgbClr val="F2B995"/>
            </a:solidFill>
            <a:prstDash val="solid"/>
          </a:ln>
        </p:spPr>
      </p:sp>
      <p:sp>
        <p:nvSpPr>
          <p:cNvPr id="15" name="Shape 13"/>
          <p:cNvSpPr/>
          <p:nvPr/>
        </p:nvSpPr>
        <p:spPr>
          <a:xfrm>
            <a:off x="3264408" y="2743200"/>
            <a:ext cx="64008" cy="338328"/>
          </a:xfrm>
          <a:prstGeom prst="rect">
            <a:avLst/>
          </a:prstGeom>
          <a:solidFill>
            <a:srgbClr val="F6C9B0"/>
          </a:solidFill>
          <a:ln w="12700">
            <a:solidFill>
              <a:srgbClr val="F6C9B0"/>
            </a:solidFill>
            <a:prstDash val="solid"/>
          </a:ln>
        </p:spPr>
      </p:sp>
      <p:sp>
        <p:nvSpPr>
          <p:cNvPr id="16" name="Shape 14"/>
          <p:cNvSpPr/>
          <p:nvPr/>
        </p:nvSpPr>
        <p:spPr>
          <a:xfrm>
            <a:off x="3264408" y="3081528"/>
            <a:ext cx="64008" cy="338328"/>
          </a:xfrm>
          <a:prstGeom prst="rect">
            <a:avLst/>
          </a:prstGeom>
          <a:solidFill>
            <a:srgbClr val="F9D9CA"/>
          </a:solidFill>
          <a:ln w="12700">
            <a:solidFill>
              <a:srgbClr val="F9D9CA"/>
            </a:solidFill>
            <a:prstDash val="solid"/>
          </a:ln>
        </p:spPr>
      </p:sp>
      <p:sp>
        <p:nvSpPr>
          <p:cNvPr id="17" name="Shape 15"/>
          <p:cNvSpPr/>
          <p:nvPr/>
        </p:nvSpPr>
        <p:spPr>
          <a:xfrm>
            <a:off x="3264408" y="3419856"/>
            <a:ext cx="64008" cy="338328"/>
          </a:xfrm>
          <a:prstGeom prst="rect">
            <a:avLst/>
          </a:prstGeom>
          <a:solidFill>
            <a:srgbClr val="FCE9E3"/>
          </a:solidFill>
          <a:ln w="12700">
            <a:solidFill>
              <a:srgbClr val="FCE9E3"/>
            </a:solidFill>
            <a:prstDash val="solid"/>
          </a:ln>
        </p:spPr>
      </p:sp>
      <p:sp>
        <p:nvSpPr>
          <p:cNvPr id="18" name="Text 16"/>
          <p:cNvSpPr txBox="1"/>
          <p:nvPr/>
        </p:nvSpPr>
        <p:spPr>
          <a:xfrm>
            <a:off x="3383280" y="102412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出行</a:t>
            </a:r>
            <a:endParaRPr lang="en-US" sz="850" dirty="0"/>
          </a:p>
        </p:txBody>
      </p:sp>
      <p:sp>
        <p:nvSpPr>
          <p:cNvPr id="19" name="Text 17"/>
          <p:cNvSpPr txBox="1"/>
          <p:nvPr/>
        </p:nvSpPr>
        <p:spPr>
          <a:xfrm>
            <a:off x="3383280" y="136245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日晒</a:t>
            </a:r>
            <a:endParaRPr lang="en-US" sz="850" dirty="0"/>
          </a:p>
        </p:txBody>
      </p:sp>
      <p:sp>
        <p:nvSpPr>
          <p:cNvPr id="20" name="Text 18"/>
          <p:cNvSpPr txBox="1"/>
          <p:nvPr/>
        </p:nvSpPr>
        <p:spPr>
          <a:xfrm>
            <a:off x="3383280" y="170078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休憩</a:t>
            </a:r>
            <a:endParaRPr lang="en-US" sz="850" dirty="0"/>
          </a:p>
        </p:txBody>
      </p:sp>
      <p:sp>
        <p:nvSpPr>
          <p:cNvPr id="21" name="Text 19"/>
          <p:cNvSpPr txBox="1"/>
          <p:nvPr/>
        </p:nvSpPr>
        <p:spPr>
          <a:xfrm>
            <a:off x="3383280" y="2039112"/>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体锻</a:t>
            </a:r>
            <a:endParaRPr lang="en-US" sz="850" dirty="0"/>
          </a:p>
        </p:txBody>
      </p:sp>
      <p:sp>
        <p:nvSpPr>
          <p:cNvPr id="22" name="Text 20"/>
          <p:cNvSpPr txBox="1"/>
          <p:nvPr/>
        </p:nvSpPr>
        <p:spPr>
          <a:xfrm>
            <a:off x="3383280" y="2377440"/>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情感</a:t>
            </a:r>
            <a:endParaRPr lang="en-US" sz="850" dirty="0"/>
          </a:p>
        </p:txBody>
      </p:sp>
      <p:sp>
        <p:nvSpPr>
          <p:cNvPr id="23" name="Text 21"/>
          <p:cNvSpPr txBox="1"/>
          <p:nvPr/>
        </p:nvSpPr>
        <p:spPr>
          <a:xfrm>
            <a:off x="3383280" y="2715768"/>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兴趣</a:t>
            </a:r>
            <a:endParaRPr lang="en-US" sz="850" dirty="0"/>
          </a:p>
        </p:txBody>
      </p:sp>
      <p:sp>
        <p:nvSpPr>
          <p:cNvPr id="24" name="Text 22"/>
          <p:cNvSpPr txBox="1"/>
          <p:nvPr/>
        </p:nvSpPr>
        <p:spPr>
          <a:xfrm>
            <a:off x="3383280" y="3054096"/>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社交</a:t>
            </a:r>
            <a:endParaRPr lang="en-US" sz="850" dirty="0"/>
          </a:p>
        </p:txBody>
      </p:sp>
      <p:sp>
        <p:nvSpPr>
          <p:cNvPr id="25" name="Text 23"/>
          <p:cNvSpPr txBox="1"/>
          <p:nvPr/>
        </p:nvSpPr>
        <p:spPr>
          <a:xfrm>
            <a:off x="3383280" y="3392424"/>
            <a:ext cx="457200" cy="338328"/>
          </a:xfrm>
          <a:prstGeom prst="rect">
            <a:avLst/>
          </a:prstGeom>
          <a:noFill/>
          <a:ln/>
        </p:spPr>
        <p:txBody>
          <a:bodyPr wrap="square" lIns="0" tIns="0" rIns="0" bIns="0" rtlCol="0" anchor="ctr"/>
          <a:lstStyle/>
          <a:p>
            <a:pPr indent="0" marL="0">
              <a:buNone/>
            </a:pPr>
            <a:r>
              <a:rPr lang="en-US" sz="850" dirty="0">
                <a:solidFill>
                  <a:srgbClr val="444444"/>
                </a:solidFill>
                <a:latin typeface="Microsoft YaHei" pitchFamily="34" charset="0"/>
                <a:ea typeface="Microsoft YaHei" pitchFamily="34" charset="-122"/>
                <a:cs typeface="Microsoft YaHei" pitchFamily="34" charset="-120"/>
              </a:rPr>
              <a:t>理疗</a:t>
            </a:r>
            <a:endParaRPr lang="en-US" sz="850" dirty="0"/>
          </a:p>
        </p:txBody>
      </p:sp>
      <p:pic>
        <p:nvPicPr>
          <p:cNvPr id="26" name="Image 0" descr="/home/user/lxfs/pptx_build/figs/tf_3.jpg">    </p:cNvPr>
          <p:cNvPicPr>
            <a:picLocks noChangeAspect="1"/>
          </p:cNvPicPr>
          <p:nvPr/>
        </p:nvPicPr>
        <p:blipFill>
          <a:blip r:embed="rId1"/>
          <a:stretch>
            <a:fillRect/>
          </a:stretch>
        </p:blipFill>
        <p:spPr>
          <a:xfrm>
            <a:off x="3931920" y="960120"/>
            <a:ext cx="711347" cy="896112"/>
          </a:xfrm>
          <a:prstGeom prst="rect">
            <a:avLst/>
          </a:prstGeom>
        </p:spPr>
      </p:pic>
      <p:pic>
        <p:nvPicPr>
          <p:cNvPr id="27" name="Image 1" descr="/home/user/lxfs/pptx_build/figs/ms_4.jpg">    </p:cNvPr>
          <p:cNvPicPr>
            <a:picLocks noChangeAspect="1"/>
          </p:cNvPicPr>
          <p:nvPr/>
        </p:nvPicPr>
        <p:blipFill>
          <a:blip r:embed="rId2"/>
          <a:stretch>
            <a:fillRect/>
          </a:stretch>
        </p:blipFill>
        <p:spPr>
          <a:xfrm>
            <a:off x="4600721" y="960120"/>
            <a:ext cx="1554480" cy="873446"/>
          </a:xfrm>
          <a:prstGeom prst="rect">
            <a:avLst/>
          </a:prstGeom>
        </p:spPr>
      </p:pic>
      <p:pic>
        <p:nvPicPr>
          <p:cNvPr id="28" name="Image 2" descr="/home/user/lxfs/pptx_build/figs/tf_4.jpg">    </p:cNvPr>
          <p:cNvPicPr>
            <a:picLocks noChangeAspect="1"/>
          </p:cNvPicPr>
          <p:nvPr/>
        </p:nvPicPr>
        <p:blipFill>
          <a:blip r:embed="rId3"/>
          <a:stretch>
            <a:fillRect/>
          </a:stretch>
        </p:blipFill>
        <p:spPr>
          <a:xfrm>
            <a:off x="6112656" y="960120"/>
            <a:ext cx="1199369" cy="896112"/>
          </a:xfrm>
          <a:prstGeom prst="rect">
            <a:avLst/>
          </a:prstGeom>
        </p:spPr>
      </p:pic>
      <p:pic>
        <p:nvPicPr>
          <p:cNvPr id="29" name="Image 3" descr="/home/user/lxfs/pptx_build/figs/sz_4.jpg">    </p:cNvPr>
          <p:cNvPicPr>
            <a:picLocks noChangeAspect="1"/>
          </p:cNvPicPr>
          <p:nvPr/>
        </p:nvPicPr>
        <p:blipFill>
          <a:blip r:embed="rId4"/>
          <a:stretch>
            <a:fillRect/>
          </a:stretch>
        </p:blipFill>
        <p:spPr>
          <a:xfrm>
            <a:off x="7269480" y="960120"/>
            <a:ext cx="1554480" cy="789036"/>
          </a:xfrm>
          <a:prstGeom prst="rect">
            <a:avLst/>
          </a:prstGeom>
        </p:spPr>
      </p:pic>
      <p:pic>
        <p:nvPicPr>
          <p:cNvPr id="30" name="Image 4" descr="/home/user/lxfs/pptx_build/figs/ms_1.jpg">    </p:cNvPr>
          <p:cNvPicPr>
            <a:picLocks noChangeAspect="1"/>
          </p:cNvPicPr>
          <p:nvPr/>
        </p:nvPicPr>
        <p:blipFill>
          <a:blip r:embed="rId5"/>
          <a:stretch>
            <a:fillRect/>
          </a:stretch>
        </p:blipFill>
        <p:spPr>
          <a:xfrm>
            <a:off x="3931920" y="1920240"/>
            <a:ext cx="1554480" cy="873064"/>
          </a:xfrm>
          <a:prstGeom prst="rect">
            <a:avLst/>
          </a:prstGeom>
        </p:spPr>
      </p:pic>
      <p:pic>
        <p:nvPicPr>
          <p:cNvPr id="31" name="Image 5" descr="/home/user/lxfs/pptx_build/figs/wh_1.jpg">    </p:cNvPr>
          <p:cNvPicPr>
            <a:picLocks noChangeAspect="1"/>
          </p:cNvPicPr>
          <p:nvPr/>
        </p:nvPicPr>
        <p:blipFill>
          <a:blip r:embed="rId6"/>
          <a:stretch>
            <a:fillRect/>
          </a:stretch>
        </p:blipFill>
        <p:spPr>
          <a:xfrm>
            <a:off x="5376448" y="1920240"/>
            <a:ext cx="1342177" cy="896112"/>
          </a:xfrm>
          <a:prstGeom prst="rect">
            <a:avLst/>
          </a:prstGeom>
        </p:spPr>
      </p:pic>
      <p:pic>
        <p:nvPicPr>
          <p:cNvPr id="32" name="Image 6" descr="/home/user/lxfs/pptx_build/figs/ms_3.jpg">    </p:cNvPr>
          <p:cNvPicPr>
            <a:picLocks noChangeAspect="1"/>
          </p:cNvPicPr>
          <p:nvPr/>
        </p:nvPicPr>
        <p:blipFill>
          <a:blip r:embed="rId7"/>
          <a:stretch>
            <a:fillRect/>
          </a:stretch>
        </p:blipFill>
        <p:spPr>
          <a:xfrm>
            <a:off x="6608673" y="1920240"/>
            <a:ext cx="1477305" cy="896112"/>
          </a:xfrm>
          <a:prstGeom prst="rect">
            <a:avLst/>
          </a:prstGeom>
        </p:spPr>
      </p:pic>
      <p:pic>
        <p:nvPicPr>
          <p:cNvPr id="33" name="Image 7" descr="/home/user/lxfs/pptx_build/figs/sz_1.jpg">    </p:cNvPr>
          <p:cNvPicPr>
            <a:picLocks noChangeAspect="1"/>
          </p:cNvPicPr>
          <p:nvPr/>
        </p:nvPicPr>
        <p:blipFill>
          <a:blip r:embed="rId8"/>
          <a:stretch>
            <a:fillRect/>
          </a:stretch>
        </p:blipFill>
        <p:spPr>
          <a:xfrm>
            <a:off x="7976026" y="1920240"/>
            <a:ext cx="847934" cy="896112"/>
          </a:xfrm>
          <a:prstGeom prst="rect">
            <a:avLst/>
          </a:prstGeom>
        </p:spPr>
      </p:pic>
      <p:pic>
        <p:nvPicPr>
          <p:cNvPr id="34" name="Image 8" descr="/home/user/lxfs/pptx_build/figs/sz_3.jpg">    </p:cNvPr>
          <p:cNvPicPr>
            <a:picLocks noChangeAspect="1"/>
          </p:cNvPicPr>
          <p:nvPr/>
        </p:nvPicPr>
        <p:blipFill>
          <a:blip r:embed="rId9"/>
          <a:stretch>
            <a:fillRect/>
          </a:stretch>
        </p:blipFill>
        <p:spPr>
          <a:xfrm>
            <a:off x="3931920" y="2880360"/>
            <a:ext cx="671377" cy="896112"/>
          </a:xfrm>
          <a:prstGeom prst="rect">
            <a:avLst/>
          </a:prstGeom>
        </p:spPr>
      </p:pic>
      <p:pic>
        <p:nvPicPr>
          <p:cNvPr id="35" name="Image 9" descr="/home/user/lxfs/pptx_build/figs/tf_1.jpg">    </p:cNvPr>
          <p:cNvPicPr>
            <a:picLocks noChangeAspect="1"/>
          </p:cNvPicPr>
          <p:nvPr/>
        </p:nvPicPr>
        <p:blipFill>
          <a:blip r:embed="rId10"/>
          <a:stretch>
            <a:fillRect/>
          </a:stretch>
        </p:blipFill>
        <p:spPr>
          <a:xfrm>
            <a:off x="4851922" y="2880360"/>
            <a:ext cx="1196671" cy="896112"/>
          </a:xfrm>
          <a:prstGeom prst="rect">
            <a:avLst/>
          </a:prstGeom>
        </p:spPr>
      </p:pic>
      <p:pic>
        <p:nvPicPr>
          <p:cNvPr id="36" name="Image 10" descr="/home/user/lxfs/pptx_build/figs/tf_2.jpg">    </p:cNvPr>
          <p:cNvPicPr>
            <a:picLocks noChangeAspect="1"/>
          </p:cNvPicPr>
          <p:nvPr/>
        </p:nvPicPr>
        <p:blipFill>
          <a:blip r:embed="rId11"/>
          <a:stretch>
            <a:fillRect/>
          </a:stretch>
        </p:blipFill>
        <p:spPr>
          <a:xfrm>
            <a:off x="6297217" y="2880360"/>
            <a:ext cx="723639" cy="896112"/>
          </a:xfrm>
          <a:prstGeom prst="rect">
            <a:avLst/>
          </a:prstGeom>
        </p:spPr>
      </p:pic>
      <p:pic>
        <p:nvPicPr>
          <p:cNvPr id="37" name="Image 11" descr="/home/user/lxfs/pptx_build/figs/ms_2.jpg">    </p:cNvPr>
          <p:cNvPicPr>
            <a:picLocks noChangeAspect="1"/>
          </p:cNvPicPr>
          <p:nvPr/>
        </p:nvPicPr>
        <p:blipFill>
          <a:blip r:embed="rId12"/>
          <a:stretch>
            <a:fillRect/>
          </a:stretch>
        </p:blipFill>
        <p:spPr>
          <a:xfrm>
            <a:off x="7269480" y="2880360"/>
            <a:ext cx="1554480" cy="874870"/>
          </a:xfrm>
          <a:prstGeom prst="rect">
            <a:avLst/>
          </a:prstGeom>
        </p:spPr>
      </p:pic>
      <p:sp>
        <p:nvSpPr>
          <p:cNvPr id="38" name="Shape 24"/>
          <p:cNvSpPr/>
          <p:nvPr/>
        </p:nvSpPr>
        <p:spPr>
          <a:xfrm>
            <a:off x="457200" y="3886200"/>
            <a:ext cx="8366760" cy="896112"/>
          </a:xfrm>
          <a:prstGeom prst="rect">
            <a:avLst/>
          </a:prstGeom>
          <a:solidFill>
            <a:srgbClr val="3A3A3A"/>
          </a:solidFill>
          <a:ln w="12700">
            <a:solidFill>
              <a:srgbClr val="3A3A3A"/>
            </a:solidFill>
            <a:prstDash val="solid"/>
          </a:ln>
        </p:spPr>
      </p:sp>
      <p:sp>
        <p:nvSpPr>
          <p:cNvPr id="39" name="Text 25"/>
          <p:cNvSpPr txBox="1"/>
          <p:nvPr/>
        </p:nvSpPr>
        <p:spPr>
          <a:xfrm>
            <a:off x="548640" y="3913632"/>
            <a:ext cx="2743200" cy="274320"/>
          </a:xfrm>
          <a:prstGeom prst="rect">
            <a:avLst/>
          </a:prstGeom>
          <a:noFill/>
          <a:ln/>
        </p:spPr>
        <p:txBody>
          <a:bodyPr wrap="square" lIns="0" tIns="0" rIns="0" bIns="0" rtlCol="0" anchor="ctr"/>
          <a:lstStyle/>
          <a:p>
            <a:pPr indent="0" marL="0">
              <a:buNone/>
            </a:pPr>
            <a:r>
              <a:rPr lang="en-US" sz="1050" b="1" dirty="0">
                <a:solidFill>
                  <a:srgbClr val="FFFFFF"/>
                </a:solidFill>
                <a:latin typeface="Microsoft YaHei" pitchFamily="34" charset="0"/>
                <a:ea typeface="Microsoft YaHei" pitchFamily="34" charset="-122"/>
                <a:cs typeface="Microsoft YaHei" pitchFamily="34" charset="-120"/>
              </a:rPr>
              <a:t>居民日常户外活动的时段分布</a:t>
            </a:r>
            <a:endParaRPr lang="en-US" sz="1050" dirty="0"/>
          </a:p>
        </p:txBody>
      </p:sp>
      <p:sp>
        <p:nvSpPr>
          <p:cNvPr id="40" name="Shape 26"/>
          <p:cNvSpPr/>
          <p:nvPr/>
        </p:nvSpPr>
        <p:spPr>
          <a:xfrm>
            <a:off x="4069080" y="3886200"/>
            <a:ext cx="0" cy="109728"/>
          </a:xfrm>
          <a:prstGeom prst="line">
            <a:avLst/>
          </a:prstGeom>
          <a:noFill/>
          <a:ln w="12700">
            <a:solidFill>
              <a:srgbClr val="FFFFFF"/>
            </a:solidFill>
            <a:prstDash val="solid"/>
          </a:ln>
        </p:spPr>
      </p:sp>
      <p:sp>
        <p:nvSpPr>
          <p:cNvPr id="41" name="Text 27"/>
          <p:cNvSpPr txBox="1"/>
          <p:nvPr/>
        </p:nvSpPr>
        <p:spPr>
          <a:xfrm>
            <a:off x="3429000"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6:00—9:00</a:t>
            </a:r>
            <a:endParaRPr lang="en-US" sz="900" dirty="0"/>
          </a:p>
        </p:txBody>
      </p:sp>
      <p:sp>
        <p:nvSpPr>
          <p:cNvPr id="42" name="Shape 28"/>
          <p:cNvSpPr/>
          <p:nvPr/>
        </p:nvSpPr>
        <p:spPr>
          <a:xfrm>
            <a:off x="5413248" y="3886200"/>
            <a:ext cx="0" cy="109728"/>
          </a:xfrm>
          <a:prstGeom prst="line">
            <a:avLst/>
          </a:prstGeom>
          <a:noFill/>
          <a:ln w="12700">
            <a:solidFill>
              <a:srgbClr val="FFFFFF"/>
            </a:solidFill>
            <a:prstDash val="solid"/>
          </a:ln>
        </p:spPr>
      </p:sp>
      <p:sp>
        <p:nvSpPr>
          <p:cNvPr id="43" name="Text 29"/>
          <p:cNvSpPr txBox="1"/>
          <p:nvPr/>
        </p:nvSpPr>
        <p:spPr>
          <a:xfrm>
            <a:off x="4773168"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9:00—12:00</a:t>
            </a:r>
            <a:endParaRPr lang="en-US" sz="900" dirty="0"/>
          </a:p>
        </p:txBody>
      </p:sp>
      <p:sp>
        <p:nvSpPr>
          <p:cNvPr id="44" name="Shape 30"/>
          <p:cNvSpPr/>
          <p:nvPr/>
        </p:nvSpPr>
        <p:spPr>
          <a:xfrm>
            <a:off x="6757416" y="3886200"/>
            <a:ext cx="0" cy="109728"/>
          </a:xfrm>
          <a:prstGeom prst="line">
            <a:avLst/>
          </a:prstGeom>
          <a:noFill/>
          <a:ln w="12700">
            <a:solidFill>
              <a:srgbClr val="FFFFFF"/>
            </a:solidFill>
            <a:prstDash val="solid"/>
          </a:ln>
        </p:spPr>
      </p:sp>
      <p:sp>
        <p:nvSpPr>
          <p:cNvPr id="45" name="Text 31"/>
          <p:cNvSpPr txBox="1"/>
          <p:nvPr/>
        </p:nvSpPr>
        <p:spPr>
          <a:xfrm>
            <a:off x="6117336"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14:00—17:00</a:t>
            </a:r>
            <a:endParaRPr lang="en-US" sz="900" dirty="0"/>
          </a:p>
        </p:txBody>
      </p:sp>
      <p:sp>
        <p:nvSpPr>
          <p:cNvPr id="46" name="Shape 32"/>
          <p:cNvSpPr/>
          <p:nvPr/>
        </p:nvSpPr>
        <p:spPr>
          <a:xfrm>
            <a:off x="8101584" y="3886200"/>
            <a:ext cx="0" cy="109728"/>
          </a:xfrm>
          <a:prstGeom prst="line">
            <a:avLst/>
          </a:prstGeom>
          <a:noFill/>
          <a:ln w="12700">
            <a:solidFill>
              <a:srgbClr val="FFFFFF"/>
            </a:solidFill>
            <a:prstDash val="solid"/>
          </a:ln>
        </p:spPr>
      </p:sp>
      <p:sp>
        <p:nvSpPr>
          <p:cNvPr id="47" name="Text 33"/>
          <p:cNvSpPr txBox="1"/>
          <p:nvPr/>
        </p:nvSpPr>
        <p:spPr>
          <a:xfrm>
            <a:off x="7461504" y="3986784"/>
            <a:ext cx="1280160"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17:00—20:00</a:t>
            </a:r>
            <a:endParaRPr lang="en-US" sz="900" dirty="0"/>
          </a:p>
        </p:txBody>
      </p:sp>
      <p:sp>
        <p:nvSpPr>
          <p:cNvPr id="48" name="Text 34"/>
          <p:cNvSpPr txBox="1"/>
          <p:nvPr/>
        </p:nvSpPr>
        <p:spPr>
          <a:xfrm>
            <a:off x="548640" y="420624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动态活动场所：</a:t>
            </a:r>
            <a:endParaRPr lang="en-US" sz="750" dirty="0"/>
          </a:p>
        </p:txBody>
      </p:sp>
      <p:sp>
        <p:nvSpPr>
          <p:cNvPr id="49" name="Text 35"/>
          <p:cNvSpPr txBox="1"/>
          <p:nvPr/>
        </p:nvSpPr>
        <p:spPr>
          <a:xfrm>
            <a:off x="3429000"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晨练、散步、太极</a:t>
            </a:r>
            <a:endParaRPr lang="en-US" sz="750" dirty="0"/>
          </a:p>
        </p:txBody>
      </p:sp>
      <p:sp>
        <p:nvSpPr>
          <p:cNvPr id="50" name="Text 36"/>
          <p:cNvSpPr txBox="1"/>
          <p:nvPr/>
        </p:nvSpPr>
        <p:spPr>
          <a:xfrm>
            <a:off x="6117336"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跑步、球类、骑行</a:t>
            </a:r>
            <a:endParaRPr lang="en-US" sz="750" dirty="0"/>
          </a:p>
        </p:txBody>
      </p:sp>
      <p:sp>
        <p:nvSpPr>
          <p:cNvPr id="51" name="Text 37"/>
          <p:cNvSpPr txBox="1"/>
          <p:nvPr/>
        </p:nvSpPr>
        <p:spPr>
          <a:xfrm>
            <a:off x="7461504" y="420624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健身、亲子游乐</a:t>
            </a:r>
            <a:endParaRPr lang="en-US" sz="750" dirty="0"/>
          </a:p>
        </p:txBody>
      </p:sp>
      <p:sp>
        <p:nvSpPr>
          <p:cNvPr id="52" name="Text 38"/>
          <p:cNvSpPr txBox="1"/>
          <p:nvPr/>
        </p:nvSpPr>
        <p:spPr>
          <a:xfrm>
            <a:off x="548640" y="438912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静态活动场所：</a:t>
            </a:r>
            <a:endParaRPr lang="en-US" sz="750" dirty="0"/>
          </a:p>
        </p:txBody>
      </p:sp>
      <p:sp>
        <p:nvSpPr>
          <p:cNvPr id="53" name="Text 39"/>
          <p:cNvSpPr txBox="1"/>
          <p:nvPr/>
        </p:nvSpPr>
        <p:spPr>
          <a:xfrm>
            <a:off x="4773168"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休憩闲谈、晾晒</a:t>
            </a:r>
            <a:endParaRPr lang="en-US" sz="750" dirty="0"/>
          </a:p>
        </p:txBody>
      </p:sp>
      <p:sp>
        <p:nvSpPr>
          <p:cNvPr id="54" name="Text 40"/>
          <p:cNvSpPr txBox="1"/>
          <p:nvPr/>
        </p:nvSpPr>
        <p:spPr>
          <a:xfrm>
            <a:off x="7461504" y="4389120"/>
            <a:ext cx="1280160" cy="182880"/>
          </a:xfrm>
          <a:prstGeom prst="rect">
            <a:avLst/>
          </a:prstGeom>
          <a:noFill/>
          <a:ln/>
        </p:spPr>
        <p:txBody>
          <a:bodyPr wrap="square" lIns="0" tIns="0" rIns="0" bIns="0" rtlCol="0" anchor="ctr"/>
          <a:lstStyle/>
          <a:p>
            <a:pPr algn="ctr" indent="0" marL="0">
              <a:buNone/>
            </a:pPr>
            <a:r>
              <a:rPr lang="en-US" sz="750" dirty="0">
                <a:solidFill>
                  <a:srgbClr val="DDDDDD"/>
                </a:solidFill>
                <a:latin typeface="Microsoft YaHei" pitchFamily="34" charset="0"/>
                <a:ea typeface="Microsoft YaHei" pitchFamily="34" charset="-122"/>
                <a:cs typeface="Microsoft YaHei" pitchFamily="34" charset="-120"/>
              </a:rPr>
              <a:t>饭后休闲、聚会下棋</a:t>
            </a:r>
            <a:endParaRPr lang="en-US" sz="750" dirty="0"/>
          </a:p>
        </p:txBody>
      </p:sp>
      <p:sp>
        <p:nvSpPr>
          <p:cNvPr id="55" name="Text 41"/>
          <p:cNvSpPr txBox="1"/>
          <p:nvPr/>
        </p:nvSpPr>
        <p:spPr>
          <a:xfrm>
            <a:off x="548640" y="4572000"/>
            <a:ext cx="1280160" cy="182880"/>
          </a:xfrm>
          <a:prstGeom prst="rect">
            <a:avLst/>
          </a:prstGeom>
          <a:noFill/>
          <a:ln/>
        </p:spPr>
        <p:txBody>
          <a:bodyPr wrap="square" lIns="0" tIns="0" rIns="0" bIns="0" rtlCol="0" anchor="ctr"/>
          <a:lstStyle/>
          <a:p>
            <a:pPr indent="0" marL="0">
              <a:buNone/>
            </a:pPr>
            <a:r>
              <a:rPr lang="en-US" sz="750" dirty="0">
                <a:solidFill>
                  <a:srgbClr val="FFFFFF"/>
                </a:solidFill>
                <a:latin typeface="Microsoft YaHei" pitchFamily="34" charset="0"/>
                <a:ea typeface="Microsoft YaHei" pitchFamily="34" charset="-122"/>
                <a:cs typeface="Microsoft YaHei" pitchFamily="34" charset="-120"/>
              </a:rPr>
              <a:t>步行活动场所：</a:t>
            </a:r>
            <a:endParaRPr lang="en-US" sz="750" dirty="0"/>
          </a:p>
        </p:txBody>
      </p:sp>
      <p:sp>
        <p:nvSpPr>
          <p:cNvPr id="56" name="Text 42"/>
          <p:cNvSpPr txBox="1"/>
          <p:nvPr/>
        </p:nvSpPr>
        <p:spPr>
          <a:xfrm>
            <a:off x="3429000" y="4572000"/>
            <a:ext cx="5303520" cy="182880"/>
          </a:xfrm>
          <a:prstGeom prst="rect">
            <a:avLst/>
          </a:prstGeom>
          <a:noFill/>
          <a:ln/>
        </p:spPr>
        <p:txBody>
          <a:bodyPr wrap="square" lIns="0" tIns="0" rIns="0" bIns="0" rtlCol="0" anchor="ctr"/>
          <a:lstStyle/>
          <a:p>
            <a:pPr indent="0" marL="0">
              <a:buNone/>
            </a:pPr>
            <a:r>
              <a:rPr lang="en-US" sz="750" dirty="0">
                <a:solidFill>
                  <a:srgbClr val="DDDDDD"/>
                </a:solidFill>
                <a:latin typeface="Microsoft YaHei" pitchFamily="34" charset="0"/>
                <a:ea typeface="Microsoft YaHei" pitchFamily="34" charset="-122"/>
                <a:cs typeface="Microsoft YaHei" pitchFamily="34" charset="-120"/>
              </a:rPr>
              <a:t>上学途经、四向穿越，需连续无障碍步道与岔路口标识系统</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Main Audience Needs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2.13 主要人群需求分析——调研数据</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31</a:t>
            </a:r>
            <a:endParaRPr lang="en-US" sz="900" dirty="0"/>
          </a:p>
        </p:txBody>
      </p:sp>
      <p:pic>
        <p:nvPicPr>
          <p:cNvPr id="7" name="Image 0" descr="/home/user/lxfs/pptx_build/figs/pie_act.jpg">    </p:cNvPr>
          <p:cNvPicPr>
            <a:picLocks noChangeAspect="1"/>
          </p:cNvPicPr>
          <p:nvPr/>
        </p:nvPicPr>
        <p:blipFill>
          <a:blip r:embed="rId1"/>
          <a:stretch>
            <a:fillRect/>
          </a:stretch>
        </p:blipFill>
        <p:spPr>
          <a:xfrm>
            <a:off x="457200" y="914400"/>
            <a:ext cx="2240280" cy="2240280"/>
          </a:xfrm>
          <a:prstGeom prst="rect">
            <a:avLst/>
          </a:prstGeom>
        </p:spPr>
      </p:pic>
      <p:sp>
        <p:nvSpPr>
          <p:cNvPr id="8" name="Text 5"/>
          <p:cNvSpPr txBox="1"/>
          <p:nvPr/>
        </p:nvSpPr>
        <p:spPr>
          <a:xfrm>
            <a:off x="45720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居民主要活动类型偏好</a:t>
            </a:r>
            <a:endParaRPr lang="en-US" sz="800" dirty="0"/>
          </a:p>
        </p:txBody>
      </p:sp>
      <p:pic>
        <p:nvPicPr>
          <p:cNvPr id="9" name="Image 1" descr="/home/user/lxfs/pptx_build/figs/pie_time.jpg">    </p:cNvPr>
          <p:cNvPicPr>
            <a:picLocks noChangeAspect="1"/>
          </p:cNvPicPr>
          <p:nvPr/>
        </p:nvPicPr>
        <p:blipFill>
          <a:blip r:embed="rId2"/>
          <a:stretch>
            <a:fillRect/>
          </a:stretch>
        </p:blipFill>
        <p:spPr>
          <a:xfrm>
            <a:off x="3246120" y="914400"/>
            <a:ext cx="2240280" cy="2240280"/>
          </a:xfrm>
          <a:prstGeom prst="rect">
            <a:avLst/>
          </a:prstGeom>
        </p:spPr>
      </p:pic>
      <p:sp>
        <p:nvSpPr>
          <p:cNvPr id="10" name="Text 6"/>
          <p:cNvSpPr txBox="1"/>
          <p:nvPr/>
        </p:nvSpPr>
        <p:spPr>
          <a:xfrm>
            <a:off x="3246120" y="3172968"/>
            <a:ext cx="22402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居民户外活动时段分布</a:t>
            </a:r>
            <a:endParaRPr lang="en-US" sz="800" dirty="0"/>
          </a:p>
        </p:txBody>
      </p:sp>
      <p:sp>
        <p:nvSpPr>
          <p:cNvPr id="11" name="Shape 7"/>
          <p:cNvSpPr/>
          <p:nvPr/>
        </p:nvSpPr>
        <p:spPr>
          <a:xfrm>
            <a:off x="6217920" y="914400"/>
            <a:ext cx="2606040" cy="1417320"/>
          </a:xfrm>
          <a:prstGeom prst="rect">
            <a:avLst/>
          </a:prstGeom>
          <a:solidFill>
            <a:srgbClr val="EEF2F8"/>
          </a:solidFill>
          <a:ln w="12700">
            <a:solidFill>
              <a:srgbClr val="EEF2F8"/>
            </a:solidFill>
            <a:prstDash val="solid"/>
          </a:ln>
        </p:spPr>
      </p:sp>
      <p:sp>
        <p:nvSpPr>
          <p:cNvPr id="12" name="Shape 8"/>
          <p:cNvSpPr/>
          <p:nvPr/>
        </p:nvSpPr>
        <p:spPr>
          <a:xfrm>
            <a:off x="6309360" y="1005840"/>
            <a:ext cx="868680" cy="274320"/>
          </a:xfrm>
          <a:prstGeom prst="rect">
            <a:avLst/>
          </a:prstGeom>
          <a:solidFill>
            <a:srgbClr val="1F3F7A"/>
          </a:solidFill>
          <a:ln w="12700">
            <a:solidFill>
              <a:srgbClr val="1F3F7A"/>
            </a:solidFill>
            <a:prstDash val="solid"/>
          </a:ln>
        </p:spPr>
      </p:sp>
      <p:sp>
        <p:nvSpPr>
          <p:cNvPr id="13" name="Text 9"/>
          <p:cNvSpPr txBox="1"/>
          <p:nvPr/>
        </p:nvSpPr>
        <p:spPr>
          <a:xfrm>
            <a:off x="6309360" y="100584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基本需求</a:t>
            </a:r>
            <a:endParaRPr lang="en-US" sz="900" dirty="0"/>
          </a:p>
        </p:txBody>
      </p:sp>
      <p:sp>
        <p:nvSpPr>
          <p:cNvPr id="14" name="Text 10"/>
          <p:cNvSpPr txBox="1"/>
          <p:nvPr/>
        </p:nvSpPr>
        <p:spPr>
          <a:xfrm>
            <a:off x="6263640" y="132588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出行、日晒、休憩、体锻——全域无障碍步道、遮阳林荫、充足座椅、分龄健身场地。</a:t>
            </a:r>
            <a:endParaRPr lang="en-US" sz="850" dirty="0"/>
          </a:p>
        </p:txBody>
      </p:sp>
      <p:sp>
        <p:nvSpPr>
          <p:cNvPr id="15" name="Shape 11"/>
          <p:cNvSpPr/>
          <p:nvPr/>
        </p:nvSpPr>
        <p:spPr>
          <a:xfrm>
            <a:off x="6217920" y="2468880"/>
            <a:ext cx="2606040" cy="1417320"/>
          </a:xfrm>
          <a:prstGeom prst="rect">
            <a:avLst/>
          </a:prstGeom>
          <a:solidFill>
            <a:srgbClr val="EEF2F8"/>
          </a:solidFill>
          <a:ln w="12700">
            <a:solidFill>
              <a:srgbClr val="EEF2F8"/>
            </a:solidFill>
            <a:prstDash val="solid"/>
          </a:ln>
        </p:spPr>
      </p:sp>
      <p:sp>
        <p:nvSpPr>
          <p:cNvPr id="16" name="Shape 12"/>
          <p:cNvSpPr/>
          <p:nvPr/>
        </p:nvSpPr>
        <p:spPr>
          <a:xfrm>
            <a:off x="6309360" y="2560320"/>
            <a:ext cx="868680" cy="274320"/>
          </a:xfrm>
          <a:prstGeom prst="rect">
            <a:avLst/>
          </a:prstGeom>
          <a:solidFill>
            <a:srgbClr val="E07B2A"/>
          </a:solidFill>
          <a:ln w="12700">
            <a:solidFill>
              <a:srgbClr val="E07B2A"/>
            </a:solidFill>
            <a:prstDash val="solid"/>
          </a:ln>
        </p:spPr>
      </p:sp>
      <p:sp>
        <p:nvSpPr>
          <p:cNvPr id="17" name="Text 13"/>
          <p:cNvSpPr txBox="1"/>
          <p:nvPr/>
        </p:nvSpPr>
        <p:spPr>
          <a:xfrm>
            <a:off x="6309360" y="2560320"/>
            <a:ext cx="86868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进阶需求</a:t>
            </a:r>
            <a:endParaRPr lang="en-US" sz="900" dirty="0"/>
          </a:p>
        </p:txBody>
      </p:sp>
      <p:sp>
        <p:nvSpPr>
          <p:cNvPr id="18" name="Text 14"/>
          <p:cNvSpPr txBox="1"/>
          <p:nvPr/>
        </p:nvSpPr>
        <p:spPr>
          <a:xfrm>
            <a:off x="6263640" y="2880360"/>
            <a:ext cx="2514600" cy="9601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情感、兴趣、社交、理疗——邻里聚会草坪、种植科普、康养步道、文化记忆节点。</a:t>
            </a:r>
            <a:endParaRPr lang="en-US" sz="8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474720"/>
          <a:ext cx="5532120" cy="914400"/>
        </p:xfrm>
        <a:graphic>
          <a:graphicData uri="http://schemas.openxmlformats.org/drawingml/2006/table">
            <a:tbl>
              <a:tblPr/>
              <a:tblGrid>
                <a:gridCol w="1188720"/>
                <a:gridCol w="1371600"/>
                <a:gridCol w="2971800"/>
              </a:tblGrid>
              <a:tr h="246888">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人群</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主要活动时段</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主要活动类型</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中老年人</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6:00—9:00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晨练散步、日间休憩闲谈、饭后休闲</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中年群体</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14:00—20:00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跑步、健身等体育运动</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青少年</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14:00—19:00</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跑步、球类、骑行；上学途经</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246888">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儿童（亲子）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全天分散</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攀爬游乐、亲子游乐</a:t>
                      </a:r>
                      <a:endParaRPr lang="en-US" sz="8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sp>
        <p:nvSpPr>
          <p:cNvPr id="20" name="Text 15"/>
          <p:cNvSpPr txBox="1"/>
          <p:nvPr/>
        </p:nvSpPr>
        <p:spPr>
          <a:xfrm>
            <a:off x="6263640" y="4023360"/>
            <a:ext cx="2560320" cy="4572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注：饼图数据为开题报告调研预测，待问卷统计后校正。</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Sunlight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2.14 光照分析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32</a:t>
            </a:r>
            <a:endParaRPr lang="en-US" sz="900" dirty="0"/>
          </a:p>
        </p:txBody>
      </p:sp>
      <p:pic>
        <p:nvPicPr>
          <p:cNvPr id="7" name="Image 0" descr="/home/user/lxfs/pptx_build/figs/sun1.jpg">    </p:cNvPr>
          <p:cNvPicPr>
            <a:picLocks noChangeAspect="1"/>
          </p:cNvPicPr>
          <p:nvPr/>
        </p:nvPicPr>
        <p:blipFill>
          <a:blip r:embed="rId1"/>
          <a:stretch>
            <a:fillRect/>
          </a:stretch>
        </p:blipFill>
        <p:spPr>
          <a:xfrm>
            <a:off x="457200" y="932688"/>
            <a:ext cx="4160520" cy="2331720"/>
          </a:xfrm>
          <a:prstGeom prst="rect">
            <a:avLst/>
          </a:prstGeom>
        </p:spPr>
      </p:pic>
      <p:pic>
        <p:nvPicPr>
          <p:cNvPr id="8" name="Image 1" descr="/home/user/lxfs/pptx_build/figs/sun2.jpg">    </p:cNvPr>
          <p:cNvPicPr>
            <a:picLocks noChangeAspect="1"/>
          </p:cNvPicPr>
          <p:nvPr/>
        </p:nvPicPr>
        <p:blipFill>
          <a:blip r:embed="rId2"/>
          <a:stretch>
            <a:fillRect/>
          </a:stretch>
        </p:blipFill>
        <p:spPr>
          <a:xfrm>
            <a:off x="4983480" y="932688"/>
            <a:ext cx="3474720" cy="2331720"/>
          </a:xfrm>
          <a:prstGeom prst="rect">
            <a:avLst/>
          </a:prstGeom>
        </p:spPr>
      </p:pic>
      <p:sp>
        <p:nvSpPr>
          <p:cNvPr id="9" name="Text 5"/>
          <p:cNvSpPr txBox="1"/>
          <p:nvPr/>
        </p:nvSpPr>
        <p:spPr>
          <a:xfrm>
            <a:off x="457200" y="3273552"/>
            <a:ext cx="41605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夏季太阳轨迹与场地日照</a:t>
            </a:r>
            <a:endParaRPr lang="en-US" sz="800" dirty="0"/>
          </a:p>
        </p:txBody>
      </p:sp>
      <p:sp>
        <p:nvSpPr>
          <p:cNvPr id="10" name="Text 6"/>
          <p:cNvSpPr txBox="1"/>
          <p:nvPr/>
        </p:nvSpPr>
        <p:spPr>
          <a:xfrm>
            <a:off x="4983480" y="3273552"/>
            <a:ext cx="3474720" cy="201168"/>
          </a:xfrm>
          <a:prstGeom prst="rect">
            <a:avLst/>
          </a:prstGeom>
          <a:noFill/>
          <a:ln/>
        </p:spPr>
        <p:txBody>
          <a:bodyPr wrap="square" lIns="25400" tIns="25400" rIns="25400" bIns="25400" rtlCol="0" anchor="t"/>
          <a:lstStyle/>
          <a:p>
            <a:pPr algn="ctr" indent="0" marL="0">
              <a:lnSpc>
                <a:spcPct val="115000"/>
              </a:lnSpc>
              <a:buNone/>
            </a:pPr>
            <a:r>
              <a:rPr lang="en-US" sz="800" dirty="0">
                <a:solidFill>
                  <a:srgbClr val="777777"/>
                </a:solidFill>
                <a:latin typeface="Microsoft YaHei" pitchFamily="34" charset="0"/>
                <a:ea typeface="Microsoft YaHei" pitchFamily="34" charset="-122"/>
                <a:cs typeface="Microsoft YaHei" pitchFamily="34" charset="-120"/>
              </a:rPr>
              <a:t>光照分析图（冬季太阳高度角较低）</a:t>
            </a:r>
            <a:endParaRPr lang="en-US" sz="800" dirty="0"/>
          </a:p>
        </p:txBody>
      </p:sp>
      <p:sp>
        <p:nvSpPr>
          <p:cNvPr id="11" name="Shape 7"/>
          <p:cNvSpPr/>
          <p:nvPr/>
        </p:nvSpPr>
        <p:spPr>
          <a:xfrm>
            <a:off x="457200" y="3566160"/>
            <a:ext cx="2697480" cy="1188720"/>
          </a:xfrm>
          <a:prstGeom prst="rect">
            <a:avLst/>
          </a:prstGeom>
          <a:solidFill>
            <a:srgbClr val="EEF2F8"/>
          </a:solidFill>
          <a:ln w="12700">
            <a:solidFill>
              <a:srgbClr val="EEF2F8"/>
            </a:solidFill>
            <a:prstDash val="solid"/>
          </a:ln>
        </p:spPr>
      </p:sp>
      <p:sp>
        <p:nvSpPr>
          <p:cNvPr id="12" name="Shape 8"/>
          <p:cNvSpPr/>
          <p:nvPr/>
        </p:nvSpPr>
        <p:spPr>
          <a:xfrm>
            <a:off x="548640" y="3657600"/>
            <a:ext cx="1371600" cy="274320"/>
          </a:xfrm>
          <a:prstGeom prst="rect">
            <a:avLst/>
          </a:prstGeom>
          <a:solidFill>
            <a:srgbClr val="E07B2A"/>
          </a:solidFill>
          <a:ln w="12700">
            <a:solidFill>
              <a:srgbClr val="E07B2A"/>
            </a:solidFill>
            <a:prstDash val="solid"/>
          </a:ln>
        </p:spPr>
      </p:sp>
      <p:sp>
        <p:nvSpPr>
          <p:cNvPr id="13" name="Text 9"/>
          <p:cNvSpPr txBox="1"/>
          <p:nvPr/>
        </p:nvSpPr>
        <p:spPr>
          <a:xfrm>
            <a:off x="54864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全日照区（≥6h）</a:t>
            </a:r>
            <a:endParaRPr lang="en-US" sz="850" dirty="0"/>
          </a:p>
        </p:txBody>
      </p:sp>
      <p:sp>
        <p:nvSpPr>
          <p:cNvPr id="14" name="Text 10"/>
          <p:cNvSpPr txBox="1"/>
          <p:nvPr/>
        </p:nvSpPr>
        <p:spPr>
          <a:xfrm>
            <a:off x="50292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场地开阔区域，适合布置阳光草坪、运动场地和露天活动空间。</a:t>
            </a:r>
            <a:endParaRPr lang="en-US" sz="850" dirty="0"/>
          </a:p>
        </p:txBody>
      </p:sp>
      <p:sp>
        <p:nvSpPr>
          <p:cNvPr id="15" name="Shape 11"/>
          <p:cNvSpPr/>
          <p:nvPr/>
        </p:nvSpPr>
        <p:spPr>
          <a:xfrm>
            <a:off x="3291840" y="3566160"/>
            <a:ext cx="2697480" cy="1188720"/>
          </a:xfrm>
          <a:prstGeom prst="rect">
            <a:avLst/>
          </a:prstGeom>
          <a:solidFill>
            <a:srgbClr val="EEF2F8"/>
          </a:solidFill>
          <a:ln w="12700">
            <a:solidFill>
              <a:srgbClr val="EEF2F8"/>
            </a:solidFill>
            <a:prstDash val="solid"/>
          </a:ln>
        </p:spPr>
      </p:sp>
      <p:sp>
        <p:nvSpPr>
          <p:cNvPr id="16" name="Shape 12"/>
          <p:cNvSpPr/>
          <p:nvPr/>
        </p:nvSpPr>
        <p:spPr>
          <a:xfrm>
            <a:off x="3383280" y="3657600"/>
            <a:ext cx="1371600" cy="274320"/>
          </a:xfrm>
          <a:prstGeom prst="rect">
            <a:avLst/>
          </a:prstGeom>
          <a:solidFill>
            <a:srgbClr val="4E8A3E"/>
          </a:solidFill>
          <a:ln w="12700">
            <a:solidFill>
              <a:srgbClr val="4E8A3E"/>
            </a:solidFill>
            <a:prstDash val="solid"/>
          </a:ln>
        </p:spPr>
      </p:sp>
      <p:sp>
        <p:nvSpPr>
          <p:cNvPr id="17" name="Text 13"/>
          <p:cNvSpPr txBox="1"/>
          <p:nvPr/>
        </p:nvSpPr>
        <p:spPr>
          <a:xfrm>
            <a:off x="338328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半日照区（3—6h）</a:t>
            </a:r>
            <a:endParaRPr lang="en-US" sz="850" dirty="0"/>
          </a:p>
        </p:txBody>
      </p:sp>
      <p:sp>
        <p:nvSpPr>
          <p:cNvPr id="18" name="Text 14"/>
          <p:cNvSpPr txBox="1"/>
          <p:nvPr/>
        </p:nvSpPr>
        <p:spPr>
          <a:xfrm>
            <a:off x="333756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场地两侧，适宜疏林草地、慢行步道和林下休憩空间。</a:t>
            </a:r>
            <a:endParaRPr lang="en-US" sz="850" dirty="0"/>
          </a:p>
        </p:txBody>
      </p:sp>
      <p:sp>
        <p:nvSpPr>
          <p:cNvPr id="19" name="Shape 15"/>
          <p:cNvSpPr/>
          <p:nvPr/>
        </p:nvSpPr>
        <p:spPr>
          <a:xfrm>
            <a:off x="6126480" y="3566160"/>
            <a:ext cx="2697480" cy="1188720"/>
          </a:xfrm>
          <a:prstGeom prst="rect">
            <a:avLst/>
          </a:prstGeom>
          <a:solidFill>
            <a:srgbClr val="EEF2F8"/>
          </a:solidFill>
          <a:ln w="12700">
            <a:solidFill>
              <a:srgbClr val="EEF2F8"/>
            </a:solidFill>
            <a:prstDash val="solid"/>
          </a:ln>
        </p:spPr>
      </p:sp>
      <p:sp>
        <p:nvSpPr>
          <p:cNvPr id="20" name="Shape 16"/>
          <p:cNvSpPr/>
          <p:nvPr/>
        </p:nvSpPr>
        <p:spPr>
          <a:xfrm>
            <a:off x="6217920" y="3657600"/>
            <a:ext cx="1371600" cy="274320"/>
          </a:xfrm>
          <a:prstGeom prst="rect">
            <a:avLst/>
          </a:prstGeom>
          <a:solidFill>
            <a:srgbClr val="1F3F7A"/>
          </a:solidFill>
          <a:ln w="12700">
            <a:solidFill>
              <a:srgbClr val="1F3F7A"/>
            </a:solidFill>
            <a:prstDash val="solid"/>
          </a:ln>
        </p:spPr>
      </p:sp>
      <p:sp>
        <p:nvSpPr>
          <p:cNvPr id="21" name="Text 17"/>
          <p:cNvSpPr txBox="1"/>
          <p:nvPr/>
        </p:nvSpPr>
        <p:spPr>
          <a:xfrm>
            <a:off x="6217920" y="3657600"/>
            <a:ext cx="137160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Microsoft YaHei" pitchFamily="34" charset="0"/>
                <a:ea typeface="Microsoft YaHei" pitchFamily="34" charset="-122"/>
                <a:cs typeface="Microsoft YaHei" pitchFamily="34" charset="-120"/>
              </a:rPr>
              <a:t>阴影区（&lt;3h）</a:t>
            </a:r>
            <a:endParaRPr lang="en-US" sz="850" dirty="0"/>
          </a:p>
        </p:txBody>
      </p:sp>
      <p:sp>
        <p:nvSpPr>
          <p:cNvPr id="22" name="Text 18"/>
          <p:cNvSpPr txBox="1"/>
          <p:nvPr/>
        </p:nvSpPr>
        <p:spPr>
          <a:xfrm>
            <a:off x="6172200" y="3977640"/>
            <a:ext cx="2606040" cy="73152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受建筑阴影影响，可布置阴生植物景观和静谧休闲空间。</a:t>
            </a:r>
            <a:endParaRPr lang="en-US" sz="850" dirty="0"/>
          </a:p>
        </p:txBody>
      </p:sp>
      <p:sp>
        <p:nvSpPr>
          <p:cNvPr id="23" name="Text 19"/>
          <p:cNvSpPr txBox="1"/>
          <p:nvPr/>
        </p:nvSpPr>
        <p:spPr>
          <a:xfrm>
            <a:off x="457200" y="4754880"/>
            <a:ext cx="8366760" cy="201168"/>
          </a:xfrm>
          <a:prstGeom prst="rect">
            <a:avLst/>
          </a:prstGeom>
          <a:noFill/>
          <a:ln/>
        </p:spPr>
        <p:txBody>
          <a:bodyPr wrap="square" lIns="25400" tIns="25400" rIns="25400" bIns="25400" rtlCol="0" anchor="t"/>
          <a:lstStyle/>
          <a:p>
            <a:pPr indent="0" marL="0">
              <a:lnSpc>
                <a:spcPct val="115000"/>
              </a:lnSpc>
              <a:buNone/>
            </a:pPr>
            <a:r>
              <a:rPr lang="en-US" sz="750" dirty="0">
                <a:solidFill>
                  <a:srgbClr val="777777"/>
                </a:solidFill>
                <a:latin typeface="Microsoft YaHei" pitchFamily="34" charset="0"/>
                <a:ea typeface="Microsoft YaHei" pitchFamily="34" charset="-122"/>
                <a:cs typeface="Microsoft YaHei" pitchFamily="34" charset="-120"/>
              </a:rPr>
              <a:t>夏季太阳高度角高，场地大部分区域日照强烈，需通过乔木遮阴提升舒适度；冬季太阳高度角较低，南侧和中部向阳空间更适合人群活动。</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SWOT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2.15 SWOT分析</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33</a:t>
            </a:r>
            <a:endParaRPr lang="en-US" sz="900" dirty="0"/>
          </a:p>
        </p:txBody>
      </p:sp>
      <p:sp>
        <p:nvSpPr>
          <p:cNvPr id="7" name="Shape 5"/>
          <p:cNvSpPr/>
          <p:nvPr/>
        </p:nvSpPr>
        <p:spPr>
          <a:xfrm>
            <a:off x="457200" y="932688"/>
            <a:ext cx="2834640" cy="1783080"/>
          </a:xfrm>
          <a:prstGeom prst="rect">
            <a:avLst/>
          </a:prstGeom>
          <a:solidFill>
            <a:srgbClr val="EEF2F8"/>
          </a:solidFill>
          <a:ln w="12700">
            <a:solidFill>
              <a:srgbClr val="EEF2F8"/>
            </a:solidFill>
            <a:prstDash val="solid"/>
          </a:ln>
        </p:spPr>
      </p:sp>
      <p:sp>
        <p:nvSpPr>
          <p:cNvPr id="8" name="Shape 6"/>
          <p:cNvSpPr/>
          <p:nvPr/>
        </p:nvSpPr>
        <p:spPr>
          <a:xfrm>
            <a:off x="457200" y="932688"/>
            <a:ext cx="777240" cy="329184"/>
          </a:xfrm>
          <a:prstGeom prst="rect">
            <a:avLst/>
          </a:prstGeom>
          <a:solidFill>
            <a:srgbClr val="1F3F7A"/>
          </a:solidFill>
          <a:ln w="12700">
            <a:solidFill>
              <a:srgbClr val="1F3F7A"/>
            </a:solidFill>
            <a:prstDash val="solid"/>
          </a:ln>
        </p:spPr>
      </p:sp>
      <p:sp>
        <p:nvSpPr>
          <p:cNvPr id="9" name="Text 7"/>
          <p:cNvSpPr txBox="1"/>
          <p:nvPr/>
        </p:nvSpPr>
        <p:spPr>
          <a:xfrm>
            <a:off x="457200" y="932688"/>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S 优势</a:t>
            </a:r>
            <a:endParaRPr lang="en-US" sz="1000" dirty="0"/>
          </a:p>
        </p:txBody>
      </p:sp>
      <p:sp>
        <p:nvSpPr>
          <p:cNvPr id="10" name="Text 8"/>
          <p:cNvSpPr txBox="1"/>
          <p:nvPr/>
        </p:nvSpPr>
        <p:spPr>
          <a:xfrm>
            <a:off x="502920" y="1316736"/>
            <a:ext cx="274320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规模8.6公顷，满足15分钟生活圈综合公园标准</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四面临路，四面可设入口，可达性极强</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场地平整无拆迁，建设成本低</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周边居住人口密集，使用需求充足</a:t>
            </a:r>
            <a:endParaRPr lang="en-US" sz="850" dirty="0"/>
          </a:p>
        </p:txBody>
      </p:sp>
      <p:sp>
        <p:nvSpPr>
          <p:cNvPr id="11" name="Shape 9"/>
          <p:cNvSpPr/>
          <p:nvPr/>
        </p:nvSpPr>
        <p:spPr>
          <a:xfrm>
            <a:off x="3383280" y="932688"/>
            <a:ext cx="2834640" cy="1783080"/>
          </a:xfrm>
          <a:prstGeom prst="rect">
            <a:avLst/>
          </a:prstGeom>
          <a:solidFill>
            <a:srgbClr val="EEF2F8"/>
          </a:solidFill>
          <a:ln w="12700">
            <a:solidFill>
              <a:srgbClr val="EEF2F8"/>
            </a:solidFill>
            <a:prstDash val="solid"/>
          </a:ln>
        </p:spPr>
      </p:sp>
      <p:sp>
        <p:nvSpPr>
          <p:cNvPr id="12" name="Shape 10"/>
          <p:cNvSpPr/>
          <p:nvPr/>
        </p:nvSpPr>
        <p:spPr>
          <a:xfrm>
            <a:off x="3383280" y="932688"/>
            <a:ext cx="777240" cy="329184"/>
          </a:xfrm>
          <a:prstGeom prst="rect">
            <a:avLst/>
          </a:prstGeom>
          <a:solidFill>
            <a:srgbClr val="E07B2A"/>
          </a:solidFill>
          <a:ln w="12700">
            <a:solidFill>
              <a:srgbClr val="E07B2A"/>
            </a:solidFill>
            <a:prstDash val="solid"/>
          </a:ln>
        </p:spPr>
      </p:sp>
      <p:sp>
        <p:nvSpPr>
          <p:cNvPr id="13" name="Text 11"/>
          <p:cNvSpPr txBox="1"/>
          <p:nvPr/>
        </p:nvSpPr>
        <p:spPr>
          <a:xfrm>
            <a:off x="3383280" y="932688"/>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W 劣势</a:t>
            </a:r>
            <a:endParaRPr lang="en-US" sz="1000" dirty="0"/>
          </a:p>
        </p:txBody>
      </p:sp>
      <p:sp>
        <p:nvSpPr>
          <p:cNvPr id="14" name="Text 12"/>
          <p:cNvSpPr txBox="1"/>
          <p:nvPr/>
        </p:nvSpPr>
        <p:spPr>
          <a:xfrm>
            <a:off x="3429000" y="1316736"/>
            <a:ext cx="274320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北侧主干道车流大，噪声粉尘干扰严重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现状成型乔木有限，初期需大量苗木栽植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场地缺少天然水系，需人工营造海绵水景</a:t>
            </a:r>
            <a:endParaRPr lang="en-US" sz="850" dirty="0"/>
          </a:p>
        </p:txBody>
      </p:sp>
      <p:sp>
        <p:nvSpPr>
          <p:cNvPr id="15" name="Shape 13"/>
          <p:cNvSpPr/>
          <p:nvPr/>
        </p:nvSpPr>
        <p:spPr>
          <a:xfrm>
            <a:off x="457200" y="2807208"/>
            <a:ext cx="2834640" cy="1783080"/>
          </a:xfrm>
          <a:prstGeom prst="rect">
            <a:avLst/>
          </a:prstGeom>
          <a:solidFill>
            <a:srgbClr val="EEF2F8"/>
          </a:solidFill>
          <a:ln w="12700">
            <a:solidFill>
              <a:srgbClr val="EEF2F8"/>
            </a:solidFill>
            <a:prstDash val="solid"/>
          </a:ln>
        </p:spPr>
      </p:sp>
      <p:sp>
        <p:nvSpPr>
          <p:cNvPr id="16" name="Shape 14"/>
          <p:cNvSpPr/>
          <p:nvPr/>
        </p:nvSpPr>
        <p:spPr>
          <a:xfrm>
            <a:off x="457200" y="2807208"/>
            <a:ext cx="777240" cy="329184"/>
          </a:xfrm>
          <a:prstGeom prst="rect">
            <a:avLst/>
          </a:prstGeom>
          <a:solidFill>
            <a:srgbClr val="4E8A3E"/>
          </a:solidFill>
          <a:ln w="12700">
            <a:solidFill>
              <a:srgbClr val="4E8A3E"/>
            </a:solidFill>
            <a:prstDash val="solid"/>
          </a:ln>
        </p:spPr>
      </p:sp>
      <p:sp>
        <p:nvSpPr>
          <p:cNvPr id="17" name="Text 15"/>
          <p:cNvSpPr txBox="1"/>
          <p:nvPr/>
        </p:nvSpPr>
        <p:spPr>
          <a:xfrm>
            <a:off x="457200" y="2807208"/>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O 机遇</a:t>
            </a:r>
            <a:endParaRPr lang="en-US" sz="1000" dirty="0"/>
          </a:p>
        </p:txBody>
      </p:sp>
      <p:sp>
        <p:nvSpPr>
          <p:cNvPr id="18" name="Text 16"/>
          <p:cNvSpPr txBox="1"/>
          <p:nvPr/>
        </p:nvSpPr>
        <p:spPr>
          <a:xfrm>
            <a:off x="502920" y="3191256"/>
            <a:ext cx="274320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仁寿城北新城公园城市规划政策支持</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片区缺少综合绿地，项目民生价值高</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海绵城市、15分钟生活圈政策提供设计导向</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周边小区入住率持续提升，远期人流增长</a:t>
            </a:r>
            <a:endParaRPr lang="en-US" sz="850" dirty="0"/>
          </a:p>
        </p:txBody>
      </p:sp>
      <p:sp>
        <p:nvSpPr>
          <p:cNvPr id="19" name="Shape 17"/>
          <p:cNvSpPr/>
          <p:nvPr/>
        </p:nvSpPr>
        <p:spPr>
          <a:xfrm>
            <a:off x="3383280" y="2807208"/>
            <a:ext cx="2834640" cy="1783080"/>
          </a:xfrm>
          <a:prstGeom prst="rect">
            <a:avLst/>
          </a:prstGeom>
          <a:solidFill>
            <a:srgbClr val="EEF2F8"/>
          </a:solidFill>
          <a:ln w="12700">
            <a:solidFill>
              <a:srgbClr val="EEF2F8"/>
            </a:solidFill>
            <a:prstDash val="solid"/>
          </a:ln>
        </p:spPr>
      </p:sp>
      <p:sp>
        <p:nvSpPr>
          <p:cNvPr id="20" name="Shape 18"/>
          <p:cNvSpPr/>
          <p:nvPr/>
        </p:nvSpPr>
        <p:spPr>
          <a:xfrm>
            <a:off x="3383280" y="2807208"/>
            <a:ext cx="777240" cy="329184"/>
          </a:xfrm>
          <a:prstGeom prst="rect">
            <a:avLst/>
          </a:prstGeom>
          <a:solidFill>
            <a:srgbClr val="8A8F9C"/>
          </a:solidFill>
          <a:ln w="12700">
            <a:solidFill>
              <a:srgbClr val="8A8F9C"/>
            </a:solidFill>
            <a:prstDash val="solid"/>
          </a:ln>
        </p:spPr>
      </p:sp>
      <p:sp>
        <p:nvSpPr>
          <p:cNvPr id="21" name="Text 19"/>
          <p:cNvSpPr txBox="1"/>
          <p:nvPr/>
        </p:nvSpPr>
        <p:spPr>
          <a:xfrm>
            <a:off x="3383280" y="2807208"/>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Microsoft YaHei" pitchFamily="34" charset="0"/>
                <a:ea typeface="Microsoft YaHei" pitchFamily="34" charset="-122"/>
                <a:cs typeface="Microsoft YaHei" pitchFamily="34" charset="-120"/>
              </a:rPr>
              <a:t>T 威胁</a:t>
            </a:r>
            <a:endParaRPr lang="en-US" sz="1000" dirty="0"/>
          </a:p>
        </p:txBody>
      </p:sp>
      <p:sp>
        <p:nvSpPr>
          <p:cNvPr id="22" name="Text 20"/>
          <p:cNvSpPr txBox="1"/>
          <p:nvPr/>
        </p:nvSpPr>
        <p:spPr>
          <a:xfrm>
            <a:off x="3429000" y="3191256"/>
            <a:ext cx="2743200" cy="137160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县城建设预算有限，不宜采用高端硬质景观</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夏季多雨，需重点做好场地排水防涝设计</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周边小区内部小型绿地分流部分休闲人群</a:t>
            </a:r>
            <a:endParaRPr lang="en-US" sz="850" dirty="0"/>
          </a:p>
        </p:txBody>
      </p:sp>
      <p:pic>
        <p:nvPicPr>
          <p:cNvPr id="23" name="Image 0" descr="/home/user/lxfs/pptx_build/figs/site_1.jpg">    </p:cNvPr>
          <p:cNvPicPr>
            <a:picLocks noChangeAspect="1"/>
          </p:cNvPicPr>
          <p:nvPr/>
        </p:nvPicPr>
        <p:blipFill>
          <a:blip r:embed="rId1"/>
          <a:stretch>
            <a:fillRect/>
          </a:stretch>
        </p:blipFill>
        <p:spPr>
          <a:xfrm>
            <a:off x="6355080" y="932688"/>
            <a:ext cx="2468880" cy="1400615"/>
          </a:xfrm>
          <a:prstGeom prst="rect">
            <a:avLst/>
          </a:prstGeom>
        </p:spPr>
      </p:pic>
      <p:sp>
        <p:nvSpPr>
          <p:cNvPr id="24" name="Text 21"/>
          <p:cNvSpPr txBox="1"/>
          <p:nvPr/>
        </p:nvSpPr>
        <p:spPr>
          <a:xfrm>
            <a:off x="6355080" y="2351591"/>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场地现状：裸土空地</a:t>
            </a:r>
            <a:endParaRPr lang="en-US" sz="800" dirty="0"/>
          </a:p>
        </p:txBody>
      </p:sp>
      <p:pic>
        <p:nvPicPr>
          <p:cNvPr id="25" name="Image 1" descr="/home/user/lxfs/pptx_build/figs/satellite.jpg">    </p:cNvPr>
          <p:cNvPicPr>
            <a:picLocks noChangeAspect="1"/>
          </p:cNvPicPr>
          <p:nvPr/>
        </p:nvPicPr>
        <p:blipFill>
          <a:blip r:embed="rId2"/>
          <a:stretch>
            <a:fillRect/>
          </a:stretch>
        </p:blipFill>
        <p:spPr>
          <a:xfrm>
            <a:off x="6690587" y="2606040"/>
            <a:ext cx="1797865" cy="1417320"/>
          </a:xfrm>
          <a:prstGeom prst="rect">
            <a:avLst/>
          </a:prstGeom>
        </p:spPr>
      </p:pic>
      <p:sp>
        <p:nvSpPr>
          <p:cNvPr id="26" name="Text 22"/>
          <p:cNvSpPr txBox="1"/>
          <p:nvPr/>
        </p:nvSpPr>
        <p:spPr>
          <a:xfrm>
            <a:off x="6355080" y="4041648"/>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a:t>
            </a:r>
            <a:endParaRPr lang="en-US" sz="800" dirty="0"/>
          </a:p>
        </p:txBody>
      </p:sp>
      <p:sp>
        <p:nvSpPr>
          <p:cNvPr id="27" name="Text 23"/>
          <p:cNvSpPr txBox="1"/>
          <p:nvPr/>
        </p:nvSpPr>
        <p:spPr>
          <a:xfrm>
            <a:off x="457200" y="4663440"/>
            <a:ext cx="8321040" cy="228600"/>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注：开题报告SWOT中“现状无成型乔木”与2.11“保留原生乔木群落”矛盾，此处按现状分析口径修正为“成型乔木有限”，请确认。</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02 项目研究概述</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Problem Summary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2.16 问题梳理</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34</a:t>
            </a:r>
            <a:endParaRPr lang="en-US" sz="900" dirty="0"/>
          </a:p>
        </p:txBody>
      </p:sp>
      <p:pic>
        <p:nvPicPr>
          <p:cNvPr id="7" name="Image 0" descr="/home/user/lxfs/pptx_build/figs/site_3.jpg">    </p:cNvPr>
          <p:cNvPicPr>
            <a:picLocks noChangeAspect="1"/>
          </p:cNvPicPr>
          <p:nvPr/>
        </p:nvPicPr>
        <p:blipFill>
          <a:blip r:embed="rId1"/>
          <a:stretch>
            <a:fillRect/>
          </a:stretch>
        </p:blipFill>
        <p:spPr>
          <a:xfrm>
            <a:off x="846586" y="932688"/>
            <a:ext cx="1918707" cy="1097280"/>
          </a:xfrm>
          <a:prstGeom prst="rect">
            <a:avLst/>
          </a:prstGeom>
        </p:spPr>
      </p:pic>
      <p:sp>
        <p:nvSpPr>
          <p:cNvPr id="8" name="Shape 5"/>
          <p:cNvSpPr/>
          <p:nvPr/>
        </p:nvSpPr>
        <p:spPr>
          <a:xfrm>
            <a:off x="457200" y="2029968"/>
            <a:ext cx="2697480" cy="329184"/>
          </a:xfrm>
          <a:prstGeom prst="rect">
            <a:avLst/>
          </a:prstGeom>
          <a:solidFill>
            <a:srgbClr val="E07B2A"/>
          </a:solidFill>
          <a:ln w="12700">
            <a:solidFill>
              <a:srgbClr val="E07B2A"/>
            </a:solidFill>
            <a:prstDash val="solid"/>
          </a:ln>
        </p:spPr>
      </p:sp>
      <p:sp>
        <p:nvSpPr>
          <p:cNvPr id="9" name="Text 6"/>
          <p:cNvSpPr txBox="1"/>
          <p:nvPr/>
        </p:nvSpPr>
        <p:spPr>
          <a:xfrm>
            <a:off x="457200" y="2029968"/>
            <a:ext cx="269748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场地现状问题</a:t>
            </a:r>
            <a:endParaRPr lang="en-US" sz="1050" dirty="0"/>
          </a:p>
        </p:txBody>
      </p:sp>
      <p:sp>
        <p:nvSpPr>
          <p:cNvPr id="10" name="Shape 7"/>
          <p:cNvSpPr/>
          <p:nvPr/>
        </p:nvSpPr>
        <p:spPr>
          <a:xfrm>
            <a:off x="457200" y="2359152"/>
            <a:ext cx="2697480" cy="1828800"/>
          </a:xfrm>
          <a:prstGeom prst="rect">
            <a:avLst/>
          </a:prstGeom>
          <a:solidFill>
            <a:srgbClr val="EEF2F8"/>
          </a:solidFill>
          <a:ln w="12700">
            <a:solidFill>
              <a:srgbClr val="EEF2F8"/>
            </a:solidFill>
            <a:prstDash val="solid"/>
          </a:ln>
        </p:spPr>
      </p:sp>
      <p:sp>
        <p:nvSpPr>
          <p:cNvPr id="11" name="Text 8"/>
          <p:cNvSpPr txBox="1"/>
          <p:nvPr/>
        </p:nvSpPr>
        <p:spPr>
          <a:xfrm>
            <a:off x="502920" y="2423160"/>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北侧普宁大道车流大，噪声、粉尘干扰严重</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裸土地块土壤条件一般，需改良</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无天然水体，旱地型地块</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局部小土坡，场地平整度一般</a:t>
            </a:r>
            <a:endParaRPr lang="en-US" sz="850" dirty="0"/>
          </a:p>
        </p:txBody>
      </p:sp>
      <p:pic>
        <p:nvPicPr>
          <p:cNvPr id="12" name="Image 1" descr="/home/user/lxfs/pptx_build/figs/site_2.jpg">    </p:cNvPr>
          <p:cNvPicPr>
            <a:picLocks noChangeAspect="1"/>
          </p:cNvPicPr>
          <p:nvPr/>
        </p:nvPicPr>
        <p:blipFill>
          <a:blip r:embed="rId2"/>
          <a:stretch>
            <a:fillRect/>
          </a:stretch>
        </p:blipFill>
        <p:spPr>
          <a:xfrm>
            <a:off x="3681226" y="932688"/>
            <a:ext cx="1918707" cy="1097280"/>
          </a:xfrm>
          <a:prstGeom prst="rect">
            <a:avLst/>
          </a:prstGeom>
        </p:spPr>
      </p:pic>
      <p:sp>
        <p:nvSpPr>
          <p:cNvPr id="13" name="Shape 9"/>
          <p:cNvSpPr/>
          <p:nvPr/>
        </p:nvSpPr>
        <p:spPr>
          <a:xfrm>
            <a:off x="3291840" y="2029968"/>
            <a:ext cx="2697480" cy="329184"/>
          </a:xfrm>
          <a:prstGeom prst="rect">
            <a:avLst/>
          </a:prstGeom>
          <a:solidFill>
            <a:srgbClr val="1F3F7A"/>
          </a:solidFill>
          <a:ln w="12700">
            <a:solidFill>
              <a:srgbClr val="1F3F7A"/>
            </a:solidFill>
            <a:prstDash val="solid"/>
          </a:ln>
        </p:spPr>
      </p:sp>
      <p:sp>
        <p:nvSpPr>
          <p:cNvPr id="14" name="Text 10"/>
          <p:cNvSpPr txBox="1"/>
          <p:nvPr/>
        </p:nvSpPr>
        <p:spPr>
          <a:xfrm>
            <a:off x="3291840" y="2029968"/>
            <a:ext cx="269748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片区供给问题</a:t>
            </a:r>
            <a:endParaRPr lang="en-US" sz="1050" dirty="0"/>
          </a:p>
        </p:txBody>
      </p:sp>
      <p:sp>
        <p:nvSpPr>
          <p:cNvPr id="15" name="Shape 11"/>
          <p:cNvSpPr/>
          <p:nvPr/>
        </p:nvSpPr>
        <p:spPr>
          <a:xfrm>
            <a:off x="3291840" y="2359152"/>
            <a:ext cx="2697480" cy="1828800"/>
          </a:xfrm>
          <a:prstGeom prst="rect">
            <a:avLst/>
          </a:prstGeom>
          <a:solidFill>
            <a:srgbClr val="EEF2F8"/>
          </a:solidFill>
          <a:ln w="12700">
            <a:solidFill>
              <a:srgbClr val="EEF2F8"/>
            </a:solidFill>
            <a:prstDash val="solid"/>
          </a:ln>
        </p:spPr>
      </p:sp>
      <p:sp>
        <p:nvSpPr>
          <p:cNvPr id="16" name="Text 12"/>
          <p:cNvSpPr txBox="1"/>
          <p:nvPr/>
        </p:nvSpPr>
        <p:spPr>
          <a:xfrm>
            <a:off x="3337560" y="2423160"/>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集中型公共休闲绿地供给严重不足</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现有绿地为小区零散附属绿化，仅简易健身器械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缺乏规模化、分龄化专业运动场地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新城缺少文化景观载体与场所记忆</a:t>
            </a:r>
            <a:endParaRPr lang="en-US" sz="850" dirty="0"/>
          </a:p>
        </p:txBody>
      </p:sp>
      <p:pic>
        <p:nvPicPr>
          <p:cNvPr id="17" name="Image 2" descr="/home/user/lxfs/pptx_build/figs/site_4.jpg">    </p:cNvPr>
          <p:cNvPicPr>
            <a:picLocks noChangeAspect="1"/>
          </p:cNvPicPr>
          <p:nvPr/>
        </p:nvPicPr>
        <p:blipFill>
          <a:blip r:embed="rId3"/>
          <a:stretch>
            <a:fillRect/>
          </a:stretch>
        </p:blipFill>
        <p:spPr>
          <a:xfrm>
            <a:off x="6512801" y="932688"/>
            <a:ext cx="1924838" cy="1097280"/>
          </a:xfrm>
          <a:prstGeom prst="rect">
            <a:avLst/>
          </a:prstGeom>
        </p:spPr>
      </p:pic>
      <p:sp>
        <p:nvSpPr>
          <p:cNvPr id="18" name="Shape 13"/>
          <p:cNvSpPr/>
          <p:nvPr/>
        </p:nvSpPr>
        <p:spPr>
          <a:xfrm>
            <a:off x="6126480" y="2029968"/>
            <a:ext cx="2697480" cy="329184"/>
          </a:xfrm>
          <a:prstGeom prst="rect">
            <a:avLst/>
          </a:prstGeom>
          <a:solidFill>
            <a:srgbClr val="4E8A3E"/>
          </a:solidFill>
          <a:ln w="12700">
            <a:solidFill>
              <a:srgbClr val="4E8A3E"/>
            </a:solidFill>
            <a:prstDash val="solid"/>
          </a:ln>
        </p:spPr>
      </p:sp>
      <p:sp>
        <p:nvSpPr>
          <p:cNvPr id="19" name="Text 14"/>
          <p:cNvSpPr txBox="1"/>
          <p:nvPr/>
        </p:nvSpPr>
        <p:spPr>
          <a:xfrm>
            <a:off x="6126480" y="2029968"/>
            <a:ext cx="269748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人群需求问题</a:t>
            </a:r>
            <a:endParaRPr lang="en-US" sz="1050" dirty="0"/>
          </a:p>
        </p:txBody>
      </p:sp>
      <p:sp>
        <p:nvSpPr>
          <p:cNvPr id="20" name="Shape 15"/>
          <p:cNvSpPr/>
          <p:nvPr/>
        </p:nvSpPr>
        <p:spPr>
          <a:xfrm>
            <a:off x="6126480" y="2359152"/>
            <a:ext cx="2697480" cy="1828800"/>
          </a:xfrm>
          <a:prstGeom prst="rect">
            <a:avLst/>
          </a:prstGeom>
          <a:solidFill>
            <a:srgbClr val="EEF2F8"/>
          </a:solidFill>
          <a:ln w="12700">
            <a:solidFill>
              <a:srgbClr val="EEF2F8"/>
            </a:solidFill>
            <a:prstDash val="solid"/>
          </a:ln>
        </p:spPr>
      </p:sp>
      <p:sp>
        <p:nvSpPr>
          <p:cNvPr id="21" name="Text 16"/>
          <p:cNvSpPr txBox="1"/>
          <p:nvPr/>
        </p:nvSpPr>
        <p:spPr>
          <a:xfrm>
            <a:off x="6172200" y="2423160"/>
            <a:ext cx="2606040" cy="1737360"/>
          </a:xfrm>
          <a:prstGeom prst="rect">
            <a:avLst/>
          </a:prstGeom>
          <a:noFill/>
          <a:ln/>
        </p:spPr>
        <p:txBody>
          <a:bodyPr wrap="square" lIns="25400" tIns="25400" rIns="25400" bIns="25400" rtlCol="0" anchor="t"/>
          <a:lstStyle/>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中老年占比高，康养、社交空间缺失</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亲子群体缺少安全分龄游乐场地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青少年、学生缺少球类、跑步场地</a:t>
            </a:r>
            <a:endParaRPr lang="en-US" sz="850" dirty="0"/>
          </a:p>
          <a:p>
            <a:pPr marL="342900" indent="-342900">
              <a:spcAft>
                <a:spcPts val="300"/>
              </a:spcAft>
              <a:buSzPct val="100000"/>
              <a:buChar char="•"/>
            </a:pPr>
            <a:r>
              <a:rPr lang="en-US" sz="850" dirty="0">
                <a:solidFill>
                  <a:srgbClr val="444444"/>
                </a:solidFill>
                <a:latin typeface="Microsoft YaHei" pitchFamily="34" charset="0"/>
                <a:ea typeface="Microsoft YaHei" pitchFamily="34" charset="-122"/>
                <a:cs typeface="Microsoft YaHei" pitchFamily="34" charset="-120"/>
              </a:rPr>
              <a:t>夏季高温多雨，缺少遮阳与全天候活动条件</a:t>
            </a:r>
            <a:endParaRPr lang="en-US" sz="850" dirty="0"/>
          </a:p>
        </p:txBody>
      </p:sp>
      <p:sp>
        <p:nvSpPr>
          <p:cNvPr id="22" name="Text 17"/>
          <p:cNvSpPr txBox="1"/>
          <p:nvPr/>
        </p:nvSpPr>
        <p:spPr>
          <a:xfrm>
            <a:off x="457200" y="4343400"/>
            <a:ext cx="8366760" cy="365760"/>
          </a:xfrm>
          <a:prstGeom prst="rect">
            <a:avLst/>
          </a:prstGeom>
          <a:noFill/>
          <a:ln/>
        </p:spPr>
        <p:txBody>
          <a:bodyPr wrap="square" lIns="0" tIns="0" rIns="0" bIns="0" rtlCol="0" anchor="ctr"/>
          <a:lstStyle/>
          <a:p>
            <a:pPr algn="ctr" indent="0" marL="0">
              <a:buNone/>
            </a:pPr>
            <a:r>
              <a:rPr lang="en-US" sz="1000" b="1" dirty="0">
                <a:solidFill>
                  <a:srgbClr val="E07B2A"/>
                </a:solidFill>
                <a:latin typeface="Microsoft YaHei" pitchFamily="34" charset="0"/>
                <a:ea typeface="Microsoft YaHei" pitchFamily="34" charset="-122"/>
                <a:cs typeface="Microsoft YaHei" pitchFamily="34" charset="-120"/>
              </a:rPr>
              <a:t>以上问题对应第三部分设计目标（3.1）与设计策略（3.4）逐项回应</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Site Planning Analysis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35</a:t>
            </a:r>
            <a:endParaRPr lang="en-US" sz="900" dirty="0"/>
          </a:p>
        </p:txBody>
      </p:sp>
      <p:pic>
        <p:nvPicPr>
          <p:cNvPr id="6" name="Image 0" descr="/home/user/lxfs/pptx_build/figs/sz_4.jpg">    </p:cNvPr>
          <p:cNvPicPr>
            <a:picLocks noChangeAspect="1"/>
          </p:cNvPicPr>
          <p:nvPr/>
        </p:nvPicPr>
        <p:blipFill>
          <a:blip r:embed="rId1"/>
          <a:stretch>
            <a:fillRect/>
          </a:stretch>
        </p:blipFill>
        <p:spPr>
          <a:xfrm>
            <a:off x="4846320" y="822960"/>
            <a:ext cx="3977640" cy="2019004"/>
          </a:xfrm>
          <a:prstGeom prst="rect">
            <a:avLst/>
          </a:prstGeom>
        </p:spPr>
      </p:pic>
      <p:pic>
        <p:nvPicPr>
          <p:cNvPr id="7" name="Image 1" descr="/home/user/lxfs/pptx_build/figs/ms_1.jpg">    </p:cNvPr>
          <p:cNvPicPr>
            <a:picLocks noChangeAspect="1"/>
          </p:cNvPicPr>
          <p:nvPr/>
        </p:nvPicPr>
        <p:blipFill>
          <a:blip r:embed="rId2"/>
          <a:stretch>
            <a:fillRect/>
          </a:stretch>
        </p:blipFill>
        <p:spPr>
          <a:xfrm>
            <a:off x="4846320" y="3017520"/>
            <a:ext cx="1920240" cy="1078491"/>
          </a:xfrm>
          <a:prstGeom prst="rect">
            <a:avLst/>
          </a:prstGeom>
        </p:spPr>
      </p:pic>
      <p:pic>
        <p:nvPicPr>
          <p:cNvPr id="8" name="Image 2" descr="/home/user/lxfs/pptx_build/figs/wh_1.jpg">    </p:cNvPr>
          <p:cNvPicPr>
            <a:picLocks noChangeAspect="1"/>
          </p:cNvPicPr>
          <p:nvPr/>
        </p:nvPicPr>
        <p:blipFill>
          <a:blip r:embed="rId3"/>
          <a:stretch>
            <a:fillRect/>
          </a:stretch>
        </p:blipFill>
        <p:spPr>
          <a:xfrm>
            <a:off x="6903720" y="3017520"/>
            <a:ext cx="1920240" cy="1282059"/>
          </a:xfrm>
          <a:prstGeom prst="rect">
            <a:avLst/>
          </a:prstGeom>
        </p:spPr>
      </p:pic>
      <p:sp>
        <p:nvSpPr>
          <p:cNvPr id="9" name="Text 4"/>
          <p:cNvSpPr txBox="1"/>
          <p:nvPr/>
        </p:nvSpPr>
        <p:spPr>
          <a:xfrm>
            <a:off x="548640" y="914400"/>
            <a:ext cx="2743200" cy="914400"/>
          </a:xfrm>
          <a:prstGeom prst="rect">
            <a:avLst/>
          </a:prstGeom>
          <a:noFill/>
          <a:ln/>
        </p:spPr>
        <p:txBody>
          <a:bodyPr wrap="square" lIns="0" tIns="0" rIns="0" bIns="0" rtlCol="0" anchor="ctr"/>
          <a:lstStyle/>
          <a:p>
            <a:pPr indent="0" marL="0">
              <a:buNone/>
            </a:pPr>
            <a:r>
              <a:rPr lang="en-US" sz="6000" b="1" dirty="0">
                <a:solidFill>
                  <a:srgbClr val="1F3F7A"/>
                </a:solidFill>
                <a:latin typeface="Arial" pitchFamily="34" charset="0"/>
                <a:ea typeface="Arial" pitchFamily="34" charset="-122"/>
                <a:cs typeface="Arial" pitchFamily="34" charset="-120"/>
              </a:rPr>
              <a:t>03</a:t>
            </a:r>
            <a:endParaRPr lang="en-US" sz="6000" dirty="0"/>
          </a:p>
        </p:txBody>
      </p:sp>
      <p:sp>
        <p:nvSpPr>
          <p:cNvPr id="10" name="Text 5"/>
          <p:cNvSpPr txBox="1"/>
          <p:nvPr/>
        </p:nvSpPr>
        <p:spPr>
          <a:xfrm>
            <a:off x="548640" y="1828800"/>
            <a:ext cx="4114800" cy="457200"/>
          </a:xfrm>
          <a:prstGeom prst="rect">
            <a:avLst/>
          </a:prstGeom>
          <a:noFill/>
          <a:ln/>
        </p:spPr>
        <p:txBody>
          <a:bodyPr wrap="square" lIns="0" tIns="0" rIns="0" bIns="0" rtlCol="0" anchor="ctr"/>
          <a:lstStyle/>
          <a:p>
            <a:pPr indent="0" marL="0">
              <a:buNone/>
            </a:pPr>
            <a:r>
              <a:rPr lang="en-US" sz="2200" b="1" dirty="0">
                <a:solidFill>
                  <a:srgbClr val="444444"/>
                </a:solidFill>
                <a:latin typeface="Microsoft YaHei" pitchFamily="34" charset="0"/>
                <a:ea typeface="Microsoft YaHei" pitchFamily="34" charset="-122"/>
                <a:cs typeface="Microsoft YaHei" pitchFamily="34" charset="-120"/>
              </a:rPr>
              <a:t>场地规划分析</a:t>
            </a:r>
            <a:endParaRPr lang="en-US" sz="2200" dirty="0"/>
          </a:p>
        </p:txBody>
      </p:sp>
      <p:sp>
        <p:nvSpPr>
          <p:cNvPr id="11" name="Text 6"/>
          <p:cNvSpPr txBox="1"/>
          <p:nvPr/>
        </p:nvSpPr>
        <p:spPr>
          <a:xfrm>
            <a:off x="548640" y="2423160"/>
            <a:ext cx="4114800" cy="2194560"/>
          </a:xfrm>
          <a:prstGeom prst="rect">
            <a:avLst/>
          </a:prstGeom>
          <a:noFill/>
          <a:ln/>
        </p:spPr>
        <p:txBody>
          <a:bodyPr wrap="square" lIns="0" tIns="0" rIns="0" bIns="0" rtlCol="0" anchor="t"/>
          <a:lstStyle/>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3.1 设计目标</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3.2 设计原则</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3.3 设计构思</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3.4 设计策略</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3.5 设计成果</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3.6 进度安排</a:t>
            </a:r>
            <a:endParaRPr lang="en-US" sz="1000" dirty="0"/>
          </a:p>
          <a:p>
            <a:pPr indent="0" marL="0">
              <a:lnSpc>
                <a:spcPct val="140000"/>
              </a:lnSpc>
              <a:buNone/>
            </a:pPr>
            <a:r>
              <a:rPr lang="en-US" sz="1000" dirty="0">
                <a:solidFill>
                  <a:srgbClr val="444444"/>
                </a:solidFill>
                <a:latin typeface="Microsoft YaHei" pitchFamily="34" charset="0"/>
                <a:ea typeface="Microsoft YaHei" pitchFamily="34" charset="-122"/>
                <a:cs typeface="Microsoft YaHei" pitchFamily="34" charset="-120"/>
              </a:rPr>
              <a:t>3.7 参考文献</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Objectives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3.1 设计目标</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36</a:t>
            </a:r>
            <a:endParaRPr lang="en-US" sz="900" dirty="0"/>
          </a:p>
        </p:txBody>
      </p:sp>
      <p:sp>
        <p:nvSpPr>
          <p:cNvPr id="7" name="Shape 5"/>
          <p:cNvSpPr/>
          <p:nvPr/>
        </p:nvSpPr>
        <p:spPr>
          <a:xfrm>
            <a:off x="457200" y="932688"/>
            <a:ext cx="2788920" cy="1783080"/>
          </a:xfrm>
          <a:prstGeom prst="rect">
            <a:avLst/>
          </a:prstGeom>
          <a:solidFill>
            <a:srgbClr val="EEF2F8"/>
          </a:solidFill>
          <a:ln w="12700">
            <a:solidFill>
              <a:srgbClr val="EEF2F8"/>
            </a:solidFill>
            <a:prstDash val="solid"/>
          </a:ln>
        </p:spPr>
      </p:sp>
      <p:sp>
        <p:nvSpPr>
          <p:cNvPr id="8" name="Shape 6"/>
          <p:cNvSpPr/>
          <p:nvPr/>
        </p:nvSpPr>
        <p:spPr>
          <a:xfrm>
            <a:off x="566928" y="1042416"/>
            <a:ext cx="365760" cy="365760"/>
          </a:xfrm>
          <a:prstGeom prst="ellipse">
            <a:avLst/>
          </a:prstGeom>
          <a:solidFill>
            <a:srgbClr val="E07B2A"/>
          </a:solidFill>
          <a:ln w="12700">
            <a:solidFill>
              <a:srgbClr val="E07B2A"/>
            </a:solidFill>
            <a:prstDash val="solid"/>
          </a:ln>
        </p:spPr>
      </p:sp>
      <p:sp>
        <p:nvSpPr>
          <p:cNvPr id="9" name="Text 7"/>
          <p:cNvSpPr txBox="1"/>
          <p:nvPr/>
        </p:nvSpPr>
        <p:spPr>
          <a:xfrm>
            <a:off x="566928" y="1042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8"/>
          <p:cNvSpPr txBox="1"/>
          <p:nvPr/>
        </p:nvSpPr>
        <p:spPr>
          <a:xfrm>
            <a:off x="1024128" y="1042416"/>
            <a:ext cx="2103120" cy="36576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生态目标</a:t>
            </a:r>
            <a:endParaRPr lang="en-US" sz="1100" dirty="0"/>
          </a:p>
        </p:txBody>
      </p:sp>
      <p:sp>
        <p:nvSpPr>
          <p:cNvPr id="11" name="Text 9"/>
          <p:cNvSpPr txBox="1"/>
          <p:nvPr/>
        </p:nvSpPr>
        <p:spPr>
          <a:xfrm>
            <a:off x="530352" y="1499616"/>
            <a:ext cx="2651760" cy="11887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多层次乡土植物群落 + 主干道生态缓冲带 + 海绵雨水系统，降低径流，削弱噪声粉尘，修复片区微型生态。</a:t>
            </a:r>
            <a:endParaRPr lang="en-US" sz="900" dirty="0"/>
          </a:p>
        </p:txBody>
      </p:sp>
      <p:sp>
        <p:nvSpPr>
          <p:cNvPr id="12" name="Shape 10"/>
          <p:cNvSpPr/>
          <p:nvPr/>
        </p:nvSpPr>
        <p:spPr>
          <a:xfrm>
            <a:off x="3337560" y="932688"/>
            <a:ext cx="2788920" cy="1783080"/>
          </a:xfrm>
          <a:prstGeom prst="rect">
            <a:avLst/>
          </a:prstGeom>
          <a:solidFill>
            <a:srgbClr val="EEF2F8"/>
          </a:solidFill>
          <a:ln w="12700">
            <a:solidFill>
              <a:srgbClr val="EEF2F8"/>
            </a:solidFill>
            <a:prstDash val="solid"/>
          </a:ln>
        </p:spPr>
      </p:sp>
      <p:sp>
        <p:nvSpPr>
          <p:cNvPr id="13" name="Shape 11"/>
          <p:cNvSpPr/>
          <p:nvPr/>
        </p:nvSpPr>
        <p:spPr>
          <a:xfrm>
            <a:off x="3447288" y="1042416"/>
            <a:ext cx="365760" cy="365760"/>
          </a:xfrm>
          <a:prstGeom prst="ellipse">
            <a:avLst/>
          </a:prstGeom>
          <a:solidFill>
            <a:srgbClr val="1F3F7A"/>
          </a:solidFill>
          <a:ln w="12700">
            <a:solidFill>
              <a:srgbClr val="1F3F7A"/>
            </a:solidFill>
            <a:prstDash val="solid"/>
          </a:ln>
        </p:spPr>
      </p:sp>
      <p:sp>
        <p:nvSpPr>
          <p:cNvPr id="14" name="Text 12"/>
          <p:cNvSpPr txBox="1"/>
          <p:nvPr/>
        </p:nvSpPr>
        <p:spPr>
          <a:xfrm>
            <a:off x="3447288" y="1042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5" name="Text 13"/>
          <p:cNvSpPr txBox="1"/>
          <p:nvPr/>
        </p:nvSpPr>
        <p:spPr>
          <a:xfrm>
            <a:off x="3904488" y="1042416"/>
            <a:ext cx="2103120" cy="36576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功能目标</a:t>
            </a:r>
            <a:endParaRPr lang="en-US" sz="1100" dirty="0"/>
          </a:p>
        </p:txBody>
      </p:sp>
      <p:sp>
        <p:nvSpPr>
          <p:cNvPr id="16" name="Text 14"/>
          <p:cNvSpPr txBox="1"/>
          <p:nvPr/>
        </p:nvSpPr>
        <p:spPr>
          <a:xfrm>
            <a:off x="3410712" y="1499616"/>
            <a:ext cx="2651760" cy="11887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婴幼儿游乐、青少年运动、老年康养、邻里大草坪、自然科普五大核心分区，满足日常游憩、健身、社交需求。</a:t>
            </a:r>
            <a:endParaRPr lang="en-US" sz="900" dirty="0"/>
          </a:p>
        </p:txBody>
      </p:sp>
      <p:sp>
        <p:nvSpPr>
          <p:cNvPr id="17" name="Shape 15"/>
          <p:cNvSpPr/>
          <p:nvPr/>
        </p:nvSpPr>
        <p:spPr>
          <a:xfrm>
            <a:off x="457200" y="2807208"/>
            <a:ext cx="2788920" cy="1783080"/>
          </a:xfrm>
          <a:prstGeom prst="rect">
            <a:avLst/>
          </a:prstGeom>
          <a:solidFill>
            <a:srgbClr val="EEF2F8"/>
          </a:solidFill>
          <a:ln w="12700">
            <a:solidFill>
              <a:srgbClr val="EEF2F8"/>
            </a:solidFill>
            <a:prstDash val="solid"/>
          </a:ln>
        </p:spPr>
      </p:sp>
      <p:sp>
        <p:nvSpPr>
          <p:cNvPr id="18" name="Shape 16"/>
          <p:cNvSpPr/>
          <p:nvPr/>
        </p:nvSpPr>
        <p:spPr>
          <a:xfrm>
            <a:off x="566928" y="2916936"/>
            <a:ext cx="365760" cy="365760"/>
          </a:xfrm>
          <a:prstGeom prst="ellipse">
            <a:avLst/>
          </a:prstGeom>
          <a:solidFill>
            <a:srgbClr val="E07B2A"/>
          </a:solidFill>
          <a:ln w="12700">
            <a:solidFill>
              <a:srgbClr val="E07B2A"/>
            </a:solidFill>
            <a:prstDash val="solid"/>
          </a:ln>
        </p:spPr>
      </p:sp>
      <p:sp>
        <p:nvSpPr>
          <p:cNvPr id="19" name="Text 17"/>
          <p:cNvSpPr txBox="1"/>
          <p:nvPr/>
        </p:nvSpPr>
        <p:spPr>
          <a:xfrm>
            <a:off x="566928" y="29169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0" name="Text 18"/>
          <p:cNvSpPr txBox="1"/>
          <p:nvPr/>
        </p:nvSpPr>
        <p:spPr>
          <a:xfrm>
            <a:off x="1024128" y="2916936"/>
            <a:ext cx="2103120" cy="36576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空间目标</a:t>
            </a:r>
            <a:endParaRPr lang="en-US" sz="1100" dirty="0"/>
          </a:p>
        </p:txBody>
      </p:sp>
      <p:sp>
        <p:nvSpPr>
          <p:cNvPr id="21" name="Text 19"/>
          <p:cNvSpPr txBox="1"/>
          <p:nvPr/>
        </p:nvSpPr>
        <p:spPr>
          <a:xfrm>
            <a:off x="530352" y="3374136"/>
            <a:ext cx="2651760" cy="11887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优化主次入口与人车流线，打通四向人行通道，公园与居住区步行无缝衔接，形成连贯游览轴线。</a:t>
            </a:r>
            <a:endParaRPr lang="en-US" sz="900" dirty="0"/>
          </a:p>
        </p:txBody>
      </p:sp>
      <p:sp>
        <p:nvSpPr>
          <p:cNvPr id="22" name="Shape 20"/>
          <p:cNvSpPr/>
          <p:nvPr/>
        </p:nvSpPr>
        <p:spPr>
          <a:xfrm>
            <a:off x="3337560" y="2807208"/>
            <a:ext cx="2788920" cy="1783080"/>
          </a:xfrm>
          <a:prstGeom prst="rect">
            <a:avLst/>
          </a:prstGeom>
          <a:solidFill>
            <a:srgbClr val="EEF2F8"/>
          </a:solidFill>
          <a:ln w="12700">
            <a:solidFill>
              <a:srgbClr val="EEF2F8"/>
            </a:solidFill>
            <a:prstDash val="solid"/>
          </a:ln>
        </p:spPr>
      </p:sp>
      <p:sp>
        <p:nvSpPr>
          <p:cNvPr id="23" name="Shape 21"/>
          <p:cNvSpPr/>
          <p:nvPr/>
        </p:nvSpPr>
        <p:spPr>
          <a:xfrm>
            <a:off x="3447288" y="2916936"/>
            <a:ext cx="365760" cy="365760"/>
          </a:xfrm>
          <a:prstGeom prst="ellipse">
            <a:avLst/>
          </a:prstGeom>
          <a:solidFill>
            <a:srgbClr val="1F3F7A"/>
          </a:solidFill>
          <a:ln w="12700">
            <a:solidFill>
              <a:srgbClr val="1F3F7A"/>
            </a:solidFill>
            <a:prstDash val="solid"/>
          </a:ln>
        </p:spPr>
      </p:sp>
      <p:sp>
        <p:nvSpPr>
          <p:cNvPr id="24" name="Text 22"/>
          <p:cNvSpPr txBox="1"/>
          <p:nvPr/>
        </p:nvSpPr>
        <p:spPr>
          <a:xfrm>
            <a:off x="3447288" y="29169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5" name="Text 23"/>
          <p:cNvSpPr txBox="1"/>
          <p:nvPr/>
        </p:nvSpPr>
        <p:spPr>
          <a:xfrm>
            <a:off x="3904488" y="2916936"/>
            <a:ext cx="2103120" cy="365760"/>
          </a:xfrm>
          <a:prstGeom prst="rect">
            <a:avLst/>
          </a:prstGeom>
          <a:noFill/>
          <a:ln/>
        </p:spPr>
        <p:txBody>
          <a:bodyPr wrap="square" lIns="0" tIns="0" rIns="0" bIns="0" rtlCol="0" anchor="ctr"/>
          <a:lstStyle/>
          <a:p>
            <a:pPr indent="0" marL="0">
              <a:buNone/>
            </a:pPr>
            <a:r>
              <a:rPr lang="en-US" sz="1100" b="1" dirty="0">
                <a:solidFill>
                  <a:srgbClr val="1F3F7A"/>
                </a:solidFill>
                <a:latin typeface="Microsoft YaHei" pitchFamily="34" charset="0"/>
                <a:ea typeface="Microsoft YaHei" pitchFamily="34" charset="-122"/>
                <a:cs typeface="Microsoft YaHei" pitchFamily="34" charset="-120"/>
              </a:rPr>
              <a:t>落地目标</a:t>
            </a:r>
            <a:endParaRPr lang="en-US" sz="1100" dirty="0"/>
          </a:p>
        </p:txBody>
      </p:sp>
      <p:sp>
        <p:nvSpPr>
          <p:cNvPr id="26" name="Text 24"/>
          <p:cNvSpPr txBox="1"/>
          <p:nvPr/>
        </p:nvSpPr>
        <p:spPr>
          <a:xfrm>
            <a:off x="3410712" y="3374136"/>
            <a:ext cx="2651760" cy="118872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低成本、低维护：眉山本土苗木，减少土方开挖，构筑物简约轻量化，适配县城建设标准。</a:t>
            </a:r>
            <a:endParaRPr lang="en-US" sz="900" dirty="0"/>
          </a:p>
        </p:txBody>
      </p:sp>
      <p:pic>
        <p:nvPicPr>
          <p:cNvPr id="27" name="Image 0" descr="/home/user/lxfs/pptx_build/figs/ms_1.jpg">    </p:cNvPr>
          <p:cNvPicPr>
            <a:picLocks noChangeAspect="1"/>
          </p:cNvPicPr>
          <p:nvPr/>
        </p:nvPicPr>
        <p:blipFill>
          <a:blip r:embed="rId1"/>
          <a:stretch>
            <a:fillRect/>
          </a:stretch>
        </p:blipFill>
        <p:spPr>
          <a:xfrm>
            <a:off x="6355080" y="932688"/>
            <a:ext cx="2468880" cy="1386631"/>
          </a:xfrm>
          <a:prstGeom prst="rect">
            <a:avLst/>
          </a:prstGeom>
        </p:spPr>
      </p:pic>
      <p:sp>
        <p:nvSpPr>
          <p:cNvPr id="28" name="Text 25"/>
          <p:cNvSpPr txBox="1"/>
          <p:nvPr/>
        </p:nvSpPr>
        <p:spPr>
          <a:xfrm>
            <a:off x="6355080" y="2337607"/>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球类集中区（案例效果图）</a:t>
            </a:r>
            <a:endParaRPr lang="en-US" sz="800" dirty="0"/>
          </a:p>
        </p:txBody>
      </p:sp>
      <p:pic>
        <p:nvPicPr>
          <p:cNvPr id="29" name="Image 1" descr="/home/user/lxfs/pptx_build/figs/sz_4.jpg">    </p:cNvPr>
          <p:cNvPicPr>
            <a:picLocks noChangeAspect="1"/>
          </p:cNvPicPr>
          <p:nvPr/>
        </p:nvPicPr>
        <p:blipFill>
          <a:blip r:embed="rId2"/>
          <a:stretch>
            <a:fillRect/>
          </a:stretch>
        </p:blipFill>
        <p:spPr>
          <a:xfrm>
            <a:off x="6355080" y="2971800"/>
            <a:ext cx="2468880" cy="1253175"/>
          </a:xfrm>
          <a:prstGeom prst="rect">
            <a:avLst/>
          </a:prstGeom>
        </p:spPr>
      </p:pic>
      <p:sp>
        <p:nvSpPr>
          <p:cNvPr id="30" name="Text 26"/>
          <p:cNvSpPr txBox="1"/>
          <p:nvPr/>
        </p:nvSpPr>
        <p:spPr>
          <a:xfrm>
            <a:off x="6355080" y="4243263"/>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林下休憩空间（案例照片）</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Principles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3.2 设计原则</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37</a:t>
            </a:r>
            <a:endParaRPr lang="en-US" sz="900" dirty="0"/>
          </a:p>
        </p:txBody>
      </p:sp>
      <p:pic>
        <p:nvPicPr>
          <p:cNvPr id="7" name="Image 0" descr="/home/user/lxfs/pptx_build/figs/sz_3.jpg">    </p:cNvPr>
          <p:cNvPicPr>
            <a:picLocks noChangeAspect="1"/>
          </p:cNvPicPr>
          <p:nvPr/>
        </p:nvPicPr>
        <p:blipFill>
          <a:blip r:embed="rId1"/>
          <a:stretch>
            <a:fillRect/>
          </a:stretch>
        </p:blipFill>
        <p:spPr>
          <a:xfrm>
            <a:off x="932104" y="932688"/>
            <a:ext cx="1061872" cy="1417320"/>
          </a:xfrm>
          <a:prstGeom prst="rect">
            <a:avLst/>
          </a:prstGeom>
        </p:spPr>
      </p:pic>
      <p:sp>
        <p:nvSpPr>
          <p:cNvPr id="8" name="Shape 5"/>
          <p:cNvSpPr/>
          <p:nvPr/>
        </p:nvSpPr>
        <p:spPr>
          <a:xfrm>
            <a:off x="457200" y="2350008"/>
            <a:ext cx="2011680" cy="411480"/>
          </a:xfrm>
          <a:prstGeom prst="rect">
            <a:avLst/>
          </a:prstGeom>
          <a:solidFill>
            <a:srgbClr val="1F3F7A"/>
          </a:solidFill>
          <a:ln w="12700">
            <a:solidFill>
              <a:srgbClr val="1F3F7A"/>
            </a:solidFill>
            <a:prstDash val="solid"/>
          </a:ln>
        </p:spPr>
      </p:sp>
      <p:sp>
        <p:nvSpPr>
          <p:cNvPr id="9" name="Text 6"/>
          <p:cNvSpPr txBox="1"/>
          <p:nvPr/>
        </p:nvSpPr>
        <p:spPr>
          <a:xfrm>
            <a:off x="457200" y="2350008"/>
            <a:ext cx="2011680"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以人为本·全龄友好</a:t>
            </a:r>
            <a:endParaRPr lang="en-US" sz="950" dirty="0"/>
          </a:p>
        </p:txBody>
      </p:sp>
      <p:sp>
        <p:nvSpPr>
          <p:cNvPr id="10" name="Shape 7"/>
          <p:cNvSpPr/>
          <p:nvPr/>
        </p:nvSpPr>
        <p:spPr>
          <a:xfrm>
            <a:off x="457200" y="2761488"/>
            <a:ext cx="2011680" cy="1691640"/>
          </a:xfrm>
          <a:prstGeom prst="rect">
            <a:avLst/>
          </a:prstGeom>
          <a:solidFill>
            <a:srgbClr val="EEF2F8"/>
          </a:solidFill>
          <a:ln w="12700">
            <a:solidFill>
              <a:srgbClr val="EEF2F8"/>
            </a:solidFill>
            <a:prstDash val="solid"/>
          </a:ln>
        </p:spPr>
      </p:sp>
      <p:sp>
        <p:nvSpPr>
          <p:cNvPr id="11" name="Text 8"/>
          <p:cNvSpPr txBox="1"/>
          <p:nvPr/>
        </p:nvSpPr>
        <p:spPr>
          <a:xfrm>
            <a:off x="530352" y="2834640"/>
            <a:ext cx="1865376" cy="160020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依老人、儿童、中青年行为特征分区，全域无障碍步道、休憩座椅、遮阳乔木，兼顾安全、舒适、可达。</a:t>
            </a:r>
            <a:endParaRPr lang="en-US" sz="950" dirty="0"/>
          </a:p>
        </p:txBody>
      </p:sp>
      <p:pic>
        <p:nvPicPr>
          <p:cNvPr id="12" name="Image 1" descr="/home/user/lxfs/pptx_build/figs/tf_3.jpg">    </p:cNvPr>
          <p:cNvPicPr>
            <a:picLocks noChangeAspect="1"/>
          </p:cNvPicPr>
          <p:nvPr/>
        </p:nvPicPr>
        <p:blipFill>
          <a:blip r:embed="rId2"/>
          <a:stretch>
            <a:fillRect/>
          </a:stretch>
        </p:blipFill>
        <p:spPr>
          <a:xfrm>
            <a:off x="3003615" y="932688"/>
            <a:ext cx="1125089" cy="1417320"/>
          </a:xfrm>
          <a:prstGeom prst="rect">
            <a:avLst/>
          </a:prstGeom>
        </p:spPr>
      </p:pic>
      <p:sp>
        <p:nvSpPr>
          <p:cNvPr id="13" name="Shape 9"/>
          <p:cNvSpPr/>
          <p:nvPr/>
        </p:nvSpPr>
        <p:spPr>
          <a:xfrm>
            <a:off x="2560320" y="2350008"/>
            <a:ext cx="2011680" cy="411480"/>
          </a:xfrm>
          <a:prstGeom prst="rect">
            <a:avLst/>
          </a:prstGeom>
          <a:solidFill>
            <a:srgbClr val="E07B2A"/>
          </a:solidFill>
          <a:ln w="12700">
            <a:solidFill>
              <a:srgbClr val="E07B2A"/>
            </a:solidFill>
            <a:prstDash val="solid"/>
          </a:ln>
        </p:spPr>
      </p:sp>
      <p:sp>
        <p:nvSpPr>
          <p:cNvPr id="14" name="Text 10"/>
          <p:cNvSpPr txBox="1"/>
          <p:nvPr/>
        </p:nvSpPr>
        <p:spPr>
          <a:xfrm>
            <a:off x="2560320" y="2350008"/>
            <a:ext cx="2011680"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交通便捷·开放共享</a:t>
            </a:r>
            <a:endParaRPr lang="en-US" sz="950" dirty="0"/>
          </a:p>
        </p:txBody>
      </p:sp>
      <p:sp>
        <p:nvSpPr>
          <p:cNvPr id="15" name="Shape 11"/>
          <p:cNvSpPr/>
          <p:nvPr/>
        </p:nvSpPr>
        <p:spPr>
          <a:xfrm>
            <a:off x="2560320" y="2761488"/>
            <a:ext cx="2011680" cy="1691640"/>
          </a:xfrm>
          <a:prstGeom prst="rect">
            <a:avLst/>
          </a:prstGeom>
          <a:solidFill>
            <a:srgbClr val="EEF2F8"/>
          </a:solidFill>
          <a:ln w="12700">
            <a:solidFill>
              <a:srgbClr val="EEF2F8"/>
            </a:solidFill>
            <a:prstDash val="solid"/>
          </a:ln>
        </p:spPr>
      </p:sp>
      <p:sp>
        <p:nvSpPr>
          <p:cNvPr id="16" name="Text 12"/>
          <p:cNvSpPr txBox="1"/>
          <p:nvPr/>
        </p:nvSpPr>
        <p:spPr>
          <a:xfrm>
            <a:off x="2633472" y="2834640"/>
            <a:ext cx="1865376" cy="160020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四面设主次人行入口，绿篱、微地形软边界代替围墙，24小时开放，绿地资源全民共享。</a:t>
            </a:r>
            <a:endParaRPr lang="en-US" sz="950" dirty="0"/>
          </a:p>
        </p:txBody>
      </p:sp>
      <p:pic>
        <p:nvPicPr>
          <p:cNvPr id="17" name="Image 2" descr="/home/user/lxfs/pptx_build/figs/tf_1.jpg">    </p:cNvPr>
          <p:cNvPicPr>
            <a:picLocks noChangeAspect="1"/>
          </p:cNvPicPr>
          <p:nvPr/>
        </p:nvPicPr>
        <p:blipFill>
          <a:blip r:embed="rId3"/>
          <a:stretch>
            <a:fillRect/>
          </a:stretch>
        </p:blipFill>
        <p:spPr>
          <a:xfrm>
            <a:off x="4722933" y="932688"/>
            <a:ext cx="1892694" cy="1417320"/>
          </a:xfrm>
          <a:prstGeom prst="rect">
            <a:avLst/>
          </a:prstGeom>
        </p:spPr>
      </p:pic>
      <p:sp>
        <p:nvSpPr>
          <p:cNvPr id="18" name="Shape 13"/>
          <p:cNvSpPr/>
          <p:nvPr/>
        </p:nvSpPr>
        <p:spPr>
          <a:xfrm>
            <a:off x="4663440" y="2350008"/>
            <a:ext cx="2011680" cy="411480"/>
          </a:xfrm>
          <a:prstGeom prst="rect">
            <a:avLst/>
          </a:prstGeom>
          <a:solidFill>
            <a:srgbClr val="4E8A3E"/>
          </a:solidFill>
          <a:ln w="12700">
            <a:solidFill>
              <a:srgbClr val="4E8A3E"/>
            </a:solidFill>
            <a:prstDash val="solid"/>
          </a:ln>
        </p:spPr>
      </p:sp>
      <p:sp>
        <p:nvSpPr>
          <p:cNvPr id="19" name="Text 14"/>
          <p:cNvSpPr txBox="1"/>
          <p:nvPr/>
        </p:nvSpPr>
        <p:spPr>
          <a:xfrm>
            <a:off x="4663440" y="2350008"/>
            <a:ext cx="2011680"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乡土风貌·简约宜居</a:t>
            </a:r>
            <a:endParaRPr lang="en-US" sz="950" dirty="0"/>
          </a:p>
        </p:txBody>
      </p:sp>
      <p:sp>
        <p:nvSpPr>
          <p:cNvPr id="20" name="Shape 15"/>
          <p:cNvSpPr/>
          <p:nvPr/>
        </p:nvSpPr>
        <p:spPr>
          <a:xfrm>
            <a:off x="4663440" y="2761488"/>
            <a:ext cx="2011680" cy="1691640"/>
          </a:xfrm>
          <a:prstGeom prst="rect">
            <a:avLst/>
          </a:prstGeom>
          <a:solidFill>
            <a:srgbClr val="EEF2F8"/>
          </a:solidFill>
          <a:ln w="12700">
            <a:solidFill>
              <a:srgbClr val="EEF2F8"/>
            </a:solidFill>
            <a:prstDash val="solid"/>
          </a:ln>
        </p:spPr>
      </p:sp>
      <p:sp>
        <p:nvSpPr>
          <p:cNvPr id="21" name="Text 16"/>
          <p:cNvSpPr txBox="1"/>
          <p:nvPr/>
        </p:nvSpPr>
        <p:spPr>
          <a:xfrm>
            <a:off x="4736592" y="2834640"/>
            <a:ext cx="1865376" cy="160020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川南浅丘自然简约风格，小品铺装提取仁寿田园、黑龙滩水系元素，质朴舒适。</a:t>
            </a:r>
            <a:endParaRPr lang="en-US" sz="950" dirty="0"/>
          </a:p>
        </p:txBody>
      </p:sp>
      <p:pic>
        <p:nvPicPr>
          <p:cNvPr id="22" name="Image 3" descr="/home/user/lxfs/pptx_build/figs/sz_4.jpg">    </p:cNvPr>
          <p:cNvPicPr>
            <a:picLocks noChangeAspect="1"/>
          </p:cNvPicPr>
          <p:nvPr/>
        </p:nvPicPr>
        <p:blipFill>
          <a:blip r:embed="rId4"/>
          <a:stretch>
            <a:fillRect/>
          </a:stretch>
        </p:blipFill>
        <p:spPr>
          <a:xfrm>
            <a:off x="6766560" y="932688"/>
            <a:ext cx="2011680" cy="1021106"/>
          </a:xfrm>
          <a:prstGeom prst="rect">
            <a:avLst/>
          </a:prstGeom>
        </p:spPr>
      </p:pic>
      <p:sp>
        <p:nvSpPr>
          <p:cNvPr id="23" name="Shape 17"/>
          <p:cNvSpPr/>
          <p:nvPr/>
        </p:nvSpPr>
        <p:spPr>
          <a:xfrm>
            <a:off x="6766560" y="2350008"/>
            <a:ext cx="2011680" cy="411480"/>
          </a:xfrm>
          <a:prstGeom prst="rect">
            <a:avLst/>
          </a:prstGeom>
          <a:solidFill>
            <a:srgbClr val="5B7DB1"/>
          </a:solidFill>
          <a:ln w="12700">
            <a:solidFill>
              <a:srgbClr val="5B7DB1"/>
            </a:solidFill>
            <a:prstDash val="solid"/>
          </a:ln>
        </p:spPr>
      </p:sp>
      <p:sp>
        <p:nvSpPr>
          <p:cNvPr id="24" name="Text 18"/>
          <p:cNvSpPr txBox="1"/>
          <p:nvPr/>
        </p:nvSpPr>
        <p:spPr>
          <a:xfrm>
            <a:off x="6766560" y="2350008"/>
            <a:ext cx="2011680" cy="411480"/>
          </a:xfrm>
          <a:prstGeom prst="rect">
            <a:avLst/>
          </a:prstGeom>
          <a:noFill/>
          <a:ln/>
        </p:spPr>
        <p:txBody>
          <a:bodyPr wrap="square" lIns="0" tIns="0" rIns="0" bIns="0" rtlCol="0" anchor="ctr"/>
          <a:lstStyle/>
          <a:p>
            <a:pPr algn="ctr" indent="0" marL="0">
              <a:buNone/>
            </a:pPr>
            <a:r>
              <a:rPr lang="en-US" sz="950" b="1" dirty="0">
                <a:solidFill>
                  <a:srgbClr val="FFFFFF"/>
                </a:solidFill>
                <a:latin typeface="Microsoft YaHei" pitchFamily="34" charset="0"/>
                <a:ea typeface="Microsoft YaHei" pitchFamily="34" charset="-122"/>
                <a:cs typeface="Microsoft YaHei" pitchFamily="34" charset="-120"/>
              </a:rPr>
              <a:t>生态节约·海绵低碳</a:t>
            </a:r>
            <a:endParaRPr lang="en-US" sz="950" dirty="0"/>
          </a:p>
        </p:txBody>
      </p:sp>
      <p:sp>
        <p:nvSpPr>
          <p:cNvPr id="25" name="Shape 19"/>
          <p:cNvSpPr/>
          <p:nvPr/>
        </p:nvSpPr>
        <p:spPr>
          <a:xfrm>
            <a:off x="6766560" y="2761488"/>
            <a:ext cx="2011680" cy="1691640"/>
          </a:xfrm>
          <a:prstGeom prst="rect">
            <a:avLst/>
          </a:prstGeom>
          <a:solidFill>
            <a:srgbClr val="EEF2F8"/>
          </a:solidFill>
          <a:ln w="12700">
            <a:solidFill>
              <a:srgbClr val="EEF2F8"/>
            </a:solidFill>
            <a:prstDash val="solid"/>
          </a:ln>
        </p:spPr>
      </p:sp>
      <p:sp>
        <p:nvSpPr>
          <p:cNvPr id="26" name="Text 20"/>
          <p:cNvSpPr txBox="1"/>
          <p:nvPr/>
        </p:nvSpPr>
        <p:spPr>
          <a:xfrm>
            <a:off x="6839712" y="2834640"/>
            <a:ext cx="1865376" cy="1600200"/>
          </a:xfrm>
          <a:prstGeom prst="rect">
            <a:avLst/>
          </a:prstGeom>
          <a:noFill/>
          <a:ln/>
        </p:spPr>
        <p:txBody>
          <a:bodyPr wrap="square" lIns="25400" tIns="25400" rIns="25400" bIns="25400" rtlCol="0" anchor="t"/>
          <a:lstStyle/>
          <a:p>
            <a:pPr indent="0" marL="0">
              <a:lnSpc>
                <a:spcPct val="130000"/>
              </a:lnSpc>
              <a:buNone/>
            </a:pPr>
            <a:r>
              <a:rPr lang="en-US" sz="950" dirty="0">
                <a:solidFill>
                  <a:srgbClr val="444444"/>
                </a:solidFill>
                <a:latin typeface="Microsoft YaHei" pitchFamily="34" charset="0"/>
                <a:ea typeface="Microsoft YaHei" pitchFamily="34" charset="-122"/>
                <a:cs typeface="Microsoft YaHei" pitchFamily="34" charset="-120"/>
              </a:rPr>
              <a:t>保留平整原始地形，土方场内平衡；桢楠、香樟、桂花、紫薇等乡土树种；雨水花园、植草沟就地净化利用。</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Concept</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3.3 设计构思</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38</a:t>
            </a:r>
            <a:endParaRPr lang="en-US" sz="900" dirty="0"/>
          </a:p>
        </p:txBody>
      </p:sp>
      <p:sp>
        <p:nvSpPr>
          <p:cNvPr id="7" name="Text 5"/>
          <p:cNvSpPr txBox="1"/>
          <p:nvPr/>
        </p:nvSpPr>
        <p:spPr>
          <a:xfrm>
            <a:off x="457200" y="914400"/>
            <a:ext cx="2743200" cy="457200"/>
          </a:xfrm>
          <a:prstGeom prst="rect">
            <a:avLst/>
          </a:prstGeom>
          <a:noFill/>
          <a:ln/>
        </p:spPr>
        <p:txBody>
          <a:bodyPr wrap="square" lIns="0" tIns="0" rIns="0" bIns="0" rtlCol="0" anchor="ctr"/>
          <a:lstStyle/>
          <a:p>
            <a:pPr indent="0" marL="0">
              <a:buNone/>
            </a:pPr>
            <a:r>
              <a:rPr lang="en-US" sz="2200" b="1" dirty="0">
                <a:solidFill>
                  <a:srgbClr val="1F3F7A"/>
                </a:solidFill>
                <a:latin typeface="Microsoft YaHei" pitchFamily="34" charset="0"/>
                <a:ea typeface="Microsoft YaHei" pitchFamily="34" charset="-122"/>
                <a:cs typeface="Microsoft YaHei" pitchFamily="34" charset="-120"/>
              </a:rPr>
              <a:t>跃动·栖园</a:t>
            </a:r>
            <a:endParaRPr lang="en-US" sz="2200" dirty="0"/>
          </a:p>
        </p:txBody>
      </p:sp>
      <p:sp>
        <p:nvSpPr>
          <p:cNvPr id="8" name="Text 6"/>
          <p:cNvSpPr txBox="1"/>
          <p:nvPr/>
        </p:nvSpPr>
        <p:spPr>
          <a:xfrm>
            <a:off x="457200" y="1417320"/>
            <a:ext cx="4846320" cy="822960"/>
          </a:xfrm>
          <a:prstGeom prst="rect">
            <a:avLst/>
          </a:prstGeom>
          <a:noFill/>
          <a:ln/>
        </p:spPr>
        <p:txBody>
          <a:bodyPr wrap="square" lIns="25400" tIns="25400" rIns="25400" bIns="25400" rtlCol="0" anchor="t"/>
          <a:lstStyle/>
          <a:p>
            <a:pPr indent="0" marL="0">
              <a:lnSpc>
                <a:spcPct val="115000"/>
              </a:lnSpc>
              <a:buNone/>
            </a:pPr>
            <a:r>
              <a:rPr lang="en-US" sz="900" dirty="0">
                <a:solidFill>
                  <a:srgbClr val="444444"/>
                </a:solidFill>
                <a:latin typeface="Microsoft YaHei" pitchFamily="34" charset="0"/>
                <a:ea typeface="Microsoft YaHei" pitchFamily="34" charset="-122"/>
                <a:cs typeface="Microsoft YaHei" pitchFamily="34" charset="-120"/>
              </a:rPr>
              <a:t>“跃动”对应全民健康——全龄运动、活力健身；“栖园”对应生态栖居——林下休憩、海绵生态、乡土记忆。以“一环”健康步道串联“动”“静”两类组团，主干道一侧以“一带”防护林承担生态缓冲。</a:t>
            </a:r>
            <a:endParaRPr lang="en-US" sz="900" dirty="0"/>
          </a:p>
        </p:txBody>
      </p:sp>
      <p:sp>
        <p:nvSpPr>
          <p:cNvPr id="9" name="Shape 7"/>
          <p:cNvSpPr/>
          <p:nvPr/>
        </p:nvSpPr>
        <p:spPr>
          <a:xfrm>
            <a:off x="457200" y="2331720"/>
            <a:ext cx="4846320" cy="685800"/>
          </a:xfrm>
          <a:prstGeom prst="rect">
            <a:avLst/>
          </a:prstGeom>
          <a:solidFill>
            <a:srgbClr val="EEF2F8"/>
          </a:solidFill>
          <a:ln w="12700">
            <a:solidFill>
              <a:srgbClr val="EEF2F8"/>
            </a:solidFill>
            <a:prstDash val="solid"/>
          </a:ln>
        </p:spPr>
      </p:sp>
      <p:sp>
        <p:nvSpPr>
          <p:cNvPr id="10" name="Shape 8"/>
          <p:cNvSpPr/>
          <p:nvPr/>
        </p:nvSpPr>
        <p:spPr>
          <a:xfrm>
            <a:off x="457200" y="2331720"/>
            <a:ext cx="73152" cy="685800"/>
          </a:xfrm>
          <a:prstGeom prst="rect">
            <a:avLst/>
          </a:prstGeom>
          <a:solidFill>
            <a:srgbClr val="E07B2A"/>
          </a:solidFill>
          <a:ln w="12700">
            <a:solidFill>
              <a:srgbClr val="E07B2A"/>
            </a:solidFill>
            <a:prstDash val="solid"/>
          </a:ln>
        </p:spPr>
      </p:sp>
      <p:sp>
        <p:nvSpPr>
          <p:cNvPr id="11" name="Text 9"/>
          <p:cNvSpPr txBox="1"/>
          <p:nvPr/>
        </p:nvSpPr>
        <p:spPr>
          <a:xfrm>
            <a:off x="640080" y="2368296"/>
            <a:ext cx="4572000" cy="256032"/>
          </a:xfrm>
          <a:prstGeom prst="rect">
            <a:avLst/>
          </a:prstGeom>
          <a:noFill/>
          <a:ln/>
        </p:spPr>
        <p:txBody>
          <a:bodyPr wrap="square" lIns="0" tIns="0" rIns="0" bIns="0" rtlCol="0" anchor="ctr"/>
          <a:lstStyle/>
          <a:p>
            <a:pPr indent="0" marL="0">
              <a:buNone/>
            </a:pPr>
            <a:r>
              <a:rPr lang="en-US" sz="1000" b="1" dirty="0">
                <a:solidFill>
                  <a:srgbClr val="E07B2A"/>
                </a:solidFill>
                <a:latin typeface="Microsoft YaHei" pitchFamily="34" charset="0"/>
                <a:ea typeface="Microsoft YaHei" pitchFamily="34" charset="-122"/>
                <a:cs typeface="Microsoft YaHei" pitchFamily="34" charset="-120"/>
              </a:rPr>
              <a:t>跃动组团（动）</a:t>
            </a:r>
            <a:endParaRPr lang="en-US" sz="1000" dirty="0"/>
          </a:p>
        </p:txBody>
      </p:sp>
      <p:sp>
        <p:nvSpPr>
          <p:cNvPr id="12" name="Text 10"/>
          <p:cNvSpPr txBox="1"/>
          <p:nvPr/>
        </p:nvSpPr>
        <p:spPr>
          <a:xfrm>
            <a:off x="594360" y="2624328"/>
            <a:ext cx="4663440" cy="3657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青少年球类运动区、中青年健身器械区、环形健康步道</a:t>
            </a:r>
            <a:endParaRPr lang="en-US" sz="850" dirty="0"/>
          </a:p>
        </p:txBody>
      </p:sp>
      <p:sp>
        <p:nvSpPr>
          <p:cNvPr id="13" name="Shape 11"/>
          <p:cNvSpPr/>
          <p:nvPr/>
        </p:nvSpPr>
        <p:spPr>
          <a:xfrm>
            <a:off x="457200" y="3108960"/>
            <a:ext cx="4846320" cy="685800"/>
          </a:xfrm>
          <a:prstGeom prst="rect">
            <a:avLst/>
          </a:prstGeom>
          <a:solidFill>
            <a:srgbClr val="EEF2F8"/>
          </a:solidFill>
          <a:ln w="12700">
            <a:solidFill>
              <a:srgbClr val="EEF2F8"/>
            </a:solidFill>
            <a:prstDash val="solid"/>
          </a:ln>
        </p:spPr>
      </p:sp>
      <p:sp>
        <p:nvSpPr>
          <p:cNvPr id="14" name="Shape 12"/>
          <p:cNvSpPr/>
          <p:nvPr/>
        </p:nvSpPr>
        <p:spPr>
          <a:xfrm>
            <a:off x="457200" y="3108960"/>
            <a:ext cx="73152" cy="685800"/>
          </a:xfrm>
          <a:prstGeom prst="rect">
            <a:avLst/>
          </a:prstGeom>
          <a:solidFill>
            <a:srgbClr val="1F3F7A"/>
          </a:solidFill>
          <a:ln w="12700">
            <a:solidFill>
              <a:srgbClr val="1F3F7A"/>
            </a:solidFill>
            <a:prstDash val="solid"/>
          </a:ln>
        </p:spPr>
      </p:sp>
      <p:sp>
        <p:nvSpPr>
          <p:cNvPr id="15" name="Text 13"/>
          <p:cNvSpPr txBox="1"/>
          <p:nvPr/>
        </p:nvSpPr>
        <p:spPr>
          <a:xfrm>
            <a:off x="640080" y="3145536"/>
            <a:ext cx="4572000" cy="256032"/>
          </a:xfrm>
          <a:prstGeom prst="rect">
            <a:avLst/>
          </a:prstGeom>
          <a:noFill/>
          <a:ln/>
        </p:spPr>
        <p:txBody>
          <a:bodyPr wrap="square" lIns="0" tIns="0" rIns="0" bIns="0" rtlCol="0" anchor="ctr"/>
          <a:lstStyle/>
          <a:p>
            <a:pPr indent="0" marL="0">
              <a:buNone/>
            </a:pPr>
            <a:r>
              <a:rPr lang="en-US" sz="1000" b="1" dirty="0">
                <a:solidFill>
                  <a:srgbClr val="1F3F7A"/>
                </a:solidFill>
                <a:latin typeface="Microsoft YaHei" pitchFamily="34" charset="0"/>
                <a:ea typeface="Microsoft YaHei" pitchFamily="34" charset="-122"/>
                <a:cs typeface="Microsoft YaHei" pitchFamily="34" charset="-120"/>
              </a:rPr>
              <a:t>栖居组团（静）</a:t>
            </a:r>
            <a:endParaRPr lang="en-US" sz="1000" dirty="0"/>
          </a:p>
        </p:txBody>
      </p:sp>
      <p:sp>
        <p:nvSpPr>
          <p:cNvPr id="16" name="Text 14"/>
          <p:cNvSpPr txBox="1"/>
          <p:nvPr/>
        </p:nvSpPr>
        <p:spPr>
          <a:xfrm>
            <a:off x="594360" y="3401568"/>
            <a:ext cx="4663440" cy="3657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老年康养林荫区、邻里阳光草坪、海绵雨水花园、文化记忆节点</a:t>
            </a:r>
            <a:endParaRPr lang="en-US" sz="850" dirty="0"/>
          </a:p>
        </p:txBody>
      </p:sp>
      <p:sp>
        <p:nvSpPr>
          <p:cNvPr id="17" name="Shape 15"/>
          <p:cNvSpPr/>
          <p:nvPr/>
        </p:nvSpPr>
        <p:spPr>
          <a:xfrm>
            <a:off x="457200" y="3886200"/>
            <a:ext cx="4846320" cy="685800"/>
          </a:xfrm>
          <a:prstGeom prst="rect">
            <a:avLst/>
          </a:prstGeom>
          <a:solidFill>
            <a:srgbClr val="EEF2F8"/>
          </a:solidFill>
          <a:ln w="12700">
            <a:solidFill>
              <a:srgbClr val="EEF2F8"/>
            </a:solidFill>
            <a:prstDash val="solid"/>
          </a:ln>
        </p:spPr>
      </p:sp>
      <p:sp>
        <p:nvSpPr>
          <p:cNvPr id="18" name="Shape 16"/>
          <p:cNvSpPr/>
          <p:nvPr/>
        </p:nvSpPr>
        <p:spPr>
          <a:xfrm>
            <a:off x="457200" y="3886200"/>
            <a:ext cx="73152" cy="685800"/>
          </a:xfrm>
          <a:prstGeom prst="rect">
            <a:avLst/>
          </a:prstGeom>
          <a:solidFill>
            <a:srgbClr val="4E8A3E"/>
          </a:solidFill>
          <a:ln w="12700">
            <a:solidFill>
              <a:srgbClr val="4E8A3E"/>
            </a:solidFill>
            <a:prstDash val="solid"/>
          </a:ln>
        </p:spPr>
      </p:sp>
      <p:sp>
        <p:nvSpPr>
          <p:cNvPr id="19" name="Text 17"/>
          <p:cNvSpPr txBox="1"/>
          <p:nvPr/>
        </p:nvSpPr>
        <p:spPr>
          <a:xfrm>
            <a:off x="640080" y="3922776"/>
            <a:ext cx="4572000" cy="256032"/>
          </a:xfrm>
          <a:prstGeom prst="rect">
            <a:avLst/>
          </a:prstGeom>
          <a:noFill/>
          <a:ln/>
        </p:spPr>
        <p:txBody>
          <a:bodyPr wrap="square" lIns="0" tIns="0" rIns="0" bIns="0" rtlCol="0" anchor="ctr"/>
          <a:lstStyle/>
          <a:p>
            <a:pPr indent="0" marL="0">
              <a:buNone/>
            </a:pPr>
            <a:r>
              <a:rPr lang="en-US" sz="1000" b="1" dirty="0">
                <a:solidFill>
                  <a:srgbClr val="4E8A3E"/>
                </a:solidFill>
                <a:latin typeface="Microsoft YaHei" pitchFamily="34" charset="0"/>
                <a:ea typeface="Microsoft YaHei" pitchFamily="34" charset="-122"/>
                <a:cs typeface="Microsoft YaHei" pitchFamily="34" charset="-120"/>
              </a:rPr>
              <a:t>亲子组团（动静结合）</a:t>
            </a:r>
            <a:endParaRPr lang="en-US" sz="1000" dirty="0"/>
          </a:p>
        </p:txBody>
      </p:sp>
      <p:sp>
        <p:nvSpPr>
          <p:cNvPr id="20" name="Text 18"/>
          <p:cNvSpPr txBox="1"/>
          <p:nvPr/>
        </p:nvSpPr>
        <p:spPr>
          <a:xfrm>
            <a:off x="594360" y="4178808"/>
            <a:ext cx="4663440" cy="365760"/>
          </a:xfrm>
          <a:prstGeom prst="rect">
            <a:avLst/>
          </a:prstGeom>
          <a:noFill/>
          <a:ln/>
        </p:spPr>
        <p:txBody>
          <a:bodyPr wrap="square" lIns="25400" tIns="25400" rIns="25400" bIns="25400" rtlCol="0" anchor="t"/>
          <a:lstStyle/>
          <a:p>
            <a:pPr indent="0" marL="0">
              <a:lnSpc>
                <a:spcPct val="115000"/>
              </a:lnSpc>
              <a:buNone/>
            </a:pPr>
            <a:r>
              <a:rPr lang="en-US" sz="850" dirty="0">
                <a:solidFill>
                  <a:srgbClr val="444444"/>
                </a:solidFill>
                <a:latin typeface="Microsoft YaHei" pitchFamily="34" charset="0"/>
                <a:ea typeface="Microsoft YaHei" pitchFamily="34" charset="-122"/>
                <a:cs typeface="Microsoft YaHei" pitchFamily="34" charset="-120"/>
              </a:rPr>
              <a:t>分龄儿童游乐区、家长看护休憩、自然科普种植</a:t>
            </a:r>
            <a:endParaRPr lang="en-US" sz="850" dirty="0"/>
          </a:p>
        </p:txBody>
      </p:sp>
      <p:pic>
        <p:nvPicPr>
          <p:cNvPr id="21" name="Image 0" descr="/home/user/lxfs/pptx_build/figs/satellite.jpg">    </p:cNvPr>
          <p:cNvPicPr>
            <a:picLocks noChangeAspect="1"/>
          </p:cNvPicPr>
          <p:nvPr/>
        </p:nvPicPr>
        <p:blipFill>
          <a:blip r:embed="rId1"/>
          <a:stretch>
            <a:fillRect/>
          </a:stretch>
        </p:blipFill>
        <p:spPr>
          <a:xfrm>
            <a:off x="5532120" y="932688"/>
            <a:ext cx="3291840" cy="2595072"/>
          </a:xfrm>
          <a:prstGeom prst="rect">
            <a:avLst/>
          </a:prstGeom>
        </p:spPr>
      </p:pic>
      <p:sp>
        <p:nvSpPr>
          <p:cNvPr id="22" name="Text 19"/>
          <p:cNvSpPr txBox="1"/>
          <p:nvPr/>
        </p:nvSpPr>
        <p:spPr>
          <a:xfrm>
            <a:off x="5532120" y="3546048"/>
            <a:ext cx="32918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场地卫星影像（设计基底）</a:t>
            </a:r>
            <a:endParaRPr lang="en-US" sz="800" dirty="0"/>
          </a:p>
        </p:txBody>
      </p:sp>
      <p:pic>
        <p:nvPicPr>
          <p:cNvPr id="23" name="Image 1" descr="/home/user/lxfs/pptx_build/figs/ms_2.jpg">    </p:cNvPr>
          <p:cNvPicPr>
            <a:picLocks noChangeAspect="1"/>
          </p:cNvPicPr>
          <p:nvPr/>
        </p:nvPicPr>
        <p:blipFill>
          <a:blip r:embed="rId2"/>
          <a:stretch>
            <a:fillRect/>
          </a:stretch>
        </p:blipFill>
        <p:spPr>
          <a:xfrm>
            <a:off x="5532120" y="3767328"/>
            <a:ext cx="1600200" cy="900602"/>
          </a:xfrm>
          <a:prstGeom prst="rect">
            <a:avLst/>
          </a:prstGeom>
        </p:spPr>
      </p:pic>
      <p:sp>
        <p:nvSpPr>
          <p:cNvPr id="24" name="Text 20"/>
          <p:cNvSpPr txBox="1"/>
          <p:nvPr/>
        </p:nvSpPr>
        <p:spPr>
          <a:xfrm>
            <a:off x="5532120" y="4686218"/>
            <a:ext cx="16002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跃动组团参考</a:t>
            </a:r>
            <a:endParaRPr lang="en-US" sz="800" dirty="0"/>
          </a:p>
        </p:txBody>
      </p:sp>
      <p:pic>
        <p:nvPicPr>
          <p:cNvPr id="25" name="Image 2" descr="/home/user/lxfs/pptx_build/figs/sz_4.jpg">    </p:cNvPr>
          <p:cNvPicPr>
            <a:picLocks noChangeAspect="1"/>
          </p:cNvPicPr>
          <p:nvPr/>
        </p:nvPicPr>
        <p:blipFill>
          <a:blip r:embed="rId3"/>
          <a:stretch>
            <a:fillRect/>
          </a:stretch>
        </p:blipFill>
        <p:spPr>
          <a:xfrm>
            <a:off x="7223760" y="3767328"/>
            <a:ext cx="1600200" cy="812243"/>
          </a:xfrm>
          <a:prstGeom prst="rect">
            <a:avLst/>
          </a:prstGeom>
        </p:spPr>
      </p:pic>
      <p:sp>
        <p:nvSpPr>
          <p:cNvPr id="26" name="Text 21"/>
          <p:cNvSpPr txBox="1"/>
          <p:nvPr/>
        </p:nvSpPr>
        <p:spPr>
          <a:xfrm>
            <a:off x="7223760" y="4597859"/>
            <a:ext cx="160020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栖居组团参考</a:t>
            </a:r>
            <a:endParaRPr lang="en-US" sz="800" dirty="0"/>
          </a:p>
        </p:txBody>
      </p:sp>
      <p:sp>
        <p:nvSpPr>
          <p:cNvPr id="27" name="Text 22"/>
          <p:cNvSpPr txBox="1"/>
          <p:nvPr/>
        </p:nvSpPr>
        <p:spPr>
          <a:xfrm>
            <a:off x="457200" y="4709160"/>
            <a:ext cx="484632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注：本页构思为依据开题报告目标与案例借鉴整理的初步框架，需确认或替换。</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设计策略——策略框架</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39</a:t>
            </a:r>
            <a:endParaRPr lang="en-US" sz="900" dirty="0"/>
          </a:p>
        </p:txBody>
      </p:sp>
      <p:pic>
        <p:nvPicPr>
          <p:cNvPr id="7" name="Image 0" descr="/home/user/lxfs/pptx_build/figs/strategy.jpg">    </p:cNvPr>
          <p:cNvPicPr>
            <a:picLocks noChangeAspect="1"/>
          </p:cNvPicPr>
          <p:nvPr/>
        </p:nvPicPr>
        <p:blipFill>
          <a:blip r:embed="rId1"/>
          <a:stretch>
            <a:fillRect/>
          </a:stretch>
        </p:blipFill>
        <p:spPr>
          <a:xfrm>
            <a:off x="464385" y="932688"/>
            <a:ext cx="5746351" cy="3794760"/>
          </a:xfrm>
          <a:prstGeom prst="rect">
            <a:avLst/>
          </a:prstGeom>
        </p:spPr>
      </p:pic>
      <p:sp>
        <p:nvSpPr>
          <p:cNvPr id="8" name="Text 5"/>
          <p:cNvSpPr txBox="1"/>
          <p:nvPr/>
        </p:nvSpPr>
        <p:spPr>
          <a:xfrm>
            <a:off x="457200" y="4745736"/>
            <a:ext cx="576072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设计策略框架图（开题报告）</a:t>
            </a:r>
            <a:endParaRPr lang="en-US" sz="800" dirty="0"/>
          </a:p>
        </p:txBody>
      </p:sp>
      <p:pic>
        <p:nvPicPr>
          <p:cNvPr id="9" name="Image 1" descr="/home/user/lxfs/pptx_build/figs/ms_1.jpg">    </p:cNvPr>
          <p:cNvPicPr>
            <a:picLocks noChangeAspect="1"/>
          </p:cNvPicPr>
          <p:nvPr/>
        </p:nvPicPr>
        <p:blipFill>
          <a:blip r:embed="rId2"/>
          <a:stretch>
            <a:fillRect/>
          </a:stretch>
        </p:blipFill>
        <p:spPr>
          <a:xfrm>
            <a:off x="6576989" y="932688"/>
            <a:ext cx="2116501" cy="1188720"/>
          </a:xfrm>
          <a:prstGeom prst="rect">
            <a:avLst/>
          </a:prstGeom>
        </p:spPr>
      </p:pic>
      <p:sp>
        <p:nvSpPr>
          <p:cNvPr id="10" name="Text 6"/>
          <p:cNvSpPr txBox="1"/>
          <p:nvPr/>
        </p:nvSpPr>
        <p:spPr>
          <a:xfrm>
            <a:off x="6446520" y="2139696"/>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运动专项场地（案例）</a:t>
            </a:r>
            <a:endParaRPr lang="en-US" sz="800" dirty="0"/>
          </a:p>
        </p:txBody>
      </p:sp>
      <p:pic>
        <p:nvPicPr>
          <p:cNvPr id="11" name="Image 2" descr="/home/user/lxfs/pptx_build/figs/wh_1.jpg">    </p:cNvPr>
          <p:cNvPicPr>
            <a:picLocks noChangeAspect="1"/>
          </p:cNvPicPr>
          <p:nvPr/>
        </p:nvPicPr>
        <p:blipFill>
          <a:blip r:embed="rId3"/>
          <a:stretch>
            <a:fillRect/>
          </a:stretch>
        </p:blipFill>
        <p:spPr>
          <a:xfrm>
            <a:off x="6745021" y="2331720"/>
            <a:ext cx="1780438" cy="1188720"/>
          </a:xfrm>
          <a:prstGeom prst="rect">
            <a:avLst/>
          </a:prstGeom>
        </p:spPr>
      </p:pic>
      <p:sp>
        <p:nvSpPr>
          <p:cNvPr id="12" name="Text 7"/>
          <p:cNvSpPr txBox="1"/>
          <p:nvPr/>
        </p:nvSpPr>
        <p:spPr>
          <a:xfrm>
            <a:off x="6446520" y="3538728"/>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运动配套休憩与跑道（案例）</a:t>
            </a:r>
            <a:endParaRPr lang="en-US" sz="800" dirty="0"/>
          </a:p>
        </p:txBody>
      </p:sp>
      <p:pic>
        <p:nvPicPr>
          <p:cNvPr id="13" name="Image 3" descr="/home/user/lxfs/pptx_build/figs/sz_4.jpg">    </p:cNvPr>
          <p:cNvPicPr>
            <a:picLocks noChangeAspect="1"/>
          </p:cNvPicPr>
          <p:nvPr/>
        </p:nvPicPr>
        <p:blipFill>
          <a:blip r:embed="rId4"/>
          <a:stretch>
            <a:fillRect/>
          </a:stretch>
        </p:blipFill>
        <p:spPr>
          <a:xfrm>
            <a:off x="6689474" y="3730752"/>
            <a:ext cx="1891532" cy="960120"/>
          </a:xfrm>
          <a:prstGeom prst="rect">
            <a:avLst/>
          </a:prstGeom>
        </p:spPr>
      </p:pic>
      <p:sp>
        <p:nvSpPr>
          <p:cNvPr id="14" name="Text 8"/>
          <p:cNvSpPr txBox="1"/>
          <p:nvPr/>
        </p:nvSpPr>
        <p:spPr>
          <a:xfrm>
            <a:off x="6446520" y="4709160"/>
            <a:ext cx="237744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生态基底与林下空间（案例）</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Strategy</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3.4 设计策略——回应2.16问题</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40</a:t>
            </a:r>
            <a:endParaRPr lang="en-US" sz="900" dirty="0"/>
          </a:p>
        </p:txBody>
      </p:sp>
      <p:sp>
        <p:nvSpPr>
          <p:cNvPr id="7" name="Shape 5"/>
          <p:cNvSpPr/>
          <p:nvPr/>
        </p:nvSpPr>
        <p:spPr>
          <a:xfrm>
            <a:off x="457200" y="932688"/>
            <a:ext cx="8366760" cy="868680"/>
          </a:xfrm>
          <a:prstGeom prst="rect">
            <a:avLst/>
          </a:prstGeom>
          <a:solidFill>
            <a:srgbClr val="EEF2F8"/>
          </a:solidFill>
          <a:ln w="12700">
            <a:solidFill>
              <a:srgbClr val="EEF2F8"/>
            </a:solidFill>
            <a:prstDash val="solid"/>
          </a:ln>
        </p:spPr>
      </p:sp>
      <p:sp>
        <p:nvSpPr>
          <p:cNvPr id="8" name="Shape 6"/>
          <p:cNvSpPr/>
          <p:nvPr/>
        </p:nvSpPr>
        <p:spPr>
          <a:xfrm>
            <a:off x="457200" y="932688"/>
            <a:ext cx="1600200" cy="868680"/>
          </a:xfrm>
          <a:prstGeom prst="rect">
            <a:avLst/>
          </a:prstGeom>
          <a:solidFill>
            <a:srgbClr val="1F3F7A"/>
          </a:solidFill>
          <a:ln w="12700">
            <a:solidFill>
              <a:srgbClr val="1F3F7A"/>
            </a:solidFill>
            <a:prstDash val="solid"/>
          </a:ln>
        </p:spPr>
      </p:sp>
      <p:sp>
        <p:nvSpPr>
          <p:cNvPr id="9" name="Text 7"/>
          <p:cNvSpPr txBox="1"/>
          <p:nvPr/>
        </p:nvSpPr>
        <p:spPr>
          <a:xfrm>
            <a:off x="502920" y="93268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宏观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整体空间统筹规划</a:t>
            </a:r>
            <a:endParaRPr lang="en-US" sz="850" dirty="0"/>
          </a:p>
        </p:txBody>
      </p:sp>
      <p:sp>
        <p:nvSpPr>
          <p:cNvPr id="10" name="Text 8"/>
          <p:cNvSpPr txBox="1"/>
          <p:nvPr/>
        </p:nvSpPr>
        <p:spPr>
          <a:xfrm>
            <a:off x="2194560" y="1024128"/>
            <a:ext cx="2148840"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结合周边人群需求划分功能板块</a:t>
            </a:r>
            <a:endParaRPr lang="en-US" sz="900" dirty="0"/>
          </a:p>
        </p:txBody>
      </p:sp>
      <p:sp>
        <p:nvSpPr>
          <p:cNvPr id="11" name="Text 9"/>
          <p:cNvSpPr txBox="1"/>
          <p:nvPr/>
        </p:nvSpPr>
        <p:spPr>
          <a:xfrm>
            <a:off x="2176272" y="129844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运动健身区 / 生态休闲区 / 亲子活动区</a:t>
            </a:r>
            <a:endParaRPr lang="en-US" sz="800" dirty="0"/>
          </a:p>
        </p:txBody>
      </p:sp>
      <p:sp>
        <p:nvSpPr>
          <p:cNvPr id="12" name="Text 10"/>
          <p:cNvSpPr txBox="1"/>
          <p:nvPr/>
        </p:nvSpPr>
        <p:spPr>
          <a:xfrm>
            <a:off x="4434840" y="1024128"/>
            <a:ext cx="2148840"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统筹布置公园主次出入口</a:t>
            </a:r>
            <a:endParaRPr lang="en-US" sz="900" dirty="0"/>
          </a:p>
        </p:txBody>
      </p:sp>
      <p:sp>
        <p:nvSpPr>
          <p:cNvPr id="13" name="Text 11"/>
          <p:cNvSpPr txBox="1"/>
          <p:nvPr/>
        </p:nvSpPr>
        <p:spPr>
          <a:xfrm>
            <a:off x="4416552" y="129844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四向人行入口对应小区与学校</a:t>
            </a:r>
            <a:endParaRPr lang="en-US" sz="800" dirty="0"/>
          </a:p>
        </p:txBody>
      </p:sp>
      <p:sp>
        <p:nvSpPr>
          <p:cNvPr id="14" name="Text 12"/>
          <p:cNvSpPr txBox="1"/>
          <p:nvPr/>
        </p:nvSpPr>
        <p:spPr>
          <a:xfrm>
            <a:off x="6675120" y="1024128"/>
            <a:ext cx="2148840" cy="274320"/>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组织场地交通流线</a:t>
            </a:r>
            <a:endParaRPr lang="en-US" sz="900" dirty="0"/>
          </a:p>
        </p:txBody>
      </p:sp>
      <p:sp>
        <p:nvSpPr>
          <p:cNvPr id="15" name="Text 13"/>
          <p:cNvSpPr txBox="1"/>
          <p:nvPr/>
        </p:nvSpPr>
        <p:spPr>
          <a:xfrm>
            <a:off x="6656832" y="129844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人车分流 / 慢行运动步道 / 优化游览运动路线</a:t>
            </a:r>
            <a:endParaRPr lang="en-US" sz="800" dirty="0"/>
          </a:p>
        </p:txBody>
      </p:sp>
      <p:sp>
        <p:nvSpPr>
          <p:cNvPr id="16" name="Shape 14"/>
          <p:cNvSpPr/>
          <p:nvPr/>
        </p:nvSpPr>
        <p:spPr>
          <a:xfrm>
            <a:off x="457200" y="1892808"/>
            <a:ext cx="8366760" cy="868680"/>
          </a:xfrm>
          <a:prstGeom prst="rect">
            <a:avLst/>
          </a:prstGeom>
          <a:solidFill>
            <a:srgbClr val="F6F7FA"/>
          </a:solidFill>
          <a:ln w="12700">
            <a:solidFill>
              <a:srgbClr val="F6F7FA"/>
            </a:solidFill>
            <a:prstDash val="solid"/>
          </a:ln>
        </p:spPr>
      </p:sp>
      <p:sp>
        <p:nvSpPr>
          <p:cNvPr id="17" name="Shape 15"/>
          <p:cNvSpPr/>
          <p:nvPr/>
        </p:nvSpPr>
        <p:spPr>
          <a:xfrm>
            <a:off x="457200" y="1892808"/>
            <a:ext cx="1600200" cy="868680"/>
          </a:xfrm>
          <a:prstGeom prst="rect">
            <a:avLst/>
          </a:prstGeom>
          <a:solidFill>
            <a:srgbClr val="E07B2A"/>
          </a:solidFill>
          <a:ln w="12700">
            <a:solidFill>
              <a:srgbClr val="E07B2A"/>
            </a:solidFill>
            <a:prstDash val="solid"/>
          </a:ln>
        </p:spPr>
      </p:sp>
      <p:sp>
        <p:nvSpPr>
          <p:cNvPr id="18" name="Text 16"/>
          <p:cNvSpPr txBox="1"/>
          <p:nvPr/>
        </p:nvSpPr>
        <p:spPr>
          <a:xfrm>
            <a:off x="502920" y="189280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中观</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全龄友好分区活力营造</a:t>
            </a:r>
            <a:endParaRPr lang="en-US" sz="850" dirty="0"/>
          </a:p>
        </p:txBody>
      </p:sp>
      <p:sp>
        <p:nvSpPr>
          <p:cNvPr id="19" name="Text 17"/>
          <p:cNvSpPr txBox="1"/>
          <p:nvPr/>
        </p:nvSpPr>
        <p:spPr>
          <a:xfrm>
            <a:off x="2194560" y="1984248"/>
            <a:ext cx="2148840"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匹配各年龄段活动诉求</a:t>
            </a:r>
            <a:endParaRPr lang="en-US" sz="900" dirty="0"/>
          </a:p>
        </p:txBody>
      </p:sp>
      <p:sp>
        <p:nvSpPr>
          <p:cNvPr id="20" name="Text 18"/>
          <p:cNvSpPr txBox="1"/>
          <p:nvPr/>
        </p:nvSpPr>
        <p:spPr>
          <a:xfrm>
            <a:off x="2176272" y="225856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老年康养 / 儿童亲子 / 青年运动 / 大众休闲社交空间</a:t>
            </a:r>
            <a:endParaRPr lang="en-US" sz="800" dirty="0"/>
          </a:p>
        </p:txBody>
      </p:sp>
      <p:sp>
        <p:nvSpPr>
          <p:cNvPr id="21" name="Text 19"/>
          <p:cNvSpPr txBox="1"/>
          <p:nvPr/>
        </p:nvSpPr>
        <p:spPr>
          <a:xfrm>
            <a:off x="4434840" y="1984248"/>
            <a:ext cx="2148840"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打造多元全民健身场景</a:t>
            </a:r>
            <a:endParaRPr lang="en-US" sz="900" dirty="0"/>
          </a:p>
        </p:txBody>
      </p:sp>
      <p:sp>
        <p:nvSpPr>
          <p:cNvPr id="22" name="Text 20"/>
          <p:cNvSpPr txBox="1"/>
          <p:nvPr/>
        </p:nvSpPr>
        <p:spPr>
          <a:xfrm>
            <a:off x="4416552" y="225856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分龄场地与动静分区</a:t>
            </a:r>
            <a:endParaRPr lang="en-US" sz="800" dirty="0"/>
          </a:p>
        </p:txBody>
      </p:sp>
      <p:sp>
        <p:nvSpPr>
          <p:cNvPr id="23" name="Text 21"/>
          <p:cNvSpPr txBox="1"/>
          <p:nvPr/>
        </p:nvSpPr>
        <p:spPr>
          <a:xfrm>
            <a:off x="6675120" y="1984248"/>
            <a:ext cx="2148840" cy="274320"/>
          </a:xfrm>
          <a:prstGeom prst="rect">
            <a:avLst/>
          </a:prstGeom>
          <a:noFill/>
          <a:ln/>
        </p:spPr>
        <p:txBody>
          <a:bodyPr wrap="square" lIns="0" tIns="0" rIns="0" bIns="0" rtlCol="0" anchor="ctr"/>
          <a:lstStyle/>
          <a:p>
            <a:pPr indent="0" marL="0">
              <a:buNone/>
            </a:pPr>
            <a:r>
              <a:rPr lang="en-US" sz="900" b="1" dirty="0">
                <a:solidFill>
                  <a:srgbClr val="E07B2A"/>
                </a:solidFill>
                <a:latin typeface="Microsoft YaHei" pitchFamily="34" charset="0"/>
                <a:ea typeface="Microsoft YaHei" pitchFamily="34" charset="-122"/>
                <a:cs typeface="Microsoft YaHei" pitchFamily="34" charset="-120"/>
              </a:rPr>
              <a:t>激活各片区场地活力</a:t>
            </a:r>
            <a:endParaRPr lang="en-US" sz="900" dirty="0"/>
          </a:p>
        </p:txBody>
      </p:sp>
      <p:sp>
        <p:nvSpPr>
          <p:cNvPr id="24" name="Text 22"/>
          <p:cNvSpPr txBox="1"/>
          <p:nvPr/>
        </p:nvSpPr>
        <p:spPr>
          <a:xfrm>
            <a:off x="6656832" y="225856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环形健康步道串联组团</a:t>
            </a:r>
            <a:endParaRPr lang="en-US" sz="800" dirty="0"/>
          </a:p>
        </p:txBody>
      </p:sp>
      <p:sp>
        <p:nvSpPr>
          <p:cNvPr id="25" name="Shape 23"/>
          <p:cNvSpPr/>
          <p:nvPr/>
        </p:nvSpPr>
        <p:spPr>
          <a:xfrm>
            <a:off x="457200" y="2852928"/>
            <a:ext cx="8366760" cy="868680"/>
          </a:xfrm>
          <a:prstGeom prst="rect">
            <a:avLst/>
          </a:prstGeom>
          <a:solidFill>
            <a:srgbClr val="EEF2F8"/>
          </a:solidFill>
          <a:ln w="12700">
            <a:solidFill>
              <a:srgbClr val="EEF2F8"/>
            </a:solidFill>
            <a:prstDash val="solid"/>
          </a:ln>
        </p:spPr>
      </p:sp>
      <p:sp>
        <p:nvSpPr>
          <p:cNvPr id="26" name="Shape 24"/>
          <p:cNvSpPr/>
          <p:nvPr/>
        </p:nvSpPr>
        <p:spPr>
          <a:xfrm>
            <a:off x="457200" y="2852928"/>
            <a:ext cx="1600200" cy="868680"/>
          </a:xfrm>
          <a:prstGeom prst="rect">
            <a:avLst/>
          </a:prstGeom>
          <a:solidFill>
            <a:srgbClr val="4E8A3E"/>
          </a:solidFill>
          <a:ln w="12700">
            <a:solidFill>
              <a:srgbClr val="4E8A3E"/>
            </a:solidFill>
            <a:prstDash val="solid"/>
          </a:ln>
        </p:spPr>
      </p:sp>
      <p:sp>
        <p:nvSpPr>
          <p:cNvPr id="27" name="Text 25"/>
          <p:cNvSpPr txBox="1"/>
          <p:nvPr/>
        </p:nvSpPr>
        <p:spPr>
          <a:xfrm>
            <a:off x="502920" y="285292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微观·核心</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运动专项景观设施提升</a:t>
            </a:r>
            <a:endParaRPr lang="en-US" sz="850" dirty="0"/>
          </a:p>
        </p:txBody>
      </p:sp>
      <p:sp>
        <p:nvSpPr>
          <p:cNvPr id="28" name="Text 26"/>
          <p:cNvSpPr txBox="1"/>
          <p:nvPr/>
        </p:nvSpPr>
        <p:spPr>
          <a:xfrm>
            <a:off x="2194560" y="2944368"/>
            <a:ext cx="2148840"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体育运动场地配置</a:t>
            </a:r>
            <a:endParaRPr lang="en-US" sz="900" dirty="0"/>
          </a:p>
        </p:txBody>
      </p:sp>
      <p:sp>
        <p:nvSpPr>
          <p:cNvPr id="29" name="Text 27"/>
          <p:cNvSpPr txBox="1"/>
          <p:nvPr/>
        </p:nvSpPr>
        <p:spPr>
          <a:xfrm>
            <a:off x="2176272" y="321868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球类运动场地 / 健身器械点位 / 健身慢跑步道</a:t>
            </a:r>
            <a:endParaRPr lang="en-US" sz="800" dirty="0"/>
          </a:p>
        </p:txBody>
      </p:sp>
      <p:sp>
        <p:nvSpPr>
          <p:cNvPr id="30" name="Text 28"/>
          <p:cNvSpPr txBox="1"/>
          <p:nvPr/>
        </p:nvSpPr>
        <p:spPr>
          <a:xfrm>
            <a:off x="4434840" y="2944368"/>
            <a:ext cx="2148840"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运动配套休憩设施</a:t>
            </a:r>
            <a:endParaRPr lang="en-US" sz="900" dirty="0"/>
          </a:p>
        </p:txBody>
      </p:sp>
      <p:sp>
        <p:nvSpPr>
          <p:cNvPr id="31" name="Text 29"/>
          <p:cNvSpPr txBox="1"/>
          <p:nvPr/>
        </p:nvSpPr>
        <p:spPr>
          <a:xfrm>
            <a:off x="4416552" y="321868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运动休息节点 / 标识导览系统 / 基础便民服务设施</a:t>
            </a:r>
            <a:endParaRPr lang="en-US" sz="800" dirty="0"/>
          </a:p>
        </p:txBody>
      </p:sp>
      <p:sp>
        <p:nvSpPr>
          <p:cNvPr id="32" name="Text 30"/>
          <p:cNvSpPr txBox="1"/>
          <p:nvPr/>
        </p:nvSpPr>
        <p:spPr>
          <a:xfrm>
            <a:off x="6675120" y="2944368"/>
            <a:ext cx="2148840" cy="274320"/>
          </a:xfrm>
          <a:prstGeom prst="rect">
            <a:avLst/>
          </a:prstGeom>
          <a:noFill/>
          <a:ln/>
        </p:spPr>
        <p:txBody>
          <a:bodyPr wrap="square" lIns="0" tIns="0" rIns="0" bIns="0" rtlCol="0" anchor="ctr"/>
          <a:lstStyle/>
          <a:p>
            <a:pPr indent="0" marL="0">
              <a:buNone/>
            </a:pPr>
            <a:r>
              <a:rPr lang="en-US" sz="900" b="1" dirty="0">
                <a:solidFill>
                  <a:srgbClr val="4E8A3E"/>
                </a:solidFill>
                <a:latin typeface="Microsoft YaHei" pitchFamily="34" charset="0"/>
                <a:ea typeface="Microsoft YaHei" pitchFamily="34" charset="-122"/>
                <a:cs typeface="Microsoft YaHei" pitchFamily="34" charset="-120"/>
              </a:rPr>
              <a:t>文化植入</a:t>
            </a:r>
            <a:endParaRPr lang="en-US" sz="900" dirty="0"/>
          </a:p>
        </p:txBody>
      </p:sp>
      <p:sp>
        <p:nvSpPr>
          <p:cNvPr id="33" name="Text 31"/>
          <p:cNvSpPr txBox="1"/>
          <p:nvPr/>
        </p:nvSpPr>
        <p:spPr>
          <a:xfrm>
            <a:off x="6656832" y="321868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黑龙滩水利记忆铺装 / 陵州文脉标识小品</a:t>
            </a:r>
            <a:endParaRPr lang="en-US" sz="800" dirty="0"/>
          </a:p>
        </p:txBody>
      </p:sp>
      <p:sp>
        <p:nvSpPr>
          <p:cNvPr id="34" name="Shape 32"/>
          <p:cNvSpPr/>
          <p:nvPr/>
        </p:nvSpPr>
        <p:spPr>
          <a:xfrm>
            <a:off x="457200" y="3813048"/>
            <a:ext cx="8366760" cy="868680"/>
          </a:xfrm>
          <a:prstGeom prst="rect">
            <a:avLst/>
          </a:prstGeom>
          <a:solidFill>
            <a:srgbClr val="F6F7FA"/>
          </a:solidFill>
          <a:ln w="12700">
            <a:solidFill>
              <a:srgbClr val="F6F7FA"/>
            </a:solidFill>
            <a:prstDash val="solid"/>
          </a:ln>
        </p:spPr>
      </p:sp>
      <p:sp>
        <p:nvSpPr>
          <p:cNvPr id="35" name="Shape 33"/>
          <p:cNvSpPr/>
          <p:nvPr/>
        </p:nvSpPr>
        <p:spPr>
          <a:xfrm>
            <a:off x="457200" y="3813048"/>
            <a:ext cx="1600200" cy="868680"/>
          </a:xfrm>
          <a:prstGeom prst="rect">
            <a:avLst/>
          </a:prstGeom>
          <a:solidFill>
            <a:srgbClr val="5B7DB1"/>
          </a:solidFill>
          <a:ln w="12700">
            <a:solidFill>
              <a:srgbClr val="5B7DB1"/>
            </a:solidFill>
            <a:prstDash val="solid"/>
          </a:ln>
        </p:spPr>
      </p:sp>
      <p:sp>
        <p:nvSpPr>
          <p:cNvPr id="36" name="Text 34"/>
          <p:cNvSpPr txBox="1"/>
          <p:nvPr/>
        </p:nvSpPr>
        <p:spPr>
          <a:xfrm>
            <a:off x="502920" y="3813048"/>
            <a:ext cx="1508760" cy="868680"/>
          </a:xfrm>
          <a:prstGeom prst="rect">
            <a:avLst/>
          </a:prstGeom>
          <a:noFill/>
          <a:ln/>
        </p:spPr>
        <p:txBody>
          <a:bodyPr wrap="square" lIns="0" tIns="0" rIns="0" bIns="0" rtlCol="0" anchor="ctr"/>
          <a:lstStyle/>
          <a:p>
            <a:pPr algn="ctr" indent="0" marL="0">
              <a:buNone/>
            </a:pPr>
            <a:r>
              <a:rPr lang="en-US" sz="850" dirty="0">
                <a:solidFill>
                  <a:srgbClr val="FFFFFF"/>
                </a:solidFill>
                <a:latin typeface="Microsoft YaHei" pitchFamily="34" charset="0"/>
                <a:ea typeface="Microsoft YaHei" pitchFamily="34" charset="-122"/>
                <a:cs typeface="Microsoft YaHei" pitchFamily="34" charset="-120"/>
              </a:rPr>
              <a:t>次要后置</a:t>
            </a:r>
            <a:endParaRPr lang="en-US" sz="850" dirty="0"/>
          </a:p>
          <a:p>
            <a:pPr algn="ctr" indent="0" marL="0">
              <a:buNone/>
            </a:pPr>
            <a:r>
              <a:rPr lang="en-US" sz="1050" b="1" dirty="0">
                <a:solidFill>
                  <a:srgbClr val="FFFFFF"/>
                </a:solidFill>
                <a:latin typeface="Microsoft YaHei" pitchFamily="34" charset="0"/>
                <a:ea typeface="Microsoft YaHei" pitchFamily="34" charset="-122"/>
                <a:cs typeface="Microsoft YaHei" pitchFamily="34" charset="-120"/>
              </a:rPr>
              <a:t>场地生态基底优化</a:t>
            </a:r>
            <a:endParaRPr lang="en-US" sz="850" dirty="0"/>
          </a:p>
        </p:txBody>
      </p:sp>
      <p:sp>
        <p:nvSpPr>
          <p:cNvPr id="37" name="Text 35"/>
          <p:cNvSpPr txBox="1"/>
          <p:nvPr/>
        </p:nvSpPr>
        <p:spPr>
          <a:xfrm>
            <a:off x="2194560" y="3904488"/>
            <a:ext cx="2148840"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保留场地原生林地植被</a:t>
            </a:r>
            <a:endParaRPr lang="en-US" sz="900" dirty="0"/>
          </a:p>
        </p:txBody>
      </p:sp>
      <p:sp>
        <p:nvSpPr>
          <p:cNvPr id="38" name="Text 36"/>
          <p:cNvSpPr txBox="1"/>
          <p:nvPr/>
        </p:nvSpPr>
        <p:spPr>
          <a:xfrm>
            <a:off x="2176272" y="417880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北侧多层乔灌降噪防护林带</a:t>
            </a:r>
            <a:endParaRPr lang="en-US" sz="800" dirty="0"/>
          </a:p>
        </p:txBody>
      </p:sp>
      <p:sp>
        <p:nvSpPr>
          <p:cNvPr id="39" name="Text 37"/>
          <p:cNvSpPr txBox="1"/>
          <p:nvPr/>
        </p:nvSpPr>
        <p:spPr>
          <a:xfrm>
            <a:off x="4434840" y="3904488"/>
            <a:ext cx="2148840"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修复场地裸土地块环境</a:t>
            </a:r>
            <a:endParaRPr lang="en-US" sz="900" dirty="0"/>
          </a:p>
        </p:txBody>
      </p:sp>
      <p:sp>
        <p:nvSpPr>
          <p:cNvPr id="40" name="Text 38"/>
          <p:cNvSpPr txBox="1"/>
          <p:nvPr/>
        </p:nvSpPr>
        <p:spPr>
          <a:xfrm>
            <a:off x="4416552" y="417880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乡土植物构建复层群落</a:t>
            </a:r>
            <a:endParaRPr lang="en-US" sz="800" dirty="0"/>
          </a:p>
        </p:txBody>
      </p:sp>
      <p:sp>
        <p:nvSpPr>
          <p:cNvPr id="41" name="Text 39"/>
          <p:cNvSpPr txBox="1"/>
          <p:nvPr/>
        </p:nvSpPr>
        <p:spPr>
          <a:xfrm>
            <a:off x="6675120" y="3904488"/>
            <a:ext cx="2148840" cy="274320"/>
          </a:xfrm>
          <a:prstGeom prst="rect">
            <a:avLst/>
          </a:prstGeom>
          <a:noFill/>
          <a:ln/>
        </p:spPr>
        <p:txBody>
          <a:bodyPr wrap="square" lIns="0" tIns="0" rIns="0" bIns="0" rtlCol="0" anchor="ctr"/>
          <a:lstStyle/>
          <a:p>
            <a:pPr indent="0" marL="0">
              <a:buNone/>
            </a:pPr>
            <a:r>
              <a:rPr lang="en-US" sz="900" b="1" dirty="0">
                <a:solidFill>
                  <a:srgbClr val="5B7DB1"/>
                </a:solidFill>
                <a:latin typeface="Microsoft YaHei" pitchFamily="34" charset="0"/>
                <a:ea typeface="Microsoft YaHei" pitchFamily="34" charset="-122"/>
                <a:cs typeface="Microsoft YaHei" pitchFamily="34" charset="-120"/>
              </a:rPr>
              <a:t>海绵雨水场地处理</a:t>
            </a:r>
            <a:endParaRPr lang="en-US" sz="900" dirty="0"/>
          </a:p>
        </p:txBody>
      </p:sp>
      <p:sp>
        <p:nvSpPr>
          <p:cNvPr id="42" name="Text 40"/>
          <p:cNvSpPr txBox="1"/>
          <p:nvPr/>
        </p:nvSpPr>
        <p:spPr>
          <a:xfrm>
            <a:off x="6656832" y="4178808"/>
            <a:ext cx="2194560" cy="457200"/>
          </a:xfrm>
          <a:prstGeom prst="rect">
            <a:avLst/>
          </a:prstGeom>
          <a:noFill/>
          <a:ln/>
        </p:spPr>
        <p:txBody>
          <a:bodyPr wrap="square" lIns="25400" tIns="25400" rIns="25400" bIns="25400" rtlCol="0" anchor="t"/>
          <a:lstStyle/>
          <a:p>
            <a:pPr indent="0" marL="0">
              <a:lnSpc>
                <a:spcPct val="115000"/>
              </a:lnSpc>
              <a:buNone/>
            </a:pPr>
            <a:r>
              <a:rPr lang="en-US" sz="800" dirty="0">
                <a:solidFill>
                  <a:srgbClr val="444444"/>
                </a:solidFill>
                <a:latin typeface="Microsoft YaHei" pitchFamily="34" charset="0"/>
                <a:ea typeface="Microsoft YaHei" pitchFamily="34" charset="-122"/>
                <a:cs typeface="Microsoft YaHei" pitchFamily="34" charset="-120"/>
              </a:rPr>
              <a:t>透水铺装 + 植草沟 + 线性雨水花园</a:t>
            </a:r>
            <a:endParaRPr lang="en-US" sz="800" dirty="0"/>
          </a:p>
        </p:txBody>
      </p:sp>
      <p:sp>
        <p:nvSpPr>
          <p:cNvPr id="43" name="Text 41"/>
          <p:cNvSpPr txBox="1"/>
          <p:nvPr/>
        </p:nvSpPr>
        <p:spPr>
          <a:xfrm>
            <a:off x="457200" y="4800600"/>
            <a:ext cx="7315200" cy="201168"/>
          </a:xfrm>
          <a:prstGeom prst="rect">
            <a:avLst/>
          </a:prstGeom>
          <a:noFill/>
          <a:ln/>
        </p:spPr>
        <p:txBody>
          <a:bodyPr wrap="square" lIns="25400" tIns="25400" rIns="25400" bIns="25400" rtlCol="0" anchor="t"/>
          <a:lstStyle/>
          <a:p>
            <a:pPr indent="0" marL="0">
              <a:lnSpc>
                <a:spcPct val="115000"/>
              </a:lnSpc>
              <a:buNone/>
            </a:pPr>
            <a:r>
              <a:rPr lang="en-US" sz="700" dirty="0">
                <a:solidFill>
                  <a:srgbClr val="777777"/>
                </a:solidFill>
                <a:latin typeface="Microsoft YaHei" pitchFamily="34" charset="0"/>
                <a:ea typeface="Microsoft YaHei" pitchFamily="34" charset="-122"/>
                <a:cs typeface="Microsoft YaHei" pitchFamily="34" charset="-120"/>
              </a:rPr>
              <a:t>策略框架来源：开题报告4.9设计策略图（宏观—中观—微观—后置四层级）。</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Design Deliverables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3.5 设计成果</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41</a:t>
            </a:r>
            <a:endParaRPr lang="en-US" sz="9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5669280" cy="914400"/>
        </p:xfrm>
        <a:graphic>
          <a:graphicData uri="http://schemas.openxmlformats.org/drawingml/2006/table">
            <a:tbl>
              <a:tblPr/>
              <a:tblGrid>
                <a:gridCol w="1005840"/>
                <a:gridCol w="4663440"/>
              </a:tblGrid>
              <a:tr h="457200">
                <a:tc>
                  <a:txBody>
                    <a:bodyPr/>
                    <a:lstStyle/>
                    <a:p>
                      <a:pPr algn="ctr" indent="0" marL="0">
                        <a:buNone/>
                      </a:pPr>
                      <a:r>
                        <a:rPr lang="en-US" sz="900" b="1" dirty="0">
                          <a:solidFill>
                            <a:srgbClr val="FFFFFF"/>
                          </a:solidFill>
                          <a:latin typeface="Microsoft YaHei" pitchFamily="34" charset="0"/>
                          <a:ea typeface="Microsoft YaHei" pitchFamily="34" charset="-122"/>
                          <a:cs typeface="Microsoft YaHei" pitchFamily="34" charset="-120"/>
                        </a:rPr>
                        <a:t>类别</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c>
                  <a:txBody>
                    <a:bodyPr/>
                    <a:lstStyle/>
                    <a:p>
                      <a:pPr algn="l" indent="0" marL="0">
                        <a:buNone/>
                      </a:pPr>
                      <a:r>
                        <a:rPr lang="en-US" sz="900" b="1" dirty="0">
                          <a:solidFill>
                            <a:srgbClr val="FFFFFF"/>
                          </a:solidFill>
                          <a:latin typeface="Microsoft YaHei" pitchFamily="34" charset="0"/>
                          <a:ea typeface="Microsoft YaHei" pitchFamily="34" charset="-122"/>
                          <a:cs typeface="Microsoft YaHei" pitchFamily="34" charset="-120"/>
                        </a:rPr>
                        <a:t>主要内容</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F7A"/>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现状分析</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区位分析、自然条件（地形、气候）、社会条件（城市风貌、历史文化、道路、交通、用地、使用者构成及行为）</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设计分析</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场地道路分析、视线分析、建筑分析、入口分析、人流分析、景观序列</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设计图纸</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总平面图（景点、建筑、植物、交通布局，图名图例比例风玫瑰）、节点详图（平面、立面、细节）、植物配置图（树林、树丛、孤植、草坪、花境、植物列表）</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效果图</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场地鸟瞰图、节点效果图</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专项设计</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建筑外立面、照明设计、平面图、立面图、效果图</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8"/>
                    </a:solidFill>
                  </a:tcPr>
                </a:tc>
              </a:tr>
              <a:tr h="457200">
                <a:tc>
                  <a:txBody>
                    <a:bodyPr/>
                    <a:lstStyle/>
                    <a:p>
                      <a:pPr algn="ctr" indent="0" marL="0">
                        <a:buNone/>
                      </a:pPr>
                      <a:r>
                        <a:rPr lang="en-US" sz="900" b="1" dirty="0">
                          <a:solidFill>
                            <a:srgbClr val="444444"/>
                          </a:solidFill>
                          <a:latin typeface="Microsoft YaHei" pitchFamily="34" charset="0"/>
                          <a:ea typeface="Microsoft YaHei" pitchFamily="34" charset="-122"/>
                          <a:cs typeface="Microsoft YaHei" pitchFamily="34" charset="-120"/>
                        </a:rPr>
                        <a:t>文本</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c>
                  <a:txBody>
                    <a:bodyPr/>
                    <a:lstStyle/>
                    <a:p>
                      <a:pPr algn="l" indent="0" marL="0">
                        <a:buNone/>
                      </a:pPr>
                      <a:r>
                        <a:rPr lang="en-US" sz="900" dirty="0">
                          <a:solidFill>
                            <a:srgbClr val="444444"/>
                          </a:solidFill>
                          <a:latin typeface="Microsoft YaHei" pitchFamily="34" charset="0"/>
                          <a:ea typeface="Microsoft YaHei" pitchFamily="34" charset="-122"/>
                          <a:cs typeface="Microsoft YaHei" pitchFamily="34" charset="-120"/>
                        </a:rPr>
                        <a:t>设计目的、设计依据与相关政策、设计思想与原则、现状分析、设计分析、设计说明</a:t>
                      </a:r>
                      <a:endParaRPr lang="en-US" sz="900" dirty="0">
                        <a:latin typeface="Microsoft YaHei" charset="0"/>
                        <a:ea typeface="Microsoft YaHei" charset="0"/>
                        <a:cs typeface="Microsoft YaHei"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7FA"/>
                    </a:solidFill>
                  </a:tcPr>
                </a:tc>
              </a:tr>
            </a:tbl>
          </a:graphicData>
        </a:graphic>
      </p:graphicFrame>
      <p:pic>
        <p:nvPicPr>
          <p:cNvPr id="8" name="Image 0" descr="/home/user/lxfs/pptx_build/figs/ms_1.jpg">    </p:cNvPr>
          <p:cNvPicPr>
            <a:picLocks noChangeAspect="1"/>
          </p:cNvPicPr>
          <p:nvPr/>
        </p:nvPicPr>
        <p:blipFill>
          <a:blip r:embed="rId1"/>
          <a:stretch>
            <a:fillRect/>
          </a:stretch>
        </p:blipFill>
        <p:spPr>
          <a:xfrm>
            <a:off x="6355080" y="932688"/>
            <a:ext cx="2468880" cy="1386631"/>
          </a:xfrm>
          <a:prstGeom prst="rect">
            <a:avLst/>
          </a:prstGeom>
        </p:spPr>
      </p:pic>
      <p:sp>
        <p:nvSpPr>
          <p:cNvPr id="9" name="Text 5"/>
          <p:cNvSpPr txBox="1"/>
          <p:nvPr/>
        </p:nvSpPr>
        <p:spPr>
          <a:xfrm>
            <a:off x="6355080" y="2337607"/>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节点效果图参考</a:t>
            </a:r>
            <a:endParaRPr lang="en-US" sz="800" dirty="0"/>
          </a:p>
        </p:txBody>
      </p:sp>
      <p:pic>
        <p:nvPicPr>
          <p:cNvPr id="10" name="Image 1" descr="/home/user/lxfs/pptx_build/figs/tf_5.jpg">    </p:cNvPr>
          <p:cNvPicPr>
            <a:picLocks noChangeAspect="1"/>
          </p:cNvPicPr>
          <p:nvPr/>
        </p:nvPicPr>
        <p:blipFill>
          <a:blip r:embed="rId2"/>
          <a:stretch>
            <a:fillRect/>
          </a:stretch>
        </p:blipFill>
        <p:spPr>
          <a:xfrm>
            <a:off x="6601349" y="2560320"/>
            <a:ext cx="1976343" cy="1417320"/>
          </a:xfrm>
          <a:prstGeom prst="rect">
            <a:avLst/>
          </a:prstGeom>
        </p:spPr>
      </p:pic>
      <p:sp>
        <p:nvSpPr>
          <p:cNvPr id="11" name="Text 6"/>
          <p:cNvSpPr txBox="1"/>
          <p:nvPr/>
        </p:nvSpPr>
        <p:spPr>
          <a:xfrm>
            <a:off x="6355080" y="3995928"/>
            <a:ext cx="2468880" cy="201168"/>
          </a:xfrm>
          <a:prstGeom prst="rect">
            <a:avLst/>
          </a:prstGeom>
          <a:noFill/>
          <a:ln/>
        </p:spPr>
        <p:txBody>
          <a:bodyPr wrap="square" lIns="0" tIns="0" rIns="0" bIns="0" rtlCol="0" anchor="ctr"/>
          <a:lstStyle/>
          <a:p>
            <a:pPr algn="ctr" indent="0" marL="0">
              <a:buNone/>
            </a:pPr>
            <a:r>
              <a:rPr lang="en-US" sz="800" dirty="0">
                <a:solidFill>
                  <a:srgbClr val="777777"/>
                </a:solidFill>
                <a:latin typeface="Microsoft YaHei" pitchFamily="34" charset="0"/>
                <a:ea typeface="Microsoft YaHei" pitchFamily="34" charset="-122"/>
                <a:cs typeface="Microsoft YaHei" pitchFamily="34" charset="-120"/>
              </a:rPr>
              <a:t>场地鸟瞰图参考</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Schedule</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3.6 进度安排</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42</a:t>
            </a:r>
            <a:endParaRPr lang="en-US" sz="900" dirty="0"/>
          </a:p>
        </p:txBody>
      </p:sp>
      <p:sp>
        <p:nvSpPr>
          <p:cNvPr id="7" name="Shape 5"/>
          <p:cNvSpPr/>
          <p:nvPr/>
        </p:nvSpPr>
        <p:spPr>
          <a:xfrm>
            <a:off x="3931920" y="932688"/>
            <a:ext cx="584073" cy="274320"/>
          </a:xfrm>
          <a:prstGeom prst="rect">
            <a:avLst/>
          </a:prstGeom>
          <a:solidFill>
            <a:srgbClr val="F6F7FA"/>
          </a:solidFill>
          <a:ln w="12700">
            <a:solidFill>
              <a:srgbClr val="F6F7FA"/>
            </a:solidFill>
            <a:prstDash val="solid"/>
          </a:ln>
        </p:spPr>
      </p:sp>
      <p:sp>
        <p:nvSpPr>
          <p:cNvPr id="8" name="Text 6"/>
          <p:cNvSpPr txBox="1"/>
          <p:nvPr/>
        </p:nvSpPr>
        <p:spPr>
          <a:xfrm>
            <a:off x="393192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9月</a:t>
            </a:r>
            <a:endParaRPr lang="en-US" sz="800" dirty="0"/>
          </a:p>
        </p:txBody>
      </p:sp>
      <p:sp>
        <p:nvSpPr>
          <p:cNvPr id="9" name="Shape 7"/>
          <p:cNvSpPr/>
          <p:nvPr/>
        </p:nvSpPr>
        <p:spPr>
          <a:xfrm>
            <a:off x="4543425" y="932688"/>
            <a:ext cx="584073" cy="274320"/>
          </a:xfrm>
          <a:prstGeom prst="rect">
            <a:avLst/>
          </a:prstGeom>
          <a:solidFill>
            <a:srgbClr val="EEF2F8"/>
          </a:solidFill>
          <a:ln w="12700">
            <a:solidFill>
              <a:srgbClr val="EEF2F8"/>
            </a:solidFill>
            <a:prstDash val="solid"/>
          </a:ln>
        </p:spPr>
      </p:sp>
      <p:sp>
        <p:nvSpPr>
          <p:cNvPr id="10" name="Text 8"/>
          <p:cNvSpPr txBox="1"/>
          <p:nvPr/>
        </p:nvSpPr>
        <p:spPr>
          <a:xfrm>
            <a:off x="454342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10月</a:t>
            </a:r>
            <a:endParaRPr lang="en-US" sz="800" dirty="0"/>
          </a:p>
        </p:txBody>
      </p:sp>
      <p:sp>
        <p:nvSpPr>
          <p:cNvPr id="11" name="Shape 9"/>
          <p:cNvSpPr/>
          <p:nvPr/>
        </p:nvSpPr>
        <p:spPr>
          <a:xfrm>
            <a:off x="5154930" y="932688"/>
            <a:ext cx="584073" cy="274320"/>
          </a:xfrm>
          <a:prstGeom prst="rect">
            <a:avLst/>
          </a:prstGeom>
          <a:solidFill>
            <a:srgbClr val="F6F7FA"/>
          </a:solidFill>
          <a:ln w="12700">
            <a:solidFill>
              <a:srgbClr val="F6F7FA"/>
            </a:solidFill>
            <a:prstDash val="solid"/>
          </a:ln>
        </p:spPr>
      </p:sp>
      <p:sp>
        <p:nvSpPr>
          <p:cNvPr id="12" name="Text 10"/>
          <p:cNvSpPr txBox="1"/>
          <p:nvPr/>
        </p:nvSpPr>
        <p:spPr>
          <a:xfrm>
            <a:off x="515493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11月</a:t>
            </a:r>
            <a:endParaRPr lang="en-US" sz="800" dirty="0"/>
          </a:p>
        </p:txBody>
      </p:sp>
      <p:sp>
        <p:nvSpPr>
          <p:cNvPr id="13" name="Shape 11"/>
          <p:cNvSpPr/>
          <p:nvPr/>
        </p:nvSpPr>
        <p:spPr>
          <a:xfrm>
            <a:off x="5766435" y="932688"/>
            <a:ext cx="584073" cy="274320"/>
          </a:xfrm>
          <a:prstGeom prst="rect">
            <a:avLst/>
          </a:prstGeom>
          <a:solidFill>
            <a:srgbClr val="EEF2F8"/>
          </a:solidFill>
          <a:ln w="12700">
            <a:solidFill>
              <a:srgbClr val="EEF2F8"/>
            </a:solidFill>
            <a:prstDash val="solid"/>
          </a:ln>
        </p:spPr>
      </p:sp>
      <p:sp>
        <p:nvSpPr>
          <p:cNvPr id="14" name="Text 12"/>
          <p:cNvSpPr txBox="1"/>
          <p:nvPr/>
        </p:nvSpPr>
        <p:spPr>
          <a:xfrm>
            <a:off x="576643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12月</a:t>
            </a:r>
            <a:endParaRPr lang="en-US" sz="800" dirty="0"/>
          </a:p>
        </p:txBody>
      </p:sp>
      <p:sp>
        <p:nvSpPr>
          <p:cNvPr id="15" name="Shape 13"/>
          <p:cNvSpPr/>
          <p:nvPr/>
        </p:nvSpPr>
        <p:spPr>
          <a:xfrm>
            <a:off x="6377940" y="932688"/>
            <a:ext cx="584073" cy="274320"/>
          </a:xfrm>
          <a:prstGeom prst="rect">
            <a:avLst/>
          </a:prstGeom>
          <a:solidFill>
            <a:srgbClr val="F6F7FA"/>
          </a:solidFill>
          <a:ln w="12700">
            <a:solidFill>
              <a:srgbClr val="F6F7FA"/>
            </a:solidFill>
            <a:prstDash val="solid"/>
          </a:ln>
        </p:spPr>
      </p:sp>
      <p:sp>
        <p:nvSpPr>
          <p:cNvPr id="16" name="Text 14"/>
          <p:cNvSpPr txBox="1"/>
          <p:nvPr/>
        </p:nvSpPr>
        <p:spPr>
          <a:xfrm>
            <a:off x="637794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1月</a:t>
            </a:r>
            <a:endParaRPr lang="en-US" sz="800" dirty="0"/>
          </a:p>
        </p:txBody>
      </p:sp>
      <p:sp>
        <p:nvSpPr>
          <p:cNvPr id="17" name="Shape 15"/>
          <p:cNvSpPr/>
          <p:nvPr/>
        </p:nvSpPr>
        <p:spPr>
          <a:xfrm>
            <a:off x="6989445" y="932688"/>
            <a:ext cx="584073" cy="274320"/>
          </a:xfrm>
          <a:prstGeom prst="rect">
            <a:avLst/>
          </a:prstGeom>
          <a:solidFill>
            <a:srgbClr val="EEF2F8"/>
          </a:solidFill>
          <a:ln w="12700">
            <a:solidFill>
              <a:srgbClr val="EEF2F8"/>
            </a:solidFill>
            <a:prstDash val="solid"/>
          </a:ln>
        </p:spPr>
      </p:sp>
      <p:sp>
        <p:nvSpPr>
          <p:cNvPr id="18" name="Text 16"/>
          <p:cNvSpPr txBox="1"/>
          <p:nvPr/>
        </p:nvSpPr>
        <p:spPr>
          <a:xfrm>
            <a:off x="698944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2月</a:t>
            </a:r>
            <a:endParaRPr lang="en-US" sz="800" dirty="0"/>
          </a:p>
        </p:txBody>
      </p:sp>
      <p:sp>
        <p:nvSpPr>
          <p:cNvPr id="19" name="Shape 17"/>
          <p:cNvSpPr/>
          <p:nvPr/>
        </p:nvSpPr>
        <p:spPr>
          <a:xfrm>
            <a:off x="7600950" y="932688"/>
            <a:ext cx="584073" cy="274320"/>
          </a:xfrm>
          <a:prstGeom prst="rect">
            <a:avLst/>
          </a:prstGeom>
          <a:solidFill>
            <a:srgbClr val="F6F7FA"/>
          </a:solidFill>
          <a:ln w="12700">
            <a:solidFill>
              <a:srgbClr val="F6F7FA"/>
            </a:solidFill>
            <a:prstDash val="solid"/>
          </a:ln>
        </p:spPr>
      </p:sp>
      <p:sp>
        <p:nvSpPr>
          <p:cNvPr id="20" name="Text 18"/>
          <p:cNvSpPr txBox="1"/>
          <p:nvPr/>
        </p:nvSpPr>
        <p:spPr>
          <a:xfrm>
            <a:off x="7600950"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3月</a:t>
            </a:r>
            <a:endParaRPr lang="en-US" sz="800" dirty="0"/>
          </a:p>
        </p:txBody>
      </p:sp>
      <p:sp>
        <p:nvSpPr>
          <p:cNvPr id="21" name="Shape 19"/>
          <p:cNvSpPr/>
          <p:nvPr/>
        </p:nvSpPr>
        <p:spPr>
          <a:xfrm>
            <a:off x="8212455" y="932688"/>
            <a:ext cx="584073" cy="274320"/>
          </a:xfrm>
          <a:prstGeom prst="rect">
            <a:avLst/>
          </a:prstGeom>
          <a:solidFill>
            <a:srgbClr val="EEF2F8"/>
          </a:solidFill>
          <a:ln w="12700">
            <a:solidFill>
              <a:srgbClr val="EEF2F8"/>
            </a:solidFill>
            <a:prstDash val="solid"/>
          </a:ln>
        </p:spPr>
      </p:sp>
      <p:sp>
        <p:nvSpPr>
          <p:cNvPr id="22" name="Text 20"/>
          <p:cNvSpPr txBox="1"/>
          <p:nvPr/>
        </p:nvSpPr>
        <p:spPr>
          <a:xfrm>
            <a:off x="8212455" y="932688"/>
            <a:ext cx="611505" cy="274320"/>
          </a:xfrm>
          <a:prstGeom prst="rect">
            <a:avLst/>
          </a:prstGeom>
          <a:noFill/>
          <a:ln/>
        </p:spPr>
        <p:txBody>
          <a:bodyPr wrap="square" lIns="0" tIns="0" rIns="0" bIns="0" rtlCol="0" anchor="ctr"/>
          <a:lstStyle/>
          <a:p>
            <a:pPr algn="ctr" indent="0" marL="0">
              <a:buNone/>
            </a:pPr>
            <a:r>
              <a:rPr lang="en-US" sz="800" dirty="0">
                <a:solidFill>
                  <a:srgbClr val="444444"/>
                </a:solidFill>
                <a:latin typeface="Microsoft YaHei" pitchFamily="34" charset="0"/>
                <a:ea typeface="Microsoft YaHei" pitchFamily="34" charset="-122"/>
                <a:cs typeface="Microsoft YaHei" pitchFamily="34" charset="-120"/>
              </a:rPr>
              <a:t>4月</a:t>
            </a:r>
            <a:endParaRPr lang="en-US" sz="800" dirty="0"/>
          </a:p>
        </p:txBody>
      </p:sp>
      <p:sp>
        <p:nvSpPr>
          <p:cNvPr id="23" name="Shape 21"/>
          <p:cNvSpPr/>
          <p:nvPr/>
        </p:nvSpPr>
        <p:spPr>
          <a:xfrm>
            <a:off x="457200" y="1353312"/>
            <a:ext cx="274320" cy="274320"/>
          </a:xfrm>
          <a:prstGeom prst="ellipse">
            <a:avLst/>
          </a:prstGeom>
          <a:solidFill>
            <a:srgbClr val="1F3F7A"/>
          </a:solidFill>
          <a:ln w="12700">
            <a:solidFill>
              <a:srgbClr val="1F3F7A"/>
            </a:solidFill>
            <a:prstDash val="solid"/>
          </a:ln>
        </p:spPr>
      </p:sp>
      <p:sp>
        <p:nvSpPr>
          <p:cNvPr id="24" name="Text 22"/>
          <p:cNvSpPr txBox="1"/>
          <p:nvPr/>
        </p:nvSpPr>
        <p:spPr>
          <a:xfrm>
            <a:off x="457200" y="135331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5" name="Text 23"/>
          <p:cNvSpPr txBox="1"/>
          <p:nvPr/>
        </p:nvSpPr>
        <p:spPr>
          <a:xfrm>
            <a:off x="822960" y="132588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2026.09.01—09.25</a:t>
            </a:r>
            <a:endParaRPr lang="en-US" sz="850" dirty="0"/>
          </a:p>
        </p:txBody>
      </p:sp>
      <p:sp>
        <p:nvSpPr>
          <p:cNvPr id="26" name="Text 24"/>
          <p:cNvSpPr txBox="1"/>
          <p:nvPr/>
        </p:nvSpPr>
        <p:spPr>
          <a:xfrm>
            <a:off x="2423160" y="132588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收集资料，完成选题</a:t>
            </a:r>
            <a:endParaRPr lang="en-US" sz="900" dirty="0"/>
          </a:p>
        </p:txBody>
      </p:sp>
      <p:sp>
        <p:nvSpPr>
          <p:cNvPr id="27" name="Shape 25"/>
          <p:cNvSpPr/>
          <p:nvPr/>
        </p:nvSpPr>
        <p:spPr>
          <a:xfrm>
            <a:off x="3931920" y="1655064"/>
            <a:ext cx="4892040" cy="0"/>
          </a:xfrm>
          <a:prstGeom prst="line">
            <a:avLst/>
          </a:prstGeom>
          <a:noFill/>
          <a:ln w="6350">
            <a:solidFill>
              <a:srgbClr val="E3E6EC"/>
            </a:solidFill>
            <a:prstDash val="solid"/>
          </a:ln>
        </p:spPr>
      </p:sp>
      <p:sp>
        <p:nvSpPr>
          <p:cNvPr id="28" name="Shape 26"/>
          <p:cNvSpPr/>
          <p:nvPr/>
        </p:nvSpPr>
        <p:spPr>
          <a:xfrm>
            <a:off x="3931920" y="1399032"/>
            <a:ext cx="507549" cy="182880"/>
          </a:xfrm>
          <a:prstGeom prst="rect">
            <a:avLst/>
          </a:prstGeom>
          <a:solidFill>
            <a:srgbClr val="8FA6D6"/>
          </a:solidFill>
          <a:ln w="12700">
            <a:solidFill>
              <a:srgbClr val="8FA6D6"/>
            </a:solidFill>
            <a:prstDash val="solid"/>
          </a:ln>
        </p:spPr>
      </p:sp>
      <p:sp>
        <p:nvSpPr>
          <p:cNvPr id="29" name="Shape 27"/>
          <p:cNvSpPr/>
          <p:nvPr/>
        </p:nvSpPr>
        <p:spPr>
          <a:xfrm>
            <a:off x="457200" y="1783080"/>
            <a:ext cx="274320" cy="274320"/>
          </a:xfrm>
          <a:prstGeom prst="ellipse">
            <a:avLst/>
          </a:prstGeom>
          <a:solidFill>
            <a:srgbClr val="1F3F7A"/>
          </a:solidFill>
          <a:ln w="12700">
            <a:solidFill>
              <a:srgbClr val="1F3F7A"/>
            </a:solidFill>
            <a:prstDash val="solid"/>
          </a:ln>
        </p:spPr>
      </p:sp>
      <p:sp>
        <p:nvSpPr>
          <p:cNvPr id="30" name="Text 28"/>
          <p:cNvSpPr txBox="1"/>
          <p:nvPr/>
        </p:nvSpPr>
        <p:spPr>
          <a:xfrm>
            <a:off x="457200" y="178308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1" name="Text 29"/>
          <p:cNvSpPr txBox="1"/>
          <p:nvPr/>
        </p:nvSpPr>
        <p:spPr>
          <a:xfrm>
            <a:off x="822960" y="175564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2026.09.26—10.26</a:t>
            </a:r>
            <a:endParaRPr lang="en-US" sz="850" dirty="0"/>
          </a:p>
        </p:txBody>
      </p:sp>
      <p:sp>
        <p:nvSpPr>
          <p:cNvPr id="32" name="Text 30"/>
          <p:cNvSpPr txBox="1"/>
          <p:nvPr/>
        </p:nvSpPr>
        <p:spPr>
          <a:xfrm>
            <a:off x="2423160" y="175564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完成开题报告</a:t>
            </a:r>
            <a:endParaRPr lang="en-US" sz="900" dirty="0"/>
          </a:p>
        </p:txBody>
      </p:sp>
      <p:sp>
        <p:nvSpPr>
          <p:cNvPr id="33" name="Shape 31"/>
          <p:cNvSpPr/>
          <p:nvPr/>
        </p:nvSpPr>
        <p:spPr>
          <a:xfrm>
            <a:off x="3931920" y="2084832"/>
            <a:ext cx="4892040" cy="0"/>
          </a:xfrm>
          <a:prstGeom prst="line">
            <a:avLst/>
          </a:prstGeom>
          <a:noFill/>
          <a:ln w="6350">
            <a:solidFill>
              <a:srgbClr val="E3E6EC"/>
            </a:solidFill>
            <a:prstDash val="solid"/>
          </a:ln>
        </p:spPr>
      </p:sp>
      <p:sp>
        <p:nvSpPr>
          <p:cNvPr id="34" name="Shape 32"/>
          <p:cNvSpPr/>
          <p:nvPr/>
        </p:nvSpPr>
        <p:spPr>
          <a:xfrm>
            <a:off x="4451699" y="1828800"/>
            <a:ext cx="623735" cy="182880"/>
          </a:xfrm>
          <a:prstGeom prst="rect">
            <a:avLst/>
          </a:prstGeom>
          <a:solidFill>
            <a:srgbClr val="8FA6D6"/>
          </a:solidFill>
          <a:ln w="12700">
            <a:solidFill>
              <a:srgbClr val="8FA6D6"/>
            </a:solidFill>
            <a:prstDash val="solid"/>
          </a:ln>
        </p:spPr>
      </p:sp>
      <p:sp>
        <p:nvSpPr>
          <p:cNvPr id="35" name="Shape 33"/>
          <p:cNvSpPr/>
          <p:nvPr/>
        </p:nvSpPr>
        <p:spPr>
          <a:xfrm>
            <a:off x="457200" y="2212848"/>
            <a:ext cx="274320" cy="274320"/>
          </a:xfrm>
          <a:prstGeom prst="ellipse">
            <a:avLst/>
          </a:prstGeom>
          <a:solidFill>
            <a:srgbClr val="1F3F7A"/>
          </a:solidFill>
          <a:ln w="12700">
            <a:solidFill>
              <a:srgbClr val="1F3F7A"/>
            </a:solidFill>
            <a:prstDash val="solid"/>
          </a:ln>
        </p:spPr>
      </p:sp>
      <p:sp>
        <p:nvSpPr>
          <p:cNvPr id="36" name="Text 34"/>
          <p:cNvSpPr txBox="1"/>
          <p:nvPr/>
        </p:nvSpPr>
        <p:spPr>
          <a:xfrm>
            <a:off x="457200" y="22128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7" name="Text 35"/>
          <p:cNvSpPr txBox="1"/>
          <p:nvPr/>
        </p:nvSpPr>
        <p:spPr>
          <a:xfrm>
            <a:off x="822960" y="218541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2026.10.27—10.28</a:t>
            </a:r>
            <a:endParaRPr lang="en-US" sz="850" dirty="0"/>
          </a:p>
        </p:txBody>
      </p:sp>
      <p:sp>
        <p:nvSpPr>
          <p:cNvPr id="38" name="Text 36"/>
          <p:cNvSpPr txBox="1"/>
          <p:nvPr/>
        </p:nvSpPr>
        <p:spPr>
          <a:xfrm>
            <a:off x="2423160" y="218541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开题答辩</a:t>
            </a:r>
            <a:endParaRPr lang="en-US" sz="900" dirty="0"/>
          </a:p>
        </p:txBody>
      </p:sp>
      <p:sp>
        <p:nvSpPr>
          <p:cNvPr id="39" name="Shape 37"/>
          <p:cNvSpPr/>
          <p:nvPr/>
        </p:nvSpPr>
        <p:spPr>
          <a:xfrm>
            <a:off x="3931920" y="2514600"/>
            <a:ext cx="4892040" cy="0"/>
          </a:xfrm>
          <a:prstGeom prst="line">
            <a:avLst/>
          </a:prstGeom>
          <a:noFill/>
          <a:ln w="6350">
            <a:solidFill>
              <a:srgbClr val="E3E6EC"/>
            </a:solidFill>
            <a:prstDash val="solid"/>
          </a:ln>
        </p:spPr>
      </p:sp>
      <p:sp>
        <p:nvSpPr>
          <p:cNvPr id="40" name="Shape 38"/>
          <p:cNvSpPr/>
          <p:nvPr/>
        </p:nvSpPr>
        <p:spPr>
          <a:xfrm>
            <a:off x="5075434" y="2258568"/>
            <a:ext cx="73152" cy="182880"/>
          </a:xfrm>
          <a:prstGeom prst="rect">
            <a:avLst/>
          </a:prstGeom>
          <a:solidFill>
            <a:srgbClr val="E07B2A"/>
          </a:solidFill>
          <a:ln w="12700">
            <a:solidFill>
              <a:srgbClr val="E07B2A"/>
            </a:solidFill>
            <a:prstDash val="solid"/>
          </a:ln>
        </p:spPr>
      </p:sp>
      <p:sp>
        <p:nvSpPr>
          <p:cNvPr id="41" name="Shape 39"/>
          <p:cNvSpPr/>
          <p:nvPr/>
        </p:nvSpPr>
        <p:spPr>
          <a:xfrm>
            <a:off x="457200" y="2642616"/>
            <a:ext cx="274320" cy="274320"/>
          </a:xfrm>
          <a:prstGeom prst="ellipse">
            <a:avLst/>
          </a:prstGeom>
          <a:solidFill>
            <a:srgbClr val="1F3F7A"/>
          </a:solidFill>
          <a:ln w="12700">
            <a:solidFill>
              <a:srgbClr val="1F3F7A"/>
            </a:solidFill>
            <a:prstDash val="solid"/>
          </a:ln>
        </p:spPr>
      </p:sp>
      <p:sp>
        <p:nvSpPr>
          <p:cNvPr id="42" name="Text 40"/>
          <p:cNvSpPr txBox="1"/>
          <p:nvPr/>
        </p:nvSpPr>
        <p:spPr>
          <a:xfrm>
            <a:off x="457200" y="264261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3" name="Text 41"/>
          <p:cNvSpPr txBox="1"/>
          <p:nvPr/>
        </p:nvSpPr>
        <p:spPr>
          <a:xfrm>
            <a:off x="822960" y="2615184"/>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2026.10.29—11.09</a:t>
            </a:r>
            <a:endParaRPr lang="en-US" sz="850" dirty="0"/>
          </a:p>
        </p:txBody>
      </p:sp>
      <p:sp>
        <p:nvSpPr>
          <p:cNvPr id="44" name="Text 42"/>
          <p:cNvSpPr txBox="1"/>
          <p:nvPr/>
        </p:nvSpPr>
        <p:spPr>
          <a:xfrm>
            <a:off x="2423160" y="2615184"/>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搜集资料、实地研究</a:t>
            </a:r>
            <a:endParaRPr lang="en-US" sz="900" dirty="0"/>
          </a:p>
        </p:txBody>
      </p:sp>
      <p:sp>
        <p:nvSpPr>
          <p:cNvPr id="45" name="Shape 43"/>
          <p:cNvSpPr/>
          <p:nvPr/>
        </p:nvSpPr>
        <p:spPr>
          <a:xfrm>
            <a:off x="3931920" y="2944368"/>
            <a:ext cx="4892040" cy="0"/>
          </a:xfrm>
          <a:prstGeom prst="line">
            <a:avLst/>
          </a:prstGeom>
          <a:noFill/>
          <a:ln w="6350">
            <a:solidFill>
              <a:srgbClr val="E3E6EC"/>
            </a:solidFill>
            <a:prstDash val="solid"/>
          </a:ln>
        </p:spPr>
      </p:sp>
      <p:sp>
        <p:nvSpPr>
          <p:cNvPr id="46" name="Shape 44"/>
          <p:cNvSpPr/>
          <p:nvPr/>
        </p:nvSpPr>
        <p:spPr>
          <a:xfrm>
            <a:off x="5124355" y="2688336"/>
            <a:ext cx="214027" cy="182880"/>
          </a:xfrm>
          <a:prstGeom prst="rect">
            <a:avLst/>
          </a:prstGeom>
          <a:solidFill>
            <a:srgbClr val="8FA6D6"/>
          </a:solidFill>
          <a:ln w="12700">
            <a:solidFill>
              <a:srgbClr val="8FA6D6"/>
            </a:solidFill>
            <a:prstDash val="solid"/>
          </a:ln>
        </p:spPr>
      </p:sp>
      <p:sp>
        <p:nvSpPr>
          <p:cNvPr id="47" name="Shape 45"/>
          <p:cNvSpPr/>
          <p:nvPr/>
        </p:nvSpPr>
        <p:spPr>
          <a:xfrm>
            <a:off x="457200" y="3072384"/>
            <a:ext cx="274320" cy="274320"/>
          </a:xfrm>
          <a:prstGeom prst="ellipse">
            <a:avLst/>
          </a:prstGeom>
          <a:solidFill>
            <a:srgbClr val="1F3F7A"/>
          </a:solidFill>
          <a:ln w="12700">
            <a:solidFill>
              <a:srgbClr val="1F3F7A"/>
            </a:solidFill>
            <a:prstDash val="solid"/>
          </a:ln>
        </p:spPr>
      </p:sp>
      <p:sp>
        <p:nvSpPr>
          <p:cNvPr id="48" name="Text 46"/>
          <p:cNvSpPr txBox="1"/>
          <p:nvPr/>
        </p:nvSpPr>
        <p:spPr>
          <a:xfrm>
            <a:off x="457200" y="307238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49" name="Text 47"/>
          <p:cNvSpPr txBox="1"/>
          <p:nvPr/>
        </p:nvSpPr>
        <p:spPr>
          <a:xfrm>
            <a:off x="822960" y="3044952"/>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2026.11.10—12.25</a:t>
            </a:r>
            <a:endParaRPr lang="en-US" sz="850" dirty="0"/>
          </a:p>
        </p:txBody>
      </p:sp>
      <p:sp>
        <p:nvSpPr>
          <p:cNvPr id="50" name="Text 48"/>
          <p:cNvSpPr txBox="1"/>
          <p:nvPr/>
        </p:nvSpPr>
        <p:spPr>
          <a:xfrm>
            <a:off x="2423160" y="3044952"/>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完成初稿</a:t>
            </a:r>
            <a:endParaRPr lang="en-US" sz="900" dirty="0"/>
          </a:p>
        </p:txBody>
      </p:sp>
      <p:sp>
        <p:nvSpPr>
          <p:cNvPr id="51" name="Shape 49"/>
          <p:cNvSpPr/>
          <p:nvPr/>
        </p:nvSpPr>
        <p:spPr>
          <a:xfrm>
            <a:off x="3931920" y="3374136"/>
            <a:ext cx="4892040" cy="0"/>
          </a:xfrm>
          <a:prstGeom prst="line">
            <a:avLst/>
          </a:prstGeom>
          <a:noFill/>
          <a:ln w="6350">
            <a:solidFill>
              <a:srgbClr val="E3E6EC"/>
            </a:solidFill>
            <a:prstDash val="solid"/>
          </a:ln>
        </p:spPr>
      </p:sp>
      <p:sp>
        <p:nvSpPr>
          <p:cNvPr id="52" name="Shape 50"/>
          <p:cNvSpPr/>
          <p:nvPr/>
        </p:nvSpPr>
        <p:spPr>
          <a:xfrm>
            <a:off x="5356727" y="3118104"/>
            <a:ext cx="917257" cy="182880"/>
          </a:xfrm>
          <a:prstGeom prst="rect">
            <a:avLst/>
          </a:prstGeom>
          <a:solidFill>
            <a:srgbClr val="8FA6D6"/>
          </a:solidFill>
          <a:ln w="12700">
            <a:solidFill>
              <a:srgbClr val="8FA6D6"/>
            </a:solidFill>
            <a:prstDash val="solid"/>
          </a:ln>
        </p:spPr>
      </p:sp>
      <p:sp>
        <p:nvSpPr>
          <p:cNvPr id="53" name="Shape 51"/>
          <p:cNvSpPr/>
          <p:nvPr/>
        </p:nvSpPr>
        <p:spPr>
          <a:xfrm>
            <a:off x="457200" y="3502152"/>
            <a:ext cx="274320" cy="274320"/>
          </a:xfrm>
          <a:prstGeom prst="ellipse">
            <a:avLst/>
          </a:prstGeom>
          <a:solidFill>
            <a:srgbClr val="1F3F7A"/>
          </a:solidFill>
          <a:ln w="12700">
            <a:solidFill>
              <a:srgbClr val="1F3F7A"/>
            </a:solidFill>
            <a:prstDash val="solid"/>
          </a:ln>
        </p:spPr>
      </p:sp>
      <p:sp>
        <p:nvSpPr>
          <p:cNvPr id="54" name="Text 52"/>
          <p:cNvSpPr txBox="1"/>
          <p:nvPr/>
        </p:nvSpPr>
        <p:spPr>
          <a:xfrm>
            <a:off x="457200" y="35021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55" name="Text 53"/>
          <p:cNvSpPr txBox="1"/>
          <p:nvPr/>
        </p:nvSpPr>
        <p:spPr>
          <a:xfrm>
            <a:off x="822960" y="3474720"/>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2026.12.26—2027.02.25</a:t>
            </a:r>
            <a:endParaRPr lang="en-US" sz="850" dirty="0"/>
          </a:p>
        </p:txBody>
      </p:sp>
      <p:sp>
        <p:nvSpPr>
          <p:cNvPr id="56" name="Text 54"/>
          <p:cNvSpPr txBox="1"/>
          <p:nvPr/>
        </p:nvSpPr>
        <p:spPr>
          <a:xfrm>
            <a:off x="2423160" y="3474720"/>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完成修改稿</a:t>
            </a:r>
            <a:endParaRPr lang="en-US" sz="900" dirty="0"/>
          </a:p>
        </p:txBody>
      </p:sp>
      <p:sp>
        <p:nvSpPr>
          <p:cNvPr id="57" name="Shape 55"/>
          <p:cNvSpPr/>
          <p:nvPr/>
        </p:nvSpPr>
        <p:spPr>
          <a:xfrm>
            <a:off x="3931920" y="3803904"/>
            <a:ext cx="4892040" cy="0"/>
          </a:xfrm>
          <a:prstGeom prst="line">
            <a:avLst/>
          </a:prstGeom>
          <a:noFill/>
          <a:ln w="6350">
            <a:solidFill>
              <a:srgbClr val="E3E6EC"/>
            </a:solidFill>
            <a:prstDash val="solid"/>
          </a:ln>
        </p:spPr>
      </p:sp>
      <p:sp>
        <p:nvSpPr>
          <p:cNvPr id="58" name="Shape 56"/>
          <p:cNvSpPr/>
          <p:nvPr/>
        </p:nvSpPr>
        <p:spPr>
          <a:xfrm>
            <a:off x="6286214" y="3547872"/>
            <a:ext cx="1223010" cy="182880"/>
          </a:xfrm>
          <a:prstGeom prst="rect">
            <a:avLst/>
          </a:prstGeom>
          <a:solidFill>
            <a:srgbClr val="8FA6D6"/>
          </a:solidFill>
          <a:ln w="12700">
            <a:solidFill>
              <a:srgbClr val="8FA6D6"/>
            </a:solidFill>
            <a:prstDash val="solid"/>
          </a:ln>
        </p:spPr>
      </p:sp>
      <p:sp>
        <p:nvSpPr>
          <p:cNvPr id="59" name="Shape 57"/>
          <p:cNvSpPr/>
          <p:nvPr/>
        </p:nvSpPr>
        <p:spPr>
          <a:xfrm>
            <a:off x="457200" y="3931920"/>
            <a:ext cx="274320" cy="274320"/>
          </a:xfrm>
          <a:prstGeom prst="ellipse">
            <a:avLst/>
          </a:prstGeom>
          <a:solidFill>
            <a:srgbClr val="1F3F7A"/>
          </a:solidFill>
          <a:ln w="12700">
            <a:solidFill>
              <a:srgbClr val="1F3F7A"/>
            </a:solidFill>
            <a:prstDash val="solid"/>
          </a:ln>
        </p:spPr>
      </p:sp>
      <p:sp>
        <p:nvSpPr>
          <p:cNvPr id="60" name="Text 58"/>
          <p:cNvSpPr txBox="1"/>
          <p:nvPr/>
        </p:nvSpPr>
        <p:spPr>
          <a:xfrm>
            <a:off x="457200" y="39319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61" name="Text 59"/>
          <p:cNvSpPr txBox="1"/>
          <p:nvPr/>
        </p:nvSpPr>
        <p:spPr>
          <a:xfrm>
            <a:off x="822960" y="3904488"/>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2027.02.26—03.25</a:t>
            </a:r>
            <a:endParaRPr lang="en-US" sz="850" dirty="0"/>
          </a:p>
        </p:txBody>
      </p:sp>
      <p:sp>
        <p:nvSpPr>
          <p:cNvPr id="62" name="Text 60"/>
          <p:cNvSpPr txBox="1"/>
          <p:nvPr/>
        </p:nvSpPr>
        <p:spPr>
          <a:xfrm>
            <a:off x="2423160" y="3904488"/>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完成定稿</a:t>
            </a:r>
            <a:endParaRPr lang="en-US" sz="900" dirty="0"/>
          </a:p>
        </p:txBody>
      </p:sp>
      <p:sp>
        <p:nvSpPr>
          <p:cNvPr id="63" name="Shape 61"/>
          <p:cNvSpPr/>
          <p:nvPr/>
        </p:nvSpPr>
        <p:spPr>
          <a:xfrm>
            <a:off x="3931920" y="4233672"/>
            <a:ext cx="4892040" cy="0"/>
          </a:xfrm>
          <a:prstGeom prst="line">
            <a:avLst/>
          </a:prstGeom>
          <a:noFill/>
          <a:ln w="6350">
            <a:solidFill>
              <a:srgbClr val="E3E6EC"/>
            </a:solidFill>
            <a:prstDash val="solid"/>
          </a:ln>
        </p:spPr>
      </p:sp>
      <p:sp>
        <p:nvSpPr>
          <p:cNvPr id="64" name="Shape 62"/>
          <p:cNvSpPr/>
          <p:nvPr/>
        </p:nvSpPr>
        <p:spPr>
          <a:xfrm>
            <a:off x="7521454" y="3977640"/>
            <a:ext cx="587045" cy="182880"/>
          </a:xfrm>
          <a:prstGeom prst="rect">
            <a:avLst/>
          </a:prstGeom>
          <a:solidFill>
            <a:srgbClr val="8FA6D6"/>
          </a:solidFill>
          <a:ln w="12700">
            <a:solidFill>
              <a:srgbClr val="8FA6D6"/>
            </a:solidFill>
            <a:prstDash val="solid"/>
          </a:ln>
        </p:spPr>
      </p:sp>
      <p:sp>
        <p:nvSpPr>
          <p:cNvPr id="65" name="Shape 63"/>
          <p:cNvSpPr/>
          <p:nvPr/>
        </p:nvSpPr>
        <p:spPr>
          <a:xfrm>
            <a:off x="457200" y="4361688"/>
            <a:ext cx="274320" cy="274320"/>
          </a:xfrm>
          <a:prstGeom prst="ellipse">
            <a:avLst/>
          </a:prstGeom>
          <a:solidFill>
            <a:srgbClr val="E07B2A"/>
          </a:solidFill>
          <a:ln w="12700">
            <a:solidFill>
              <a:srgbClr val="E07B2A"/>
            </a:solidFill>
            <a:prstDash val="solid"/>
          </a:ln>
        </p:spPr>
      </p:sp>
      <p:sp>
        <p:nvSpPr>
          <p:cNvPr id="66" name="Text 64"/>
          <p:cNvSpPr txBox="1"/>
          <p:nvPr/>
        </p:nvSpPr>
        <p:spPr>
          <a:xfrm>
            <a:off x="457200" y="43616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67" name="Text 65"/>
          <p:cNvSpPr txBox="1"/>
          <p:nvPr/>
        </p:nvSpPr>
        <p:spPr>
          <a:xfrm>
            <a:off x="822960" y="4334256"/>
            <a:ext cx="1600200" cy="329184"/>
          </a:xfrm>
          <a:prstGeom prst="rect">
            <a:avLst/>
          </a:prstGeom>
          <a:noFill/>
          <a:ln/>
        </p:spPr>
        <p:txBody>
          <a:bodyPr wrap="square" lIns="0" tIns="0" rIns="0" bIns="0" rtlCol="0" anchor="ctr"/>
          <a:lstStyle/>
          <a:p>
            <a:pPr indent="0" marL="0">
              <a:buNone/>
            </a:pPr>
            <a:r>
              <a:rPr lang="en-US" sz="850" dirty="0">
                <a:solidFill>
                  <a:srgbClr val="444444"/>
                </a:solidFill>
                <a:latin typeface="Arial" pitchFamily="34" charset="0"/>
                <a:ea typeface="Arial" pitchFamily="34" charset="-122"/>
                <a:cs typeface="Arial" pitchFamily="34" charset="-120"/>
              </a:rPr>
              <a:t>2027.04.07—04.08</a:t>
            </a:r>
            <a:endParaRPr lang="en-US" sz="850" dirty="0"/>
          </a:p>
        </p:txBody>
      </p:sp>
      <p:sp>
        <p:nvSpPr>
          <p:cNvPr id="68" name="Text 66"/>
          <p:cNvSpPr txBox="1"/>
          <p:nvPr/>
        </p:nvSpPr>
        <p:spPr>
          <a:xfrm>
            <a:off x="2423160" y="4334256"/>
            <a:ext cx="1463040" cy="329184"/>
          </a:xfrm>
          <a:prstGeom prst="rect">
            <a:avLst/>
          </a:prstGeom>
          <a:noFill/>
          <a:ln/>
        </p:spPr>
        <p:txBody>
          <a:bodyPr wrap="square" lIns="0" tIns="0" rIns="0" bIns="0" rtlCol="0" anchor="ctr"/>
          <a:lstStyle/>
          <a:p>
            <a:pPr indent="0" marL="0">
              <a:buNone/>
            </a:pPr>
            <a:r>
              <a:rPr lang="en-US" sz="900" b="1" dirty="0">
                <a:solidFill>
                  <a:srgbClr val="1F3F7A"/>
                </a:solidFill>
                <a:latin typeface="Microsoft YaHei" pitchFamily="34" charset="0"/>
                <a:ea typeface="Microsoft YaHei" pitchFamily="34" charset="-122"/>
                <a:cs typeface="Microsoft YaHei" pitchFamily="34" charset="-120"/>
              </a:rPr>
              <a:t>毕业答辩</a:t>
            </a:r>
            <a:endParaRPr lang="en-US" sz="900" dirty="0"/>
          </a:p>
        </p:txBody>
      </p:sp>
      <p:sp>
        <p:nvSpPr>
          <p:cNvPr id="69" name="Shape 67"/>
          <p:cNvSpPr/>
          <p:nvPr/>
        </p:nvSpPr>
        <p:spPr>
          <a:xfrm>
            <a:off x="3931920" y="4663440"/>
            <a:ext cx="4892040" cy="0"/>
          </a:xfrm>
          <a:prstGeom prst="line">
            <a:avLst/>
          </a:prstGeom>
          <a:noFill/>
          <a:ln w="6350">
            <a:solidFill>
              <a:srgbClr val="E3E6EC"/>
            </a:solidFill>
            <a:prstDash val="solid"/>
          </a:ln>
        </p:spPr>
      </p:sp>
      <p:sp>
        <p:nvSpPr>
          <p:cNvPr id="70" name="Shape 68"/>
          <p:cNvSpPr/>
          <p:nvPr/>
        </p:nvSpPr>
        <p:spPr>
          <a:xfrm>
            <a:off x="8334756" y="4407408"/>
            <a:ext cx="73152" cy="182880"/>
          </a:xfrm>
          <a:prstGeom prst="rect">
            <a:avLst/>
          </a:prstGeom>
          <a:solidFill>
            <a:srgbClr val="E07B2A"/>
          </a:solidFill>
          <a:ln w="12700">
            <a:solidFill>
              <a:srgbClr val="E07B2A"/>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参考文献（1/2）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43</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 孟语.城市体育公园规划设计与发展研究[D].北京：北京林业大学,2016.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 史熙文.城市体育公园景观设计研究[D].大连：大连工业大学,2021.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[3] 吴子姮.基于环境行为学的城市体育公园规划设计研究[D].北京：北京林业大学,2022.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[4] 李雨桐.全龄友好视角下县城体育公园景观设计研究[D].成都：四川农业大学,2023.</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[5] 由文华,吉云波.体育景观环境[M].北京：北京体育大学出版社,2018.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[6] 王晓俊.风景园林设计[M].南京：江苏科学技术出版社,2018.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[7] 扬·盖尔.交往与空间[M].何人可,译.4版.北京：中国建筑工业出版社,2002.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[8] 胡鞍钢,方旭东.全民健身国家战略：内涵与发展思路[J].体育科学,2016,36(03):3-9.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[9] 蒋荣,熊瑶.全民健身战略下的社区体育公园景观设计研究[J].设计艺术研究,2022,12(04):77-82.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[10] 金依然.全民健身背景下县级体育公园建设研究[J].广西城镇建设,2024(07):68-72.</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[11] 陈芃序,王天扬,张德顺.全民健身背景下城市社区公园环境设计研究[J].华中建筑,2023,41(02):68-72.</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20040" y="137160"/>
            <a:ext cx="4572000" cy="365760"/>
          </a:xfrm>
          <a:prstGeom prst="rect">
            <a:avLst/>
          </a:prstGeom>
          <a:noFill/>
          <a:ln/>
        </p:spPr>
        <p:txBody>
          <a:bodyPr wrap="square" lIns="0" tIns="0" rIns="0" bIns="0" rtlCol="0" anchor="ctr"/>
          <a:lstStyle/>
          <a:p>
            <a:pPr indent="0" marL="0">
              <a:buNone/>
            </a:pPr>
            <a:r>
              <a:rPr lang="en-US" sz="1600" b="1" dirty="0">
                <a:solidFill>
                  <a:srgbClr val="1D4F91"/>
                </a:solidFill>
                <a:latin typeface="Microsoft YaHei" pitchFamily="34" charset="0"/>
                <a:ea typeface="Microsoft YaHei" pitchFamily="34" charset="-122"/>
                <a:cs typeface="Microsoft YaHei" pitchFamily="34" charset="-120"/>
              </a:rPr>
              <a:t>03 场地规划分析</a:t>
            </a:r>
            <a:endParaRPr lang="en-US" sz="1600" dirty="0"/>
          </a:p>
        </p:txBody>
      </p:sp>
      <p:sp>
        <p:nvSpPr>
          <p:cNvPr id="3" name="Text 1"/>
          <p:cNvSpPr txBox="1"/>
          <p:nvPr/>
        </p:nvSpPr>
        <p:spPr>
          <a:xfrm>
            <a:off x="4572000" y="182880"/>
            <a:ext cx="4251960" cy="320040"/>
          </a:xfrm>
          <a:prstGeom prst="rect">
            <a:avLst/>
          </a:prstGeom>
          <a:noFill/>
          <a:ln/>
        </p:spPr>
        <p:txBody>
          <a:bodyPr wrap="square" lIns="0" tIns="0" rIns="0" bIns="0" rtlCol="0" anchor="ctr"/>
          <a:lstStyle/>
          <a:p>
            <a:pPr algn="r" indent="0" marL="0">
              <a:buNone/>
            </a:pPr>
            <a:r>
              <a:rPr lang="en-US" sz="1100" b="1" dirty="0">
                <a:solidFill>
                  <a:srgbClr val="E07B2A"/>
                </a:solidFill>
                <a:latin typeface="Arial" pitchFamily="34" charset="0"/>
                <a:ea typeface="Arial" pitchFamily="34" charset="-122"/>
                <a:cs typeface="Arial" pitchFamily="34" charset="-120"/>
              </a:rPr>
              <a:t>References</a:t>
            </a:r>
            <a:endParaRPr lang="en-US" sz="1100" dirty="0"/>
          </a:p>
        </p:txBody>
      </p:sp>
      <p:sp>
        <p:nvSpPr>
          <p:cNvPr id="4" name="Shape 2"/>
          <p:cNvSpPr/>
          <p:nvPr/>
        </p:nvSpPr>
        <p:spPr>
          <a:xfrm>
            <a:off x="320040" y="530352"/>
            <a:ext cx="8503920" cy="0"/>
          </a:xfrm>
          <a:prstGeom prst="line">
            <a:avLst/>
          </a:prstGeom>
          <a:noFill/>
          <a:ln w="9525">
            <a:solidFill>
              <a:srgbClr val="A9B4CC"/>
            </a:solidFill>
            <a:prstDash val="solid"/>
          </a:ln>
        </p:spPr>
      </p:sp>
      <p:sp>
        <p:nvSpPr>
          <p:cNvPr id="5" name="Text 3"/>
          <p:cNvSpPr txBox="1"/>
          <p:nvPr/>
        </p:nvSpPr>
        <p:spPr>
          <a:xfrm>
            <a:off x="457200" y="576072"/>
            <a:ext cx="7772400" cy="292608"/>
          </a:xfrm>
          <a:prstGeom prst="rect">
            <a:avLst/>
          </a:prstGeom>
          <a:noFill/>
          <a:ln/>
        </p:spPr>
        <p:txBody>
          <a:bodyPr wrap="square" lIns="0" tIns="0" rIns="0" bIns="0" rtlCol="0" anchor="ctr"/>
          <a:lstStyle/>
          <a:p>
            <a:pPr indent="0" marL="0">
              <a:buNone/>
            </a:pPr>
            <a:r>
              <a:rPr lang="en-US" sz="1200" b="1" dirty="0">
                <a:solidFill>
                  <a:srgbClr val="1D4F91"/>
                </a:solidFill>
                <a:latin typeface="Microsoft YaHei" pitchFamily="34" charset="0"/>
                <a:ea typeface="Microsoft YaHei" pitchFamily="34" charset="-122"/>
                <a:cs typeface="Microsoft YaHei" pitchFamily="34" charset="-120"/>
              </a:rPr>
              <a:t>3.7 参考文献（2/2）</a:t>
            </a:r>
            <a:endParaRPr lang="en-US" sz="1200" dirty="0"/>
          </a:p>
        </p:txBody>
      </p:sp>
      <p:sp>
        <p:nvSpPr>
          <p:cNvPr id="6" name="Text 4"/>
          <p:cNvSpPr txBox="1"/>
          <p:nvPr/>
        </p:nvSpPr>
        <p:spPr>
          <a:xfrm>
            <a:off x="8229600" y="4828032"/>
            <a:ext cx="594360" cy="228600"/>
          </a:xfrm>
          <a:prstGeom prst="rect">
            <a:avLst/>
          </a:prstGeom>
          <a:noFill/>
          <a:ln/>
        </p:spPr>
        <p:txBody>
          <a:bodyPr wrap="square" lIns="0" tIns="0" rIns="0" bIns="0" rtlCol="0" anchor="ctr"/>
          <a:lstStyle/>
          <a:p>
            <a:pPr algn="r" indent="0" marL="0">
              <a:buNone/>
            </a:pPr>
            <a:r>
              <a:rPr lang="en-US" sz="900" dirty="0">
                <a:solidFill>
                  <a:srgbClr val="999999"/>
                </a:solidFill>
                <a:latin typeface="Arial" pitchFamily="34" charset="0"/>
                <a:ea typeface="Arial" pitchFamily="34" charset="-122"/>
                <a:cs typeface="Arial" pitchFamily="34" charset="-120"/>
              </a:rPr>
              <a:t>44</a:t>
            </a:r>
            <a:endParaRPr lang="en-US" sz="900" dirty="0"/>
          </a:p>
        </p:txBody>
      </p:sp>
      <p:sp>
        <p:nvSpPr>
          <p:cNvPr id="7" name="Text 5"/>
          <p:cNvSpPr txBox="1"/>
          <p:nvPr/>
        </p:nvSpPr>
        <p:spPr>
          <a:xfrm>
            <a:off x="457200" y="932688"/>
            <a:ext cx="8366760" cy="3749040"/>
          </a:xfrm>
          <a:prstGeom prst="rect">
            <a:avLst/>
          </a:prstGeom>
          <a:noFill/>
          <a:ln/>
        </p:spPr>
        <p:txBody>
          <a:bodyPr wrap="square" lIns="0" tIns="0" rIns="0" bIns="0" rtlCol="0" anchor="t"/>
          <a:lstStyle/>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[12] 周聪惠,陶成蹊,刘婧方,等.基于弹性共享的户外健身设施群体需求响应评测研究[J].风景园林,2024,31(02):48-55.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[13] 张俊涛,杨洪.县域体育公园治理路径研究——以晋江智慧体育公园为例[J].运动精品,2023(07):66-68.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[14] 住房和城乡建设部.公园设计规范：GB 51192-2016[S].北京：中国建筑工业出版社,2017.</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[15] 住房和城乡建设部.城市居住区规划设计标准：GB 50180-2018[S].北京：中国建筑工业出版社,2018.</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[16] 中国城市科学研究会.社区体育公园规划建设指南：T/CSUS 18-2021[S].北京：中国建筑工业出版社,2021.</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[17] 国务院办公厅.关于推进体育公园建设的指导意见[EB/OL].(2021-10-29)[2026-08-15].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[18] 王益鹏.基于生态恢复理念的景观设计研究[D].清华大学,2015.</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[19] KACZYNSKI A T,POTWARKA L R,SAELENS B E.Association of park size,distance,and features with physical activity in neighborhood parks[J].American Journal of Public Health,2008,98(08):1451-1456.</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[20] WARBURTON D E R,NICOL C W,BREDIN S S D.Health benefits of physical activity:The evidence[J].Canadian Medical Association Journal,2006,174(06):801-809.</a:t>
            </a:r>
            <a:endParaRPr lang="en-US" sz="900" dirty="0"/>
          </a:p>
          <a:p>
            <a:pPr indent="0" marL="0">
              <a:lnSpc>
                <a:spcPct val="145000"/>
              </a:lnSpc>
              <a:buNone/>
            </a:pPr>
            <a:r>
              <a:rPr lang="en-US" sz="900" dirty="0">
                <a:solidFill>
                  <a:srgbClr val="444444"/>
                </a:solidFill>
                <a:latin typeface="Microsoft YaHei" pitchFamily="34" charset="0"/>
                <a:ea typeface="Microsoft YaHei" pitchFamily="34" charset="-122"/>
                <a:cs typeface="Microsoft YaHei" pitchFamily="34" charset="-120"/>
              </a:rPr>
              <a:t>[21] World Health Organization.Global status report on physical activity 2022[R].Geneva:WHO,2022.</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5143500"/>
          </a:xfrm>
          <a:prstGeom prst="rect">
            <a:avLst/>
          </a:prstGeom>
          <a:solidFill>
            <a:srgbClr val="EEF2F8"/>
          </a:solidFill>
          <a:ln w="12700">
            <a:solidFill>
              <a:srgbClr val="EEF2F8"/>
            </a:solidFill>
            <a:prstDash val="solid"/>
          </a:ln>
        </p:spPr>
      </p:sp>
      <p:pic>
        <p:nvPicPr>
          <p:cNvPr id="3" name="Image 0" descr="/home/user/lxfs/pptx_build/figs/tf_1.jpg">    </p:cNvPr>
          <p:cNvPicPr>
            <a:picLocks noChangeAspect="1"/>
          </p:cNvPicPr>
          <p:nvPr/>
        </p:nvPicPr>
        <p:blipFill>
          <a:blip r:embed="rId1"/>
          <a:stretch>
            <a:fillRect/>
          </a:stretch>
        </p:blipFill>
        <p:spPr>
          <a:xfrm>
            <a:off x="546226" y="320040"/>
            <a:ext cx="3113788" cy="2331720"/>
          </a:xfrm>
          <a:prstGeom prst="rect">
            <a:avLst/>
          </a:prstGeom>
        </p:spPr>
      </p:pic>
      <p:pic>
        <p:nvPicPr>
          <p:cNvPr id="4" name="Image 1" descr="/home/user/lxfs/pptx_build/figs/tf_3.jpg">    </p:cNvPr>
          <p:cNvPicPr>
            <a:picLocks noChangeAspect="1"/>
          </p:cNvPicPr>
          <p:nvPr/>
        </p:nvPicPr>
        <p:blipFill>
          <a:blip r:embed="rId2"/>
          <a:stretch>
            <a:fillRect/>
          </a:stretch>
        </p:blipFill>
        <p:spPr>
          <a:xfrm>
            <a:off x="349263" y="2788920"/>
            <a:ext cx="1633194" cy="2057400"/>
          </a:xfrm>
          <a:prstGeom prst="rect">
            <a:avLst/>
          </a:prstGeom>
        </p:spPr>
      </p:pic>
      <p:pic>
        <p:nvPicPr>
          <p:cNvPr id="5" name="Image 2" descr="/home/user/lxfs/pptx_build/figs/sz_3.jpg">    </p:cNvPr>
          <p:cNvPicPr>
            <a:picLocks noChangeAspect="1"/>
          </p:cNvPicPr>
          <p:nvPr/>
        </p:nvPicPr>
        <p:blipFill>
          <a:blip r:embed="rId3"/>
          <a:stretch>
            <a:fillRect/>
          </a:stretch>
        </p:blipFill>
        <p:spPr>
          <a:xfrm>
            <a:off x="2269666" y="2788920"/>
            <a:ext cx="1541427" cy="2057400"/>
          </a:xfrm>
          <a:prstGeom prst="rect">
            <a:avLst/>
          </a:prstGeom>
        </p:spPr>
      </p:pic>
      <p:sp>
        <p:nvSpPr>
          <p:cNvPr id="6" name="Shape 1"/>
          <p:cNvSpPr/>
          <p:nvPr/>
        </p:nvSpPr>
        <p:spPr>
          <a:xfrm>
            <a:off x="4206240" y="0"/>
            <a:ext cx="4937760" cy="5143500"/>
          </a:xfrm>
          <a:prstGeom prst="rect">
            <a:avLst/>
          </a:prstGeom>
          <a:solidFill>
            <a:srgbClr val="1F3F7A"/>
          </a:solidFill>
          <a:ln w="12700">
            <a:solidFill>
              <a:srgbClr val="1F3F7A"/>
            </a:solidFill>
            <a:prstDash val="solid"/>
          </a:ln>
        </p:spPr>
      </p:sp>
      <p:sp>
        <p:nvSpPr>
          <p:cNvPr id="7" name="Text 2"/>
          <p:cNvSpPr txBox="1"/>
          <p:nvPr/>
        </p:nvSpPr>
        <p:spPr>
          <a:xfrm>
            <a:off x="4572000" y="1737360"/>
            <a:ext cx="4206240" cy="731520"/>
          </a:xfrm>
          <a:prstGeom prst="rect">
            <a:avLst/>
          </a:prstGeom>
          <a:noFill/>
          <a:ln/>
        </p:spPr>
        <p:txBody>
          <a:bodyPr wrap="square" lIns="0" tIns="0" rIns="0" bIns="0" rtlCol="0" anchor="ctr"/>
          <a:lstStyle/>
          <a:p>
            <a:pPr indent="0" marL="0">
              <a:buNone/>
            </a:pPr>
            <a:r>
              <a:rPr lang="en-US" sz="2800" b="1" dirty="0">
                <a:solidFill>
                  <a:srgbClr val="FFFFFF"/>
                </a:solidFill>
                <a:latin typeface="Microsoft YaHei" pitchFamily="34" charset="0"/>
                <a:ea typeface="Microsoft YaHei" pitchFamily="34" charset="-122"/>
                <a:cs typeface="Microsoft YaHei" pitchFamily="34" charset="-120"/>
              </a:rPr>
              <a:t>请各位老师批评指正</a:t>
            </a:r>
            <a:endParaRPr lang="en-US" sz="2800" dirty="0"/>
          </a:p>
        </p:txBody>
      </p:sp>
      <p:sp>
        <p:nvSpPr>
          <p:cNvPr id="8" name="Text 3"/>
          <p:cNvSpPr txBox="1"/>
          <p:nvPr/>
        </p:nvSpPr>
        <p:spPr>
          <a:xfrm>
            <a:off x="4572000" y="2560320"/>
            <a:ext cx="4206240" cy="640080"/>
          </a:xfrm>
          <a:prstGeom prst="rect">
            <a:avLst/>
          </a:prstGeom>
          <a:noFill/>
          <a:ln/>
        </p:spPr>
        <p:txBody>
          <a:bodyPr wrap="square" lIns="0" tIns="0" rIns="0" bIns="0" rtlCol="0" anchor="t"/>
          <a:lstStyle/>
          <a:p>
            <a:pPr indent="0" marL="0">
              <a:buNone/>
            </a:pPr>
            <a:r>
              <a:rPr lang="en-US" sz="1100" dirty="0">
                <a:solidFill>
                  <a:srgbClr val="C9D6F0"/>
                </a:solidFill>
                <a:latin typeface="Microsoft YaHei" pitchFamily="34" charset="0"/>
                <a:ea typeface="Microsoft YaHei" pitchFamily="34" charset="-122"/>
                <a:cs typeface="Microsoft YaHei" pitchFamily="34" charset="-120"/>
              </a:rPr>
              <a:t>跃动·栖园——全民健康视角下的眉山市仁寿县体育公园景观设计</a:t>
            </a:r>
            <a:endParaRPr lang="en-US" sz="1100" dirty="0"/>
          </a:p>
        </p:txBody>
      </p:sp>
      <p:sp>
        <p:nvSpPr>
          <p:cNvPr id="9" name="Text 4"/>
          <p:cNvSpPr txBox="1"/>
          <p:nvPr/>
        </p:nvSpPr>
        <p:spPr>
          <a:xfrm>
            <a:off x="4572000" y="4480560"/>
            <a:ext cx="2743200" cy="274320"/>
          </a:xfrm>
          <a:prstGeom prst="rect">
            <a:avLst/>
          </a:prstGeom>
          <a:noFill/>
          <a:ln/>
        </p:spPr>
        <p:txBody>
          <a:bodyPr wrap="square" lIns="0" tIns="0" rIns="0" bIns="0" rtlCol="0" anchor="ctr"/>
          <a:lstStyle/>
          <a:p>
            <a:pPr indent="0" marL="0">
              <a:buNone/>
            </a:pPr>
            <a:r>
              <a:rPr lang="en-US" sz="900" spc="400" kern="0" dirty="0">
                <a:solidFill>
                  <a:srgbClr val="8FA6D6"/>
                </a:solidFill>
                <a:latin typeface="Arial" pitchFamily="34" charset="0"/>
                <a:ea typeface="Arial" pitchFamily="34" charset="-122"/>
                <a:cs typeface="Arial" pitchFamily="34" charset="-120"/>
              </a:rPr>
              <a:t>SPORTS PARK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跃动·栖园——全民健康视角下的眉山市仁寿县体育公园景观设计</dc:title>
  <dc:subject>PptxGenJS Presentation</dc:subject>
  <dc:creator>开题报告</dc:creator>
  <cp:lastModifiedBy>开题报告</cp:lastModifiedBy>
  <cp:revision>1</cp:revision>
  <dcterms:created xsi:type="dcterms:W3CDTF">2026-09-07T11:00:40Z</dcterms:created>
  <dcterms:modified xsi:type="dcterms:W3CDTF">2026-09-07T11:00:40Z</dcterms:modified>
</cp:coreProperties>
</file>